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730" r:id="rId2"/>
    <p:sldMasterId id="2147483810" r:id="rId3"/>
    <p:sldMasterId id="2147483822" r:id="rId4"/>
    <p:sldMasterId id="2147483834" r:id="rId5"/>
    <p:sldMasterId id="2147483906" r:id="rId6"/>
  </p:sldMasterIdLst>
  <p:notesMasterIdLst>
    <p:notesMasterId r:id="rId22"/>
  </p:notesMasterIdLst>
  <p:sldIdLst>
    <p:sldId id="275" r:id="rId7"/>
    <p:sldId id="482" r:id="rId8"/>
    <p:sldId id="483" r:id="rId9"/>
    <p:sldId id="484" r:id="rId10"/>
    <p:sldId id="485" r:id="rId11"/>
    <p:sldId id="486" r:id="rId12"/>
    <p:sldId id="487" r:id="rId13"/>
    <p:sldId id="488" r:id="rId14"/>
    <p:sldId id="502" r:id="rId15"/>
    <p:sldId id="490" r:id="rId16"/>
    <p:sldId id="503" r:id="rId17"/>
    <p:sldId id="498" r:id="rId18"/>
    <p:sldId id="499" r:id="rId19"/>
    <p:sldId id="500" r:id="rId20"/>
    <p:sldId id="501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9FFCC"/>
    <a:srgbClr val="CCFF66"/>
    <a:srgbClr val="00CC99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9" autoAdjust="0"/>
    <p:restoredTop sz="94660"/>
  </p:normalViewPr>
  <p:slideViewPr>
    <p:cSldViewPr snapToGrid="0">
      <p:cViewPr varScale="1">
        <p:scale>
          <a:sx n="58" d="100"/>
          <a:sy n="58" d="100"/>
        </p:scale>
        <p:origin x="456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02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B3B10-E75A-4A99-8D77-4819A54DB04C}" type="datetimeFigureOut">
              <a:rPr lang="zh-CN" altLang="en-US" smtClean="0"/>
              <a:t>2019/8/3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B6A66-BA5C-4236-87D9-16ACC10F6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00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B6A66-BA5C-4236-87D9-16ACC10F60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188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EFBB9964-04C4-4D5E-8126-29EE53255E18}" type="slidenum">
              <a:rPr lang="zh-CN" altLang="en-US" sz="80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</a:t>
            </a:fld>
            <a:endParaRPr lang="en-US" altLang="zh-CN" sz="800" smtClean="0"/>
          </a:p>
        </p:txBody>
      </p:sp>
      <p:sp>
        <p:nvSpPr>
          <p:cNvPr id="32771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111659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4D3197B8-16CA-4752-8EDD-453CFCA7FBF6}" type="slidenum">
              <a:rPr lang="zh-CN" altLang="en-US" sz="80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</a:t>
            </a:fld>
            <a:endParaRPr lang="en-US" altLang="zh-CN" sz="800" smtClean="0"/>
          </a:p>
        </p:txBody>
      </p:sp>
      <p:sp>
        <p:nvSpPr>
          <p:cNvPr id="34819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. </a:t>
            </a:r>
          </a:p>
          <a:p>
            <a:r>
              <a:rPr lang="en-US" altLang="zh-CN" smtClean="0"/>
              <a:t>. 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690020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1D59A8C7-7974-4306-88A1-5BAB7BB215DE}" type="slidenum">
              <a:rPr lang="zh-CN" altLang="en-US" sz="80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4</a:t>
            </a:fld>
            <a:endParaRPr lang="en-US" altLang="zh-CN" sz="800" smtClean="0"/>
          </a:p>
        </p:txBody>
      </p:sp>
      <p:sp>
        <p:nvSpPr>
          <p:cNvPr id="38915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343605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73968C4-0008-4D96-92DA-9297B8188E33}" type="slidenum">
              <a:rPr lang="zh-CN" altLang="en-US" sz="80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5</a:t>
            </a:fld>
            <a:endParaRPr lang="en-US" altLang="zh-CN" sz="800" smtClean="0"/>
          </a:p>
        </p:txBody>
      </p:sp>
      <p:sp>
        <p:nvSpPr>
          <p:cNvPr id="41987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CCNP1</a:t>
            </a:r>
            <a:r>
              <a:rPr lang="zh-CN" altLang="en-US" smtClean="0"/>
              <a:t>中介绍</a:t>
            </a:r>
          </a:p>
        </p:txBody>
      </p:sp>
    </p:spTree>
    <p:extLst>
      <p:ext uri="{BB962C8B-B14F-4D97-AF65-F5344CB8AC3E}">
        <p14:creationId xmlns:p14="http://schemas.microsoft.com/office/powerpoint/2010/main" val="4286789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catc.edu.cn/" TargetMode="External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400" b="1" smtClean="0">
              <a:solidFill>
                <a:srgbClr val="000054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50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ECECA0CB-3403-4466-995B-8DF8662D85CD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  <p:grpSp>
        <p:nvGrpSpPr>
          <p:cNvPr id="6152" name="Group 8"/>
          <p:cNvGrpSpPr>
            <a:grpSpLocks/>
          </p:cNvGrpSpPr>
          <p:nvPr/>
        </p:nvGrpSpPr>
        <p:grpSpPr bwMode="auto">
          <a:xfrm>
            <a:off x="9990667" y="2992438"/>
            <a:ext cx="1784351" cy="2189162"/>
            <a:chOff x="4704" y="1885"/>
            <a:chExt cx="843" cy="1379"/>
          </a:xfrm>
        </p:grpSpPr>
        <p:sp>
          <p:nvSpPr>
            <p:cNvPr id="6153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4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5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6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7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8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9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0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1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2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3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4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5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6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7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8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9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0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1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2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3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4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5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6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7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8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9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0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1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2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3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</p:grpSp>
      <p:sp>
        <p:nvSpPr>
          <p:cNvPr id="6184" name="Line 40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400" b="1" smtClean="0">
              <a:solidFill>
                <a:srgbClr val="0000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7605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F417F7-DC4D-4FC6-9A4A-A143788C97EF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61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</p:spPr>
        <p:txBody>
          <a:bodyPr/>
          <a:lstStyle>
            <a:lvl1pPr algn="ctr">
              <a:defRPr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6C0BB67A-27FA-4C67-851A-9DC3FA391F2F}" type="slidenum">
              <a:rPr lang="en-US" altLang="zh-CN" smtClean="0">
                <a:solidFill>
                  <a:srgbClr val="FFFF66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1075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310A4A-FEDF-41D2-BF60-E6112B374BF7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0596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926A3C-9A65-4465-B748-5538B9A78C93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2319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AE3A43-2650-4DAD-A263-DE8EBD946AC1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355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E085D-FDF0-4913-894C-E6D3A82B6E59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021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837768-19DA-411A-9793-5B5B9B3B817E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374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02B331-6AF9-48FA-9C2E-F0AE2EB47695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6223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C7D681-DB39-4082-899A-F93CAFB7A110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7851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F68B8E-8429-4779-9666-C8F651629F7C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4089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76785" y="122238"/>
            <a:ext cx="2880783" cy="63309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4434" y="122238"/>
            <a:ext cx="8439151" cy="63309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CF449B-A966-495A-B607-28E85774EB35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376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4" y="981076"/>
            <a:ext cx="11523133" cy="26590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34434" y="3792538"/>
            <a:ext cx="11523133" cy="2660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8E431CDB-2883-498D-A682-DB6A869F556A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059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1" y="981076"/>
            <a:ext cx="5659967" cy="26590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1" y="3792538"/>
            <a:ext cx="5659967" cy="2660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A268E265-8EE9-496D-BD35-3811849A603C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032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1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0648895C-B952-4267-AF29-20AB1E08D80B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6542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C63F3E33-8CFD-4753-9383-87EAA3B93554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706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34434" y="981076"/>
            <a:ext cx="11523133" cy="26590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34434" y="3792538"/>
            <a:ext cx="11523133" cy="2660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59CB732B-B811-43FF-AE6F-7861E5DFCD38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8838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1D3EC-6C0A-4B75-B9B1-B8470296CBC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464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08E3AB-722A-4AEA-A937-2E08357C51E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006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279BAD-A866-4A16-8F4C-85F87023AB3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0534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AB781C-6227-43DA-92D8-561D200F7F6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1234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0B88B-A646-4A8F-B6A0-76BA405E215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607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ECE20-8548-4556-AF6B-4FBBEC13A2E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0657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E1699-C1C9-4481-B980-35A70BADA65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09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9DB47-0FF2-450E-BE52-8874B15CEDA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5889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934E9-6569-44DA-8526-9D879588D8E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6440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AD7049-B63C-4907-AD62-042A86EA7DB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1351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B55F8-9B30-4017-98B7-3BB8572DDC3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2652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1D3EC-6C0A-4B75-B9B1-B8470296CBC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1035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08E3AB-722A-4AEA-A937-2E08357C51E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1364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279BAD-A866-4A16-8F4C-85F87023AB3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53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AB781C-6227-43DA-92D8-561D200F7F6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8640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0B88B-A646-4A8F-B6A0-76BA405E215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894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ECE20-8548-4556-AF6B-4FBBEC13A2E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4579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E1699-C1C9-4481-B980-35A70BADA65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5108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9DB47-0FF2-450E-BE52-8874B15CEDA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7076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934E9-6569-44DA-8526-9D879588D8E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4350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AD7049-B63C-4907-AD62-042A86EA7DB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4165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B55F8-9B30-4017-98B7-3BB8572DDC3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5519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B8741C-2A94-4BA4-84F0-A9D0AA864BB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1427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5583E-B6BA-4465-B27F-29966067464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4792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111126-AA2D-4C0C-9D7D-7A55AAB5A18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2709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F51426-9369-43AC-9154-E4431111174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4249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584C02-567E-413F-9075-6AC68F1CACD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4250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92D539-2572-4A46-A56A-FD2CF5EC81C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3656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38737E-8065-49D4-96D4-E45928EA0EC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8720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0A346-57F6-4326-A424-88D184A05C9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4711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F3722F-A34E-4929-807C-DCE44AD8D0F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663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ABB5B9-0CE0-4DE4-8E59-4A96B432D02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4629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37651" y="1"/>
            <a:ext cx="2842683" cy="61261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"/>
            <a:ext cx="8324851" cy="612616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F51D1E-BE3D-4E4C-9185-726F0697648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27133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CC4B3-103C-4FA1-A68D-1FB9F075AFF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0437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27E1B7-39E0-4F97-9653-0E370A7EDDE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372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73498B-4C8F-4E2A-A190-241E72E75ED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5528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CF9A5-B2B9-432B-BDA7-0C7480E2205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7888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A1F89A-F9F3-4709-9C8E-664833A3BDF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3281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7A4993-FAAD-4E7A-8C63-D56FAAF7626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9071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49CA8-A1E5-411D-84A0-7AECECD9921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9089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B5B94E-C47E-48F1-883F-2BEE49F2600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350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DBB2C-CE1C-4A39-BD38-0AC96A0FE49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2723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BADA-B8BC-4B76-87B9-686904981D9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21533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37651" y="1"/>
            <a:ext cx="2842683" cy="61261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"/>
            <a:ext cx="8324851" cy="61261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07B075-A0E9-4B83-9CBE-93E9D4C9553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64408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298" name="Rectangle 2"/>
          <p:cNvSpPr>
            <a:spLocks noChangeArrowheads="1"/>
          </p:cNvSpPr>
          <p:nvPr/>
        </p:nvSpPr>
        <p:spPr bwMode="auto">
          <a:xfrm rot="16200000">
            <a:off x="4724400" y="-3094037"/>
            <a:ext cx="2743200" cy="12192000"/>
          </a:xfrm>
          <a:prstGeom prst="rect">
            <a:avLst/>
          </a:prstGeom>
          <a:solidFill>
            <a:srgbClr val="015F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B2B2B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endParaRPr lang="zh-CN" altLang="en-US" sz="2400" i="1" smtClean="0">
              <a:solidFill>
                <a:srgbClr val="000000"/>
              </a:solidFill>
            </a:endParaRPr>
          </a:p>
        </p:txBody>
      </p:sp>
      <p:sp>
        <p:nvSpPr>
          <p:cNvPr id="1335299" name="Rectangle 3"/>
          <p:cNvSpPr>
            <a:spLocks noChangeArrowheads="1"/>
          </p:cNvSpPr>
          <p:nvPr/>
        </p:nvSpPr>
        <p:spPr bwMode="auto">
          <a:xfrm>
            <a:off x="3898900" y="6615453"/>
            <a:ext cx="1345662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zh-CN" altLang="en-US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思科网络技术学院理事会</a:t>
            </a:r>
            <a:r>
              <a:rPr lang="en-US" altLang="zh-CN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.</a:t>
            </a:r>
          </a:p>
        </p:txBody>
      </p:sp>
      <p:sp>
        <p:nvSpPr>
          <p:cNvPr id="1335300" name="Rectangle 4"/>
          <p:cNvSpPr>
            <a:spLocks noChangeArrowheads="1"/>
          </p:cNvSpPr>
          <p:nvPr/>
        </p:nvSpPr>
        <p:spPr bwMode="auto">
          <a:xfrm>
            <a:off x="6102135" y="6615453"/>
            <a:ext cx="1204598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r>
              <a:rPr lang="en-US" altLang="zh-CN" sz="800" smtClean="0">
                <a:solidFill>
                  <a:srgbClr val="0183B7"/>
                </a:solidFill>
                <a:ea typeface="宋体" panose="02010600030101010101" pitchFamily="2" charset="-122"/>
                <a:hlinkClick r:id="rId2"/>
              </a:rPr>
              <a:t>http://www.catc.edu.cn</a:t>
            </a:r>
            <a:endParaRPr lang="en-US" altLang="zh-CN" sz="800" smtClean="0">
              <a:solidFill>
                <a:srgbClr val="0183B7"/>
              </a:solidFill>
              <a:ea typeface="宋体" panose="02010600030101010101" pitchFamily="2" charset="-122"/>
            </a:endParaRPr>
          </a:p>
        </p:txBody>
      </p:sp>
      <p:sp>
        <p:nvSpPr>
          <p:cNvPr id="1335301" name="Rectangle 5"/>
          <p:cNvSpPr>
            <a:spLocks noChangeArrowheads="1"/>
          </p:cNvSpPr>
          <p:nvPr/>
        </p:nvSpPr>
        <p:spPr bwMode="auto">
          <a:xfrm>
            <a:off x="11566372" y="6624363"/>
            <a:ext cx="322946" cy="23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fld id="{3009CFF4-D4D0-413F-912F-76BF385B1D9F}" type="slidenum">
              <a:rPr lang="zh-CN" altLang="en-US" sz="1000" smtClean="0">
                <a:solidFill>
                  <a:srgbClr val="D3D3D3"/>
                </a:solidFill>
                <a:ea typeface="宋体" panose="02010600030101010101" pitchFamily="2" charset="-122"/>
              </a:rPr>
              <a:pPr algn="r" eaLnBrk="0" fontAlgn="base" hangingPunct="0">
                <a:spcAft>
                  <a:spcPct val="0"/>
                </a:spcAft>
              </a:pPr>
              <a:t>‹#›</a:t>
            </a:fld>
            <a:endParaRPr lang="en-US" altLang="zh-CN" sz="1000" smtClean="0">
              <a:solidFill>
                <a:srgbClr val="D3D3D3"/>
              </a:solidFill>
              <a:ea typeface="宋体" panose="02010600030101010101" pitchFamily="2" charset="-122"/>
            </a:endParaRPr>
          </a:p>
        </p:txBody>
      </p:sp>
      <p:grpSp>
        <p:nvGrpSpPr>
          <p:cNvPr id="1335302" name="Group 6"/>
          <p:cNvGrpSpPr>
            <a:grpSpLocks/>
          </p:cNvGrpSpPr>
          <p:nvPr/>
        </p:nvGrpSpPr>
        <p:grpSpPr bwMode="auto">
          <a:xfrm>
            <a:off x="812800" y="525464"/>
            <a:ext cx="1930400" cy="769937"/>
            <a:chOff x="3272" y="1316"/>
            <a:chExt cx="1889" cy="1002"/>
          </a:xfrm>
        </p:grpSpPr>
        <p:sp>
          <p:nvSpPr>
            <p:cNvPr id="1335303" name="AutoShape 7"/>
            <p:cNvSpPr>
              <a:spLocks noChangeAspect="1" noChangeArrowheads="1" noTextEdit="1"/>
            </p:cNvSpPr>
            <p:nvPr/>
          </p:nvSpPr>
          <p:spPr bwMode="auto">
            <a:xfrm>
              <a:off x="3272" y="1316"/>
              <a:ext cx="1889" cy="1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4" name="Rectangle 8"/>
            <p:cNvSpPr>
              <a:spLocks noChangeArrowheads="1"/>
            </p:cNvSpPr>
            <p:nvPr/>
          </p:nvSpPr>
          <p:spPr bwMode="auto">
            <a:xfrm>
              <a:off x="3803" y="1980"/>
              <a:ext cx="86" cy="325"/>
            </a:xfrm>
            <a:prstGeom prst="rect">
              <a:avLst/>
            </a:pr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5" name="Freeform 9"/>
            <p:cNvSpPr>
              <a:spLocks/>
            </p:cNvSpPr>
            <p:nvPr/>
          </p:nvSpPr>
          <p:spPr bwMode="auto">
            <a:xfrm>
              <a:off x="4304" y="1971"/>
              <a:ext cx="249" cy="343"/>
            </a:xfrm>
            <a:custGeom>
              <a:avLst/>
              <a:gdLst>
                <a:gd name="T0" fmla="*/ 58 w 58"/>
                <a:gd name="T1" fmla="*/ 24 h 80"/>
                <a:gd name="T2" fmla="*/ 42 w 58"/>
                <a:gd name="T3" fmla="*/ 20 h 80"/>
                <a:gd name="T4" fmla="*/ 21 w 58"/>
                <a:gd name="T5" fmla="*/ 40 h 80"/>
                <a:gd name="T6" fmla="*/ 42 w 58"/>
                <a:gd name="T7" fmla="*/ 60 h 80"/>
                <a:gd name="T8" fmla="*/ 58 w 58"/>
                <a:gd name="T9" fmla="*/ 56 h 80"/>
                <a:gd name="T10" fmla="*/ 58 w 58"/>
                <a:gd name="T11" fmla="*/ 77 h 80"/>
                <a:gd name="T12" fmla="*/ 41 w 58"/>
                <a:gd name="T13" fmla="*/ 80 h 80"/>
                <a:gd name="T14" fmla="*/ 0 w 58"/>
                <a:gd name="T15" fmla="*/ 40 h 80"/>
                <a:gd name="T16" fmla="*/ 41 w 58"/>
                <a:gd name="T17" fmla="*/ 0 h 80"/>
                <a:gd name="T18" fmla="*/ 58 w 58"/>
                <a:gd name="T19" fmla="*/ 3 h 80"/>
                <a:gd name="T20" fmla="*/ 58 w 58"/>
                <a:gd name="T21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6" name="Freeform 10"/>
            <p:cNvSpPr>
              <a:spLocks/>
            </p:cNvSpPr>
            <p:nvPr/>
          </p:nvSpPr>
          <p:spPr bwMode="auto">
            <a:xfrm>
              <a:off x="3443" y="1971"/>
              <a:ext cx="249" cy="343"/>
            </a:xfrm>
            <a:custGeom>
              <a:avLst/>
              <a:gdLst>
                <a:gd name="T0" fmla="*/ 58 w 58"/>
                <a:gd name="T1" fmla="*/ 24 h 80"/>
                <a:gd name="T2" fmla="*/ 42 w 58"/>
                <a:gd name="T3" fmla="*/ 20 h 80"/>
                <a:gd name="T4" fmla="*/ 21 w 58"/>
                <a:gd name="T5" fmla="*/ 40 h 80"/>
                <a:gd name="T6" fmla="*/ 42 w 58"/>
                <a:gd name="T7" fmla="*/ 60 h 80"/>
                <a:gd name="T8" fmla="*/ 58 w 58"/>
                <a:gd name="T9" fmla="*/ 56 h 80"/>
                <a:gd name="T10" fmla="*/ 58 w 58"/>
                <a:gd name="T11" fmla="*/ 77 h 80"/>
                <a:gd name="T12" fmla="*/ 40 w 58"/>
                <a:gd name="T13" fmla="*/ 80 h 80"/>
                <a:gd name="T14" fmla="*/ 0 w 58"/>
                <a:gd name="T15" fmla="*/ 40 h 80"/>
                <a:gd name="T16" fmla="*/ 40 w 58"/>
                <a:gd name="T17" fmla="*/ 0 h 80"/>
                <a:gd name="T18" fmla="*/ 58 w 58"/>
                <a:gd name="T19" fmla="*/ 3 h 80"/>
                <a:gd name="T20" fmla="*/ 58 w 58"/>
                <a:gd name="T21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7" name="Freeform 11"/>
            <p:cNvSpPr>
              <a:spLocks noEditPoints="1"/>
            </p:cNvSpPr>
            <p:nvPr/>
          </p:nvSpPr>
          <p:spPr bwMode="auto">
            <a:xfrm>
              <a:off x="4643" y="1971"/>
              <a:ext cx="342" cy="343"/>
            </a:xfrm>
            <a:custGeom>
              <a:avLst/>
              <a:gdLst>
                <a:gd name="T0" fmla="*/ 80 w 80"/>
                <a:gd name="T1" fmla="*/ 40 h 80"/>
                <a:gd name="T2" fmla="*/ 40 w 80"/>
                <a:gd name="T3" fmla="*/ 80 h 80"/>
                <a:gd name="T4" fmla="*/ 0 w 80"/>
                <a:gd name="T5" fmla="*/ 40 h 80"/>
                <a:gd name="T6" fmla="*/ 40 w 80"/>
                <a:gd name="T7" fmla="*/ 0 h 80"/>
                <a:gd name="T8" fmla="*/ 80 w 80"/>
                <a:gd name="T9" fmla="*/ 40 h 80"/>
                <a:gd name="T10" fmla="*/ 40 w 80"/>
                <a:gd name="T11" fmla="*/ 20 h 80"/>
                <a:gd name="T12" fmla="*/ 20 w 80"/>
                <a:gd name="T13" fmla="*/ 40 h 80"/>
                <a:gd name="T14" fmla="*/ 40 w 80"/>
                <a:gd name="T15" fmla="*/ 60 h 80"/>
                <a:gd name="T16" fmla="*/ 60 w 80"/>
                <a:gd name="T17" fmla="*/ 40 h 80"/>
                <a:gd name="T18" fmla="*/ 40 w 80"/>
                <a:gd name="T19" fmla="*/ 2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8" name="Freeform 12"/>
            <p:cNvSpPr>
              <a:spLocks/>
            </p:cNvSpPr>
            <p:nvPr/>
          </p:nvSpPr>
          <p:spPr bwMode="auto">
            <a:xfrm>
              <a:off x="4000" y="1971"/>
              <a:ext cx="223" cy="343"/>
            </a:xfrm>
            <a:custGeom>
              <a:avLst/>
              <a:gdLst>
                <a:gd name="T0" fmla="*/ 47 w 52"/>
                <a:gd name="T1" fmla="*/ 19 h 80"/>
                <a:gd name="T2" fmla="*/ 32 w 52"/>
                <a:gd name="T3" fmla="*/ 17 h 80"/>
                <a:gd name="T4" fmla="*/ 20 w 52"/>
                <a:gd name="T5" fmla="*/ 23 h 80"/>
                <a:gd name="T6" fmla="*/ 29 w 52"/>
                <a:gd name="T7" fmla="*/ 30 h 80"/>
                <a:gd name="T8" fmla="*/ 34 w 52"/>
                <a:gd name="T9" fmla="*/ 32 h 80"/>
                <a:gd name="T10" fmla="*/ 52 w 52"/>
                <a:gd name="T11" fmla="*/ 54 h 80"/>
                <a:gd name="T12" fmla="*/ 21 w 52"/>
                <a:gd name="T13" fmla="*/ 80 h 80"/>
                <a:gd name="T14" fmla="*/ 0 w 52"/>
                <a:gd name="T15" fmla="*/ 77 h 80"/>
                <a:gd name="T16" fmla="*/ 0 w 52"/>
                <a:gd name="T17" fmla="*/ 60 h 80"/>
                <a:gd name="T18" fmla="*/ 18 w 52"/>
                <a:gd name="T19" fmla="*/ 63 h 80"/>
                <a:gd name="T20" fmla="*/ 32 w 52"/>
                <a:gd name="T21" fmla="*/ 56 h 80"/>
                <a:gd name="T22" fmla="*/ 23 w 52"/>
                <a:gd name="T23" fmla="*/ 48 h 80"/>
                <a:gd name="T24" fmla="*/ 19 w 52"/>
                <a:gd name="T25" fmla="*/ 47 h 80"/>
                <a:gd name="T26" fmla="*/ 0 w 52"/>
                <a:gd name="T27" fmla="*/ 24 h 80"/>
                <a:gd name="T28" fmla="*/ 28 w 52"/>
                <a:gd name="T29" fmla="*/ 0 h 80"/>
                <a:gd name="T30" fmla="*/ 47 w 52"/>
                <a:gd name="T31" fmla="*/ 3 h 80"/>
                <a:gd name="T32" fmla="*/ 47 w 52"/>
                <a:gd name="T3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9" name="Freeform 13"/>
            <p:cNvSpPr>
              <a:spLocks/>
            </p:cNvSpPr>
            <p:nvPr/>
          </p:nvSpPr>
          <p:spPr bwMode="auto">
            <a:xfrm>
              <a:off x="3272" y="1586"/>
              <a:ext cx="81" cy="167"/>
            </a:xfrm>
            <a:custGeom>
              <a:avLst/>
              <a:gdLst>
                <a:gd name="T0" fmla="*/ 19 w 19"/>
                <a:gd name="T1" fmla="*/ 10 h 39"/>
                <a:gd name="T2" fmla="*/ 10 w 19"/>
                <a:gd name="T3" fmla="*/ 0 h 39"/>
                <a:gd name="T4" fmla="*/ 0 w 19"/>
                <a:gd name="T5" fmla="*/ 10 h 39"/>
                <a:gd name="T6" fmla="*/ 0 w 19"/>
                <a:gd name="T7" fmla="*/ 30 h 39"/>
                <a:gd name="T8" fmla="*/ 10 w 19"/>
                <a:gd name="T9" fmla="*/ 39 h 39"/>
                <a:gd name="T10" fmla="*/ 19 w 19"/>
                <a:gd name="T11" fmla="*/ 30 h 39"/>
                <a:gd name="T12" fmla="*/ 19 w 19"/>
                <a:gd name="T13" fmla="*/ 1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0" name="Freeform 14"/>
            <p:cNvSpPr>
              <a:spLocks/>
            </p:cNvSpPr>
            <p:nvPr/>
          </p:nvSpPr>
          <p:spPr bwMode="auto">
            <a:xfrm>
              <a:off x="3499" y="1474"/>
              <a:ext cx="81" cy="279"/>
            </a:xfrm>
            <a:custGeom>
              <a:avLst/>
              <a:gdLst>
                <a:gd name="T0" fmla="*/ 19 w 19"/>
                <a:gd name="T1" fmla="*/ 9 h 65"/>
                <a:gd name="T2" fmla="*/ 9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9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1" name="Freeform 15"/>
            <p:cNvSpPr>
              <a:spLocks/>
            </p:cNvSpPr>
            <p:nvPr/>
          </p:nvSpPr>
          <p:spPr bwMode="auto">
            <a:xfrm>
              <a:off x="3722" y="1320"/>
              <a:ext cx="81" cy="514"/>
            </a:xfrm>
            <a:custGeom>
              <a:avLst/>
              <a:gdLst>
                <a:gd name="T0" fmla="*/ 19 w 19"/>
                <a:gd name="T1" fmla="*/ 9 h 120"/>
                <a:gd name="T2" fmla="*/ 10 w 19"/>
                <a:gd name="T3" fmla="*/ 0 h 120"/>
                <a:gd name="T4" fmla="*/ 0 w 19"/>
                <a:gd name="T5" fmla="*/ 9 h 120"/>
                <a:gd name="T6" fmla="*/ 0 w 19"/>
                <a:gd name="T7" fmla="*/ 111 h 120"/>
                <a:gd name="T8" fmla="*/ 10 w 19"/>
                <a:gd name="T9" fmla="*/ 120 h 120"/>
                <a:gd name="T10" fmla="*/ 19 w 19"/>
                <a:gd name="T11" fmla="*/ 111 h 120"/>
                <a:gd name="T12" fmla="*/ 19 w 19"/>
                <a:gd name="T13" fmla="*/ 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2" name="Freeform 16"/>
            <p:cNvSpPr>
              <a:spLocks/>
            </p:cNvSpPr>
            <p:nvPr/>
          </p:nvSpPr>
          <p:spPr bwMode="auto">
            <a:xfrm>
              <a:off x="3949" y="1474"/>
              <a:ext cx="81" cy="279"/>
            </a:xfrm>
            <a:custGeom>
              <a:avLst/>
              <a:gdLst>
                <a:gd name="T0" fmla="*/ 19 w 19"/>
                <a:gd name="T1" fmla="*/ 9 h 65"/>
                <a:gd name="T2" fmla="*/ 9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9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3" name="Freeform 17"/>
            <p:cNvSpPr>
              <a:spLocks/>
            </p:cNvSpPr>
            <p:nvPr/>
          </p:nvSpPr>
          <p:spPr bwMode="auto">
            <a:xfrm>
              <a:off x="4171" y="1586"/>
              <a:ext cx="86" cy="167"/>
            </a:xfrm>
            <a:custGeom>
              <a:avLst/>
              <a:gdLst>
                <a:gd name="T0" fmla="*/ 20 w 20"/>
                <a:gd name="T1" fmla="*/ 10 h 39"/>
                <a:gd name="T2" fmla="*/ 10 w 20"/>
                <a:gd name="T3" fmla="*/ 0 h 39"/>
                <a:gd name="T4" fmla="*/ 0 w 20"/>
                <a:gd name="T5" fmla="*/ 10 h 39"/>
                <a:gd name="T6" fmla="*/ 0 w 20"/>
                <a:gd name="T7" fmla="*/ 30 h 39"/>
                <a:gd name="T8" fmla="*/ 10 w 20"/>
                <a:gd name="T9" fmla="*/ 39 h 39"/>
                <a:gd name="T10" fmla="*/ 20 w 20"/>
                <a:gd name="T11" fmla="*/ 30 h 39"/>
                <a:gd name="T12" fmla="*/ 20 w 20"/>
                <a:gd name="T13" fmla="*/ 1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4" name="Freeform 18"/>
            <p:cNvSpPr>
              <a:spLocks/>
            </p:cNvSpPr>
            <p:nvPr/>
          </p:nvSpPr>
          <p:spPr bwMode="auto">
            <a:xfrm>
              <a:off x="4398" y="1474"/>
              <a:ext cx="82" cy="279"/>
            </a:xfrm>
            <a:custGeom>
              <a:avLst/>
              <a:gdLst>
                <a:gd name="T0" fmla="*/ 19 w 19"/>
                <a:gd name="T1" fmla="*/ 9 h 65"/>
                <a:gd name="T2" fmla="*/ 10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10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5" name="Freeform 19"/>
            <p:cNvSpPr>
              <a:spLocks/>
            </p:cNvSpPr>
            <p:nvPr/>
          </p:nvSpPr>
          <p:spPr bwMode="auto">
            <a:xfrm>
              <a:off x="4625" y="1320"/>
              <a:ext cx="82" cy="514"/>
            </a:xfrm>
            <a:custGeom>
              <a:avLst/>
              <a:gdLst>
                <a:gd name="T0" fmla="*/ 19 w 19"/>
                <a:gd name="T1" fmla="*/ 9 h 120"/>
                <a:gd name="T2" fmla="*/ 9 w 19"/>
                <a:gd name="T3" fmla="*/ 0 h 120"/>
                <a:gd name="T4" fmla="*/ 0 w 19"/>
                <a:gd name="T5" fmla="*/ 9 h 120"/>
                <a:gd name="T6" fmla="*/ 0 w 19"/>
                <a:gd name="T7" fmla="*/ 111 h 120"/>
                <a:gd name="T8" fmla="*/ 9 w 19"/>
                <a:gd name="T9" fmla="*/ 120 h 120"/>
                <a:gd name="T10" fmla="*/ 19 w 19"/>
                <a:gd name="T11" fmla="*/ 111 h 120"/>
                <a:gd name="T12" fmla="*/ 19 w 19"/>
                <a:gd name="T13" fmla="*/ 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6" name="Freeform 20"/>
            <p:cNvSpPr>
              <a:spLocks/>
            </p:cNvSpPr>
            <p:nvPr/>
          </p:nvSpPr>
          <p:spPr bwMode="auto">
            <a:xfrm>
              <a:off x="4848" y="1474"/>
              <a:ext cx="82" cy="279"/>
            </a:xfrm>
            <a:custGeom>
              <a:avLst/>
              <a:gdLst>
                <a:gd name="T0" fmla="*/ 19 w 19"/>
                <a:gd name="T1" fmla="*/ 9 h 65"/>
                <a:gd name="T2" fmla="*/ 10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10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7" name="Freeform 21"/>
            <p:cNvSpPr>
              <a:spLocks/>
            </p:cNvSpPr>
            <p:nvPr/>
          </p:nvSpPr>
          <p:spPr bwMode="auto">
            <a:xfrm>
              <a:off x="5075" y="1586"/>
              <a:ext cx="82" cy="167"/>
            </a:xfrm>
            <a:custGeom>
              <a:avLst/>
              <a:gdLst>
                <a:gd name="T0" fmla="*/ 19 w 19"/>
                <a:gd name="T1" fmla="*/ 10 h 39"/>
                <a:gd name="T2" fmla="*/ 9 w 19"/>
                <a:gd name="T3" fmla="*/ 0 h 39"/>
                <a:gd name="T4" fmla="*/ 0 w 19"/>
                <a:gd name="T5" fmla="*/ 10 h 39"/>
                <a:gd name="T6" fmla="*/ 0 w 19"/>
                <a:gd name="T7" fmla="*/ 30 h 39"/>
                <a:gd name="T8" fmla="*/ 9 w 19"/>
                <a:gd name="T9" fmla="*/ 39 h 39"/>
                <a:gd name="T10" fmla="*/ 19 w 19"/>
                <a:gd name="T11" fmla="*/ 30 h 39"/>
                <a:gd name="T12" fmla="*/ 19 w 19"/>
                <a:gd name="T13" fmla="*/ 1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1335318" name="Rectangle 22"/>
          <p:cNvSpPr>
            <a:spLocks noGrp="1" noChangeArrowheads="1"/>
          </p:cNvSpPr>
          <p:nvPr>
            <p:ph type="ctrTitle"/>
          </p:nvPr>
        </p:nvSpPr>
        <p:spPr bwMode="white">
          <a:xfrm>
            <a:off x="867834" y="2676526"/>
            <a:ext cx="5024967" cy="83026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1335319" name="Rectangle 23"/>
          <p:cNvSpPr>
            <a:spLocks noGrp="1" noChangeArrowheads="1"/>
          </p:cNvSpPr>
          <p:nvPr>
            <p:ph type="subTitle" idx="1"/>
          </p:nvPr>
        </p:nvSpPr>
        <p:spPr>
          <a:xfrm>
            <a:off x="867833" y="4733925"/>
            <a:ext cx="9254067" cy="4191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pic>
        <p:nvPicPr>
          <p:cNvPr id="1335320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734" y="1658938"/>
            <a:ext cx="3075517" cy="266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53355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3288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2935968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74185" y="1781176"/>
            <a:ext cx="5192183" cy="35718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69567" y="1781176"/>
            <a:ext cx="5192184" cy="35718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2299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01291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51283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32446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438048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4672039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4268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21234" y="457200"/>
            <a:ext cx="2713567" cy="48958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74185" y="457200"/>
            <a:ext cx="7943849" cy="48958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23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hyperlink" Target="http://www.catc.edu.cn/" TargetMode="Externa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106172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400" b="1" smtClean="0">
              <a:solidFill>
                <a:srgbClr val="000054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9"/>
            <a:ext cx="100584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4" y="981075"/>
            <a:ext cx="11523133" cy="547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53188"/>
            <a:ext cx="2844800" cy="25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0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53188"/>
            <a:ext cx="3860800" cy="25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0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89701"/>
            <a:ext cx="2844800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0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fontAlgn="base">
              <a:spcAft>
                <a:spcPct val="0"/>
              </a:spcAft>
            </a:pPr>
            <a:fld id="{6C0BB67A-27FA-4C67-851A-9DC3FA391F2F}" type="slidenum">
              <a:rPr lang="en-US" altLang="zh-CN" smtClean="0">
                <a:solidFill>
                  <a:srgbClr val="FFFF66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FFFF66"/>
              </a:solidFill>
            </a:endParaRPr>
          </a:p>
        </p:txBody>
      </p:sp>
      <p:grpSp>
        <p:nvGrpSpPr>
          <p:cNvPr id="5128" name="Group 8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512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</p:grpSp>
      <p:pic>
        <p:nvPicPr>
          <p:cNvPr id="5160" name="Picture 40" descr="ppt_bg"/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16008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78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 b="1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rgbClr val="FF99FF"/>
        </a:buClr>
        <a:buSzPct val="70000"/>
        <a:buFont typeface="Wingdings" panose="05000000000000000000" pitchFamily="2" charset="2"/>
        <a:buChar char="l"/>
        <a:defRPr sz="28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rgbClr val="00FF00"/>
        </a:buClr>
        <a:buSzPct val="70000"/>
        <a:buFont typeface="Wingdings" panose="05000000000000000000" pitchFamily="2" charset="2"/>
        <a:buChar char="u"/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rgbClr val="FFFFFF"/>
        </a:buClr>
        <a:buSzPct val="80000"/>
        <a:buFont typeface="Wingdings" panose="05000000000000000000" pitchFamily="2" charset="2"/>
        <a:buChar char="Ø"/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fld id="{3C6D6F0C-2B97-467D-A0BD-E656AC1471E3}" type="slidenum">
              <a:rPr lang="en-US" altLang="zh-CN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06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fld id="{3C6D6F0C-2B97-467D-A0BD-E656AC1471E3}" type="slidenum">
              <a:rPr lang="en-US" altLang="zh-CN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39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266" name="Picture 2" descr="ppt_b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926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503085" y="0"/>
            <a:ext cx="847724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7926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77926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77927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77927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33C9A19-84A2-441C-8897-CF7DDD77051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166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826" name="Picture 2" descr="ppt_b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58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503085" y="0"/>
            <a:ext cx="847724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458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458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458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458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FCC9321-D69F-4A64-96AF-E6B7A8F42028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19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2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74184" y="457200"/>
            <a:ext cx="10860616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Slide Title</a:t>
            </a:r>
          </a:p>
        </p:txBody>
      </p:sp>
      <p:sp>
        <p:nvSpPr>
          <p:cNvPr id="1334275" name="Rectangle 3"/>
          <p:cNvSpPr>
            <a:spLocks noChangeArrowheads="1"/>
          </p:cNvSpPr>
          <p:nvPr/>
        </p:nvSpPr>
        <p:spPr bwMode="auto">
          <a:xfrm>
            <a:off x="0" y="0"/>
            <a:ext cx="12192000" cy="177800"/>
          </a:xfrm>
          <a:prstGeom prst="rect">
            <a:avLst/>
          </a:prstGeom>
          <a:solidFill>
            <a:srgbClr val="015F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endParaRPr lang="zh-CN" altLang="en-US" sz="2400" i="1" smtClean="0">
              <a:solidFill>
                <a:srgbClr val="000000"/>
              </a:solidFill>
            </a:endParaRPr>
          </a:p>
        </p:txBody>
      </p:sp>
      <p:sp>
        <p:nvSpPr>
          <p:cNvPr id="1334276" name="Rectangle 4"/>
          <p:cNvSpPr>
            <a:spLocks noChangeArrowheads="1"/>
          </p:cNvSpPr>
          <p:nvPr/>
        </p:nvSpPr>
        <p:spPr bwMode="auto">
          <a:xfrm>
            <a:off x="11566372" y="6624363"/>
            <a:ext cx="322946" cy="23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fld id="{F783EE2E-3158-4F4F-9F3F-119AF15F4FBA}" type="slidenum">
              <a:rPr lang="zh-CN" altLang="en-US" sz="1000" smtClean="0">
                <a:solidFill>
                  <a:srgbClr val="D3D3D3"/>
                </a:solidFill>
                <a:ea typeface="宋体" panose="02010600030101010101" pitchFamily="2" charset="-122"/>
              </a:rPr>
              <a:pPr algn="r" eaLnBrk="0" fontAlgn="base" hangingPunct="0">
                <a:spcAft>
                  <a:spcPct val="0"/>
                </a:spcAft>
              </a:pPr>
              <a:t>‹#›</a:t>
            </a:fld>
            <a:endParaRPr lang="en-US" altLang="zh-CN" sz="1000" smtClean="0">
              <a:solidFill>
                <a:srgbClr val="D3D3D3"/>
              </a:solidFill>
              <a:ea typeface="宋体" panose="02010600030101010101" pitchFamily="2" charset="-122"/>
            </a:endParaRPr>
          </a:p>
        </p:txBody>
      </p:sp>
      <p:sp>
        <p:nvSpPr>
          <p:cNvPr id="133427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74185" y="1781176"/>
            <a:ext cx="10587567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334279" name="Rectangle 7"/>
          <p:cNvSpPr>
            <a:spLocks noChangeArrowheads="1"/>
          </p:cNvSpPr>
          <p:nvPr/>
        </p:nvSpPr>
        <p:spPr bwMode="auto">
          <a:xfrm>
            <a:off x="3898900" y="6615453"/>
            <a:ext cx="1345662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zh-CN" altLang="en-US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思科网络技术学院理事会</a:t>
            </a:r>
            <a:r>
              <a:rPr lang="en-US" altLang="zh-CN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.</a:t>
            </a:r>
          </a:p>
        </p:txBody>
      </p:sp>
      <p:sp>
        <p:nvSpPr>
          <p:cNvPr id="1334280" name="Rectangle 8"/>
          <p:cNvSpPr>
            <a:spLocks noChangeArrowheads="1"/>
          </p:cNvSpPr>
          <p:nvPr/>
        </p:nvSpPr>
        <p:spPr bwMode="auto">
          <a:xfrm>
            <a:off x="6102135" y="6615453"/>
            <a:ext cx="1204598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r>
              <a:rPr lang="en-US" altLang="zh-CN" sz="800" smtClean="0">
                <a:solidFill>
                  <a:srgbClr val="0183B7"/>
                </a:solidFill>
                <a:ea typeface="宋体" panose="02010600030101010101" pitchFamily="2" charset="-122"/>
                <a:hlinkClick r:id="rId13"/>
              </a:rPr>
              <a:t>http://www.catc.edu.cn</a:t>
            </a:r>
            <a:endParaRPr lang="en-US" altLang="zh-CN" sz="800" smtClean="0">
              <a:solidFill>
                <a:srgbClr val="0183B7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040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2pPr>
      <a:lvl3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3pPr>
      <a:lvl4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4pPr>
      <a:lvl5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46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5412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66610" y="1884459"/>
            <a:ext cx="10515600" cy="2512614"/>
          </a:xfrm>
        </p:spPr>
        <p:txBody>
          <a:bodyPr>
            <a:noAutofit/>
          </a:bodyPr>
          <a:lstStyle/>
          <a:p>
            <a:pPr algn="ctr" eaLnBrk="0" hangingPunct="0">
              <a:lnSpc>
                <a:spcPct val="150000"/>
              </a:lnSpc>
              <a:defRPr/>
            </a:pPr>
            <a:r>
              <a:rPr lang="zh-CN" altLang="en-US" sz="3975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en-US" altLang="zh-CN" sz="3975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sz="3975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sz="3975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3975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动态路由协议</a:t>
            </a:r>
            <a:r>
              <a:rPr lang="en-US" altLang="zh-CN" sz="3975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OSPF</a:t>
            </a:r>
            <a:r>
              <a:rPr lang="zh-CN" altLang="en-US" sz="3975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配</a:t>
            </a:r>
            <a:r>
              <a:rPr lang="zh-CN" altLang="en-US" sz="3975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置</a:t>
            </a:r>
            <a:endParaRPr lang="zh-CN" altLang="en-US" sz="3975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783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754879" y="175297"/>
            <a:ext cx="6122504" cy="858837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动态路由协议基础概念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6491" y="1649248"/>
            <a:ext cx="6186115" cy="2372001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动态路由协议的</a:t>
            </a:r>
            <a:r>
              <a:rPr lang="zh-CN" altLang="en-US" sz="28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作用</a:t>
            </a:r>
            <a:endParaRPr lang="en-US" altLang="zh-CN" sz="2800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Char char="l"/>
            </a:pPr>
            <a:endParaRPr lang="en-US" altLang="zh-CN" sz="10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动态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分享两个路由器之间的</a:t>
            </a: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信息</a:t>
            </a:r>
            <a:endParaRPr lang="en-US" altLang="zh-CN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en-US" altLang="zh-CN" sz="10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拓扑改变时</a:t>
            </a: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自动更新</a:t>
            </a:r>
            <a:endParaRPr lang="en-US" altLang="zh-CN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en-US" altLang="zh-CN" sz="10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确定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到达目的的最佳</a:t>
            </a: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</a:t>
            </a:r>
            <a:endParaRPr lang="en-US" altLang="zh-CN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1748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6846" y="2163763"/>
            <a:ext cx="4397071" cy="350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9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482" y="1649248"/>
            <a:ext cx="3539863" cy="514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615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0" y="1315749"/>
            <a:ext cx="8059737" cy="2636050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动态路由协议的用途</a:t>
            </a:r>
            <a:r>
              <a:rPr lang="en-US" altLang="zh-CN" sz="28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Char char="l"/>
            </a:pPr>
            <a:endParaRPr lang="en-US" altLang="zh-CN" sz="10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发现远程</a:t>
            </a: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</a:t>
            </a:r>
            <a:endParaRPr lang="en-US" altLang="zh-CN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zh-CN" altLang="en-US" sz="1000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维护最新路由信息</a:t>
            </a:r>
            <a:endParaRPr lang="en-US" altLang="zh-CN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zh-CN" altLang="en-US" sz="10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选择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通往目的网络的最佳</a:t>
            </a: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</a:t>
            </a:r>
            <a:endParaRPr lang="en-US" altLang="zh-CN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zh-CN" altLang="en-US" sz="10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当前</a:t>
            </a:r>
            <a:r>
              <a:rPr lang="zh-CN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路径无法使用时找出新的最佳路径</a:t>
            </a:r>
            <a:endParaRPr lang="en-US" altLang="zh-CN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3796" name="Picture 8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1327" y="3693188"/>
            <a:ext cx="7716819" cy="2787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754879" y="175297"/>
            <a:ext cx="6122504" cy="858837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动态路由协议基础概念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2634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99041" y="1372394"/>
            <a:ext cx="8032750" cy="434975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相对于静态路由协议</a:t>
            </a:r>
          </a:p>
        </p:txBody>
      </p:sp>
      <p:pic>
        <p:nvPicPr>
          <p:cNvPr id="3789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241" y="1908596"/>
            <a:ext cx="8197795" cy="4806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754879" y="175297"/>
            <a:ext cx="6122504" cy="858837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动态路由协议基础概念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256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293992" y="1422091"/>
            <a:ext cx="4691476" cy="655637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动态路由协议的分类</a:t>
            </a:r>
          </a:p>
        </p:txBody>
      </p:sp>
      <p:pic>
        <p:nvPicPr>
          <p:cNvPr id="40964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294" y="1843510"/>
            <a:ext cx="8119601" cy="483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754879" y="175297"/>
            <a:ext cx="6122504" cy="858837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动态路由协议基础概念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033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Text Box 4"/>
          <p:cNvSpPr txBox="1">
            <a:spLocks noChangeArrowheads="1"/>
          </p:cNvSpPr>
          <p:nvPr/>
        </p:nvSpPr>
        <p:spPr bwMode="auto">
          <a:xfrm>
            <a:off x="335278" y="1309977"/>
            <a:ext cx="11742753" cy="596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</a:t>
            </a:r>
            <a:r>
              <a:rPr lang="zh-CN" altLang="en-US" sz="28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的动态</a:t>
            </a:r>
            <a:r>
              <a:rPr lang="zh-CN" altLang="en-US" sz="28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路由协议</a:t>
            </a:r>
            <a:endParaRPr lang="zh-CN" altLang="en-US" sz="28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kumimoji="1" lang="zh-CN" altLang="en-US" sz="1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638175" lvl="2" indent="-342900" eaLnBrk="1" fontAlgn="base" hangingPunct="1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en-US" altLang="zh-CN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RIP 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Routing Information Protocol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）：适用于小型网络内，如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校园网。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 eaLnBrk="1" fontAlgn="base" hangingPunct="1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en-US" altLang="zh-CN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OSPF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Open Shortest Path First Protocol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）：常用于中、大型网络内，如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广域网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、城域网和大型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校园网。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 eaLnBrk="1" fontAlgn="base" hangingPunct="1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en-US" altLang="zh-CN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BGP4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Border Gateway Protocol v4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）：用于大型网络之间的互联，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CERENT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 err="1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ChinaNet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之间。 </a:t>
            </a:r>
          </a:p>
          <a:p>
            <a:pPr eaLnBrk="1" hangingPunct="1"/>
            <a:endParaRPr kumimoji="1"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动态路由协议</a:t>
            </a:r>
            <a:r>
              <a:rPr lang="zh-CN" altLang="en-US" sz="28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分类  </a:t>
            </a:r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endParaRPr lang="zh-CN" altLang="en-US" sz="10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38175" lvl="2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按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路由选择算法分，大致可分成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类：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095375" lvl="3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距离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矢量路由选择（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Distance Vector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552575" lvl="4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确定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到达任一网络的方向（矢量）和距离（跳数），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RIP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095375" lvl="3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链路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状态路由选择（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Link State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552575" lvl="4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重建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整个网络精确拓扑结构，有较快的路由更新收敛度，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OSPF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095375" lvl="3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混合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路由选择（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Hybrid Routing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552575" lvl="4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距离矢量和链路状态两种算法的结合，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IS-IS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IGRP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marL="638175" lvl="2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754879" y="175297"/>
            <a:ext cx="6122504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动态路由协议基础概念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526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Line 283"/>
          <p:cNvSpPr>
            <a:spLocks noChangeShapeType="1"/>
          </p:cNvSpPr>
          <p:nvPr/>
        </p:nvSpPr>
        <p:spPr bwMode="auto">
          <a:xfrm flipH="1" flipV="1">
            <a:off x="8382000" y="3595971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1" name="Line 282"/>
          <p:cNvSpPr>
            <a:spLocks noChangeShapeType="1"/>
          </p:cNvSpPr>
          <p:nvPr/>
        </p:nvSpPr>
        <p:spPr bwMode="auto">
          <a:xfrm flipV="1">
            <a:off x="7620000" y="3672171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2" name="Line 281"/>
          <p:cNvSpPr>
            <a:spLocks noChangeShapeType="1"/>
          </p:cNvSpPr>
          <p:nvPr/>
        </p:nvSpPr>
        <p:spPr bwMode="auto">
          <a:xfrm>
            <a:off x="6019800" y="3595971"/>
            <a:ext cx="914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3" name="Line 280"/>
          <p:cNvSpPr>
            <a:spLocks noChangeShapeType="1"/>
          </p:cNvSpPr>
          <p:nvPr/>
        </p:nvSpPr>
        <p:spPr bwMode="auto">
          <a:xfrm flipV="1">
            <a:off x="5334000" y="3672171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4" name="Line 279"/>
          <p:cNvSpPr>
            <a:spLocks noChangeShapeType="1"/>
          </p:cNvSpPr>
          <p:nvPr/>
        </p:nvSpPr>
        <p:spPr bwMode="auto">
          <a:xfrm>
            <a:off x="3810000" y="3672171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5" name="Line 278"/>
          <p:cNvSpPr>
            <a:spLocks noChangeShapeType="1"/>
          </p:cNvSpPr>
          <p:nvPr/>
        </p:nvSpPr>
        <p:spPr bwMode="auto">
          <a:xfrm flipV="1">
            <a:off x="2971800" y="3672171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6" name="Line 95"/>
          <p:cNvSpPr>
            <a:spLocks noChangeShapeType="1"/>
          </p:cNvSpPr>
          <p:nvPr/>
        </p:nvSpPr>
        <p:spPr bwMode="auto">
          <a:xfrm flipV="1">
            <a:off x="3124200" y="3748371"/>
            <a:ext cx="5867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7" name="Text Box 2"/>
          <p:cNvSpPr txBox="1">
            <a:spLocks noChangeArrowheads="1"/>
          </p:cNvSpPr>
          <p:nvPr/>
        </p:nvSpPr>
        <p:spPr bwMode="auto">
          <a:xfrm>
            <a:off x="5191619" y="235171"/>
            <a:ext cx="430117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距离矢量路由算法</a:t>
            </a:r>
            <a:endParaRPr lang="zh-CN" altLang="en-US" sz="40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83978" name="Text Box 4"/>
          <p:cNvSpPr txBox="1">
            <a:spLocks noChangeArrowheads="1"/>
          </p:cNvSpPr>
          <p:nvPr/>
        </p:nvSpPr>
        <p:spPr bwMode="auto">
          <a:xfrm>
            <a:off x="111045" y="1425310"/>
            <a:ext cx="12115959" cy="866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638175" lvl="2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定期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秒）在相邻路由器之间传送路由表的拷贝，计算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可达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网络的距离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zh-CN" altLang="en-US" sz="10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路由器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之间更新和交流网络拓扑结构的改变，但路由器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不掌握全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网的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确切拓扑结构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3979" name="Group 29"/>
          <p:cNvGrpSpPr>
            <a:grpSpLocks/>
          </p:cNvGrpSpPr>
          <p:nvPr/>
        </p:nvGrpSpPr>
        <p:grpSpPr bwMode="auto">
          <a:xfrm>
            <a:off x="8001000" y="3484847"/>
            <a:ext cx="744538" cy="492125"/>
            <a:chOff x="2270" y="1488"/>
            <a:chExt cx="756" cy="384"/>
          </a:xfrm>
        </p:grpSpPr>
        <p:sp>
          <p:nvSpPr>
            <p:cNvPr id="84165" name="Rectangle 30"/>
            <p:cNvSpPr>
              <a:spLocks noChangeArrowheads="1"/>
            </p:cNvSpPr>
            <p:nvPr/>
          </p:nvSpPr>
          <p:spPr bwMode="auto">
            <a:xfrm>
              <a:off x="2272" y="1631"/>
              <a:ext cx="754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66" name="Oval 31"/>
            <p:cNvSpPr>
              <a:spLocks noChangeArrowheads="1"/>
            </p:cNvSpPr>
            <p:nvPr/>
          </p:nvSpPr>
          <p:spPr bwMode="auto">
            <a:xfrm>
              <a:off x="2287" y="1643"/>
              <a:ext cx="737" cy="22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67" name="Oval 32"/>
            <p:cNvSpPr>
              <a:spLocks noChangeArrowheads="1"/>
            </p:cNvSpPr>
            <p:nvPr/>
          </p:nvSpPr>
          <p:spPr bwMode="auto">
            <a:xfrm>
              <a:off x="2287" y="1513"/>
              <a:ext cx="737" cy="22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68" name="Rectangle 33"/>
            <p:cNvSpPr>
              <a:spLocks noChangeArrowheads="1"/>
            </p:cNvSpPr>
            <p:nvPr/>
          </p:nvSpPr>
          <p:spPr bwMode="auto">
            <a:xfrm>
              <a:off x="2271" y="1609"/>
              <a:ext cx="739" cy="120"/>
            </a:xfrm>
            <a:prstGeom prst="rect">
              <a:avLst/>
            </a:prstGeom>
            <a:solidFill>
              <a:srgbClr val="004E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69" name="Oval 34"/>
            <p:cNvSpPr>
              <a:spLocks noChangeArrowheads="1"/>
            </p:cNvSpPr>
            <p:nvPr/>
          </p:nvSpPr>
          <p:spPr bwMode="auto">
            <a:xfrm>
              <a:off x="2270" y="1618"/>
              <a:ext cx="740" cy="229"/>
            </a:xfrm>
            <a:prstGeom prst="ellipse">
              <a:avLst/>
            </a:prstGeom>
            <a:solidFill>
              <a:srgbClr val="004E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70" name="Oval 35"/>
            <p:cNvSpPr>
              <a:spLocks noChangeArrowheads="1"/>
            </p:cNvSpPr>
            <p:nvPr/>
          </p:nvSpPr>
          <p:spPr bwMode="auto">
            <a:xfrm>
              <a:off x="2270" y="1488"/>
              <a:ext cx="740" cy="229"/>
            </a:xfrm>
            <a:prstGeom prst="ellipse">
              <a:avLst/>
            </a:prstGeom>
            <a:solidFill>
              <a:srgbClr val="558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4171" name="Group 36"/>
            <p:cNvGrpSpPr>
              <a:grpSpLocks/>
            </p:cNvGrpSpPr>
            <p:nvPr/>
          </p:nvGrpSpPr>
          <p:grpSpPr bwMode="auto">
            <a:xfrm>
              <a:off x="2400" y="1524"/>
              <a:ext cx="472" cy="168"/>
              <a:chOff x="2375" y="1422"/>
              <a:chExt cx="273" cy="142"/>
            </a:xfrm>
          </p:grpSpPr>
          <p:grpSp>
            <p:nvGrpSpPr>
              <p:cNvPr id="84172" name="Group 37"/>
              <p:cNvGrpSpPr>
                <a:grpSpLocks/>
              </p:cNvGrpSpPr>
              <p:nvPr/>
            </p:nvGrpSpPr>
            <p:grpSpPr bwMode="auto">
              <a:xfrm>
                <a:off x="2375" y="1422"/>
                <a:ext cx="273" cy="142"/>
                <a:chOff x="2375" y="1422"/>
                <a:chExt cx="273" cy="142"/>
              </a:xfrm>
            </p:grpSpPr>
            <p:sp>
              <p:nvSpPr>
                <p:cNvPr id="84176" name="Freeform 38"/>
                <p:cNvSpPr>
                  <a:spLocks/>
                </p:cNvSpPr>
                <p:nvPr/>
              </p:nvSpPr>
              <p:spPr bwMode="auto">
                <a:xfrm>
                  <a:off x="2375" y="1422"/>
                  <a:ext cx="123" cy="51"/>
                </a:xfrm>
                <a:custGeom>
                  <a:avLst/>
                  <a:gdLst>
                    <a:gd name="T0" fmla="*/ 0 w 123"/>
                    <a:gd name="T1" fmla="*/ 8 h 51"/>
                    <a:gd name="T2" fmla="*/ 30 w 123"/>
                    <a:gd name="T3" fmla="*/ 0 h 51"/>
                    <a:gd name="T4" fmla="*/ 91 w 123"/>
                    <a:gd name="T5" fmla="*/ 25 h 51"/>
                    <a:gd name="T6" fmla="*/ 122 w 123"/>
                    <a:gd name="T7" fmla="*/ 17 h 51"/>
                    <a:gd name="T8" fmla="*/ 114 w 123"/>
                    <a:gd name="T9" fmla="*/ 50 h 51"/>
                    <a:gd name="T10" fmla="*/ 30 w 123"/>
                    <a:gd name="T11" fmla="*/ 50 h 51"/>
                    <a:gd name="T12" fmla="*/ 68 w 123"/>
                    <a:gd name="T13" fmla="*/ 33 h 51"/>
                    <a:gd name="T14" fmla="*/ 0 w 123"/>
                    <a:gd name="T15" fmla="*/ 8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3" h="51">
                      <a:moveTo>
                        <a:pt x="0" y="8"/>
                      </a:moveTo>
                      <a:lnTo>
                        <a:pt x="30" y="0"/>
                      </a:lnTo>
                      <a:lnTo>
                        <a:pt x="91" y="25"/>
                      </a:lnTo>
                      <a:lnTo>
                        <a:pt x="122" y="17"/>
                      </a:lnTo>
                      <a:lnTo>
                        <a:pt x="114" y="50"/>
                      </a:lnTo>
                      <a:lnTo>
                        <a:pt x="30" y="50"/>
                      </a:lnTo>
                      <a:lnTo>
                        <a:pt x="68" y="33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177" name="Freeform 39"/>
                <p:cNvSpPr>
                  <a:spLocks/>
                </p:cNvSpPr>
                <p:nvPr/>
              </p:nvSpPr>
              <p:spPr bwMode="auto">
                <a:xfrm>
                  <a:off x="2522" y="1513"/>
                  <a:ext cx="126" cy="51"/>
                </a:xfrm>
                <a:custGeom>
                  <a:avLst/>
                  <a:gdLst>
                    <a:gd name="T0" fmla="*/ 125 w 126"/>
                    <a:gd name="T1" fmla="*/ 42 h 51"/>
                    <a:gd name="T2" fmla="*/ 93 w 126"/>
                    <a:gd name="T3" fmla="*/ 50 h 51"/>
                    <a:gd name="T4" fmla="*/ 31 w 126"/>
                    <a:gd name="T5" fmla="*/ 25 h 51"/>
                    <a:gd name="T6" fmla="*/ 0 w 126"/>
                    <a:gd name="T7" fmla="*/ 42 h 51"/>
                    <a:gd name="T8" fmla="*/ 7 w 126"/>
                    <a:gd name="T9" fmla="*/ 0 h 51"/>
                    <a:gd name="T10" fmla="*/ 93 w 126"/>
                    <a:gd name="T11" fmla="*/ 0 h 51"/>
                    <a:gd name="T12" fmla="*/ 62 w 126"/>
                    <a:gd name="T13" fmla="*/ 17 h 51"/>
                    <a:gd name="T14" fmla="*/ 125 w 126"/>
                    <a:gd name="T15" fmla="*/ 42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6" h="51">
                      <a:moveTo>
                        <a:pt x="125" y="42"/>
                      </a:moveTo>
                      <a:lnTo>
                        <a:pt x="93" y="50"/>
                      </a:lnTo>
                      <a:lnTo>
                        <a:pt x="31" y="25"/>
                      </a:lnTo>
                      <a:lnTo>
                        <a:pt x="0" y="42"/>
                      </a:lnTo>
                      <a:lnTo>
                        <a:pt x="7" y="0"/>
                      </a:lnTo>
                      <a:lnTo>
                        <a:pt x="93" y="0"/>
                      </a:lnTo>
                      <a:lnTo>
                        <a:pt x="62" y="17"/>
                      </a:lnTo>
                      <a:lnTo>
                        <a:pt x="125" y="42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173" name="Group 40"/>
              <p:cNvGrpSpPr>
                <a:grpSpLocks/>
              </p:cNvGrpSpPr>
              <p:nvPr/>
            </p:nvGrpSpPr>
            <p:grpSpPr bwMode="auto">
              <a:xfrm>
                <a:off x="2390" y="1422"/>
                <a:ext cx="249" cy="142"/>
                <a:chOff x="2390" y="1422"/>
                <a:chExt cx="249" cy="142"/>
              </a:xfrm>
            </p:grpSpPr>
            <p:sp>
              <p:nvSpPr>
                <p:cNvPr id="84174" name="Freeform 41"/>
                <p:cNvSpPr>
                  <a:spLocks/>
                </p:cNvSpPr>
                <p:nvPr/>
              </p:nvSpPr>
              <p:spPr bwMode="auto">
                <a:xfrm>
                  <a:off x="2515" y="1422"/>
                  <a:ext cx="124" cy="51"/>
                </a:xfrm>
                <a:custGeom>
                  <a:avLst/>
                  <a:gdLst>
                    <a:gd name="T0" fmla="*/ 0 w 124"/>
                    <a:gd name="T1" fmla="*/ 33 h 51"/>
                    <a:gd name="T2" fmla="*/ 30 w 124"/>
                    <a:gd name="T3" fmla="*/ 50 h 51"/>
                    <a:gd name="T4" fmla="*/ 92 w 124"/>
                    <a:gd name="T5" fmla="*/ 17 h 51"/>
                    <a:gd name="T6" fmla="*/ 123 w 124"/>
                    <a:gd name="T7" fmla="*/ 25 h 51"/>
                    <a:gd name="T8" fmla="*/ 107 w 124"/>
                    <a:gd name="T9" fmla="*/ 0 h 51"/>
                    <a:gd name="T10" fmla="*/ 30 w 124"/>
                    <a:gd name="T11" fmla="*/ 0 h 51"/>
                    <a:gd name="T12" fmla="*/ 69 w 124"/>
                    <a:gd name="T13" fmla="*/ 8 h 51"/>
                    <a:gd name="T14" fmla="*/ 0 w 124"/>
                    <a:gd name="T15" fmla="*/ 33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4" h="51">
                      <a:moveTo>
                        <a:pt x="0" y="33"/>
                      </a:moveTo>
                      <a:lnTo>
                        <a:pt x="30" y="50"/>
                      </a:lnTo>
                      <a:lnTo>
                        <a:pt x="92" y="17"/>
                      </a:lnTo>
                      <a:lnTo>
                        <a:pt x="123" y="25"/>
                      </a:lnTo>
                      <a:lnTo>
                        <a:pt x="107" y="0"/>
                      </a:lnTo>
                      <a:lnTo>
                        <a:pt x="30" y="0"/>
                      </a:lnTo>
                      <a:lnTo>
                        <a:pt x="69" y="8"/>
                      </a:lnTo>
                      <a:lnTo>
                        <a:pt x="0" y="33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175" name="Freeform 42"/>
                <p:cNvSpPr>
                  <a:spLocks/>
                </p:cNvSpPr>
                <p:nvPr/>
              </p:nvSpPr>
              <p:spPr bwMode="auto">
                <a:xfrm>
                  <a:off x="2390" y="1502"/>
                  <a:ext cx="117" cy="62"/>
                </a:xfrm>
                <a:custGeom>
                  <a:avLst/>
                  <a:gdLst>
                    <a:gd name="T0" fmla="*/ 116 w 117"/>
                    <a:gd name="T1" fmla="*/ 9 h 62"/>
                    <a:gd name="T2" fmla="*/ 85 w 117"/>
                    <a:gd name="T3" fmla="*/ 0 h 62"/>
                    <a:gd name="T4" fmla="*/ 23 w 117"/>
                    <a:gd name="T5" fmla="*/ 35 h 62"/>
                    <a:gd name="T6" fmla="*/ 0 w 117"/>
                    <a:gd name="T7" fmla="*/ 26 h 62"/>
                    <a:gd name="T8" fmla="*/ 7 w 117"/>
                    <a:gd name="T9" fmla="*/ 61 h 62"/>
                    <a:gd name="T10" fmla="*/ 85 w 117"/>
                    <a:gd name="T11" fmla="*/ 61 h 62"/>
                    <a:gd name="T12" fmla="*/ 46 w 117"/>
                    <a:gd name="T13" fmla="*/ 52 h 62"/>
                    <a:gd name="T14" fmla="*/ 116 w 117"/>
                    <a:gd name="T15" fmla="*/ 9 h 6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17" h="62">
                      <a:moveTo>
                        <a:pt x="116" y="9"/>
                      </a:moveTo>
                      <a:lnTo>
                        <a:pt x="85" y="0"/>
                      </a:lnTo>
                      <a:lnTo>
                        <a:pt x="23" y="35"/>
                      </a:lnTo>
                      <a:lnTo>
                        <a:pt x="0" y="26"/>
                      </a:lnTo>
                      <a:lnTo>
                        <a:pt x="7" y="61"/>
                      </a:lnTo>
                      <a:lnTo>
                        <a:pt x="85" y="61"/>
                      </a:lnTo>
                      <a:lnTo>
                        <a:pt x="46" y="52"/>
                      </a:lnTo>
                      <a:lnTo>
                        <a:pt x="116" y="9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3980" name="Group 43"/>
          <p:cNvGrpSpPr>
            <a:grpSpLocks/>
          </p:cNvGrpSpPr>
          <p:nvPr/>
        </p:nvGrpSpPr>
        <p:grpSpPr bwMode="auto">
          <a:xfrm>
            <a:off x="4419600" y="3367371"/>
            <a:ext cx="990600" cy="838200"/>
            <a:chOff x="3152" y="2518"/>
            <a:chExt cx="336" cy="223"/>
          </a:xfrm>
        </p:grpSpPr>
        <p:grpSp>
          <p:nvGrpSpPr>
            <p:cNvPr id="84142" name="Group 44"/>
            <p:cNvGrpSpPr>
              <a:grpSpLocks/>
            </p:cNvGrpSpPr>
            <p:nvPr/>
          </p:nvGrpSpPr>
          <p:grpSpPr bwMode="auto">
            <a:xfrm>
              <a:off x="3152" y="2518"/>
              <a:ext cx="336" cy="223"/>
              <a:chOff x="3152" y="2518"/>
              <a:chExt cx="336" cy="223"/>
            </a:xfrm>
          </p:grpSpPr>
          <p:sp>
            <p:nvSpPr>
              <p:cNvPr id="84146" name="Oval 45"/>
              <p:cNvSpPr>
                <a:spLocks noChangeArrowheads="1"/>
              </p:cNvSpPr>
              <p:nvPr/>
            </p:nvSpPr>
            <p:spPr bwMode="auto">
              <a:xfrm>
                <a:off x="3198" y="2526"/>
                <a:ext cx="92" cy="81"/>
              </a:xfrm>
              <a:prstGeom prst="ellipse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4147" name="Oval 46"/>
              <p:cNvSpPr>
                <a:spLocks noChangeArrowheads="1"/>
              </p:cNvSpPr>
              <p:nvPr/>
            </p:nvSpPr>
            <p:spPr bwMode="auto">
              <a:xfrm>
                <a:off x="3152" y="2570"/>
                <a:ext cx="124" cy="71"/>
              </a:xfrm>
              <a:prstGeom prst="ellips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4148" name="Group 47"/>
              <p:cNvGrpSpPr>
                <a:grpSpLocks/>
              </p:cNvGrpSpPr>
              <p:nvPr/>
            </p:nvGrpSpPr>
            <p:grpSpPr bwMode="auto">
              <a:xfrm>
                <a:off x="3182" y="2623"/>
                <a:ext cx="140" cy="106"/>
                <a:chOff x="3182" y="2623"/>
                <a:chExt cx="140" cy="106"/>
              </a:xfrm>
            </p:grpSpPr>
            <p:sp>
              <p:nvSpPr>
                <p:cNvPr id="84163" name="Oval 48"/>
                <p:cNvSpPr>
                  <a:spLocks noChangeArrowheads="1"/>
                </p:cNvSpPr>
                <p:nvPr/>
              </p:nvSpPr>
              <p:spPr bwMode="auto">
                <a:xfrm>
                  <a:off x="3230" y="2671"/>
                  <a:ext cx="92" cy="58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164" name="Oval 49"/>
                <p:cNvSpPr>
                  <a:spLocks noChangeArrowheads="1"/>
                </p:cNvSpPr>
                <p:nvPr/>
              </p:nvSpPr>
              <p:spPr bwMode="auto">
                <a:xfrm>
                  <a:off x="3182" y="2623"/>
                  <a:ext cx="94" cy="58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4149" name="Group 50"/>
              <p:cNvGrpSpPr>
                <a:grpSpLocks/>
              </p:cNvGrpSpPr>
              <p:nvPr/>
            </p:nvGrpSpPr>
            <p:grpSpPr bwMode="auto">
              <a:xfrm>
                <a:off x="3194" y="2526"/>
                <a:ext cx="288" cy="215"/>
                <a:chOff x="3194" y="2526"/>
                <a:chExt cx="288" cy="215"/>
              </a:xfrm>
            </p:grpSpPr>
            <p:grpSp>
              <p:nvGrpSpPr>
                <p:cNvPr id="84157" name="Group 51"/>
                <p:cNvGrpSpPr>
                  <a:grpSpLocks/>
                </p:cNvGrpSpPr>
                <p:nvPr/>
              </p:nvGrpSpPr>
              <p:grpSpPr bwMode="auto">
                <a:xfrm>
                  <a:off x="3194" y="2526"/>
                  <a:ext cx="262" cy="215"/>
                  <a:chOff x="3194" y="2526"/>
                  <a:chExt cx="262" cy="215"/>
                </a:xfrm>
              </p:grpSpPr>
              <p:sp>
                <p:nvSpPr>
                  <p:cNvPr id="84161" name="Oval 52"/>
                  <p:cNvSpPr>
                    <a:spLocks noChangeArrowheads="1"/>
                  </p:cNvSpPr>
                  <p:nvPr/>
                </p:nvSpPr>
                <p:spPr bwMode="auto">
                  <a:xfrm>
                    <a:off x="3242" y="2574"/>
                    <a:ext cx="214" cy="167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162" name="Oval 53"/>
                  <p:cNvSpPr>
                    <a:spLocks noChangeArrowheads="1"/>
                  </p:cNvSpPr>
                  <p:nvPr/>
                </p:nvSpPr>
                <p:spPr bwMode="auto">
                  <a:xfrm>
                    <a:off x="3194" y="2526"/>
                    <a:ext cx="214" cy="167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84158" name="Group 54"/>
                <p:cNvGrpSpPr>
                  <a:grpSpLocks/>
                </p:cNvGrpSpPr>
                <p:nvPr/>
              </p:nvGrpSpPr>
              <p:grpSpPr bwMode="auto">
                <a:xfrm>
                  <a:off x="3322" y="2544"/>
                  <a:ext cx="160" cy="121"/>
                  <a:chOff x="3322" y="2544"/>
                  <a:chExt cx="160" cy="121"/>
                </a:xfrm>
              </p:grpSpPr>
              <p:sp>
                <p:nvSpPr>
                  <p:cNvPr id="84159" name="Oval 55"/>
                  <p:cNvSpPr>
                    <a:spLocks noChangeArrowheads="1"/>
                  </p:cNvSpPr>
                  <p:nvPr/>
                </p:nvSpPr>
                <p:spPr bwMode="auto">
                  <a:xfrm>
                    <a:off x="3370" y="2591"/>
                    <a:ext cx="112" cy="74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160" name="Oval 56"/>
                  <p:cNvSpPr>
                    <a:spLocks noChangeArrowheads="1"/>
                  </p:cNvSpPr>
                  <p:nvPr/>
                </p:nvSpPr>
                <p:spPr bwMode="auto">
                  <a:xfrm>
                    <a:off x="3322" y="2544"/>
                    <a:ext cx="112" cy="73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84150" name="Group 57"/>
              <p:cNvGrpSpPr>
                <a:grpSpLocks/>
              </p:cNvGrpSpPr>
              <p:nvPr/>
            </p:nvGrpSpPr>
            <p:grpSpPr bwMode="auto">
              <a:xfrm>
                <a:off x="3340" y="2580"/>
                <a:ext cx="148" cy="109"/>
                <a:chOff x="3340" y="2580"/>
                <a:chExt cx="148" cy="109"/>
              </a:xfrm>
            </p:grpSpPr>
            <p:sp>
              <p:nvSpPr>
                <p:cNvPr id="84155" name="Oval 58"/>
                <p:cNvSpPr>
                  <a:spLocks noChangeArrowheads="1"/>
                </p:cNvSpPr>
                <p:nvPr/>
              </p:nvSpPr>
              <p:spPr bwMode="auto">
                <a:xfrm>
                  <a:off x="3388" y="2627"/>
                  <a:ext cx="100" cy="62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156" name="Oval 59"/>
                <p:cNvSpPr>
                  <a:spLocks noChangeArrowheads="1"/>
                </p:cNvSpPr>
                <p:nvPr/>
              </p:nvSpPr>
              <p:spPr bwMode="auto">
                <a:xfrm>
                  <a:off x="3340" y="2580"/>
                  <a:ext cx="102" cy="61"/>
                </a:xfrm>
                <a:prstGeom prst="ellips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4151" name="Group 60"/>
              <p:cNvGrpSpPr>
                <a:grpSpLocks/>
              </p:cNvGrpSpPr>
              <p:nvPr/>
            </p:nvGrpSpPr>
            <p:grpSpPr bwMode="auto">
              <a:xfrm>
                <a:off x="3334" y="2613"/>
                <a:ext cx="130" cy="112"/>
                <a:chOff x="3334" y="2613"/>
                <a:chExt cx="130" cy="112"/>
              </a:xfrm>
            </p:grpSpPr>
            <p:sp>
              <p:nvSpPr>
                <p:cNvPr id="84153" name="Oval 61"/>
                <p:cNvSpPr>
                  <a:spLocks noChangeArrowheads="1"/>
                </p:cNvSpPr>
                <p:nvPr/>
              </p:nvSpPr>
              <p:spPr bwMode="auto">
                <a:xfrm>
                  <a:off x="3382" y="2661"/>
                  <a:ext cx="82" cy="64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154" name="Oval 62"/>
                <p:cNvSpPr>
                  <a:spLocks noChangeArrowheads="1"/>
                </p:cNvSpPr>
                <p:nvPr/>
              </p:nvSpPr>
              <p:spPr bwMode="auto">
                <a:xfrm>
                  <a:off x="3334" y="2613"/>
                  <a:ext cx="82" cy="64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4152" name="Oval 63"/>
              <p:cNvSpPr>
                <a:spLocks noChangeArrowheads="1"/>
              </p:cNvSpPr>
              <p:nvPr/>
            </p:nvSpPr>
            <p:spPr bwMode="auto">
              <a:xfrm>
                <a:off x="3228" y="2518"/>
                <a:ext cx="158" cy="141"/>
              </a:xfrm>
              <a:prstGeom prst="ellipse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4143" name="Rectangle 64"/>
            <p:cNvSpPr>
              <a:spLocks noChangeArrowheads="1"/>
            </p:cNvSpPr>
            <p:nvPr/>
          </p:nvSpPr>
          <p:spPr bwMode="auto">
            <a:xfrm>
              <a:off x="3234" y="2568"/>
              <a:ext cx="168" cy="4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44" name="Oval 65"/>
            <p:cNvSpPr>
              <a:spLocks noChangeArrowheads="1"/>
            </p:cNvSpPr>
            <p:nvPr/>
          </p:nvSpPr>
          <p:spPr bwMode="auto">
            <a:xfrm>
              <a:off x="3206" y="2659"/>
              <a:ext cx="56" cy="2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45" name="Oval 66"/>
            <p:cNvSpPr>
              <a:spLocks noChangeArrowheads="1"/>
            </p:cNvSpPr>
            <p:nvPr/>
          </p:nvSpPr>
          <p:spPr bwMode="auto">
            <a:xfrm>
              <a:off x="3332" y="2651"/>
              <a:ext cx="44" cy="28"/>
            </a:xfrm>
            <a:prstGeom prst="ellipse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3981" name="Group 67"/>
          <p:cNvGrpSpPr>
            <a:grpSpLocks/>
          </p:cNvGrpSpPr>
          <p:nvPr/>
        </p:nvGrpSpPr>
        <p:grpSpPr bwMode="auto">
          <a:xfrm>
            <a:off x="3446464" y="3484847"/>
            <a:ext cx="744537" cy="492125"/>
            <a:chOff x="2270" y="1488"/>
            <a:chExt cx="756" cy="384"/>
          </a:xfrm>
        </p:grpSpPr>
        <p:sp>
          <p:nvSpPr>
            <p:cNvPr id="84129" name="Rectangle 68"/>
            <p:cNvSpPr>
              <a:spLocks noChangeArrowheads="1"/>
            </p:cNvSpPr>
            <p:nvPr/>
          </p:nvSpPr>
          <p:spPr bwMode="auto">
            <a:xfrm>
              <a:off x="2272" y="1631"/>
              <a:ext cx="754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30" name="Oval 69"/>
            <p:cNvSpPr>
              <a:spLocks noChangeArrowheads="1"/>
            </p:cNvSpPr>
            <p:nvPr/>
          </p:nvSpPr>
          <p:spPr bwMode="auto">
            <a:xfrm>
              <a:off x="2287" y="1643"/>
              <a:ext cx="737" cy="22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31" name="Oval 70"/>
            <p:cNvSpPr>
              <a:spLocks noChangeArrowheads="1"/>
            </p:cNvSpPr>
            <p:nvPr/>
          </p:nvSpPr>
          <p:spPr bwMode="auto">
            <a:xfrm>
              <a:off x="2287" y="1513"/>
              <a:ext cx="737" cy="22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32" name="Rectangle 71"/>
            <p:cNvSpPr>
              <a:spLocks noChangeArrowheads="1"/>
            </p:cNvSpPr>
            <p:nvPr/>
          </p:nvSpPr>
          <p:spPr bwMode="auto">
            <a:xfrm>
              <a:off x="2271" y="1609"/>
              <a:ext cx="739" cy="120"/>
            </a:xfrm>
            <a:prstGeom prst="rect">
              <a:avLst/>
            </a:prstGeom>
            <a:solidFill>
              <a:srgbClr val="004E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33" name="Oval 72"/>
            <p:cNvSpPr>
              <a:spLocks noChangeArrowheads="1"/>
            </p:cNvSpPr>
            <p:nvPr/>
          </p:nvSpPr>
          <p:spPr bwMode="auto">
            <a:xfrm>
              <a:off x="2270" y="1618"/>
              <a:ext cx="740" cy="229"/>
            </a:xfrm>
            <a:prstGeom prst="ellipse">
              <a:avLst/>
            </a:prstGeom>
            <a:solidFill>
              <a:srgbClr val="004E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34" name="Oval 73"/>
            <p:cNvSpPr>
              <a:spLocks noChangeArrowheads="1"/>
            </p:cNvSpPr>
            <p:nvPr/>
          </p:nvSpPr>
          <p:spPr bwMode="auto">
            <a:xfrm>
              <a:off x="2270" y="1488"/>
              <a:ext cx="740" cy="229"/>
            </a:xfrm>
            <a:prstGeom prst="ellipse">
              <a:avLst/>
            </a:prstGeom>
            <a:solidFill>
              <a:srgbClr val="558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4135" name="Group 74"/>
            <p:cNvGrpSpPr>
              <a:grpSpLocks/>
            </p:cNvGrpSpPr>
            <p:nvPr/>
          </p:nvGrpSpPr>
          <p:grpSpPr bwMode="auto">
            <a:xfrm>
              <a:off x="2400" y="1524"/>
              <a:ext cx="472" cy="168"/>
              <a:chOff x="2375" y="1422"/>
              <a:chExt cx="273" cy="142"/>
            </a:xfrm>
          </p:grpSpPr>
          <p:grpSp>
            <p:nvGrpSpPr>
              <p:cNvPr id="84136" name="Group 75"/>
              <p:cNvGrpSpPr>
                <a:grpSpLocks/>
              </p:cNvGrpSpPr>
              <p:nvPr/>
            </p:nvGrpSpPr>
            <p:grpSpPr bwMode="auto">
              <a:xfrm>
                <a:off x="2375" y="1422"/>
                <a:ext cx="273" cy="142"/>
                <a:chOff x="2375" y="1422"/>
                <a:chExt cx="273" cy="142"/>
              </a:xfrm>
            </p:grpSpPr>
            <p:sp>
              <p:nvSpPr>
                <p:cNvPr id="84140" name="Freeform 76"/>
                <p:cNvSpPr>
                  <a:spLocks/>
                </p:cNvSpPr>
                <p:nvPr/>
              </p:nvSpPr>
              <p:spPr bwMode="auto">
                <a:xfrm>
                  <a:off x="2375" y="1422"/>
                  <a:ext cx="123" cy="51"/>
                </a:xfrm>
                <a:custGeom>
                  <a:avLst/>
                  <a:gdLst>
                    <a:gd name="T0" fmla="*/ 0 w 123"/>
                    <a:gd name="T1" fmla="*/ 8 h 51"/>
                    <a:gd name="T2" fmla="*/ 30 w 123"/>
                    <a:gd name="T3" fmla="*/ 0 h 51"/>
                    <a:gd name="T4" fmla="*/ 91 w 123"/>
                    <a:gd name="T5" fmla="*/ 25 h 51"/>
                    <a:gd name="T6" fmla="*/ 122 w 123"/>
                    <a:gd name="T7" fmla="*/ 17 h 51"/>
                    <a:gd name="T8" fmla="*/ 114 w 123"/>
                    <a:gd name="T9" fmla="*/ 50 h 51"/>
                    <a:gd name="T10" fmla="*/ 30 w 123"/>
                    <a:gd name="T11" fmla="*/ 50 h 51"/>
                    <a:gd name="T12" fmla="*/ 68 w 123"/>
                    <a:gd name="T13" fmla="*/ 33 h 51"/>
                    <a:gd name="T14" fmla="*/ 0 w 123"/>
                    <a:gd name="T15" fmla="*/ 8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3" h="51">
                      <a:moveTo>
                        <a:pt x="0" y="8"/>
                      </a:moveTo>
                      <a:lnTo>
                        <a:pt x="30" y="0"/>
                      </a:lnTo>
                      <a:lnTo>
                        <a:pt x="91" y="25"/>
                      </a:lnTo>
                      <a:lnTo>
                        <a:pt x="122" y="17"/>
                      </a:lnTo>
                      <a:lnTo>
                        <a:pt x="114" y="50"/>
                      </a:lnTo>
                      <a:lnTo>
                        <a:pt x="30" y="50"/>
                      </a:lnTo>
                      <a:lnTo>
                        <a:pt x="68" y="33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141" name="Freeform 77"/>
                <p:cNvSpPr>
                  <a:spLocks/>
                </p:cNvSpPr>
                <p:nvPr/>
              </p:nvSpPr>
              <p:spPr bwMode="auto">
                <a:xfrm>
                  <a:off x="2522" y="1513"/>
                  <a:ext cx="126" cy="51"/>
                </a:xfrm>
                <a:custGeom>
                  <a:avLst/>
                  <a:gdLst>
                    <a:gd name="T0" fmla="*/ 125 w 126"/>
                    <a:gd name="T1" fmla="*/ 42 h 51"/>
                    <a:gd name="T2" fmla="*/ 93 w 126"/>
                    <a:gd name="T3" fmla="*/ 50 h 51"/>
                    <a:gd name="T4" fmla="*/ 31 w 126"/>
                    <a:gd name="T5" fmla="*/ 25 h 51"/>
                    <a:gd name="T6" fmla="*/ 0 w 126"/>
                    <a:gd name="T7" fmla="*/ 42 h 51"/>
                    <a:gd name="T8" fmla="*/ 7 w 126"/>
                    <a:gd name="T9" fmla="*/ 0 h 51"/>
                    <a:gd name="T10" fmla="*/ 93 w 126"/>
                    <a:gd name="T11" fmla="*/ 0 h 51"/>
                    <a:gd name="T12" fmla="*/ 62 w 126"/>
                    <a:gd name="T13" fmla="*/ 17 h 51"/>
                    <a:gd name="T14" fmla="*/ 125 w 126"/>
                    <a:gd name="T15" fmla="*/ 42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6" h="51">
                      <a:moveTo>
                        <a:pt x="125" y="42"/>
                      </a:moveTo>
                      <a:lnTo>
                        <a:pt x="93" y="50"/>
                      </a:lnTo>
                      <a:lnTo>
                        <a:pt x="31" y="25"/>
                      </a:lnTo>
                      <a:lnTo>
                        <a:pt x="0" y="42"/>
                      </a:lnTo>
                      <a:lnTo>
                        <a:pt x="7" y="0"/>
                      </a:lnTo>
                      <a:lnTo>
                        <a:pt x="93" y="0"/>
                      </a:lnTo>
                      <a:lnTo>
                        <a:pt x="62" y="17"/>
                      </a:lnTo>
                      <a:lnTo>
                        <a:pt x="125" y="42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137" name="Group 78"/>
              <p:cNvGrpSpPr>
                <a:grpSpLocks/>
              </p:cNvGrpSpPr>
              <p:nvPr/>
            </p:nvGrpSpPr>
            <p:grpSpPr bwMode="auto">
              <a:xfrm>
                <a:off x="2390" y="1422"/>
                <a:ext cx="249" cy="142"/>
                <a:chOff x="2390" y="1422"/>
                <a:chExt cx="249" cy="142"/>
              </a:xfrm>
            </p:grpSpPr>
            <p:sp>
              <p:nvSpPr>
                <p:cNvPr id="84138" name="Freeform 79"/>
                <p:cNvSpPr>
                  <a:spLocks/>
                </p:cNvSpPr>
                <p:nvPr/>
              </p:nvSpPr>
              <p:spPr bwMode="auto">
                <a:xfrm>
                  <a:off x="2515" y="1422"/>
                  <a:ext cx="124" cy="51"/>
                </a:xfrm>
                <a:custGeom>
                  <a:avLst/>
                  <a:gdLst>
                    <a:gd name="T0" fmla="*/ 0 w 124"/>
                    <a:gd name="T1" fmla="*/ 33 h 51"/>
                    <a:gd name="T2" fmla="*/ 30 w 124"/>
                    <a:gd name="T3" fmla="*/ 50 h 51"/>
                    <a:gd name="T4" fmla="*/ 92 w 124"/>
                    <a:gd name="T5" fmla="*/ 17 h 51"/>
                    <a:gd name="T6" fmla="*/ 123 w 124"/>
                    <a:gd name="T7" fmla="*/ 25 h 51"/>
                    <a:gd name="T8" fmla="*/ 107 w 124"/>
                    <a:gd name="T9" fmla="*/ 0 h 51"/>
                    <a:gd name="T10" fmla="*/ 30 w 124"/>
                    <a:gd name="T11" fmla="*/ 0 h 51"/>
                    <a:gd name="T12" fmla="*/ 69 w 124"/>
                    <a:gd name="T13" fmla="*/ 8 h 51"/>
                    <a:gd name="T14" fmla="*/ 0 w 124"/>
                    <a:gd name="T15" fmla="*/ 33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4" h="51">
                      <a:moveTo>
                        <a:pt x="0" y="33"/>
                      </a:moveTo>
                      <a:lnTo>
                        <a:pt x="30" y="50"/>
                      </a:lnTo>
                      <a:lnTo>
                        <a:pt x="92" y="17"/>
                      </a:lnTo>
                      <a:lnTo>
                        <a:pt x="123" y="25"/>
                      </a:lnTo>
                      <a:lnTo>
                        <a:pt x="107" y="0"/>
                      </a:lnTo>
                      <a:lnTo>
                        <a:pt x="30" y="0"/>
                      </a:lnTo>
                      <a:lnTo>
                        <a:pt x="69" y="8"/>
                      </a:lnTo>
                      <a:lnTo>
                        <a:pt x="0" y="33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139" name="Freeform 80"/>
                <p:cNvSpPr>
                  <a:spLocks/>
                </p:cNvSpPr>
                <p:nvPr/>
              </p:nvSpPr>
              <p:spPr bwMode="auto">
                <a:xfrm>
                  <a:off x="2390" y="1502"/>
                  <a:ext cx="117" cy="62"/>
                </a:xfrm>
                <a:custGeom>
                  <a:avLst/>
                  <a:gdLst>
                    <a:gd name="T0" fmla="*/ 116 w 117"/>
                    <a:gd name="T1" fmla="*/ 9 h 62"/>
                    <a:gd name="T2" fmla="*/ 85 w 117"/>
                    <a:gd name="T3" fmla="*/ 0 h 62"/>
                    <a:gd name="T4" fmla="*/ 23 w 117"/>
                    <a:gd name="T5" fmla="*/ 35 h 62"/>
                    <a:gd name="T6" fmla="*/ 0 w 117"/>
                    <a:gd name="T7" fmla="*/ 26 h 62"/>
                    <a:gd name="T8" fmla="*/ 7 w 117"/>
                    <a:gd name="T9" fmla="*/ 61 h 62"/>
                    <a:gd name="T10" fmla="*/ 85 w 117"/>
                    <a:gd name="T11" fmla="*/ 61 h 62"/>
                    <a:gd name="T12" fmla="*/ 46 w 117"/>
                    <a:gd name="T13" fmla="*/ 52 h 62"/>
                    <a:gd name="T14" fmla="*/ 116 w 117"/>
                    <a:gd name="T15" fmla="*/ 9 h 6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17" h="62">
                      <a:moveTo>
                        <a:pt x="116" y="9"/>
                      </a:moveTo>
                      <a:lnTo>
                        <a:pt x="85" y="0"/>
                      </a:lnTo>
                      <a:lnTo>
                        <a:pt x="23" y="35"/>
                      </a:lnTo>
                      <a:lnTo>
                        <a:pt x="0" y="26"/>
                      </a:lnTo>
                      <a:lnTo>
                        <a:pt x="7" y="61"/>
                      </a:lnTo>
                      <a:lnTo>
                        <a:pt x="85" y="61"/>
                      </a:lnTo>
                      <a:lnTo>
                        <a:pt x="46" y="52"/>
                      </a:lnTo>
                      <a:lnTo>
                        <a:pt x="116" y="9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3982" name="Group 81"/>
          <p:cNvGrpSpPr>
            <a:grpSpLocks/>
          </p:cNvGrpSpPr>
          <p:nvPr/>
        </p:nvGrpSpPr>
        <p:grpSpPr bwMode="auto">
          <a:xfrm>
            <a:off x="5656264" y="3484847"/>
            <a:ext cx="744537" cy="492125"/>
            <a:chOff x="2270" y="1488"/>
            <a:chExt cx="756" cy="384"/>
          </a:xfrm>
        </p:grpSpPr>
        <p:sp>
          <p:nvSpPr>
            <p:cNvPr id="84116" name="Rectangle 82"/>
            <p:cNvSpPr>
              <a:spLocks noChangeArrowheads="1"/>
            </p:cNvSpPr>
            <p:nvPr/>
          </p:nvSpPr>
          <p:spPr bwMode="auto">
            <a:xfrm>
              <a:off x="2272" y="1631"/>
              <a:ext cx="754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17" name="Oval 83"/>
            <p:cNvSpPr>
              <a:spLocks noChangeArrowheads="1"/>
            </p:cNvSpPr>
            <p:nvPr/>
          </p:nvSpPr>
          <p:spPr bwMode="auto">
            <a:xfrm>
              <a:off x="2287" y="1643"/>
              <a:ext cx="737" cy="22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18" name="Oval 84"/>
            <p:cNvSpPr>
              <a:spLocks noChangeArrowheads="1"/>
            </p:cNvSpPr>
            <p:nvPr/>
          </p:nvSpPr>
          <p:spPr bwMode="auto">
            <a:xfrm>
              <a:off x="2287" y="1513"/>
              <a:ext cx="737" cy="22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19" name="Rectangle 85"/>
            <p:cNvSpPr>
              <a:spLocks noChangeArrowheads="1"/>
            </p:cNvSpPr>
            <p:nvPr/>
          </p:nvSpPr>
          <p:spPr bwMode="auto">
            <a:xfrm>
              <a:off x="2271" y="1609"/>
              <a:ext cx="739" cy="120"/>
            </a:xfrm>
            <a:prstGeom prst="rect">
              <a:avLst/>
            </a:prstGeom>
            <a:solidFill>
              <a:srgbClr val="004E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20" name="Oval 86"/>
            <p:cNvSpPr>
              <a:spLocks noChangeArrowheads="1"/>
            </p:cNvSpPr>
            <p:nvPr/>
          </p:nvSpPr>
          <p:spPr bwMode="auto">
            <a:xfrm>
              <a:off x="2270" y="1618"/>
              <a:ext cx="740" cy="229"/>
            </a:xfrm>
            <a:prstGeom prst="ellipse">
              <a:avLst/>
            </a:prstGeom>
            <a:solidFill>
              <a:srgbClr val="004E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121" name="Oval 87"/>
            <p:cNvSpPr>
              <a:spLocks noChangeArrowheads="1"/>
            </p:cNvSpPr>
            <p:nvPr/>
          </p:nvSpPr>
          <p:spPr bwMode="auto">
            <a:xfrm>
              <a:off x="2270" y="1488"/>
              <a:ext cx="740" cy="229"/>
            </a:xfrm>
            <a:prstGeom prst="ellipse">
              <a:avLst/>
            </a:prstGeom>
            <a:solidFill>
              <a:srgbClr val="558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4122" name="Group 88"/>
            <p:cNvGrpSpPr>
              <a:grpSpLocks/>
            </p:cNvGrpSpPr>
            <p:nvPr/>
          </p:nvGrpSpPr>
          <p:grpSpPr bwMode="auto">
            <a:xfrm>
              <a:off x="2400" y="1524"/>
              <a:ext cx="472" cy="168"/>
              <a:chOff x="2375" y="1422"/>
              <a:chExt cx="273" cy="142"/>
            </a:xfrm>
          </p:grpSpPr>
          <p:grpSp>
            <p:nvGrpSpPr>
              <p:cNvPr id="84123" name="Group 89"/>
              <p:cNvGrpSpPr>
                <a:grpSpLocks/>
              </p:cNvGrpSpPr>
              <p:nvPr/>
            </p:nvGrpSpPr>
            <p:grpSpPr bwMode="auto">
              <a:xfrm>
                <a:off x="2375" y="1422"/>
                <a:ext cx="273" cy="142"/>
                <a:chOff x="2375" y="1422"/>
                <a:chExt cx="273" cy="142"/>
              </a:xfrm>
            </p:grpSpPr>
            <p:sp>
              <p:nvSpPr>
                <p:cNvPr id="84127" name="Freeform 90"/>
                <p:cNvSpPr>
                  <a:spLocks/>
                </p:cNvSpPr>
                <p:nvPr/>
              </p:nvSpPr>
              <p:spPr bwMode="auto">
                <a:xfrm>
                  <a:off x="2375" y="1422"/>
                  <a:ext cx="123" cy="51"/>
                </a:xfrm>
                <a:custGeom>
                  <a:avLst/>
                  <a:gdLst>
                    <a:gd name="T0" fmla="*/ 0 w 123"/>
                    <a:gd name="T1" fmla="*/ 8 h 51"/>
                    <a:gd name="T2" fmla="*/ 30 w 123"/>
                    <a:gd name="T3" fmla="*/ 0 h 51"/>
                    <a:gd name="T4" fmla="*/ 91 w 123"/>
                    <a:gd name="T5" fmla="*/ 25 h 51"/>
                    <a:gd name="T6" fmla="*/ 122 w 123"/>
                    <a:gd name="T7" fmla="*/ 17 h 51"/>
                    <a:gd name="T8" fmla="*/ 114 w 123"/>
                    <a:gd name="T9" fmla="*/ 50 h 51"/>
                    <a:gd name="T10" fmla="*/ 30 w 123"/>
                    <a:gd name="T11" fmla="*/ 50 h 51"/>
                    <a:gd name="T12" fmla="*/ 68 w 123"/>
                    <a:gd name="T13" fmla="*/ 33 h 51"/>
                    <a:gd name="T14" fmla="*/ 0 w 123"/>
                    <a:gd name="T15" fmla="*/ 8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3" h="51">
                      <a:moveTo>
                        <a:pt x="0" y="8"/>
                      </a:moveTo>
                      <a:lnTo>
                        <a:pt x="30" y="0"/>
                      </a:lnTo>
                      <a:lnTo>
                        <a:pt x="91" y="25"/>
                      </a:lnTo>
                      <a:lnTo>
                        <a:pt x="122" y="17"/>
                      </a:lnTo>
                      <a:lnTo>
                        <a:pt x="114" y="50"/>
                      </a:lnTo>
                      <a:lnTo>
                        <a:pt x="30" y="50"/>
                      </a:lnTo>
                      <a:lnTo>
                        <a:pt x="68" y="33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128" name="Freeform 91"/>
                <p:cNvSpPr>
                  <a:spLocks/>
                </p:cNvSpPr>
                <p:nvPr/>
              </p:nvSpPr>
              <p:spPr bwMode="auto">
                <a:xfrm>
                  <a:off x="2522" y="1513"/>
                  <a:ext cx="126" cy="51"/>
                </a:xfrm>
                <a:custGeom>
                  <a:avLst/>
                  <a:gdLst>
                    <a:gd name="T0" fmla="*/ 125 w 126"/>
                    <a:gd name="T1" fmla="*/ 42 h 51"/>
                    <a:gd name="T2" fmla="*/ 93 w 126"/>
                    <a:gd name="T3" fmla="*/ 50 h 51"/>
                    <a:gd name="T4" fmla="*/ 31 w 126"/>
                    <a:gd name="T5" fmla="*/ 25 h 51"/>
                    <a:gd name="T6" fmla="*/ 0 w 126"/>
                    <a:gd name="T7" fmla="*/ 42 h 51"/>
                    <a:gd name="T8" fmla="*/ 7 w 126"/>
                    <a:gd name="T9" fmla="*/ 0 h 51"/>
                    <a:gd name="T10" fmla="*/ 93 w 126"/>
                    <a:gd name="T11" fmla="*/ 0 h 51"/>
                    <a:gd name="T12" fmla="*/ 62 w 126"/>
                    <a:gd name="T13" fmla="*/ 17 h 51"/>
                    <a:gd name="T14" fmla="*/ 125 w 126"/>
                    <a:gd name="T15" fmla="*/ 42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6" h="51">
                      <a:moveTo>
                        <a:pt x="125" y="42"/>
                      </a:moveTo>
                      <a:lnTo>
                        <a:pt x="93" y="50"/>
                      </a:lnTo>
                      <a:lnTo>
                        <a:pt x="31" y="25"/>
                      </a:lnTo>
                      <a:lnTo>
                        <a:pt x="0" y="42"/>
                      </a:lnTo>
                      <a:lnTo>
                        <a:pt x="7" y="0"/>
                      </a:lnTo>
                      <a:lnTo>
                        <a:pt x="93" y="0"/>
                      </a:lnTo>
                      <a:lnTo>
                        <a:pt x="62" y="17"/>
                      </a:lnTo>
                      <a:lnTo>
                        <a:pt x="125" y="42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124" name="Group 92"/>
              <p:cNvGrpSpPr>
                <a:grpSpLocks/>
              </p:cNvGrpSpPr>
              <p:nvPr/>
            </p:nvGrpSpPr>
            <p:grpSpPr bwMode="auto">
              <a:xfrm>
                <a:off x="2390" y="1422"/>
                <a:ext cx="249" cy="142"/>
                <a:chOff x="2390" y="1422"/>
                <a:chExt cx="249" cy="142"/>
              </a:xfrm>
            </p:grpSpPr>
            <p:sp>
              <p:nvSpPr>
                <p:cNvPr id="84125" name="Freeform 93"/>
                <p:cNvSpPr>
                  <a:spLocks/>
                </p:cNvSpPr>
                <p:nvPr/>
              </p:nvSpPr>
              <p:spPr bwMode="auto">
                <a:xfrm>
                  <a:off x="2515" y="1422"/>
                  <a:ext cx="124" cy="51"/>
                </a:xfrm>
                <a:custGeom>
                  <a:avLst/>
                  <a:gdLst>
                    <a:gd name="T0" fmla="*/ 0 w 124"/>
                    <a:gd name="T1" fmla="*/ 33 h 51"/>
                    <a:gd name="T2" fmla="*/ 30 w 124"/>
                    <a:gd name="T3" fmla="*/ 50 h 51"/>
                    <a:gd name="T4" fmla="*/ 92 w 124"/>
                    <a:gd name="T5" fmla="*/ 17 h 51"/>
                    <a:gd name="T6" fmla="*/ 123 w 124"/>
                    <a:gd name="T7" fmla="*/ 25 h 51"/>
                    <a:gd name="T8" fmla="*/ 107 w 124"/>
                    <a:gd name="T9" fmla="*/ 0 h 51"/>
                    <a:gd name="T10" fmla="*/ 30 w 124"/>
                    <a:gd name="T11" fmla="*/ 0 h 51"/>
                    <a:gd name="T12" fmla="*/ 69 w 124"/>
                    <a:gd name="T13" fmla="*/ 8 h 51"/>
                    <a:gd name="T14" fmla="*/ 0 w 124"/>
                    <a:gd name="T15" fmla="*/ 33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4" h="51">
                      <a:moveTo>
                        <a:pt x="0" y="33"/>
                      </a:moveTo>
                      <a:lnTo>
                        <a:pt x="30" y="50"/>
                      </a:lnTo>
                      <a:lnTo>
                        <a:pt x="92" y="17"/>
                      </a:lnTo>
                      <a:lnTo>
                        <a:pt x="123" y="25"/>
                      </a:lnTo>
                      <a:lnTo>
                        <a:pt x="107" y="0"/>
                      </a:lnTo>
                      <a:lnTo>
                        <a:pt x="30" y="0"/>
                      </a:lnTo>
                      <a:lnTo>
                        <a:pt x="69" y="8"/>
                      </a:lnTo>
                      <a:lnTo>
                        <a:pt x="0" y="33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126" name="Freeform 94"/>
                <p:cNvSpPr>
                  <a:spLocks/>
                </p:cNvSpPr>
                <p:nvPr/>
              </p:nvSpPr>
              <p:spPr bwMode="auto">
                <a:xfrm>
                  <a:off x="2390" y="1502"/>
                  <a:ext cx="117" cy="62"/>
                </a:xfrm>
                <a:custGeom>
                  <a:avLst/>
                  <a:gdLst>
                    <a:gd name="T0" fmla="*/ 116 w 117"/>
                    <a:gd name="T1" fmla="*/ 9 h 62"/>
                    <a:gd name="T2" fmla="*/ 85 w 117"/>
                    <a:gd name="T3" fmla="*/ 0 h 62"/>
                    <a:gd name="T4" fmla="*/ 23 w 117"/>
                    <a:gd name="T5" fmla="*/ 35 h 62"/>
                    <a:gd name="T6" fmla="*/ 0 w 117"/>
                    <a:gd name="T7" fmla="*/ 26 h 62"/>
                    <a:gd name="T8" fmla="*/ 7 w 117"/>
                    <a:gd name="T9" fmla="*/ 61 h 62"/>
                    <a:gd name="T10" fmla="*/ 85 w 117"/>
                    <a:gd name="T11" fmla="*/ 61 h 62"/>
                    <a:gd name="T12" fmla="*/ 46 w 117"/>
                    <a:gd name="T13" fmla="*/ 52 h 62"/>
                    <a:gd name="T14" fmla="*/ 116 w 117"/>
                    <a:gd name="T15" fmla="*/ 9 h 6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17" h="62">
                      <a:moveTo>
                        <a:pt x="116" y="9"/>
                      </a:moveTo>
                      <a:lnTo>
                        <a:pt x="85" y="0"/>
                      </a:lnTo>
                      <a:lnTo>
                        <a:pt x="23" y="35"/>
                      </a:lnTo>
                      <a:lnTo>
                        <a:pt x="0" y="26"/>
                      </a:lnTo>
                      <a:lnTo>
                        <a:pt x="7" y="61"/>
                      </a:lnTo>
                      <a:lnTo>
                        <a:pt x="85" y="61"/>
                      </a:lnTo>
                      <a:lnTo>
                        <a:pt x="46" y="52"/>
                      </a:lnTo>
                      <a:lnTo>
                        <a:pt x="116" y="9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3983" name="Group 169"/>
          <p:cNvGrpSpPr>
            <a:grpSpLocks/>
          </p:cNvGrpSpPr>
          <p:nvPr/>
        </p:nvGrpSpPr>
        <p:grpSpPr bwMode="auto">
          <a:xfrm>
            <a:off x="2286000" y="3367371"/>
            <a:ext cx="990600" cy="838200"/>
            <a:chOff x="3152" y="2518"/>
            <a:chExt cx="336" cy="223"/>
          </a:xfrm>
        </p:grpSpPr>
        <p:grpSp>
          <p:nvGrpSpPr>
            <p:cNvPr id="84093" name="Group 170"/>
            <p:cNvGrpSpPr>
              <a:grpSpLocks/>
            </p:cNvGrpSpPr>
            <p:nvPr/>
          </p:nvGrpSpPr>
          <p:grpSpPr bwMode="auto">
            <a:xfrm>
              <a:off x="3152" y="2518"/>
              <a:ext cx="336" cy="223"/>
              <a:chOff x="3152" y="2518"/>
              <a:chExt cx="336" cy="223"/>
            </a:xfrm>
          </p:grpSpPr>
          <p:sp>
            <p:nvSpPr>
              <p:cNvPr id="84097" name="Oval 171"/>
              <p:cNvSpPr>
                <a:spLocks noChangeArrowheads="1"/>
              </p:cNvSpPr>
              <p:nvPr/>
            </p:nvSpPr>
            <p:spPr bwMode="auto">
              <a:xfrm>
                <a:off x="3198" y="2526"/>
                <a:ext cx="92" cy="81"/>
              </a:xfrm>
              <a:prstGeom prst="ellipse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4098" name="Oval 172"/>
              <p:cNvSpPr>
                <a:spLocks noChangeArrowheads="1"/>
              </p:cNvSpPr>
              <p:nvPr/>
            </p:nvSpPr>
            <p:spPr bwMode="auto">
              <a:xfrm>
                <a:off x="3152" y="2570"/>
                <a:ext cx="124" cy="71"/>
              </a:xfrm>
              <a:prstGeom prst="ellips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4099" name="Group 173"/>
              <p:cNvGrpSpPr>
                <a:grpSpLocks/>
              </p:cNvGrpSpPr>
              <p:nvPr/>
            </p:nvGrpSpPr>
            <p:grpSpPr bwMode="auto">
              <a:xfrm>
                <a:off x="3182" y="2623"/>
                <a:ext cx="140" cy="106"/>
                <a:chOff x="3182" y="2623"/>
                <a:chExt cx="140" cy="106"/>
              </a:xfrm>
            </p:grpSpPr>
            <p:sp>
              <p:nvSpPr>
                <p:cNvPr id="84114" name="Oval 174"/>
                <p:cNvSpPr>
                  <a:spLocks noChangeArrowheads="1"/>
                </p:cNvSpPr>
                <p:nvPr/>
              </p:nvSpPr>
              <p:spPr bwMode="auto">
                <a:xfrm>
                  <a:off x="3230" y="2671"/>
                  <a:ext cx="92" cy="58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115" name="Oval 175"/>
                <p:cNvSpPr>
                  <a:spLocks noChangeArrowheads="1"/>
                </p:cNvSpPr>
                <p:nvPr/>
              </p:nvSpPr>
              <p:spPr bwMode="auto">
                <a:xfrm>
                  <a:off x="3182" y="2623"/>
                  <a:ext cx="94" cy="58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4100" name="Group 176"/>
              <p:cNvGrpSpPr>
                <a:grpSpLocks/>
              </p:cNvGrpSpPr>
              <p:nvPr/>
            </p:nvGrpSpPr>
            <p:grpSpPr bwMode="auto">
              <a:xfrm>
                <a:off x="3194" y="2526"/>
                <a:ext cx="288" cy="215"/>
                <a:chOff x="3194" y="2526"/>
                <a:chExt cx="288" cy="215"/>
              </a:xfrm>
            </p:grpSpPr>
            <p:grpSp>
              <p:nvGrpSpPr>
                <p:cNvPr id="84108" name="Group 177"/>
                <p:cNvGrpSpPr>
                  <a:grpSpLocks/>
                </p:cNvGrpSpPr>
                <p:nvPr/>
              </p:nvGrpSpPr>
              <p:grpSpPr bwMode="auto">
                <a:xfrm>
                  <a:off x="3194" y="2526"/>
                  <a:ext cx="262" cy="215"/>
                  <a:chOff x="3194" y="2526"/>
                  <a:chExt cx="262" cy="215"/>
                </a:xfrm>
              </p:grpSpPr>
              <p:sp>
                <p:nvSpPr>
                  <p:cNvPr id="84112" name="Oval 178"/>
                  <p:cNvSpPr>
                    <a:spLocks noChangeArrowheads="1"/>
                  </p:cNvSpPr>
                  <p:nvPr/>
                </p:nvSpPr>
                <p:spPr bwMode="auto">
                  <a:xfrm>
                    <a:off x="3242" y="2574"/>
                    <a:ext cx="214" cy="167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113" name="Oval 179"/>
                  <p:cNvSpPr>
                    <a:spLocks noChangeArrowheads="1"/>
                  </p:cNvSpPr>
                  <p:nvPr/>
                </p:nvSpPr>
                <p:spPr bwMode="auto">
                  <a:xfrm>
                    <a:off x="3194" y="2526"/>
                    <a:ext cx="214" cy="167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84109" name="Group 180"/>
                <p:cNvGrpSpPr>
                  <a:grpSpLocks/>
                </p:cNvGrpSpPr>
                <p:nvPr/>
              </p:nvGrpSpPr>
              <p:grpSpPr bwMode="auto">
                <a:xfrm>
                  <a:off x="3322" y="2544"/>
                  <a:ext cx="160" cy="121"/>
                  <a:chOff x="3322" y="2544"/>
                  <a:chExt cx="160" cy="121"/>
                </a:xfrm>
              </p:grpSpPr>
              <p:sp>
                <p:nvSpPr>
                  <p:cNvPr id="84110" name="Oval 181"/>
                  <p:cNvSpPr>
                    <a:spLocks noChangeArrowheads="1"/>
                  </p:cNvSpPr>
                  <p:nvPr/>
                </p:nvSpPr>
                <p:spPr bwMode="auto">
                  <a:xfrm>
                    <a:off x="3370" y="2591"/>
                    <a:ext cx="112" cy="74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111" name="Oval 182"/>
                  <p:cNvSpPr>
                    <a:spLocks noChangeArrowheads="1"/>
                  </p:cNvSpPr>
                  <p:nvPr/>
                </p:nvSpPr>
                <p:spPr bwMode="auto">
                  <a:xfrm>
                    <a:off x="3322" y="2544"/>
                    <a:ext cx="112" cy="73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84101" name="Group 183"/>
              <p:cNvGrpSpPr>
                <a:grpSpLocks/>
              </p:cNvGrpSpPr>
              <p:nvPr/>
            </p:nvGrpSpPr>
            <p:grpSpPr bwMode="auto">
              <a:xfrm>
                <a:off x="3340" y="2580"/>
                <a:ext cx="148" cy="109"/>
                <a:chOff x="3340" y="2580"/>
                <a:chExt cx="148" cy="109"/>
              </a:xfrm>
            </p:grpSpPr>
            <p:sp>
              <p:nvSpPr>
                <p:cNvPr id="84106" name="Oval 184"/>
                <p:cNvSpPr>
                  <a:spLocks noChangeArrowheads="1"/>
                </p:cNvSpPr>
                <p:nvPr/>
              </p:nvSpPr>
              <p:spPr bwMode="auto">
                <a:xfrm>
                  <a:off x="3388" y="2627"/>
                  <a:ext cx="100" cy="62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107" name="Oval 185"/>
                <p:cNvSpPr>
                  <a:spLocks noChangeArrowheads="1"/>
                </p:cNvSpPr>
                <p:nvPr/>
              </p:nvSpPr>
              <p:spPr bwMode="auto">
                <a:xfrm>
                  <a:off x="3340" y="2580"/>
                  <a:ext cx="102" cy="61"/>
                </a:xfrm>
                <a:prstGeom prst="ellips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4102" name="Group 186"/>
              <p:cNvGrpSpPr>
                <a:grpSpLocks/>
              </p:cNvGrpSpPr>
              <p:nvPr/>
            </p:nvGrpSpPr>
            <p:grpSpPr bwMode="auto">
              <a:xfrm>
                <a:off x="3334" y="2613"/>
                <a:ext cx="130" cy="112"/>
                <a:chOff x="3334" y="2613"/>
                <a:chExt cx="130" cy="112"/>
              </a:xfrm>
            </p:grpSpPr>
            <p:sp>
              <p:nvSpPr>
                <p:cNvPr id="84104" name="Oval 187"/>
                <p:cNvSpPr>
                  <a:spLocks noChangeArrowheads="1"/>
                </p:cNvSpPr>
                <p:nvPr/>
              </p:nvSpPr>
              <p:spPr bwMode="auto">
                <a:xfrm>
                  <a:off x="3382" y="2661"/>
                  <a:ext cx="82" cy="64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105" name="Oval 188"/>
                <p:cNvSpPr>
                  <a:spLocks noChangeArrowheads="1"/>
                </p:cNvSpPr>
                <p:nvPr/>
              </p:nvSpPr>
              <p:spPr bwMode="auto">
                <a:xfrm>
                  <a:off x="3334" y="2613"/>
                  <a:ext cx="82" cy="64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4103" name="Oval 189"/>
              <p:cNvSpPr>
                <a:spLocks noChangeArrowheads="1"/>
              </p:cNvSpPr>
              <p:nvPr/>
            </p:nvSpPr>
            <p:spPr bwMode="auto">
              <a:xfrm>
                <a:off x="3228" y="2518"/>
                <a:ext cx="158" cy="141"/>
              </a:xfrm>
              <a:prstGeom prst="ellipse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4094" name="Rectangle 190"/>
            <p:cNvSpPr>
              <a:spLocks noChangeArrowheads="1"/>
            </p:cNvSpPr>
            <p:nvPr/>
          </p:nvSpPr>
          <p:spPr bwMode="auto">
            <a:xfrm>
              <a:off x="3234" y="2568"/>
              <a:ext cx="168" cy="4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095" name="Oval 191"/>
            <p:cNvSpPr>
              <a:spLocks noChangeArrowheads="1"/>
            </p:cNvSpPr>
            <p:nvPr/>
          </p:nvSpPr>
          <p:spPr bwMode="auto">
            <a:xfrm>
              <a:off x="3206" y="2659"/>
              <a:ext cx="56" cy="2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096" name="Oval 192"/>
            <p:cNvSpPr>
              <a:spLocks noChangeArrowheads="1"/>
            </p:cNvSpPr>
            <p:nvPr/>
          </p:nvSpPr>
          <p:spPr bwMode="auto">
            <a:xfrm>
              <a:off x="3332" y="2651"/>
              <a:ext cx="44" cy="28"/>
            </a:xfrm>
            <a:prstGeom prst="ellipse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3984" name="Group 193"/>
          <p:cNvGrpSpPr>
            <a:grpSpLocks/>
          </p:cNvGrpSpPr>
          <p:nvPr/>
        </p:nvGrpSpPr>
        <p:grpSpPr bwMode="auto">
          <a:xfrm>
            <a:off x="6705600" y="3367371"/>
            <a:ext cx="990600" cy="838200"/>
            <a:chOff x="3152" y="2518"/>
            <a:chExt cx="336" cy="223"/>
          </a:xfrm>
        </p:grpSpPr>
        <p:grpSp>
          <p:nvGrpSpPr>
            <p:cNvPr id="84070" name="Group 194"/>
            <p:cNvGrpSpPr>
              <a:grpSpLocks/>
            </p:cNvGrpSpPr>
            <p:nvPr/>
          </p:nvGrpSpPr>
          <p:grpSpPr bwMode="auto">
            <a:xfrm>
              <a:off x="3152" y="2518"/>
              <a:ext cx="336" cy="223"/>
              <a:chOff x="3152" y="2518"/>
              <a:chExt cx="336" cy="223"/>
            </a:xfrm>
          </p:grpSpPr>
          <p:sp>
            <p:nvSpPr>
              <p:cNvPr id="84074" name="Oval 195"/>
              <p:cNvSpPr>
                <a:spLocks noChangeArrowheads="1"/>
              </p:cNvSpPr>
              <p:nvPr/>
            </p:nvSpPr>
            <p:spPr bwMode="auto">
              <a:xfrm>
                <a:off x="3198" y="2526"/>
                <a:ext cx="92" cy="81"/>
              </a:xfrm>
              <a:prstGeom prst="ellipse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4075" name="Oval 196"/>
              <p:cNvSpPr>
                <a:spLocks noChangeArrowheads="1"/>
              </p:cNvSpPr>
              <p:nvPr/>
            </p:nvSpPr>
            <p:spPr bwMode="auto">
              <a:xfrm>
                <a:off x="3152" y="2570"/>
                <a:ext cx="124" cy="71"/>
              </a:xfrm>
              <a:prstGeom prst="ellips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4076" name="Group 197"/>
              <p:cNvGrpSpPr>
                <a:grpSpLocks/>
              </p:cNvGrpSpPr>
              <p:nvPr/>
            </p:nvGrpSpPr>
            <p:grpSpPr bwMode="auto">
              <a:xfrm>
                <a:off x="3182" y="2623"/>
                <a:ext cx="140" cy="106"/>
                <a:chOff x="3182" y="2623"/>
                <a:chExt cx="140" cy="106"/>
              </a:xfrm>
            </p:grpSpPr>
            <p:sp>
              <p:nvSpPr>
                <p:cNvPr id="84091" name="Oval 198"/>
                <p:cNvSpPr>
                  <a:spLocks noChangeArrowheads="1"/>
                </p:cNvSpPr>
                <p:nvPr/>
              </p:nvSpPr>
              <p:spPr bwMode="auto">
                <a:xfrm>
                  <a:off x="3230" y="2671"/>
                  <a:ext cx="92" cy="58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092" name="Oval 199"/>
                <p:cNvSpPr>
                  <a:spLocks noChangeArrowheads="1"/>
                </p:cNvSpPr>
                <p:nvPr/>
              </p:nvSpPr>
              <p:spPr bwMode="auto">
                <a:xfrm>
                  <a:off x="3182" y="2623"/>
                  <a:ext cx="94" cy="58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4077" name="Group 200"/>
              <p:cNvGrpSpPr>
                <a:grpSpLocks/>
              </p:cNvGrpSpPr>
              <p:nvPr/>
            </p:nvGrpSpPr>
            <p:grpSpPr bwMode="auto">
              <a:xfrm>
                <a:off x="3194" y="2526"/>
                <a:ext cx="288" cy="215"/>
                <a:chOff x="3194" y="2526"/>
                <a:chExt cx="288" cy="215"/>
              </a:xfrm>
            </p:grpSpPr>
            <p:grpSp>
              <p:nvGrpSpPr>
                <p:cNvPr id="84085" name="Group 201"/>
                <p:cNvGrpSpPr>
                  <a:grpSpLocks/>
                </p:cNvGrpSpPr>
                <p:nvPr/>
              </p:nvGrpSpPr>
              <p:grpSpPr bwMode="auto">
                <a:xfrm>
                  <a:off x="3194" y="2526"/>
                  <a:ext cx="262" cy="215"/>
                  <a:chOff x="3194" y="2526"/>
                  <a:chExt cx="262" cy="215"/>
                </a:xfrm>
              </p:grpSpPr>
              <p:sp>
                <p:nvSpPr>
                  <p:cNvPr id="84089" name="Oval 202"/>
                  <p:cNvSpPr>
                    <a:spLocks noChangeArrowheads="1"/>
                  </p:cNvSpPr>
                  <p:nvPr/>
                </p:nvSpPr>
                <p:spPr bwMode="auto">
                  <a:xfrm>
                    <a:off x="3242" y="2574"/>
                    <a:ext cx="214" cy="167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090" name="Oval 203"/>
                  <p:cNvSpPr>
                    <a:spLocks noChangeArrowheads="1"/>
                  </p:cNvSpPr>
                  <p:nvPr/>
                </p:nvSpPr>
                <p:spPr bwMode="auto">
                  <a:xfrm>
                    <a:off x="3194" y="2526"/>
                    <a:ext cx="214" cy="167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84086" name="Group 204"/>
                <p:cNvGrpSpPr>
                  <a:grpSpLocks/>
                </p:cNvGrpSpPr>
                <p:nvPr/>
              </p:nvGrpSpPr>
              <p:grpSpPr bwMode="auto">
                <a:xfrm>
                  <a:off x="3322" y="2544"/>
                  <a:ext cx="160" cy="121"/>
                  <a:chOff x="3322" y="2544"/>
                  <a:chExt cx="160" cy="121"/>
                </a:xfrm>
              </p:grpSpPr>
              <p:sp>
                <p:nvSpPr>
                  <p:cNvPr id="84087" name="Oval 205"/>
                  <p:cNvSpPr>
                    <a:spLocks noChangeArrowheads="1"/>
                  </p:cNvSpPr>
                  <p:nvPr/>
                </p:nvSpPr>
                <p:spPr bwMode="auto">
                  <a:xfrm>
                    <a:off x="3370" y="2591"/>
                    <a:ext cx="112" cy="74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088" name="Oval 206"/>
                  <p:cNvSpPr>
                    <a:spLocks noChangeArrowheads="1"/>
                  </p:cNvSpPr>
                  <p:nvPr/>
                </p:nvSpPr>
                <p:spPr bwMode="auto">
                  <a:xfrm>
                    <a:off x="3322" y="2544"/>
                    <a:ext cx="112" cy="73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84078" name="Group 207"/>
              <p:cNvGrpSpPr>
                <a:grpSpLocks/>
              </p:cNvGrpSpPr>
              <p:nvPr/>
            </p:nvGrpSpPr>
            <p:grpSpPr bwMode="auto">
              <a:xfrm>
                <a:off x="3340" y="2580"/>
                <a:ext cx="148" cy="109"/>
                <a:chOff x="3340" y="2580"/>
                <a:chExt cx="148" cy="109"/>
              </a:xfrm>
            </p:grpSpPr>
            <p:sp>
              <p:nvSpPr>
                <p:cNvPr id="84083" name="Oval 208"/>
                <p:cNvSpPr>
                  <a:spLocks noChangeArrowheads="1"/>
                </p:cNvSpPr>
                <p:nvPr/>
              </p:nvSpPr>
              <p:spPr bwMode="auto">
                <a:xfrm>
                  <a:off x="3388" y="2627"/>
                  <a:ext cx="100" cy="62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084" name="Oval 209"/>
                <p:cNvSpPr>
                  <a:spLocks noChangeArrowheads="1"/>
                </p:cNvSpPr>
                <p:nvPr/>
              </p:nvSpPr>
              <p:spPr bwMode="auto">
                <a:xfrm>
                  <a:off x="3340" y="2580"/>
                  <a:ext cx="102" cy="61"/>
                </a:xfrm>
                <a:prstGeom prst="ellips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4079" name="Group 210"/>
              <p:cNvGrpSpPr>
                <a:grpSpLocks/>
              </p:cNvGrpSpPr>
              <p:nvPr/>
            </p:nvGrpSpPr>
            <p:grpSpPr bwMode="auto">
              <a:xfrm>
                <a:off x="3334" y="2613"/>
                <a:ext cx="130" cy="112"/>
                <a:chOff x="3334" y="2613"/>
                <a:chExt cx="130" cy="112"/>
              </a:xfrm>
            </p:grpSpPr>
            <p:sp>
              <p:nvSpPr>
                <p:cNvPr id="84081" name="Oval 211"/>
                <p:cNvSpPr>
                  <a:spLocks noChangeArrowheads="1"/>
                </p:cNvSpPr>
                <p:nvPr/>
              </p:nvSpPr>
              <p:spPr bwMode="auto">
                <a:xfrm>
                  <a:off x="3382" y="2661"/>
                  <a:ext cx="82" cy="64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082" name="Oval 212"/>
                <p:cNvSpPr>
                  <a:spLocks noChangeArrowheads="1"/>
                </p:cNvSpPr>
                <p:nvPr/>
              </p:nvSpPr>
              <p:spPr bwMode="auto">
                <a:xfrm>
                  <a:off x="3334" y="2613"/>
                  <a:ext cx="82" cy="64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4080" name="Oval 213"/>
              <p:cNvSpPr>
                <a:spLocks noChangeArrowheads="1"/>
              </p:cNvSpPr>
              <p:nvPr/>
            </p:nvSpPr>
            <p:spPr bwMode="auto">
              <a:xfrm>
                <a:off x="3228" y="2518"/>
                <a:ext cx="158" cy="141"/>
              </a:xfrm>
              <a:prstGeom prst="ellipse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4071" name="Rectangle 214"/>
            <p:cNvSpPr>
              <a:spLocks noChangeArrowheads="1"/>
            </p:cNvSpPr>
            <p:nvPr/>
          </p:nvSpPr>
          <p:spPr bwMode="auto">
            <a:xfrm>
              <a:off x="3234" y="2568"/>
              <a:ext cx="168" cy="4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072" name="Oval 215"/>
            <p:cNvSpPr>
              <a:spLocks noChangeArrowheads="1"/>
            </p:cNvSpPr>
            <p:nvPr/>
          </p:nvSpPr>
          <p:spPr bwMode="auto">
            <a:xfrm>
              <a:off x="3206" y="2659"/>
              <a:ext cx="56" cy="2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073" name="Oval 216"/>
            <p:cNvSpPr>
              <a:spLocks noChangeArrowheads="1"/>
            </p:cNvSpPr>
            <p:nvPr/>
          </p:nvSpPr>
          <p:spPr bwMode="auto">
            <a:xfrm>
              <a:off x="3332" y="2651"/>
              <a:ext cx="44" cy="28"/>
            </a:xfrm>
            <a:prstGeom prst="ellipse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3985" name="Group 217"/>
          <p:cNvGrpSpPr>
            <a:grpSpLocks/>
          </p:cNvGrpSpPr>
          <p:nvPr/>
        </p:nvGrpSpPr>
        <p:grpSpPr bwMode="auto">
          <a:xfrm>
            <a:off x="8991600" y="3367371"/>
            <a:ext cx="990600" cy="838200"/>
            <a:chOff x="3152" y="2518"/>
            <a:chExt cx="336" cy="223"/>
          </a:xfrm>
        </p:grpSpPr>
        <p:grpSp>
          <p:nvGrpSpPr>
            <p:cNvPr id="84047" name="Group 218"/>
            <p:cNvGrpSpPr>
              <a:grpSpLocks/>
            </p:cNvGrpSpPr>
            <p:nvPr/>
          </p:nvGrpSpPr>
          <p:grpSpPr bwMode="auto">
            <a:xfrm>
              <a:off x="3152" y="2518"/>
              <a:ext cx="336" cy="223"/>
              <a:chOff x="3152" y="2518"/>
              <a:chExt cx="336" cy="223"/>
            </a:xfrm>
          </p:grpSpPr>
          <p:sp>
            <p:nvSpPr>
              <p:cNvPr id="84051" name="Oval 219"/>
              <p:cNvSpPr>
                <a:spLocks noChangeArrowheads="1"/>
              </p:cNvSpPr>
              <p:nvPr/>
            </p:nvSpPr>
            <p:spPr bwMode="auto">
              <a:xfrm>
                <a:off x="3198" y="2526"/>
                <a:ext cx="92" cy="81"/>
              </a:xfrm>
              <a:prstGeom prst="ellipse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4052" name="Oval 220"/>
              <p:cNvSpPr>
                <a:spLocks noChangeArrowheads="1"/>
              </p:cNvSpPr>
              <p:nvPr/>
            </p:nvSpPr>
            <p:spPr bwMode="auto">
              <a:xfrm>
                <a:off x="3152" y="2570"/>
                <a:ext cx="124" cy="71"/>
              </a:xfrm>
              <a:prstGeom prst="ellips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4053" name="Group 221"/>
              <p:cNvGrpSpPr>
                <a:grpSpLocks/>
              </p:cNvGrpSpPr>
              <p:nvPr/>
            </p:nvGrpSpPr>
            <p:grpSpPr bwMode="auto">
              <a:xfrm>
                <a:off x="3182" y="2623"/>
                <a:ext cx="140" cy="106"/>
                <a:chOff x="3182" y="2623"/>
                <a:chExt cx="140" cy="106"/>
              </a:xfrm>
            </p:grpSpPr>
            <p:sp>
              <p:nvSpPr>
                <p:cNvPr id="84068" name="Oval 222"/>
                <p:cNvSpPr>
                  <a:spLocks noChangeArrowheads="1"/>
                </p:cNvSpPr>
                <p:nvPr/>
              </p:nvSpPr>
              <p:spPr bwMode="auto">
                <a:xfrm>
                  <a:off x="3230" y="2671"/>
                  <a:ext cx="92" cy="58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069" name="Oval 223"/>
                <p:cNvSpPr>
                  <a:spLocks noChangeArrowheads="1"/>
                </p:cNvSpPr>
                <p:nvPr/>
              </p:nvSpPr>
              <p:spPr bwMode="auto">
                <a:xfrm>
                  <a:off x="3182" y="2623"/>
                  <a:ext cx="94" cy="58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4054" name="Group 224"/>
              <p:cNvGrpSpPr>
                <a:grpSpLocks/>
              </p:cNvGrpSpPr>
              <p:nvPr/>
            </p:nvGrpSpPr>
            <p:grpSpPr bwMode="auto">
              <a:xfrm>
                <a:off x="3194" y="2526"/>
                <a:ext cx="288" cy="215"/>
                <a:chOff x="3194" y="2526"/>
                <a:chExt cx="288" cy="215"/>
              </a:xfrm>
            </p:grpSpPr>
            <p:grpSp>
              <p:nvGrpSpPr>
                <p:cNvPr id="84062" name="Group 225"/>
                <p:cNvGrpSpPr>
                  <a:grpSpLocks/>
                </p:cNvGrpSpPr>
                <p:nvPr/>
              </p:nvGrpSpPr>
              <p:grpSpPr bwMode="auto">
                <a:xfrm>
                  <a:off x="3194" y="2526"/>
                  <a:ext cx="262" cy="215"/>
                  <a:chOff x="3194" y="2526"/>
                  <a:chExt cx="262" cy="215"/>
                </a:xfrm>
              </p:grpSpPr>
              <p:sp>
                <p:nvSpPr>
                  <p:cNvPr id="84066" name="Oval 226"/>
                  <p:cNvSpPr>
                    <a:spLocks noChangeArrowheads="1"/>
                  </p:cNvSpPr>
                  <p:nvPr/>
                </p:nvSpPr>
                <p:spPr bwMode="auto">
                  <a:xfrm>
                    <a:off x="3242" y="2574"/>
                    <a:ext cx="214" cy="167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067" name="Oval 227"/>
                  <p:cNvSpPr>
                    <a:spLocks noChangeArrowheads="1"/>
                  </p:cNvSpPr>
                  <p:nvPr/>
                </p:nvSpPr>
                <p:spPr bwMode="auto">
                  <a:xfrm>
                    <a:off x="3194" y="2526"/>
                    <a:ext cx="214" cy="167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84063" name="Group 228"/>
                <p:cNvGrpSpPr>
                  <a:grpSpLocks/>
                </p:cNvGrpSpPr>
                <p:nvPr/>
              </p:nvGrpSpPr>
              <p:grpSpPr bwMode="auto">
                <a:xfrm>
                  <a:off x="3322" y="2544"/>
                  <a:ext cx="160" cy="121"/>
                  <a:chOff x="3322" y="2544"/>
                  <a:chExt cx="160" cy="121"/>
                </a:xfrm>
              </p:grpSpPr>
              <p:sp>
                <p:nvSpPr>
                  <p:cNvPr id="84064" name="Oval 229"/>
                  <p:cNvSpPr>
                    <a:spLocks noChangeArrowheads="1"/>
                  </p:cNvSpPr>
                  <p:nvPr/>
                </p:nvSpPr>
                <p:spPr bwMode="auto">
                  <a:xfrm>
                    <a:off x="3370" y="2591"/>
                    <a:ext cx="112" cy="74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065" name="Oval 230"/>
                  <p:cNvSpPr>
                    <a:spLocks noChangeArrowheads="1"/>
                  </p:cNvSpPr>
                  <p:nvPr/>
                </p:nvSpPr>
                <p:spPr bwMode="auto">
                  <a:xfrm>
                    <a:off x="3322" y="2544"/>
                    <a:ext cx="112" cy="73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84055" name="Group 231"/>
              <p:cNvGrpSpPr>
                <a:grpSpLocks/>
              </p:cNvGrpSpPr>
              <p:nvPr/>
            </p:nvGrpSpPr>
            <p:grpSpPr bwMode="auto">
              <a:xfrm>
                <a:off x="3340" y="2580"/>
                <a:ext cx="148" cy="109"/>
                <a:chOff x="3340" y="2580"/>
                <a:chExt cx="148" cy="109"/>
              </a:xfrm>
            </p:grpSpPr>
            <p:sp>
              <p:nvSpPr>
                <p:cNvPr id="84060" name="Oval 232"/>
                <p:cNvSpPr>
                  <a:spLocks noChangeArrowheads="1"/>
                </p:cNvSpPr>
                <p:nvPr/>
              </p:nvSpPr>
              <p:spPr bwMode="auto">
                <a:xfrm>
                  <a:off x="3388" y="2627"/>
                  <a:ext cx="100" cy="62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061" name="Oval 233"/>
                <p:cNvSpPr>
                  <a:spLocks noChangeArrowheads="1"/>
                </p:cNvSpPr>
                <p:nvPr/>
              </p:nvSpPr>
              <p:spPr bwMode="auto">
                <a:xfrm>
                  <a:off x="3340" y="2580"/>
                  <a:ext cx="102" cy="61"/>
                </a:xfrm>
                <a:prstGeom prst="ellips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4056" name="Group 234"/>
              <p:cNvGrpSpPr>
                <a:grpSpLocks/>
              </p:cNvGrpSpPr>
              <p:nvPr/>
            </p:nvGrpSpPr>
            <p:grpSpPr bwMode="auto">
              <a:xfrm>
                <a:off x="3334" y="2613"/>
                <a:ext cx="130" cy="112"/>
                <a:chOff x="3334" y="2613"/>
                <a:chExt cx="130" cy="112"/>
              </a:xfrm>
            </p:grpSpPr>
            <p:sp>
              <p:nvSpPr>
                <p:cNvPr id="84058" name="Oval 235"/>
                <p:cNvSpPr>
                  <a:spLocks noChangeArrowheads="1"/>
                </p:cNvSpPr>
                <p:nvPr/>
              </p:nvSpPr>
              <p:spPr bwMode="auto">
                <a:xfrm>
                  <a:off x="3382" y="2661"/>
                  <a:ext cx="82" cy="64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059" name="Oval 236"/>
                <p:cNvSpPr>
                  <a:spLocks noChangeArrowheads="1"/>
                </p:cNvSpPr>
                <p:nvPr/>
              </p:nvSpPr>
              <p:spPr bwMode="auto">
                <a:xfrm>
                  <a:off x="3334" y="2613"/>
                  <a:ext cx="82" cy="64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4057" name="Oval 237"/>
              <p:cNvSpPr>
                <a:spLocks noChangeArrowheads="1"/>
              </p:cNvSpPr>
              <p:nvPr/>
            </p:nvSpPr>
            <p:spPr bwMode="auto">
              <a:xfrm>
                <a:off x="3228" y="2518"/>
                <a:ext cx="158" cy="141"/>
              </a:xfrm>
              <a:prstGeom prst="ellipse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4048" name="Rectangle 238"/>
            <p:cNvSpPr>
              <a:spLocks noChangeArrowheads="1"/>
            </p:cNvSpPr>
            <p:nvPr/>
          </p:nvSpPr>
          <p:spPr bwMode="auto">
            <a:xfrm>
              <a:off x="3234" y="2568"/>
              <a:ext cx="168" cy="4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049" name="Oval 239"/>
            <p:cNvSpPr>
              <a:spLocks noChangeArrowheads="1"/>
            </p:cNvSpPr>
            <p:nvPr/>
          </p:nvSpPr>
          <p:spPr bwMode="auto">
            <a:xfrm>
              <a:off x="3206" y="2659"/>
              <a:ext cx="56" cy="2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050" name="Oval 240"/>
            <p:cNvSpPr>
              <a:spLocks noChangeArrowheads="1"/>
            </p:cNvSpPr>
            <p:nvPr/>
          </p:nvSpPr>
          <p:spPr bwMode="auto">
            <a:xfrm>
              <a:off x="3332" y="2651"/>
              <a:ext cx="44" cy="28"/>
            </a:xfrm>
            <a:prstGeom prst="ellipse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3986" name="Text Box 241"/>
          <p:cNvSpPr txBox="1">
            <a:spLocks noChangeArrowheads="1"/>
          </p:cNvSpPr>
          <p:nvPr/>
        </p:nvSpPr>
        <p:spPr bwMode="auto">
          <a:xfrm>
            <a:off x="2268538" y="2986372"/>
            <a:ext cx="931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</a:t>
            </a:r>
            <a:r>
              <a: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</a:p>
        </p:txBody>
      </p:sp>
      <p:sp>
        <p:nvSpPr>
          <p:cNvPr id="83987" name="Text Box 242"/>
          <p:cNvSpPr txBox="1">
            <a:spLocks noChangeArrowheads="1"/>
          </p:cNvSpPr>
          <p:nvPr/>
        </p:nvSpPr>
        <p:spPr bwMode="auto">
          <a:xfrm>
            <a:off x="4402138" y="2986372"/>
            <a:ext cx="876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</a:t>
            </a:r>
            <a:r>
              <a: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3988" name="Text Box 243"/>
          <p:cNvSpPr txBox="1">
            <a:spLocks noChangeArrowheads="1"/>
          </p:cNvSpPr>
          <p:nvPr/>
        </p:nvSpPr>
        <p:spPr bwMode="auto">
          <a:xfrm>
            <a:off x="6688138" y="2986372"/>
            <a:ext cx="876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</a:t>
            </a:r>
            <a:r>
              <a: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83989" name="Text Box 244"/>
          <p:cNvSpPr txBox="1">
            <a:spLocks noChangeArrowheads="1"/>
          </p:cNvSpPr>
          <p:nvPr/>
        </p:nvSpPr>
        <p:spPr bwMode="auto">
          <a:xfrm>
            <a:off x="8897939" y="2986372"/>
            <a:ext cx="847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</a:t>
            </a:r>
            <a:r>
              <a: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83990" name="Text Box 245"/>
          <p:cNvSpPr txBox="1">
            <a:spLocks noChangeArrowheads="1"/>
          </p:cNvSpPr>
          <p:nvPr/>
        </p:nvSpPr>
        <p:spPr bwMode="auto">
          <a:xfrm>
            <a:off x="3289300" y="2986372"/>
            <a:ext cx="1130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路由器</a:t>
            </a:r>
            <a:r>
              <a:rPr kumimoji="1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83991" name="Text Box 246"/>
          <p:cNvSpPr txBox="1">
            <a:spLocks noChangeArrowheads="1"/>
          </p:cNvSpPr>
          <p:nvPr/>
        </p:nvSpPr>
        <p:spPr bwMode="auto">
          <a:xfrm>
            <a:off x="5422901" y="2986372"/>
            <a:ext cx="1116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路由器</a:t>
            </a:r>
            <a:r>
              <a:rPr kumimoji="1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83992" name="Text Box 247"/>
          <p:cNvSpPr txBox="1">
            <a:spLocks noChangeArrowheads="1"/>
          </p:cNvSpPr>
          <p:nvPr/>
        </p:nvSpPr>
        <p:spPr bwMode="auto">
          <a:xfrm>
            <a:off x="7696201" y="2986372"/>
            <a:ext cx="1116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路由器</a:t>
            </a:r>
            <a:r>
              <a:rPr kumimoji="1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83993" name="Rectangle 248"/>
          <p:cNvSpPr>
            <a:spLocks noChangeArrowheads="1"/>
          </p:cNvSpPr>
          <p:nvPr/>
        </p:nvSpPr>
        <p:spPr bwMode="auto">
          <a:xfrm>
            <a:off x="2978150" y="4281771"/>
            <a:ext cx="1600200" cy="236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94" name="Text Box 249"/>
          <p:cNvSpPr txBox="1">
            <a:spLocks noChangeArrowheads="1"/>
          </p:cNvSpPr>
          <p:nvPr/>
        </p:nvSpPr>
        <p:spPr bwMode="auto">
          <a:xfrm>
            <a:off x="3327400" y="4281772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路由表</a:t>
            </a:r>
          </a:p>
        </p:txBody>
      </p:sp>
      <p:sp>
        <p:nvSpPr>
          <p:cNvPr id="83995" name="Text Box 250"/>
          <p:cNvSpPr txBox="1">
            <a:spLocks noChangeArrowheads="1"/>
          </p:cNvSpPr>
          <p:nvPr/>
        </p:nvSpPr>
        <p:spPr bwMode="auto">
          <a:xfrm>
            <a:off x="2978150" y="4677059"/>
            <a:ext cx="167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网络 端口 距离</a:t>
            </a:r>
          </a:p>
        </p:txBody>
      </p:sp>
      <p:sp>
        <p:nvSpPr>
          <p:cNvPr id="83996" name="Line 251"/>
          <p:cNvSpPr>
            <a:spLocks noChangeShapeType="1"/>
          </p:cNvSpPr>
          <p:nvPr/>
        </p:nvSpPr>
        <p:spPr bwMode="auto">
          <a:xfrm>
            <a:off x="2978150" y="4662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97" name="Line 252"/>
          <p:cNvSpPr>
            <a:spLocks noChangeShapeType="1"/>
          </p:cNvSpPr>
          <p:nvPr/>
        </p:nvSpPr>
        <p:spPr bwMode="auto">
          <a:xfrm>
            <a:off x="2978150" y="5043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98" name="Line 253"/>
          <p:cNvSpPr>
            <a:spLocks noChangeShapeType="1"/>
          </p:cNvSpPr>
          <p:nvPr/>
        </p:nvSpPr>
        <p:spPr bwMode="auto">
          <a:xfrm>
            <a:off x="2978150" y="5424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99" name="Line 254"/>
          <p:cNvSpPr>
            <a:spLocks noChangeShapeType="1"/>
          </p:cNvSpPr>
          <p:nvPr/>
        </p:nvSpPr>
        <p:spPr bwMode="auto">
          <a:xfrm>
            <a:off x="2978150" y="5805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00" name="Line 256"/>
          <p:cNvSpPr>
            <a:spLocks noChangeShapeType="1"/>
          </p:cNvSpPr>
          <p:nvPr/>
        </p:nvSpPr>
        <p:spPr bwMode="auto">
          <a:xfrm flipH="1">
            <a:off x="4038600" y="4662771"/>
            <a:ext cx="635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01" name="Rectangle 259"/>
          <p:cNvSpPr>
            <a:spLocks noChangeArrowheads="1"/>
          </p:cNvSpPr>
          <p:nvPr/>
        </p:nvSpPr>
        <p:spPr bwMode="auto">
          <a:xfrm>
            <a:off x="7626350" y="4281771"/>
            <a:ext cx="1600200" cy="236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002" name="Text Box 260"/>
          <p:cNvSpPr txBox="1">
            <a:spLocks noChangeArrowheads="1"/>
          </p:cNvSpPr>
          <p:nvPr/>
        </p:nvSpPr>
        <p:spPr bwMode="auto">
          <a:xfrm>
            <a:off x="7975600" y="4281772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路由表</a:t>
            </a:r>
          </a:p>
        </p:txBody>
      </p:sp>
      <p:sp>
        <p:nvSpPr>
          <p:cNvPr id="84003" name="Text Box 261"/>
          <p:cNvSpPr txBox="1">
            <a:spLocks noChangeArrowheads="1"/>
          </p:cNvSpPr>
          <p:nvPr/>
        </p:nvSpPr>
        <p:spPr bwMode="auto">
          <a:xfrm>
            <a:off x="7626350" y="4677059"/>
            <a:ext cx="167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网络 端口 距离</a:t>
            </a:r>
          </a:p>
        </p:txBody>
      </p:sp>
      <p:sp>
        <p:nvSpPr>
          <p:cNvPr id="84004" name="Line 262"/>
          <p:cNvSpPr>
            <a:spLocks noChangeShapeType="1"/>
          </p:cNvSpPr>
          <p:nvPr/>
        </p:nvSpPr>
        <p:spPr bwMode="auto">
          <a:xfrm>
            <a:off x="7626350" y="4662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05" name="Line 263"/>
          <p:cNvSpPr>
            <a:spLocks noChangeShapeType="1"/>
          </p:cNvSpPr>
          <p:nvPr/>
        </p:nvSpPr>
        <p:spPr bwMode="auto">
          <a:xfrm>
            <a:off x="7626350" y="5043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06" name="Line 264"/>
          <p:cNvSpPr>
            <a:spLocks noChangeShapeType="1"/>
          </p:cNvSpPr>
          <p:nvPr/>
        </p:nvSpPr>
        <p:spPr bwMode="auto">
          <a:xfrm>
            <a:off x="7626350" y="5424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07" name="Line 265"/>
          <p:cNvSpPr>
            <a:spLocks noChangeShapeType="1"/>
          </p:cNvSpPr>
          <p:nvPr/>
        </p:nvSpPr>
        <p:spPr bwMode="auto">
          <a:xfrm>
            <a:off x="7626350" y="5805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08" name="Rectangle 269"/>
          <p:cNvSpPr>
            <a:spLocks noChangeArrowheads="1"/>
          </p:cNvSpPr>
          <p:nvPr/>
        </p:nvSpPr>
        <p:spPr bwMode="auto">
          <a:xfrm>
            <a:off x="5334000" y="4281771"/>
            <a:ext cx="1600200" cy="236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009" name="Text Box 270"/>
          <p:cNvSpPr txBox="1">
            <a:spLocks noChangeArrowheads="1"/>
          </p:cNvSpPr>
          <p:nvPr/>
        </p:nvSpPr>
        <p:spPr bwMode="auto">
          <a:xfrm>
            <a:off x="5683250" y="4281772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路由表</a:t>
            </a:r>
          </a:p>
        </p:txBody>
      </p:sp>
      <p:sp>
        <p:nvSpPr>
          <p:cNvPr id="84010" name="Text Box 271"/>
          <p:cNvSpPr txBox="1">
            <a:spLocks noChangeArrowheads="1"/>
          </p:cNvSpPr>
          <p:nvPr/>
        </p:nvSpPr>
        <p:spPr bwMode="auto">
          <a:xfrm>
            <a:off x="5334000" y="4677059"/>
            <a:ext cx="167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网络 端口 距离</a:t>
            </a:r>
          </a:p>
        </p:txBody>
      </p:sp>
      <p:sp>
        <p:nvSpPr>
          <p:cNvPr id="84011" name="Line 272"/>
          <p:cNvSpPr>
            <a:spLocks noChangeShapeType="1"/>
          </p:cNvSpPr>
          <p:nvPr/>
        </p:nvSpPr>
        <p:spPr bwMode="auto">
          <a:xfrm>
            <a:off x="5334000" y="4662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12" name="Line 273"/>
          <p:cNvSpPr>
            <a:spLocks noChangeShapeType="1"/>
          </p:cNvSpPr>
          <p:nvPr/>
        </p:nvSpPr>
        <p:spPr bwMode="auto">
          <a:xfrm>
            <a:off x="5334000" y="5043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13" name="Line 274"/>
          <p:cNvSpPr>
            <a:spLocks noChangeShapeType="1"/>
          </p:cNvSpPr>
          <p:nvPr/>
        </p:nvSpPr>
        <p:spPr bwMode="auto">
          <a:xfrm>
            <a:off x="5334000" y="5424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14" name="Line 275"/>
          <p:cNvSpPr>
            <a:spLocks noChangeShapeType="1"/>
          </p:cNvSpPr>
          <p:nvPr/>
        </p:nvSpPr>
        <p:spPr bwMode="auto">
          <a:xfrm>
            <a:off x="5334000" y="5805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15" name="Line 276"/>
          <p:cNvSpPr>
            <a:spLocks noChangeShapeType="1"/>
          </p:cNvSpPr>
          <p:nvPr/>
        </p:nvSpPr>
        <p:spPr bwMode="auto">
          <a:xfrm>
            <a:off x="5867400" y="4662771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16" name="Line 277"/>
          <p:cNvSpPr>
            <a:spLocks noChangeShapeType="1"/>
          </p:cNvSpPr>
          <p:nvPr/>
        </p:nvSpPr>
        <p:spPr bwMode="auto">
          <a:xfrm>
            <a:off x="6400800" y="4662771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17" name="Text Box 285"/>
          <p:cNvSpPr txBox="1">
            <a:spLocks noChangeArrowheads="1"/>
          </p:cNvSpPr>
          <p:nvPr/>
        </p:nvSpPr>
        <p:spPr bwMode="auto">
          <a:xfrm>
            <a:off x="3124200" y="3411821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A1</a:t>
            </a:r>
          </a:p>
        </p:txBody>
      </p:sp>
      <p:sp>
        <p:nvSpPr>
          <p:cNvPr id="84018" name="Text Box 286"/>
          <p:cNvSpPr txBox="1">
            <a:spLocks noChangeArrowheads="1"/>
          </p:cNvSpPr>
          <p:nvPr/>
        </p:nvSpPr>
        <p:spPr bwMode="auto">
          <a:xfrm>
            <a:off x="4114800" y="3411821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A2</a:t>
            </a:r>
          </a:p>
        </p:txBody>
      </p:sp>
      <p:sp>
        <p:nvSpPr>
          <p:cNvPr id="84019" name="Text Box 287"/>
          <p:cNvSpPr txBox="1">
            <a:spLocks noChangeArrowheads="1"/>
          </p:cNvSpPr>
          <p:nvPr/>
        </p:nvSpPr>
        <p:spPr bwMode="auto">
          <a:xfrm>
            <a:off x="5334000" y="3411821"/>
            <a:ext cx="420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B1</a:t>
            </a:r>
          </a:p>
        </p:txBody>
      </p:sp>
      <p:sp>
        <p:nvSpPr>
          <p:cNvPr id="84020" name="Text Box 288"/>
          <p:cNvSpPr txBox="1">
            <a:spLocks noChangeArrowheads="1"/>
          </p:cNvSpPr>
          <p:nvPr/>
        </p:nvSpPr>
        <p:spPr bwMode="auto">
          <a:xfrm>
            <a:off x="6361114" y="3411821"/>
            <a:ext cx="420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B2</a:t>
            </a:r>
          </a:p>
        </p:txBody>
      </p:sp>
      <p:sp>
        <p:nvSpPr>
          <p:cNvPr id="84021" name="Text Box 289"/>
          <p:cNvSpPr txBox="1">
            <a:spLocks noChangeArrowheads="1"/>
          </p:cNvSpPr>
          <p:nvPr/>
        </p:nvSpPr>
        <p:spPr bwMode="auto">
          <a:xfrm>
            <a:off x="7696200" y="3411821"/>
            <a:ext cx="420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C1</a:t>
            </a:r>
          </a:p>
        </p:txBody>
      </p:sp>
      <p:sp>
        <p:nvSpPr>
          <p:cNvPr id="84022" name="Text Box 290"/>
          <p:cNvSpPr txBox="1">
            <a:spLocks noChangeArrowheads="1"/>
          </p:cNvSpPr>
          <p:nvPr/>
        </p:nvSpPr>
        <p:spPr bwMode="auto">
          <a:xfrm>
            <a:off x="8686800" y="3411821"/>
            <a:ext cx="420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C2</a:t>
            </a:r>
          </a:p>
        </p:txBody>
      </p:sp>
      <p:sp>
        <p:nvSpPr>
          <p:cNvPr id="84023" name="Text Box 291"/>
          <p:cNvSpPr txBox="1">
            <a:spLocks noChangeArrowheads="1"/>
          </p:cNvSpPr>
          <p:nvPr/>
        </p:nvSpPr>
        <p:spPr bwMode="auto">
          <a:xfrm>
            <a:off x="3048000" y="5043771"/>
            <a:ext cx="3762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</a:p>
        </p:txBody>
      </p:sp>
      <p:sp>
        <p:nvSpPr>
          <p:cNvPr id="84024" name="Text Box 292"/>
          <p:cNvSpPr txBox="1">
            <a:spLocks noChangeArrowheads="1"/>
          </p:cNvSpPr>
          <p:nvPr/>
        </p:nvSpPr>
        <p:spPr bwMode="auto">
          <a:xfrm>
            <a:off x="3586163" y="5043771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A1</a:t>
            </a:r>
          </a:p>
        </p:txBody>
      </p:sp>
      <p:sp>
        <p:nvSpPr>
          <p:cNvPr id="84025" name="Text Box 293"/>
          <p:cNvSpPr txBox="1">
            <a:spLocks noChangeArrowheads="1"/>
          </p:cNvSpPr>
          <p:nvPr/>
        </p:nvSpPr>
        <p:spPr bwMode="auto">
          <a:xfrm>
            <a:off x="4119563" y="5043771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84026" name="Text Box 294"/>
          <p:cNvSpPr txBox="1">
            <a:spLocks noChangeArrowheads="1"/>
          </p:cNvSpPr>
          <p:nvPr/>
        </p:nvSpPr>
        <p:spPr bwMode="auto">
          <a:xfrm>
            <a:off x="3048000" y="5469221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027" name="Text Box 295"/>
          <p:cNvSpPr txBox="1">
            <a:spLocks noChangeArrowheads="1"/>
          </p:cNvSpPr>
          <p:nvPr/>
        </p:nvSpPr>
        <p:spPr bwMode="auto">
          <a:xfrm>
            <a:off x="3586163" y="5469221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A2</a:t>
            </a:r>
          </a:p>
        </p:txBody>
      </p:sp>
      <p:sp>
        <p:nvSpPr>
          <p:cNvPr id="84028" name="Text Box 296"/>
          <p:cNvSpPr txBox="1">
            <a:spLocks noChangeArrowheads="1"/>
          </p:cNvSpPr>
          <p:nvPr/>
        </p:nvSpPr>
        <p:spPr bwMode="auto">
          <a:xfrm>
            <a:off x="4119563" y="5469221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84029" name="Text Box 297"/>
          <p:cNvSpPr txBox="1">
            <a:spLocks noChangeArrowheads="1"/>
          </p:cNvSpPr>
          <p:nvPr/>
        </p:nvSpPr>
        <p:spPr bwMode="auto">
          <a:xfrm>
            <a:off x="5410200" y="5043771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030" name="Text Box 298"/>
          <p:cNvSpPr txBox="1">
            <a:spLocks noChangeArrowheads="1"/>
          </p:cNvSpPr>
          <p:nvPr/>
        </p:nvSpPr>
        <p:spPr bwMode="auto">
          <a:xfrm>
            <a:off x="5948364" y="5043771"/>
            <a:ext cx="420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B1</a:t>
            </a:r>
          </a:p>
        </p:txBody>
      </p:sp>
      <p:sp>
        <p:nvSpPr>
          <p:cNvPr id="84031" name="Text Box 299"/>
          <p:cNvSpPr txBox="1">
            <a:spLocks noChangeArrowheads="1"/>
          </p:cNvSpPr>
          <p:nvPr/>
        </p:nvSpPr>
        <p:spPr bwMode="auto">
          <a:xfrm>
            <a:off x="6481763" y="5043771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84032" name="Text Box 300"/>
          <p:cNvSpPr txBox="1">
            <a:spLocks noChangeArrowheads="1"/>
          </p:cNvSpPr>
          <p:nvPr/>
        </p:nvSpPr>
        <p:spPr bwMode="auto">
          <a:xfrm>
            <a:off x="5410200" y="5469221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84033" name="Text Box 301"/>
          <p:cNvSpPr txBox="1">
            <a:spLocks noChangeArrowheads="1"/>
          </p:cNvSpPr>
          <p:nvPr/>
        </p:nvSpPr>
        <p:spPr bwMode="auto">
          <a:xfrm>
            <a:off x="5948364" y="5469221"/>
            <a:ext cx="420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B2</a:t>
            </a:r>
          </a:p>
        </p:txBody>
      </p:sp>
      <p:sp>
        <p:nvSpPr>
          <p:cNvPr id="84034" name="Text Box 302"/>
          <p:cNvSpPr txBox="1">
            <a:spLocks noChangeArrowheads="1"/>
          </p:cNvSpPr>
          <p:nvPr/>
        </p:nvSpPr>
        <p:spPr bwMode="auto">
          <a:xfrm>
            <a:off x="6481763" y="5469221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84035" name="Text Box 303"/>
          <p:cNvSpPr txBox="1">
            <a:spLocks noChangeArrowheads="1"/>
          </p:cNvSpPr>
          <p:nvPr/>
        </p:nvSpPr>
        <p:spPr bwMode="auto">
          <a:xfrm>
            <a:off x="7696200" y="5043771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84036" name="Text Box 304"/>
          <p:cNvSpPr txBox="1">
            <a:spLocks noChangeArrowheads="1"/>
          </p:cNvSpPr>
          <p:nvPr/>
        </p:nvSpPr>
        <p:spPr bwMode="auto">
          <a:xfrm>
            <a:off x="8234364" y="5043771"/>
            <a:ext cx="420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C1</a:t>
            </a:r>
          </a:p>
        </p:txBody>
      </p:sp>
      <p:sp>
        <p:nvSpPr>
          <p:cNvPr id="84037" name="Text Box 305"/>
          <p:cNvSpPr txBox="1">
            <a:spLocks noChangeArrowheads="1"/>
          </p:cNvSpPr>
          <p:nvPr/>
        </p:nvSpPr>
        <p:spPr bwMode="auto">
          <a:xfrm>
            <a:off x="8767763" y="5043771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84038" name="Text Box 306"/>
          <p:cNvSpPr txBox="1">
            <a:spLocks noChangeArrowheads="1"/>
          </p:cNvSpPr>
          <p:nvPr/>
        </p:nvSpPr>
        <p:spPr bwMode="auto">
          <a:xfrm>
            <a:off x="7696201" y="5469221"/>
            <a:ext cx="358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Z</a:t>
            </a:r>
          </a:p>
        </p:txBody>
      </p:sp>
      <p:sp>
        <p:nvSpPr>
          <p:cNvPr id="84039" name="Text Box 307"/>
          <p:cNvSpPr txBox="1">
            <a:spLocks noChangeArrowheads="1"/>
          </p:cNvSpPr>
          <p:nvPr/>
        </p:nvSpPr>
        <p:spPr bwMode="auto">
          <a:xfrm>
            <a:off x="8234364" y="5469221"/>
            <a:ext cx="420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C2</a:t>
            </a:r>
          </a:p>
        </p:txBody>
      </p:sp>
      <p:sp>
        <p:nvSpPr>
          <p:cNvPr id="84040" name="Text Box 308"/>
          <p:cNvSpPr txBox="1">
            <a:spLocks noChangeArrowheads="1"/>
          </p:cNvSpPr>
          <p:nvPr/>
        </p:nvSpPr>
        <p:spPr bwMode="auto">
          <a:xfrm>
            <a:off x="8767763" y="5469221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84041" name="Line 310"/>
          <p:cNvSpPr>
            <a:spLocks noChangeShapeType="1"/>
          </p:cNvSpPr>
          <p:nvPr/>
        </p:nvSpPr>
        <p:spPr bwMode="auto">
          <a:xfrm>
            <a:off x="3505200" y="4662771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42" name="Line 311"/>
          <p:cNvSpPr>
            <a:spLocks noChangeShapeType="1"/>
          </p:cNvSpPr>
          <p:nvPr/>
        </p:nvSpPr>
        <p:spPr bwMode="auto">
          <a:xfrm>
            <a:off x="2971800" y="6186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43" name="Line 312"/>
          <p:cNvSpPr>
            <a:spLocks noChangeShapeType="1"/>
          </p:cNvSpPr>
          <p:nvPr/>
        </p:nvSpPr>
        <p:spPr bwMode="auto">
          <a:xfrm>
            <a:off x="8153400" y="4662771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44" name="Line 313"/>
          <p:cNvSpPr>
            <a:spLocks noChangeShapeType="1"/>
          </p:cNvSpPr>
          <p:nvPr/>
        </p:nvSpPr>
        <p:spPr bwMode="auto">
          <a:xfrm>
            <a:off x="8686800" y="4662771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45" name="Line 314"/>
          <p:cNvSpPr>
            <a:spLocks noChangeShapeType="1"/>
          </p:cNvSpPr>
          <p:nvPr/>
        </p:nvSpPr>
        <p:spPr bwMode="auto">
          <a:xfrm>
            <a:off x="7620000" y="6186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46" name="Line 315"/>
          <p:cNvSpPr>
            <a:spLocks noChangeShapeType="1"/>
          </p:cNvSpPr>
          <p:nvPr/>
        </p:nvSpPr>
        <p:spPr bwMode="auto">
          <a:xfrm>
            <a:off x="5334000" y="6186771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605331" y="2505252"/>
            <a:ext cx="3349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一个网络的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初始状态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84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Line 2"/>
          <p:cNvSpPr>
            <a:spLocks noChangeShapeType="1"/>
          </p:cNvSpPr>
          <p:nvPr/>
        </p:nvSpPr>
        <p:spPr bwMode="auto">
          <a:xfrm flipH="1" flipV="1">
            <a:off x="8382000" y="28956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995" name="Line 3"/>
          <p:cNvSpPr>
            <a:spLocks noChangeShapeType="1"/>
          </p:cNvSpPr>
          <p:nvPr/>
        </p:nvSpPr>
        <p:spPr bwMode="auto">
          <a:xfrm flipV="1">
            <a:off x="7620000" y="29718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996" name="Line 4"/>
          <p:cNvSpPr>
            <a:spLocks noChangeShapeType="1"/>
          </p:cNvSpPr>
          <p:nvPr/>
        </p:nvSpPr>
        <p:spPr bwMode="auto">
          <a:xfrm>
            <a:off x="6019800" y="2895600"/>
            <a:ext cx="914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997" name="Line 5"/>
          <p:cNvSpPr>
            <a:spLocks noChangeShapeType="1"/>
          </p:cNvSpPr>
          <p:nvPr/>
        </p:nvSpPr>
        <p:spPr bwMode="auto">
          <a:xfrm flipV="1">
            <a:off x="5334000" y="29718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998" name="Line 6"/>
          <p:cNvSpPr>
            <a:spLocks noChangeShapeType="1"/>
          </p:cNvSpPr>
          <p:nvPr/>
        </p:nvSpPr>
        <p:spPr bwMode="auto">
          <a:xfrm>
            <a:off x="3810000" y="29718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999" name="Line 7"/>
          <p:cNvSpPr>
            <a:spLocks noChangeShapeType="1"/>
          </p:cNvSpPr>
          <p:nvPr/>
        </p:nvSpPr>
        <p:spPr bwMode="auto">
          <a:xfrm flipV="1">
            <a:off x="2971800" y="29718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00" name="Line 8"/>
          <p:cNvSpPr>
            <a:spLocks noChangeShapeType="1"/>
          </p:cNvSpPr>
          <p:nvPr/>
        </p:nvSpPr>
        <p:spPr bwMode="auto">
          <a:xfrm flipV="1">
            <a:off x="3124200" y="3048000"/>
            <a:ext cx="5867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02" name="Text Box 10"/>
          <p:cNvSpPr txBox="1">
            <a:spLocks noChangeArrowheads="1"/>
          </p:cNvSpPr>
          <p:nvPr/>
        </p:nvSpPr>
        <p:spPr bwMode="auto">
          <a:xfrm>
            <a:off x="4031306" y="1636067"/>
            <a:ext cx="36631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路由收敛后的网络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状态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5003" name="Group 11"/>
          <p:cNvGrpSpPr>
            <a:grpSpLocks/>
          </p:cNvGrpSpPr>
          <p:nvPr/>
        </p:nvGrpSpPr>
        <p:grpSpPr bwMode="auto">
          <a:xfrm>
            <a:off x="8001000" y="2784476"/>
            <a:ext cx="744538" cy="492125"/>
            <a:chOff x="2270" y="1488"/>
            <a:chExt cx="756" cy="384"/>
          </a:xfrm>
        </p:grpSpPr>
        <p:sp>
          <p:nvSpPr>
            <p:cNvPr id="85207" name="Rectangle 12"/>
            <p:cNvSpPr>
              <a:spLocks noChangeArrowheads="1"/>
            </p:cNvSpPr>
            <p:nvPr/>
          </p:nvSpPr>
          <p:spPr bwMode="auto">
            <a:xfrm>
              <a:off x="2272" y="1631"/>
              <a:ext cx="754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208" name="Oval 13"/>
            <p:cNvSpPr>
              <a:spLocks noChangeArrowheads="1"/>
            </p:cNvSpPr>
            <p:nvPr/>
          </p:nvSpPr>
          <p:spPr bwMode="auto">
            <a:xfrm>
              <a:off x="2287" y="1643"/>
              <a:ext cx="737" cy="22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209" name="Oval 14"/>
            <p:cNvSpPr>
              <a:spLocks noChangeArrowheads="1"/>
            </p:cNvSpPr>
            <p:nvPr/>
          </p:nvSpPr>
          <p:spPr bwMode="auto">
            <a:xfrm>
              <a:off x="2287" y="1513"/>
              <a:ext cx="737" cy="22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210" name="Rectangle 15"/>
            <p:cNvSpPr>
              <a:spLocks noChangeArrowheads="1"/>
            </p:cNvSpPr>
            <p:nvPr/>
          </p:nvSpPr>
          <p:spPr bwMode="auto">
            <a:xfrm>
              <a:off x="2271" y="1609"/>
              <a:ext cx="739" cy="120"/>
            </a:xfrm>
            <a:prstGeom prst="rect">
              <a:avLst/>
            </a:prstGeom>
            <a:solidFill>
              <a:srgbClr val="004E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211" name="Oval 16"/>
            <p:cNvSpPr>
              <a:spLocks noChangeArrowheads="1"/>
            </p:cNvSpPr>
            <p:nvPr/>
          </p:nvSpPr>
          <p:spPr bwMode="auto">
            <a:xfrm>
              <a:off x="2270" y="1618"/>
              <a:ext cx="740" cy="229"/>
            </a:xfrm>
            <a:prstGeom prst="ellipse">
              <a:avLst/>
            </a:prstGeom>
            <a:solidFill>
              <a:srgbClr val="004E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212" name="Oval 17"/>
            <p:cNvSpPr>
              <a:spLocks noChangeArrowheads="1"/>
            </p:cNvSpPr>
            <p:nvPr/>
          </p:nvSpPr>
          <p:spPr bwMode="auto">
            <a:xfrm>
              <a:off x="2270" y="1488"/>
              <a:ext cx="740" cy="229"/>
            </a:xfrm>
            <a:prstGeom prst="ellipse">
              <a:avLst/>
            </a:prstGeom>
            <a:solidFill>
              <a:srgbClr val="558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5213" name="Group 18"/>
            <p:cNvGrpSpPr>
              <a:grpSpLocks/>
            </p:cNvGrpSpPr>
            <p:nvPr/>
          </p:nvGrpSpPr>
          <p:grpSpPr bwMode="auto">
            <a:xfrm>
              <a:off x="2400" y="1524"/>
              <a:ext cx="472" cy="168"/>
              <a:chOff x="2375" y="1422"/>
              <a:chExt cx="273" cy="142"/>
            </a:xfrm>
          </p:grpSpPr>
          <p:grpSp>
            <p:nvGrpSpPr>
              <p:cNvPr id="85214" name="Group 19"/>
              <p:cNvGrpSpPr>
                <a:grpSpLocks/>
              </p:cNvGrpSpPr>
              <p:nvPr/>
            </p:nvGrpSpPr>
            <p:grpSpPr bwMode="auto">
              <a:xfrm>
                <a:off x="2375" y="1422"/>
                <a:ext cx="273" cy="142"/>
                <a:chOff x="2375" y="1422"/>
                <a:chExt cx="273" cy="142"/>
              </a:xfrm>
            </p:grpSpPr>
            <p:sp>
              <p:nvSpPr>
                <p:cNvPr id="85218" name="Freeform 20"/>
                <p:cNvSpPr>
                  <a:spLocks/>
                </p:cNvSpPr>
                <p:nvPr/>
              </p:nvSpPr>
              <p:spPr bwMode="auto">
                <a:xfrm>
                  <a:off x="2375" y="1422"/>
                  <a:ext cx="123" cy="51"/>
                </a:xfrm>
                <a:custGeom>
                  <a:avLst/>
                  <a:gdLst>
                    <a:gd name="T0" fmla="*/ 0 w 123"/>
                    <a:gd name="T1" fmla="*/ 8 h 51"/>
                    <a:gd name="T2" fmla="*/ 30 w 123"/>
                    <a:gd name="T3" fmla="*/ 0 h 51"/>
                    <a:gd name="T4" fmla="*/ 91 w 123"/>
                    <a:gd name="T5" fmla="*/ 25 h 51"/>
                    <a:gd name="T6" fmla="*/ 122 w 123"/>
                    <a:gd name="T7" fmla="*/ 17 h 51"/>
                    <a:gd name="T8" fmla="*/ 114 w 123"/>
                    <a:gd name="T9" fmla="*/ 50 h 51"/>
                    <a:gd name="T10" fmla="*/ 30 w 123"/>
                    <a:gd name="T11" fmla="*/ 50 h 51"/>
                    <a:gd name="T12" fmla="*/ 68 w 123"/>
                    <a:gd name="T13" fmla="*/ 33 h 51"/>
                    <a:gd name="T14" fmla="*/ 0 w 123"/>
                    <a:gd name="T15" fmla="*/ 8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3" h="51">
                      <a:moveTo>
                        <a:pt x="0" y="8"/>
                      </a:moveTo>
                      <a:lnTo>
                        <a:pt x="30" y="0"/>
                      </a:lnTo>
                      <a:lnTo>
                        <a:pt x="91" y="25"/>
                      </a:lnTo>
                      <a:lnTo>
                        <a:pt x="122" y="17"/>
                      </a:lnTo>
                      <a:lnTo>
                        <a:pt x="114" y="50"/>
                      </a:lnTo>
                      <a:lnTo>
                        <a:pt x="30" y="50"/>
                      </a:lnTo>
                      <a:lnTo>
                        <a:pt x="68" y="33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219" name="Freeform 21"/>
                <p:cNvSpPr>
                  <a:spLocks/>
                </p:cNvSpPr>
                <p:nvPr/>
              </p:nvSpPr>
              <p:spPr bwMode="auto">
                <a:xfrm>
                  <a:off x="2522" y="1513"/>
                  <a:ext cx="126" cy="51"/>
                </a:xfrm>
                <a:custGeom>
                  <a:avLst/>
                  <a:gdLst>
                    <a:gd name="T0" fmla="*/ 125 w 126"/>
                    <a:gd name="T1" fmla="*/ 42 h 51"/>
                    <a:gd name="T2" fmla="*/ 93 w 126"/>
                    <a:gd name="T3" fmla="*/ 50 h 51"/>
                    <a:gd name="T4" fmla="*/ 31 w 126"/>
                    <a:gd name="T5" fmla="*/ 25 h 51"/>
                    <a:gd name="T6" fmla="*/ 0 w 126"/>
                    <a:gd name="T7" fmla="*/ 42 h 51"/>
                    <a:gd name="T8" fmla="*/ 7 w 126"/>
                    <a:gd name="T9" fmla="*/ 0 h 51"/>
                    <a:gd name="T10" fmla="*/ 93 w 126"/>
                    <a:gd name="T11" fmla="*/ 0 h 51"/>
                    <a:gd name="T12" fmla="*/ 62 w 126"/>
                    <a:gd name="T13" fmla="*/ 17 h 51"/>
                    <a:gd name="T14" fmla="*/ 125 w 126"/>
                    <a:gd name="T15" fmla="*/ 42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6" h="51">
                      <a:moveTo>
                        <a:pt x="125" y="42"/>
                      </a:moveTo>
                      <a:lnTo>
                        <a:pt x="93" y="50"/>
                      </a:lnTo>
                      <a:lnTo>
                        <a:pt x="31" y="25"/>
                      </a:lnTo>
                      <a:lnTo>
                        <a:pt x="0" y="42"/>
                      </a:lnTo>
                      <a:lnTo>
                        <a:pt x="7" y="0"/>
                      </a:lnTo>
                      <a:lnTo>
                        <a:pt x="93" y="0"/>
                      </a:lnTo>
                      <a:lnTo>
                        <a:pt x="62" y="17"/>
                      </a:lnTo>
                      <a:lnTo>
                        <a:pt x="125" y="42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5215" name="Group 22"/>
              <p:cNvGrpSpPr>
                <a:grpSpLocks/>
              </p:cNvGrpSpPr>
              <p:nvPr/>
            </p:nvGrpSpPr>
            <p:grpSpPr bwMode="auto">
              <a:xfrm>
                <a:off x="2390" y="1422"/>
                <a:ext cx="249" cy="142"/>
                <a:chOff x="2390" y="1422"/>
                <a:chExt cx="249" cy="142"/>
              </a:xfrm>
            </p:grpSpPr>
            <p:sp>
              <p:nvSpPr>
                <p:cNvPr id="85216" name="Freeform 23"/>
                <p:cNvSpPr>
                  <a:spLocks/>
                </p:cNvSpPr>
                <p:nvPr/>
              </p:nvSpPr>
              <p:spPr bwMode="auto">
                <a:xfrm>
                  <a:off x="2515" y="1422"/>
                  <a:ext cx="124" cy="51"/>
                </a:xfrm>
                <a:custGeom>
                  <a:avLst/>
                  <a:gdLst>
                    <a:gd name="T0" fmla="*/ 0 w 124"/>
                    <a:gd name="T1" fmla="*/ 33 h 51"/>
                    <a:gd name="T2" fmla="*/ 30 w 124"/>
                    <a:gd name="T3" fmla="*/ 50 h 51"/>
                    <a:gd name="T4" fmla="*/ 92 w 124"/>
                    <a:gd name="T5" fmla="*/ 17 h 51"/>
                    <a:gd name="T6" fmla="*/ 123 w 124"/>
                    <a:gd name="T7" fmla="*/ 25 h 51"/>
                    <a:gd name="T8" fmla="*/ 107 w 124"/>
                    <a:gd name="T9" fmla="*/ 0 h 51"/>
                    <a:gd name="T10" fmla="*/ 30 w 124"/>
                    <a:gd name="T11" fmla="*/ 0 h 51"/>
                    <a:gd name="T12" fmla="*/ 69 w 124"/>
                    <a:gd name="T13" fmla="*/ 8 h 51"/>
                    <a:gd name="T14" fmla="*/ 0 w 124"/>
                    <a:gd name="T15" fmla="*/ 33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4" h="51">
                      <a:moveTo>
                        <a:pt x="0" y="33"/>
                      </a:moveTo>
                      <a:lnTo>
                        <a:pt x="30" y="50"/>
                      </a:lnTo>
                      <a:lnTo>
                        <a:pt x="92" y="17"/>
                      </a:lnTo>
                      <a:lnTo>
                        <a:pt x="123" y="25"/>
                      </a:lnTo>
                      <a:lnTo>
                        <a:pt x="107" y="0"/>
                      </a:lnTo>
                      <a:lnTo>
                        <a:pt x="30" y="0"/>
                      </a:lnTo>
                      <a:lnTo>
                        <a:pt x="69" y="8"/>
                      </a:lnTo>
                      <a:lnTo>
                        <a:pt x="0" y="33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217" name="Freeform 24"/>
                <p:cNvSpPr>
                  <a:spLocks/>
                </p:cNvSpPr>
                <p:nvPr/>
              </p:nvSpPr>
              <p:spPr bwMode="auto">
                <a:xfrm>
                  <a:off x="2390" y="1502"/>
                  <a:ext cx="117" cy="62"/>
                </a:xfrm>
                <a:custGeom>
                  <a:avLst/>
                  <a:gdLst>
                    <a:gd name="T0" fmla="*/ 116 w 117"/>
                    <a:gd name="T1" fmla="*/ 9 h 62"/>
                    <a:gd name="T2" fmla="*/ 85 w 117"/>
                    <a:gd name="T3" fmla="*/ 0 h 62"/>
                    <a:gd name="T4" fmla="*/ 23 w 117"/>
                    <a:gd name="T5" fmla="*/ 35 h 62"/>
                    <a:gd name="T6" fmla="*/ 0 w 117"/>
                    <a:gd name="T7" fmla="*/ 26 h 62"/>
                    <a:gd name="T8" fmla="*/ 7 w 117"/>
                    <a:gd name="T9" fmla="*/ 61 h 62"/>
                    <a:gd name="T10" fmla="*/ 85 w 117"/>
                    <a:gd name="T11" fmla="*/ 61 h 62"/>
                    <a:gd name="T12" fmla="*/ 46 w 117"/>
                    <a:gd name="T13" fmla="*/ 52 h 62"/>
                    <a:gd name="T14" fmla="*/ 116 w 117"/>
                    <a:gd name="T15" fmla="*/ 9 h 6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17" h="62">
                      <a:moveTo>
                        <a:pt x="116" y="9"/>
                      </a:moveTo>
                      <a:lnTo>
                        <a:pt x="85" y="0"/>
                      </a:lnTo>
                      <a:lnTo>
                        <a:pt x="23" y="35"/>
                      </a:lnTo>
                      <a:lnTo>
                        <a:pt x="0" y="26"/>
                      </a:lnTo>
                      <a:lnTo>
                        <a:pt x="7" y="61"/>
                      </a:lnTo>
                      <a:lnTo>
                        <a:pt x="85" y="61"/>
                      </a:lnTo>
                      <a:lnTo>
                        <a:pt x="46" y="52"/>
                      </a:lnTo>
                      <a:lnTo>
                        <a:pt x="116" y="9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5004" name="Group 25"/>
          <p:cNvGrpSpPr>
            <a:grpSpLocks/>
          </p:cNvGrpSpPr>
          <p:nvPr/>
        </p:nvGrpSpPr>
        <p:grpSpPr bwMode="auto">
          <a:xfrm>
            <a:off x="4419600" y="2667000"/>
            <a:ext cx="990600" cy="838200"/>
            <a:chOff x="3152" y="2518"/>
            <a:chExt cx="336" cy="223"/>
          </a:xfrm>
        </p:grpSpPr>
        <p:grpSp>
          <p:nvGrpSpPr>
            <p:cNvPr id="85184" name="Group 26"/>
            <p:cNvGrpSpPr>
              <a:grpSpLocks/>
            </p:cNvGrpSpPr>
            <p:nvPr/>
          </p:nvGrpSpPr>
          <p:grpSpPr bwMode="auto">
            <a:xfrm>
              <a:off x="3152" y="2518"/>
              <a:ext cx="336" cy="223"/>
              <a:chOff x="3152" y="2518"/>
              <a:chExt cx="336" cy="223"/>
            </a:xfrm>
          </p:grpSpPr>
          <p:sp>
            <p:nvSpPr>
              <p:cNvPr id="85188" name="Oval 27"/>
              <p:cNvSpPr>
                <a:spLocks noChangeArrowheads="1"/>
              </p:cNvSpPr>
              <p:nvPr/>
            </p:nvSpPr>
            <p:spPr bwMode="auto">
              <a:xfrm>
                <a:off x="3198" y="2526"/>
                <a:ext cx="92" cy="81"/>
              </a:xfrm>
              <a:prstGeom prst="ellipse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189" name="Oval 28"/>
              <p:cNvSpPr>
                <a:spLocks noChangeArrowheads="1"/>
              </p:cNvSpPr>
              <p:nvPr/>
            </p:nvSpPr>
            <p:spPr bwMode="auto">
              <a:xfrm>
                <a:off x="3152" y="2570"/>
                <a:ext cx="124" cy="71"/>
              </a:xfrm>
              <a:prstGeom prst="ellips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5190" name="Group 29"/>
              <p:cNvGrpSpPr>
                <a:grpSpLocks/>
              </p:cNvGrpSpPr>
              <p:nvPr/>
            </p:nvGrpSpPr>
            <p:grpSpPr bwMode="auto">
              <a:xfrm>
                <a:off x="3182" y="2623"/>
                <a:ext cx="140" cy="106"/>
                <a:chOff x="3182" y="2623"/>
                <a:chExt cx="140" cy="106"/>
              </a:xfrm>
            </p:grpSpPr>
            <p:sp>
              <p:nvSpPr>
                <p:cNvPr id="85205" name="Oval 30"/>
                <p:cNvSpPr>
                  <a:spLocks noChangeArrowheads="1"/>
                </p:cNvSpPr>
                <p:nvPr/>
              </p:nvSpPr>
              <p:spPr bwMode="auto">
                <a:xfrm>
                  <a:off x="3230" y="2671"/>
                  <a:ext cx="92" cy="58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206" name="Oval 31"/>
                <p:cNvSpPr>
                  <a:spLocks noChangeArrowheads="1"/>
                </p:cNvSpPr>
                <p:nvPr/>
              </p:nvSpPr>
              <p:spPr bwMode="auto">
                <a:xfrm>
                  <a:off x="3182" y="2623"/>
                  <a:ext cx="94" cy="58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5191" name="Group 32"/>
              <p:cNvGrpSpPr>
                <a:grpSpLocks/>
              </p:cNvGrpSpPr>
              <p:nvPr/>
            </p:nvGrpSpPr>
            <p:grpSpPr bwMode="auto">
              <a:xfrm>
                <a:off x="3194" y="2526"/>
                <a:ext cx="288" cy="215"/>
                <a:chOff x="3194" y="2526"/>
                <a:chExt cx="288" cy="215"/>
              </a:xfrm>
            </p:grpSpPr>
            <p:grpSp>
              <p:nvGrpSpPr>
                <p:cNvPr id="85199" name="Group 33"/>
                <p:cNvGrpSpPr>
                  <a:grpSpLocks/>
                </p:cNvGrpSpPr>
                <p:nvPr/>
              </p:nvGrpSpPr>
              <p:grpSpPr bwMode="auto">
                <a:xfrm>
                  <a:off x="3194" y="2526"/>
                  <a:ext cx="262" cy="215"/>
                  <a:chOff x="3194" y="2526"/>
                  <a:chExt cx="262" cy="215"/>
                </a:xfrm>
              </p:grpSpPr>
              <p:sp>
                <p:nvSpPr>
                  <p:cNvPr id="85203" name="Oval 34"/>
                  <p:cNvSpPr>
                    <a:spLocks noChangeArrowheads="1"/>
                  </p:cNvSpPr>
                  <p:nvPr/>
                </p:nvSpPr>
                <p:spPr bwMode="auto">
                  <a:xfrm>
                    <a:off x="3242" y="2574"/>
                    <a:ext cx="214" cy="167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5204" name="Oval 35"/>
                  <p:cNvSpPr>
                    <a:spLocks noChangeArrowheads="1"/>
                  </p:cNvSpPr>
                  <p:nvPr/>
                </p:nvSpPr>
                <p:spPr bwMode="auto">
                  <a:xfrm>
                    <a:off x="3194" y="2526"/>
                    <a:ext cx="214" cy="167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85200" name="Group 36"/>
                <p:cNvGrpSpPr>
                  <a:grpSpLocks/>
                </p:cNvGrpSpPr>
                <p:nvPr/>
              </p:nvGrpSpPr>
              <p:grpSpPr bwMode="auto">
                <a:xfrm>
                  <a:off x="3322" y="2544"/>
                  <a:ext cx="160" cy="121"/>
                  <a:chOff x="3322" y="2544"/>
                  <a:chExt cx="160" cy="121"/>
                </a:xfrm>
              </p:grpSpPr>
              <p:sp>
                <p:nvSpPr>
                  <p:cNvPr id="85201" name="Oval 37"/>
                  <p:cNvSpPr>
                    <a:spLocks noChangeArrowheads="1"/>
                  </p:cNvSpPr>
                  <p:nvPr/>
                </p:nvSpPr>
                <p:spPr bwMode="auto">
                  <a:xfrm>
                    <a:off x="3370" y="2591"/>
                    <a:ext cx="112" cy="74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5202" name="Oval 38"/>
                  <p:cNvSpPr>
                    <a:spLocks noChangeArrowheads="1"/>
                  </p:cNvSpPr>
                  <p:nvPr/>
                </p:nvSpPr>
                <p:spPr bwMode="auto">
                  <a:xfrm>
                    <a:off x="3322" y="2544"/>
                    <a:ext cx="112" cy="73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85192" name="Group 39"/>
              <p:cNvGrpSpPr>
                <a:grpSpLocks/>
              </p:cNvGrpSpPr>
              <p:nvPr/>
            </p:nvGrpSpPr>
            <p:grpSpPr bwMode="auto">
              <a:xfrm>
                <a:off x="3340" y="2580"/>
                <a:ext cx="148" cy="109"/>
                <a:chOff x="3340" y="2580"/>
                <a:chExt cx="148" cy="109"/>
              </a:xfrm>
            </p:grpSpPr>
            <p:sp>
              <p:nvSpPr>
                <p:cNvPr id="85197" name="Oval 40"/>
                <p:cNvSpPr>
                  <a:spLocks noChangeArrowheads="1"/>
                </p:cNvSpPr>
                <p:nvPr/>
              </p:nvSpPr>
              <p:spPr bwMode="auto">
                <a:xfrm>
                  <a:off x="3388" y="2627"/>
                  <a:ext cx="100" cy="62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198" name="Oval 41"/>
                <p:cNvSpPr>
                  <a:spLocks noChangeArrowheads="1"/>
                </p:cNvSpPr>
                <p:nvPr/>
              </p:nvSpPr>
              <p:spPr bwMode="auto">
                <a:xfrm>
                  <a:off x="3340" y="2580"/>
                  <a:ext cx="102" cy="61"/>
                </a:xfrm>
                <a:prstGeom prst="ellips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5193" name="Group 42"/>
              <p:cNvGrpSpPr>
                <a:grpSpLocks/>
              </p:cNvGrpSpPr>
              <p:nvPr/>
            </p:nvGrpSpPr>
            <p:grpSpPr bwMode="auto">
              <a:xfrm>
                <a:off x="3334" y="2613"/>
                <a:ext cx="130" cy="112"/>
                <a:chOff x="3334" y="2613"/>
                <a:chExt cx="130" cy="112"/>
              </a:xfrm>
            </p:grpSpPr>
            <p:sp>
              <p:nvSpPr>
                <p:cNvPr id="85195" name="Oval 43"/>
                <p:cNvSpPr>
                  <a:spLocks noChangeArrowheads="1"/>
                </p:cNvSpPr>
                <p:nvPr/>
              </p:nvSpPr>
              <p:spPr bwMode="auto">
                <a:xfrm>
                  <a:off x="3382" y="2661"/>
                  <a:ext cx="82" cy="64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196" name="Oval 44"/>
                <p:cNvSpPr>
                  <a:spLocks noChangeArrowheads="1"/>
                </p:cNvSpPr>
                <p:nvPr/>
              </p:nvSpPr>
              <p:spPr bwMode="auto">
                <a:xfrm>
                  <a:off x="3334" y="2613"/>
                  <a:ext cx="82" cy="64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5194" name="Oval 45"/>
              <p:cNvSpPr>
                <a:spLocks noChangeArrowheads="1"/>
              </p:cNvSpPr>
              <p:nvPr/>
            </p:nvSpPr>
            <p:spPr bwMode="auto">
              <a:xfrm>
                <a:off x="3228" y="2518"/>
                <a:ext cx="158" cy="141"/>
              </a:xfrm>
              <a:prstGeom prst="ellipse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5185" name="Rectangle 46"/>
            <p:cNvSpPr>
              <a:spLocks noChangeArrowheads="1"/>
            </p:cNvSpPr>
            <p:nvPr/>
          </p:nvSpPr>
          <p:spPr bwMode="auto">
            <a:xfrm>
              <a:off x="3234" y="2568"/>
              <a:ext cx="168" cy="4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86" name="Oval 47"/>
            <p:cNvSpPr>
              <a:spLocks noChangeArrowheads="1"/>
            </p:cNvSpPr>
            <p:nvPr/>
          </p:nvSpPr>
          <p:spPr bwMode="auto">
            <a:xfrm>
              <a:off x="3206" y="2659"/>
              <a:ext cx="56" cy="2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87" name="Oval 48"/>
            <p:cNvSpPr>
              <a:spLocks noChangeArrowheads="1"/>
            </p:cNvSpPr>
            <p:nvPr/>
          </p:nvSpPr>
          <p:spPr bwMode="auto">
            <a:xfrm>
              <a:off x="3332" y="2651"/>
              <a:ext cx="44" cy="28"/>
            </a:xfrm>
            <a:prstGeom prst="ellipse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5005" name="Group 49"/>
          <p:cNvGrpSpPr>
            <a:grpSpLocks/>
          </p:cNvGrpSpPr>
          <p:nvPr/>
        </p:nvGrpSpPr>
        <p:grpSpPr bwMode="auto">
          <a:xfrm>
            <a:off x="3446464" y="2784476"/>
            <a:ext cx="744537" cy="492125"/>
            <a:chOff x="2270" y="1488"/>
            <a:chExt cx="756" cy="384"/>
          </a:xfrm>
        </p:grpSpPr>
        <p:sp>
          <p:nvSpPr>
            <p:cNvPr id="85171" name="Rectangle 50"/>
            <p:cNvSpPr>
              <a:spLocks noChangeArrowheads="1"/>
            </p:cNvSpPr>
            <p:nvPr/>
          </p:nvSpPr>
          <p:spPr bwMode="auto">
            <a:xfrm>
              <a:off x="2272" y="1631"/>
              <a:ext cx="754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72" name="Oval 51"/>
            <p:cNvSpPr>
              <a:spLocks noChangeArrowheads="1"/>
            </p:cNvSpPr>
            <p:nvPr/>
          </p:nvSpPr>
          <p:spPr bwMode="auto">
            <a:xfrm>
              <a:off x="2287" y="1643"/>
              <a:ext cx="737" cy="22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73" name="Oval 52"/>
            <p:cNvSpPr>
              <a:spLocks noChangeArrowheads="1"/>
            </p:cNvSpPr>
            <p:nvPr/>
          </p:nvSpPr>
          <p:spPr bwMode="auto">
            <a:xfrm>
              <a:off x="2287" y="1513"/>
              <a:ext cx="737" cy="22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74" name="Rectangle 53"/>
            <p:cNvSpPr>
              <a:spLocks noChangeArrowheads="1"/>
            </p:cNvSpPr>
            <p:nvPr/>
          </p:nvSpPr>
          <p:spPr bwMode="auto">
            <a:xfrm>
              <a:off x="2271" y="1609"/>
              <a:ext cx="739" cy="120"/>
            </a:xfrm>
            <a:prstGeom prst="rect">
              <a:avLst/>
            </a:prstGeom>
            <a:solidFill>
              <a:srgbClr val="004E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75" name="Oval 54"/>
            <p:cNvSpPr>
              <a:spLocks noChangeArrowheads="1"/>
            </p:cNvSpPr>
            <p:nvPr/>
          </p:nvSpPr>
          <p:spPr bwMode="auto">
            <a:xfrm>
              <a:off x="2270" y="1618"/>
              <a:ext cx="740" cy="229"/>
            </a:xfrm>
            <a:prstGeom prst="ellipse">
              <a:avLst/>
            </a:prstGeom>
            <a:solidFill>
              <a:srgbClr val="004E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76" name="Oval 55"/>
            <p:cNvSpPr>
              <a:spLocks noChangeArrowheads="1"/>
            </p:cNvSpPr>
            <p:nvPr/>
          </p:nvSpPr>
          <p:spPr bwMode="auto">
            <a:xfrm>
              <a:off x="2270" y="1488"/>
              <a:ext cx="740" cy="229"/>
            </a:xfrm>
            <a:prstGeom prst="ellipse">
              <a:avLst/>
            </a:prstGeom>
            <a:solidFill>
              <a:srgbClr val="558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5177" name="Group 56"/>
            <p:cNvGrpSpPr>
              <a:grpSpLocks/>
            </p:cNvGrpSpPr>
            <p:nvPr/>
          </p:nvGrpSpPr>
          <p:grpSpPr bwMode="auto">
            <a:xfrm>
              <a:off x="2400" y="1524"/>
              <a:ext cx="472" cy="168"/>
              <a:chOff x="2375" y="1422"/>
              <a:chExt cx="273" cy="142"/>
            </a:xfrm>
          </p:grpSpPr>
          <p:grpSp>
            <p:nvGrpSpPr>
              <p:cNvPr id="85178" name="Group 57"/>
              <p:cNvGrpSpPr>
                <a:grpSpLocks/>
              </p:cNvGrpSpPr>
              <p:nvPr/>
            </p:nvGrpSpPr>
            <p:grpSpPr bwMode="auto">
              <a:xfrm>
                <a:off x="2375" y="1422"/>
                <a:ext cx="273" cy="142"/>
                <a:chOff x="2375" y="1422"/>
                <a:chExt cx="273" cy="142"/>
              </a:xfrm>
            </p:grpSpPr>
            <p:sp>
              <p:nvSpPr>
                <p:cNvPr id="85182" name="Freeform 58"/>
                <p:cNvSpPr>
                  <a:spLocks/>
                </p:cNvSpPr>
                <p:nvPr/>
              </p:nvSpPr>
              <p:spPr bwMode="auto">
                <a:xfrm>
                  <a:off x="2375" y="1422"/>
                  <a:ext cx="123" cy="51"/>
                </a:xfrm>
                <a:custGeom>
                  <a:avLst/>
                  <a:gdLst>
                    <a:gd name="T0" fmla="*/ 0 w 123"/>
                    <a:gd name="T1" fmla="*/ 8 h 51"/>
                    <a:gd name="T2" fmla="*/ 30 w 123"/>
                    <a:gd name="T3" fmla="*/ 0 h 51"/>
                    <a:gd name="T4" fmla="*/ 91 w 123"/>
                    <a:gd name="T5" fmla="*/ 25 h 51"/>
                    <a:gd name="T6" fmla="*/ 122 w 123"/>
                    <a:gd name="T7" fmla="*/ 17 h 51"/>
                    <a:gd name="T8" fmla="*/ 114 w 123"/>
                    <a:gd name="T9" fmla="*/ 50 h 51"/>
                    <a:gd name="T10" fmla="*/ 30 w 123"/>
                    <a:gd name="T11" fmla="*/ 50 h 51"/>
                    <a:gd name="T12" fmla="*/ 68 w 123"/>
                    <a:gd name="T13" fmla="*/ 33 h 51"/>
                    <a:gd name="T14" fmla="*/ 0 w 123"/>
                    <a:gd name="T15" fmla="*/ 8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3" h="51">
                      <a:moveTo>
                        <a:pt x="0" y="8"/>
                      </a:moveTo>
                      <a:lnTo>
                        <a:pt x="30" y="0"/>
                      </a:lnTo>
                      <a:lnTo>
                        <a:pt x="91" y="25"/>
                      </a:lnTo>
                      <a:lnTo>
                        <a:pt x="122" y="17"/>
                      </a:lnTo>
                      <a:lnTo>
                        <a:pt x="114" y="50"/>
                      </a:lnTo>
                      <a:lnTo>
                        <a:pt x="30" y="50"/>
                      </a:lnTo>
                      <a:lnTo>
                        <a:pt x="68" y="33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183" name="Freeform 59"/>
                <p:cNvSpPr>
                  <a:spLocks/>
                </p:cNvSpPr>
                <p:nvPr/>
              </p:nvSpPr>
              <p:spPr bwMode="auto">
                <a:xfrm>
                  <a:off x="2522" y="1513"/>
                  <a:ext cx="126" cy="51"/>
                </a:xfrm>
                <a:custGeom>
                  <a:avLst/>
                  <a:gdLst>
                    <a:gd name="T0" fmla="*/ 125 w 126"/>
                    <a:gd name="T1" fmla="*/ 42 h 51"/>
                    <a:gd name="T2" fmla="*/ 93 w 126"/>
                    <a:gd name="T3" fmla="*/ 50 h 51"/>
                    <a:gd name="T4" fmla="*/ 31 w 126"/>
                    <a:gd name="T5" fmla="*/ 25 h 51"/>
                    <a:gd name="T6" fmla="*/ 0 w 126"/>
                    <a:gd name="T7" fmla="*/ 42 h 51"/>
                    <a:gd name="T8" fmla="*/ 7 w 126"/>
                    <a:gd name="T9" fmla="*/ 0 h 51"/>
                    <a:gd name="T10" fmla="*/ 93 w 126"/>
                    <a:gd name="T11" fmla="*/ 0 h 51"/>
                    <a:gd name="T12" fmla="*/ 62 w 126"/>
                    <a:gd name="T13" fmla="*/ 17 h 51"/>
                    <a:gd name="T14" fmla="*/ 125 w 126"/>
                    <a:gd name="T15" fmla="*/ 42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6" h="51">
                      <a:moveTo>
                        <a:pt x="125" y="42"/>
                      </a:moveTo>
                      <a:lnTo>
                        <a:pt x="93" y="50"/>
                      </a:lnTo>
                      <a:lnTo>
                        <a:pt x="31" y="25"/>
                      </a:lnTo>
                      <a:lnTo>
                        <a:pt x="0" y="42"/>
                      </a:lnTo>
                      <a:lnTo>
                        <a:pt x="7" y="0"/>
                      </a:lnTo>
                      <a:lnTo>
                        <a:pt x="93" y="0"/>
                      </a:lnTo>
                      <a:lnTo>
                        <a:pt x="62" y="17"/>
                      </a:lnTo>
                      <a:lnTo>
                        <a:pt x="125" y="42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5179" name="Group 60"/>
              <p:cNvGrpSpPr>
                <a:grpSpLocks/>
              </p:cNvGrpSpPr>
              <p:nvPr/>
            </p:nvGrpSpPr>
            <p:grpSpPr bwMode="auto">
              <a:xfrm>
                <a:off x="2390" y="1422"/>
                <a:ext cx="249" cy="142"/>
                <a:chOff x="2390" y="1422"/>
                <a:chExt cx="249" cy="142"/>
              </a:xfrm>
            </p:grpSpPr>
            <p:sp>
              <p:nvSpPr>
                <p:cNvPr id="85180" name="Freeform 61"/>
                <p:cNvSpPr>
                  <a:spLocks/>
                </p:cNvSpPr>
                <p:nvPr/>
              </p:nvSpPr>
              <p:spPr bwMode="auto">
                <a:xfrm>
                  <a:off x="2515" y="1422"/>
                  <a:ext cx="124" cy="51"/>
                </a:xfrm>
                <a:custGeom>
                  <a:avLst/>
                  <a:gdLst>
                    <a:gd name="T0" fmla="*/ 0 w 124"/>
                    <a:gd name="T1" fmla="*/ 33 h 51"/>
                    <a:gd name="T2" fmla="*/ 30 w 124"/>
                    <a:gd name="T3" fmla="*/ 50 h 51"/>
                    <a:gd name="T4" fmla="*/ 92 w 124"/>
                    <a:gd name="T5" fmla="*/ 17 h 51"/>
                    <a:gd name="T6" fmla="*/ 123 w 124"/>
                    <a:gd name="T7" fmla="*/ 25 h 51"/>
                    <a:gd name="T8" fmla="*/ 107 w 124"/>
                    <a:gd name="T9" fmla="*/ 0 h 51"/>
                    <a:gd name="T10" fmla="*/ 30 w 124"/>
                    <a:gd name="T11" fmla="*/ 0 h 51"/>
                    <a:gd name="T12" fmla="*/ 69 w 124"/>
                    <a:gd name="T13" fmla="*/ 8 h 51"/>
                    <a:gd name="T14" fmla="*/ 0 w 124"/>
                    <a:gd name="T15" fmla="*/ 33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4" h="51">
                      <a:moveTo>
                        <a:pt x="0" y="33"/>
                      </a:moveTo>
                      <a:lnTo>
                        <a:pt x="30" y="50"/>
                      </a:lnTo>
                      <a:lnTo>
                        <a:pt x="92" y="17"/>
                      </a:lnTo>
                      <a:lnTo>
                        <a:pt x="123" y="25"/>
                      </a:lnTo>
                      <a:lnTo>
                        <a:pt x="107" y="0"/>
                      </a:lnTo>
                      <a:lnTo>
                        <a:pt x="30" y="0"/>
                      </a:lnTo>
                      <a:lnTo>
                        <a:pt x="69" y="8"/>
                      </a:lnTo>
                      <a:lnTo>
                        <a:pt x="0" y="33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181" name="Freeform 62"/>
                <p:cNvSpPr>
                  <a:spLocks/>
                </p:cNvSpPr>
                <p:nvPr/>
              </p:nvSpPr>
              <p:spPr bwMode="auto">
                <a:xfrm>
                  <a:off x="2390" y="1502"/>
                  <a:ext cx="117" cy="62"/>
                </a:xfrm>
                <a:custGeom>
                  <a:avLst/>
                  <a:gdLst>
                    <a:gd name="T0" fmla="*/ 116 w 117"/>
                    <a:gd name="T1" fmla="*/ 9 h 62"/>
                    <a:gd name="T2" fmla="*/ 85 w 117"/>
                    <a:gd name="T3" fmla="*/ 0 h 62"/>
                    <a:gd name="T4" fmla="*/ 23 w 117"/>
                    <a:gd name="T5" fmla="*/ 35 h 62"/>
                    <a:gd name="T6" fmla="*/ 0 w 117"/>
                    <a:gd name="T7" fmla="*/ 26 h 62"/>
                    <a:gd name="T8" fmla="*/ 7 w 117"/>
                    <a:gd name="T9" fmla="*/ 61 h 62"/>
                    <a:gd name="T10" fmla="*/ 85 w 117"/>
                    <a:gd name="T11" fmla="*/ 61 h 62"/>
                    <a:gd name="T12" fmla="*/ 46 w 117"/>
                    <a:gd name="T13" fmla="*/ 52 h 62"/>
                    <a:gd name="T14" fmla="*/ 116 w 117"/>
                    <a:gd name="T15" fmla="*/ 9 h 6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17" h="62">
                      <a:moveTo>
                        <a:pt x="116" y="9"/>
                      </a:moveTo>
                      <a:lnTo>
                        <a:pt x="85" y="0"/>
                      </a:lnTo>
                      <a:lnTo>
                        <a:pt x="23" y="35"/>
                      </a:lnTo>
                      <a:lnTo>
                        <a:pt x="0" y="26"/>
                      </a:lnTo>
                      <a:lnTo>
                        <a:pt x="7" y="61"/>
                      </a:lnTo>
                      <a:lnTo>
                        <a:pt x="85" y="61"/>
                      </a:lnTo>
                      <a:lnTo>
                        <a:pt x="46" y="52"/>
                      </a:lnTo>
                      <a:lnTo>
                        <a:pt x="116" y="9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5006" name="Group 63"/>
          <p:cNvGrpSpPr>
            <a:grpSpLocks/>
          </p:cNvGrpSpPr>
          <p:nvPr/>
        </p:nvGrpSpPr>
        <p:grpSpPr bwMode="auto">
          <a:xfrm>
            <a:off x="5656264" y="2784476"/>
            <a:ext cx="744537" cy="492125"/>
            <a:chOff x="2270" y="1488"/>
            <a:chExt cx="756" cy="384"/>
          </a:xfrm>
        </p:grpSpPr>
        <p:sp>
          <p:nvSpPr>
            <p:cNvPr id="85158" name="Rectangle 64"/>
            <p:cNvSpPr>
              <a:spLocks noChangeArrowheads="1"/>
            </p:cNvSpPr>
            <p:nvPr/>
          </p:nvSpPr>
          <p:spPr bwMode="auto">
            <a:xfrm>
              <a:off x="2272" y="1631"/>
              <a:ext cx="754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59" name="Oval 65"/>
            <p:cNvSpPr>
              <a:spLocks noChangeArrowheads="1"/>
            </p:cNvSpPr>
            <p:nvPr/>
          </p:nvSpPr>
          <p:spPr bwMode="auto">
            <a:xfrm>
              <a:off x="2287" y="1643"/>
              <a:ext cx="737" cy="22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60" name="Oval 66"/>
            <p:cNvSpPr>
              <a:spLocks noChangeArrowheads="1"/>
            </p:cNvSpPr>
            <p:nvPr/>
          </p:nvSpPr>
          <p:spPr bwMode="auto">
            <a:xfrm>
              <a:off x="2287" y="1513"/>
              <a:ext cx="737" cy="22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61" name="Rectangle 67"/>
            <p:cNvSpPr>
              <a:spLocks noChangeArrowheads="1"/>
            </p:cNvSpPr>
            <p:nvPr/>
          </p:nvSpPr>
          <p:spPr bwMode="auto">
            <a:xfrm>
              <a:off x="2271" y="1609"/>
              <a:ext cx="739" cy="120"/>
            </a:xfrm>
            <a:prstGeom prst="rect">
              <a:avLst/>
            </a:prstGeom>
            <a:solidFill>
              <a:srgbClr val="004E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62" name="Oval 68"/>
            <p:cNvSpPr>
              <a:spLocks noChangeArrowheads="1"/>
            </p:cNvSpPr>
            <p:nvPr/>
          </p:nvSpPr>
          <p:spPr bwMode="auto">
            <a:xfrm>
              <a:off x="2270" y="1618"/>
              <a:ext cx="740" cy="229"/>
            </a:xfrm>
            <a:prstGeom prst="ellipse">
              <a:avLst/>
            </a:prstGeom>
            <a:solidFill>
              <a:srgbClr val="004E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63" name="Oval 69"/>
            <p:cNvSpPr>
              <a:spLocks noChangeArrowheads="1"/>
            </p:cNvSpPr>
            <p:nvPr/>
          </p:nvSpPr>
          <p:spPr bwMode="auto">
            <a:xfrm>
              <a:off x="2270" y="1488"/>
              <a:ext cx="740" cy="229"/>
            </a:xfrm>
            <a:prstGeom prst="ellipse">
              <a:avLst/>
            </a:prstGeom>
            <a:solidFill>
              <a:srgbClr val="558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5164" name="Group 70"/>
            <p:cNvGrpSpPr>
              <a:grpSpLocks/>
            </p:cNvGrpSpPr>
            <p:nvPr/>
          </p:nvGrpSpPr>
          <p:grpSpPr bwMode="auto">
            <a:xfrm>
              <a:off x="2400" y="1524"/>
              <a:ext cx="472" cy="168"/>
              <a:chOff x="2375" y="1422"/>
              <a:chExt cx="273" cy="142"/>
            </a:xfrm>
          </p:grpSpPr>
          <p:grpSp>
            <p:nvGrpSpPr>
              <p:cNvPr id="85165" name="Group 71"/>
              <p:cNvGrpSpPr>
                <a:grpSpLocks/>
              </p:cNvGrpSpPr>
              <p:nvPr/>
            </p:nvGrpSpPr>
            <p:grpSpPr bwMode="auto">
              <a:xfrm>
                <a:off x="2375" y="1422"/>
                <a:ext cx="273" cy="142"/>
                <a:chOff x="2375" y="1422"/>
                <a:chExt cx="273" cy="142"/>
              </a:xfrm>
            </p:grpSpPr>
            <p:sp>
              <p:nvSpPr>
                <p:cNvPr id="85169" name="Freeform 72"/>
                <p:cNvSpPr>
                  <a:spLocks/>
                </p:cNvSpPr>
                <p:nvPr/>
              </p:nvSpPr>
              <p:spPr bwMode="auto">
                <a:xfrm>
                  <a:off x="2375" y="1422"/>
                  <a:ext cx="123" cy="51"/>
                </a:xfrm>
                <a:custGeom>
                  <a:avLst/>
                  <a:gdLst>
                    <a:gd name="T0" fmla="*/ 0 w 123"/>
                    <a:gd name="T1" fmla="*/ 8 h 51"/>
                    <a:gd name="T2" fmla="*/ 30 w 123"/>
                    <a:gd name="T3" fmla="*/ 0 h 51"/>
                    <a:gd name="T4" fmla="*/ 91 w 123"/>
                    <a:gd name="T5" fmla="*/ 25 h 51"/>
                    <a:gd name="T6" fmla="*/ 122 w 123"/>
                    <a:gd name="T7" fmla="*/ 17 h 51"/>
                    <a:gd name="T8" fmla="*/ 114 w 123"/>
                    <a:gd name="T9" fmla="*/ 50 h 51"/>
                    <a:gd name="T10" fmla="*/ 30 w 123"/>
                    <a:gd name="T11" fmla="*/ 50 h 51"/>
                    <a:gd name="T12" fmla="*/ 68 w 123"/>
                    <a:gd name="T13" fmla="*/ 33 h 51"/>
                    <a:gd name="T14" fmla="*/ 0 w 123"/>
                    <a:gd name="T15" fmla="*/ 8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3" h="51">
                      <a:moveTo>
                        <a:pt x="0" y="8"/>
                      </a:moveTo>
                      <a:lnTo>
                        <a:pt x="30" y="0"/>
                      </a:lnTo>
                      <a:lnTo>
                        <a:pt x="91" y="25"/>
                      </a:lnTo>
                      <a:lnTo>
                        <a:pt x="122" y="17"/>
                      </a:lnTo>
                      <a:lnTo>
                        <a:pt x="114" y="50"/>
                      </a:lnTo>
                      <a:lnTo>
                        <a:pt x="30" y="50"/>
                      </a:lnTo>
                      <a:lnTo>
                        <a:pt x="68" y="33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170" name="Freeform 73"/>
                <p:cNvSpPr>
                  <a:spLocks/>
                </p:cNvSpPr>
                <p:nvPr/>
              </p:nvSpPr>
              <p:spPr bwMode="auto">
                <a:xfrm>
                  <a:off x="2522" y="1513"/>
                  <a:ext cx="126" cy="51"/>
                </a:xfrm>
                <a:custGeom>
                  <a:avLst/>
                  <a:gdLst>
                    <a:gd name="T0" fmla="*/ 125 w 126"/>
                    <a:gd name="T1" fmla="*/ 42 h 51"/>
                    <a:gd name="T2" fmla="*/ 93 w 126"/>
                    <a:gd name="T3" fmla="*/ 50 h 51"/>
                    <a:gd name="T4" fmla="*/ 31 w 126"/>
                    <a:gd name="T5" fmla="*/ 25 h 51"/>
                    <a:gd name="T6" fmla="*/ 0 w 126"/>
                    <a:gd name="T7" fmla="*/ 42 h 51"/>
                    <a:gd name="T8" fmla="*/ 7 w 126"/>
                    <a:gd name="T9" fmla="*/ 0 h 51"/>
                    <a:gd name="T10" fmla="*/ 93 w 126"/>
                    <a:gd name="T11" fmla="*/ 0 h 51"/>
                    <a:gd name="T12" fmla="*/ 62 w 126"/>
                    <a:gd name="T13" fmla="*/ 17 h 51"/>
                    <a:gd name="T14" fmla="*/ 125 w 126"/>
                    <a:gd name="T15" fmla="*/ 42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6" h="51">
                      <a:moveTo>
                        <a:pt x="125" y="42"/>
                      </a:moveTo>
                      <a:lnTo>
                        <a:pt x="93" y="50"/>
                      </a:lnTo>
                      <a:lnTo>
                        <a:pt x="31" y="25"/>
                      </a:lnTo>
                      <a:lnTo>
                        <a:pt x="0" y="42"/>
                      </a:lnTo>
                      <a:lnTo>
                        <a:pt x="7" y="0"/>
                      </a:lnTo>
                      <a:lnTo>
                        <a:pt x="93" y="0"/>
                      </a:lnTo>
                      <a:lnTo>
                        <a:pt x="62" y="17"/>
                      </a:lnTo>
                      <a:lnTo>
                        <a:pt x="125" y="42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5166" name="Group 74"/>
              <p:cNvGrpSpPr>
                <a:grpSpLocks/>
              </p:cNvGrpSpPr>
              <p:nvPr/>
            </p:nvGrpSpPr>
            <p:grpSpPr bwMode="auto">
              <a:xfrm>
                <a:off x="2390" y="1422"/>
                <a:ext cx="249" cy="142"/>
                <a:chOff x="2390" y="1422"/>
                <a:chExt cx="249" cy="142"/>
              </a:xfrm>
            </p:grpSpPr>
            <p:sp>
              <p:nvSpPr>
                <p:cNvPr id="85167" name="Freeform 75"/>
                <p:cNvSpPr>
                  <a:spLocks/>
                </p:cNvSpPr>
                <p:nvPr/>
              </p:nvSpPr>
              <p:spPr bwMode="auto">
                <a:xfrm>
                  <a:off x="2515" y="1422"/>
                  <a:ext cx="124" cy="51"/>
                </a:xfrm>
                <a:custGeom>
                  <a:avLst/>
                  <a:gdLst>
                    <a:gd name="T0" fmla="*/ 0 w 124"/>
                    <a:gd name="T1" fmla="*/ 33 h 51"/>
                    <a:gd name="T2" fmla="*/ 30 w 124"/>
                    <a:gd name="T3" fmla="*/ 50 h 51"/>
                    <a:gd name="T4" fmla="*/ 92 w 124"/>
                    <a:gd name="T5" fmla="*/ 17 h 51"/>
                    <a:gd name="T6" fmla="*/ 123 w 124"/>
                    <a:gd name="T7" fmla="*/ 25 h 51"/>
                    <a:gd name="T8" fmla="*/ 107 w 124"/>
                    <a:gd name="T9" fmla="*/ 0 h 51"/>
                    <a:gd name="T10" fmla="*/ 30 w 124"/>
                    <a:gd name="T11" fmla="*/ 0 h 51"/>
                    <a:gd name="T12" fmla="*/ 69 w 124"/>
                    <a:gd name="T13" fmla="*/ 8 h 51"/>
                    <a:gd name="T14" fmla="*/ 0 w 124"/>
                    <a:gd name="T15" fmla="*/ 33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24" h="51">
                      <a:moveTo>
                        <a:pt x="0" y="33"/>
                      </a:moveTo>
                      <a:lnTo>
                        <a:pt x="30" y="50"/>
                      </a:lnTo>
                      <a:lnTo>
                        <a:pt x="92" y="17"/>
                      </a:lnTo>
                      <a:lnTo>
                        <a:pt x="123" y="25"/>
                      </a:lnTo>
                      <a:lnTo>
                        <a:pt x="107" y="0"/>
                      </a:lnTo>
                      <a:lnTo>
                        <a:pt x="30" y="0"/>
                      </a:lnTo>
                      <a:lnTo>
                        <a:pt x="69" y="8"/>
                      </a:lnTo>
                      <a:lnTo>
                        <a:pt x="0" y="33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168" name="Freeform 76"/>
                <p:cNvSpPr>
                  <a:spLocks/>
                </p:cNvSpPr>
                <p:nvPr/>
              </p:nvSpPr>
              <p:spPr bwMode="auto">
                <a:xfrm>
                  <a:off x="2390" y="1502"/>
                  <a:ext cx="117" cy="62"/>
                </a:xfrm>
                <a:custGeom>
                  <a:avLst/>
                  <a:gdLst>
                    <a:gd name="T0" fmla="*/ 116 w 117"/>
                    <a:gd name="T1" fmla="*/ 9 h 62"/>
                    <a:gd name="T2" fmla="*/ 85 w 117"/>
                    <a:gd name="T3" fmla="*/ 0 h 62"/>
                    <a:gd name="T4" fmla="*/ 23 w 117"/>
                    <a:gd name="T5" fmla="*/ 35 h 62"/>
                    <a:gd name="T6" fmla="*/ 0 w 117"/>
                    <a:gd name="T7" fmla="*/ 26 h 62"/>
                    <a:gd name="T8" fmla="*/ 7 w 117"/>
                    <a:gd name="T9" fmla="*/ 61 h 62"/>
                    <a:gd name="T10" fmla="*/ 85 w 117"/>
                    <a:gd name="T11" fmla="*/ 61 h 62"/>
                    <a:gd name="T12" fmla="*/ 46 w 117"/>
                    <a:gd name="T13" fmla="*/ 52 h 62"/>
                    <a:gd name="T14" fmla="*/ 116 w 117"/>
                    <a:gd name="T15" fmla="*/ 9 h 6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17" h="62">
                      <a:moveTo>
                        <a:pt x="116" y="9"/>
                      </a:moveTo>
                      <a:lnTo>
                        <a:pt x="85" y="0"/>
                      </a:lnTo>
                      <a:lnTo>
                        <a:pt x="23" y="35"/>
                      </a:lnTo>
                      <a:lnTo>
                        <a:pt x="0" y="26"/>
                      </a:lnTo>
                      <a:lnTo>
                        <a:pt x="7" y="61"/>
                      </a:lnTo>
                      <a:lnTo>
                        <a:pt x="85" y="61"/>
                      </a:lnTo>
                      <a:lnTo>
                        <a:pt x="46" y="52"/>
                      </a:lnTo>
                      <a:lnTo>
                        <a:pt x="116" y="9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5007" name="Group 77"/>
          <p:cNvGrpSpPr>
            <a:grpSpLocks/>
          </p:cNvGrpSpPr>
          <p:nvPr/>
        </p:nvGrpSpPr>
        <p:grpSpPr bwMode="auto">
          <a:xfrm>
            <a:off x="2286000" y="2667000"/>
            <a:ext cx="990600" cy="838200"/>
            <a:chOff x="3152" y="2518"/>
            <a:chExt cx="336" cy="223"/>
          </a:xfrm>
        </p:grpSpPr>
        <p:grpSp>
          <p:nvGrpSpPr>
            <p:cNvPr id="85135" name="Group 78"/>
            <p:cNvGrpSpPr>
              <a:grpSpLocks/>
            </p:cNvGrpSpPr>
            <p:nvPr/>
          </p:nvGrpSpPr>
          <p:grpSpPr bwMode="auto">
            <a:xfrm>
              <a:off x="3152" y="2518"/>
              <a:ext cx="336" cy="223"/>
              <a:chOff x="3152" y="2518"/>
              <a:chExt cx="336" cy="223"/>
            </a:xfrm>
          </p:grpSpPr>
          <p:sp>
            <p:nvSpPr>
              <p:cNvPr id="85139" name="Oval 79"/>
              <p:cNvSpPr>
                <a:spLocks noChangeArrowheads="1"/>
              </p:cNvSpPr>
              <p:nvPr/>
            </p:nvSpPr>
            <p:spPr bwMode="auto">
              <a:xfrm>
                <a:off x="3198" y="2526"/>
                <a:ext cx="92" cy="81"/>
              </a:xfrm>
              <a:prstGeom prst="ellipse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140" name="Oval 80"/>
              <p:cNvSpPr>
                <a:spLocks noChangeArrowheads="1"/>
              </p:cNvSpPr>
              <p:nvPr/>
            </p:nvSpPr>
            <p:spPr bwMode="auto">
              <a:xfrm>
                <a:off x="3152" y="2570"/>
                <a:ext cx="124" cy="71"/>
              </a:xfrm>
              <a:prstGeom prst="ellips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5141" name="Group 81"/>
              <p:cNvGrpSpPr>
                <a:grpSpLocks/>
              </p:cNvGrpSpPr>
              <p:nvPr/>
            </p:nvGrpSpPr>
            <p:grpSpPr bwMode="auto">
              <a:xfrm>
                <a:off x="3182" y="2623"/>
                <a:ext cx="140" cy="106"/>
                <a:chOff x="3182" y="2623"/>
                <a:chExt cx="140" cy="106"/>
              </a:xfrm>
            </p:grpSpPr>
            <p:sp>
              <p:nvSpPr>
                <p:cNvPr id="85156" name="Oval 82"/>
                <p:cNvSpPr>
                  <a:spLocks noChangeArrowheads="1"/>
                </p:cNvSpPr>
                <p:nvPr/>
              </p:nvSpPr>
              <p:spPr bwMode="auto">
                <a:xfrm>
                  <a:off x="3230" y="2671"/>
                  <a:ext cx="92" cy="58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157" name="Oval 83"/>
                <p:cNvSpPr>
                  <a:spLocks noChangeArrowheads="1"/>
                </p:cNvSpPr>
                <p:nvPr/>
              </p:nvSpPr>
              <p:spPr bwMode="auto">
                <a:xfrm>
                  <a:off x="3182" y="2623"/>
                  <a:ext cx="94" cy="58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5142" name="Group 84"/>
              <p:cNvGrpSpPr>
                <a:grpSpLocks/>
              </p:cNvGrpSpPr>
              <p:nvPr/>
            </p:nvGrpSpPr>
            <p:grpSpPr bwMode="auto">
              <a:xfrm>
                <a:off x="3194" y="2526"/>
                <a:ext cx="288" cy="215"/>
                <a:chOff x="3194" y="2526"/>
                <a:chExt cx="288" cy="215"/>
              </a:xfrm>
            </p:grpSpPr>
            <p:grpSp>
              <p:nvGrpSpPr>
                <p:cNvPr id="85150" name="Group 85"/>
                <p:cNvGrpSpPr>
                  <a:grpSpLocks/>
                </p:cNvGrpSpPr>
                <p:nvPr/>
              </p:nvGrpSpPr>
              <p:grpSpPr bwMode="auto">
                <a:xfrm>
                  <a:off x="3194" y="2526"/>
                  <a:ext cx="262" cy="215"/>
                  <a:chOff x="3194" y="2526"/>
                  <a:chExt cx="262" cy="215"/>
                </a:xfrm>
              </p:grpSpPr>
              <p:sp>
                <p:nvSpPr>
                  <p:cNvPr id="85154" name="Oval 86"/>
                  <p:cNvSpPr>
                    <a:spLocks noChangeArrowheads="1"/>
                  </p:cNvSpPr>
                  <p:nvPr/>
                </p:nvSpPr>
                <p:spPr bwMode="auto">
                  <a:xfrm>
                    <a:off x="3242" y="2574"/>
                    <a:ext cx="214" cy="167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5155" name="Oval 87"/>
                  <p:cNvSpPr>
                    <a:spLocks noChangeArrowheads="1"/>
                  </p:cNvSpPr>
                  <p:nvPr/>
                </p:nvSpPr>
                <p:spPr bwMode="auto">
                  <a:xfrm>
                    <a:off x="3194" y="2526"/>
                    <a:ext cx="214" cy="167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85151" name="Group 88"/>
                <p:cNvGrpSpPr>
                  <a:grpSpLocks/>
                </p:cNvGrpSpPr>
                <p:nvPr/>
              </p:nvGrpSpPr>
              <p:grpSpPr bwMode="auto">
                <a:xfrm>
                  <a:off x="3322" y="2544"/>
                  <a:ext cx="160" cy="121"/>
                  <a:chOff x="3322" y="2544"/>
                  <a:chExt cx="160" cy="121"/>
                </a:xfrm>
              </p:grpSpPr>
              <p:sp>
                <p:nvSpPr>
                  <p:cNvPr id="85152" name="Oval 89"/>
                  <p:cNvSpPr>
                    <a:spLocks noChangeArrowheads="1"/>
                  </p:cNvSpPr>
                  <p:nvPr/>
                </p:nvSpPr>
                <p:spPr bwMode="auto">
                  <a:xfrm>
                    <a:off x="3370" y="2591"/>
                    <a:ext cx="112" cy="74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5153" name="Oval 90"/>
                  <p:cNvSpPr>
                    <a:spLocks noChangeArrowheads="1"/>
                  </p:cNvSpPr>
                  <p:nvPr/>
                </p:nvSpPr>
                <p:spPr bwMode="auto">
                  <a:xfrm>
                    <a:off x="3322" y="2544"/>
                    <a:ext cx="112" cy="73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85143" name="Group 91"/>
              <p:cNvGrpSpPr>
                <a:grpSpLocks/>
              </p:cNvGrpSpPr>
              <p:nvPr/>
            </p:nvGrpSpPr>
            <p:grpSpPr bwMode="auto">
              <a:xfrm>
                <a:off x="3340" y="2580"/>
                <a:ext cx="148" cy="109"/>
                <a:chOff x="3340" y="2580"/>
                <a:chExt cx="148" cy="109"/>
              </a:xfrm>
            </p:grpSpPr>
            <p:sp>
              <p:nvSpPr>
                <p:cNvPr id="85148" name="Oval 92"/>
                <p:cNvSpPr>
                  <a:spLocks noChangeArrowheads="1"/>
                </p:cNvSpPr>
                <p:nvPr/>
              </p:nvSpPr>
              <p:spPr bwMode="auto">
                <a:xfrm>
                  <a:off x="3388" y="2627"/>
                  <a:ext cx="100" cy="62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149" name="Oval 93"/>
                <p:cNvSpPr>
                  <a:spLocks noChangeArrowheads="1"/>
                </p:cNvSpPr>
                <p:nvPr/>
              </p:nvSpPr>
              <p:spPr bwMode="auto">
                <a:xfrm>
                  <a:off x="3340" y="2580"/>
                  <a:ext cx="102" cy="61"/>
                </a:xfrm>
                <a:prstGeom prst="ellips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5144" name="Group 94"/>
              <p:cNvGrpSpPr>
                <a:grpSpLocks/>
              </p:cNvGrpSpPr>
              <p:nvPr/>
            </p:nvGrpSpPr>
            <p:grpSpPr bwMode="auto">
              <a:xfrm>
                <a:off x="3334" y="2613"/>
                <a:ext cx="130" cy="112"/>
                <a:chOff x="3334" y="2613"/>
                <a:chExt cx="130" cy="112"/>
              </a:xfrm>
            </p:grpSpPr>
            <p:sp>
              <p:nvSpPr>
                <p:cNvPr id="85146" name="Oval 95"/>
                <p:cNvSpPr>
                  <a:spLocks noChangeArrowheads="1"/>
                </p:cNvSpPr>
                <p:nvPr/>
              </p:nvSpPr>
              <p:spPr bwMode="auto">
                <a:xfrm>
                  <a:off x="3382" y="2661"/>
                  <a:ext cx="82" cy="64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147" name="Oval 96"/>
                <p:cNvSpPr>
                  <a:spLocks noChangeArrowheads="1"/>
                </p:cNvSpPr>
                <p:nvPr/>
              </p:nvSpPr>
              <p:spPr bwMode="auto">
                <a:xfrm>
                  <a:off x="3334" y="2613"/>
                  <a:ext cx="82" cy="64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5145" name="Oval 97"/>
              <p:cNvSpPr>
                <a:spLocks noChangeArrowheads="1"/>
              </p:cNvSpPr>
              <p:nvPr/>
            </p:nvSpPr>
            <p:spPr bwMode="auto">
              <a:xfrm>
                <a:off x="3228" y="2518"/>
                <a:ext cx="158" cy="141"/>
              </a:xfrm>
              <a:prstGeom prst="ellipse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5136" name="Rectangle 98"/>
            <p:cNvSpPr>
              <a:spLocks noChangeArrowheads="1"/>
            </p:cNvSpPr>
            <p:nvPr/>
          </p:nvSpPr>
          <p:spPr bwMode="auto">
            <a:xfrm>
              <a:off x="3234" y="2568"/>
              <a:ext cx="168" cy="4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37" name="Oval 99"/>
            <p:cNvSpPr>
              <a:spLocks noChangeArrowheads="1"/>
            </p:cNvSpPr>
            <p:nvPr/>
          </p:nvSpPr>
          <p:spPr bwMode="auto">
            <a:xfrm>
              <a:off x="3206" y="2659"/>
              <a:ext cx="56" cy="2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38" name="Oval 100"/>
            <p:cNvSpPr>
              <a:spLocks noChangeArrowheads="1"/>
            </p:cNvSpPr>
            <p:nvPr/>
          </p:nvSpPr>
          <p:spPr bwMode="auto">
            <a:xfrm>
              <a:off x="3332" y="2651"/>
              <a:ext cx="44" cy="28"/>
            </a:xfrm>
            <a:prstGeom prst="ellipse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5008" name="Group 101"/>
          <p:cNvGrpSpPr>
            <a:grpSpLocks/>
          </p:cNvGrpSpPr>
          <p:nvPr/>
        </p:nvGrpSpPr>
        <p:grpSpPr bwMode="auto">
          <a:xfrm>
            <a:off x="6705600" y="2667000"/>
            <a:ext cx="990600" cy="838200"/>
            <a:chOff x="3152" y="2518"/>
            <a:chExt cx="336" cy="223"/>
          </a:xfrm>
        </p:grpSpPr>
        <p:grpSp>
          <p:nvGrpSpPr>
            <p:cNvPr id="85112" name="Group 102"/>
            <p:cNvGrpSpPr>
              <a:grpSpLocks/>
            </p:cNvGrpSpPr>
            <p:nvPr/>
          </p:nvGrpSpPr>
          <p:grpSpPr bwMode="auto">
            <a:xfrm>
              <a:off x="3152" y="2518"/>
              <a:ext cx="336" cy="223"/>
              <a:chOff x="3152" y="2518"/>
              <a:chExt cx="336" cy="223"/>
            </a:xfrm>
          </p:grpSpPr>
          <p:sp>
            <p:nvSpPr>
              <p:cNvPr id="85116" name="Oval 103"/>
              <p:cNvSpPr>
                <a:spLocks noChangeArrowheads="1"/>
              </p:cNvSpPr>
              <p:nvPr/>
            </p:nvSpPr>
            <p:spPr bwMode="auto">
              <a:xfrm>
                <a:off x="3198" y="2526"/>
                <a:ext cx="92" cy="81"/>
              </a:xfrm>
              <a:prstGeom prst="ellipse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117" name="Oval 104"/>
              <p:cNvSpPr>
                <a:spLocks noChangeArrowheads="1"/>
              </p:cNvSpPr>
              <p:nvPr/>
            </p:nvSpPr>
            <p:spPr bwMode="auto">
              <a:xfrm>
                <a:off x="3152" y="2570"/>
                <a:ext cx="124" cy="71"/>
              </a:xfrm>
              <a:prstGeom prst="ellips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5118" name="Group 105"/>
              <p:cNvGrpSpPr>
                <a:grpSpLocks/>
              </p:cNvGrpSpPr>
              <p:nvPr/>
            </p:nvGrpSpPr>
            <p:grpSpPr bwMode="auto">
              <a:xfrm>
                <a:off x="3182" y="2623"/>
                <a:ext cx="140" cy="106"/>
                <a:chOff x="3182" y="2623"/>
                <a:chExt cx="140" cy="106"/>
              </a:xfrm>
            </p:grpSpPr>
            <p:sp>
              <p:nvSpPr>
                <p:cNvPr id="85133" name="Oval 106"/>
                <p:cNvSpPr>
                  <a:spLocks noChangeArrowheads="1"/>
                </p:cNvSpPr>
                <p:nvPr/>
              </p:nvSpPr>
              <p:spPr bwMode="auto">
                <a:xfrm>
                  <a:off x="3230" y="2671"/>
                  <a:ext cx="92" cy="58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134" name="Oval 107"/>
                <p:cNvSpPr>
                  <a:spLocks noChangeArrowheads="1"/>
                </p:cNvSpPr>
                <p:nvPr/>
              </p:nvSpPr>
              <p:spPr bwMode="auto">
                <a:xfrm>
                  <a:off x="3182" y="2623"/>
                  <a:ext cx="94" cy="58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5119" name="Group 108"/>
              <p:cNvGrpSpPr>
                <a:grpSpLocks/>
              </p:cNvGrpSpPr>
              <p:nvPr/>
            </p:nvGrpSpPr>
            <p:grpSpPr bwMode="auto">
              <a:xfrm>
                <a:off x="3194" y="2526"/>
                <a:ext cx="288" cy="215"/>
                <a:chOff x="3194" y="2526"/>
                <a:chExt cx="288" cy="215"/>
              </a:xfrm>
            </p:grpSpPr>
            <p:grpSp>
              <p:nvGrpSpPr>
                <p:cNvPr id="85127" name="Group 109"/>
                <p:cNvGrpSpPr>
                  <a:grpSpLocks/>
                </p:cNvGrpSpPr>
                <p:nvPr/>
              </p:nvGrpSpPr>
              <p:grpSpPr bwMode="auto">
                <a:xfrm>
                  <a:off x="3194" y="2526"/>
                  <a:ext cx="262" cy="215"/>
                  <a:chOff x="3194" y="2526"/>
                  <a:chExt cx="262" cy="215"/>
                </a:xfrm>
              </p:grpSpPr>
              <p:sp>
                <p:nvSpPr>
                  <p:cNvPr id="85131" name="Oval 110"/>
                  <p:cNvSpPr>
                    <a:spLocks noChangeArrowheads="1"/>
                  </p:cNvSpPr>
                  <p:nvPr/>
                </p:nvSpPr>
                <p:spPr bwMode="auto">
                  <a:xfrm>
                    <a:off x="3242" y="2574"/>
                    <a:ext cx="214" cy="167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5132" name="Oval 111"/>
                  <p:cNvSpPr>
                    <a:spLocks noChangeArrowheads="1"/>
                  </p:cNvSpPr>
                  <p:nvPr/>
                </p:nvSpPr>
                <p:spPr bwMode="auto">
                  <a:xfrm>
                    <a:off x="3194" y="2526"/>
                    <a:ext cx="214" cy="167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85128" name="Group 112"/>
                <p:cNvGrpSpPr>
                  <a:grpSpLocks/>
                </p:cNvGrpSpPr>
                <p:nvPr/>
              </p:nvGrpSpPr>
              <p:grpSpPr bwMode="auto">
                <a:xfrm>
                  <a:off x="3322" y="2544"/>
                  <a:ext cx="160" cy="121"/>
                  <a:chOff x="3322" y="2544"/>
                  <a:chExt cx="160" cy="121"/>
                </a:xfrm>
              </p:grpSpPr>
              <p:sp>
                <p:nvSpPr>
                  <p:cNvPr id="85129" name="Oval 113"/>
                  <p:cNvSpPr>
                    <a:spLocks noChangeArrowheads="1"/>
                  </p:cNvSpPr>
                  <p:nvPr/>
                </p:nvSpPr>
                <p:spPr bwMode="auto">
                  <a:xfrm>
                    <a:off x="3370" y="2591"/>
                    <a:ext cx="112" cy="74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5130" name="Oval 114"/>
                  <p:cNvSpPr>
                    <a:spLocks noChangeArrowheads="1"/>
                  </p:cNvSpPr>
                  <p:nvPr/>
                </p:nvSpPr>
                <p:spPr bwMode="auto">
                  <a:xfrm>
                    <a:off x="3322" y="2544"/>
                    <a:ext cx="112" cy="73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85120" name="Group 115"/>
              <p:cNvGrpSpPr>
                <a:grpSpLocks/>
              </p:cNvGrpSpPr>
              <p:nvPr/>
            </p:nvGrpSpPr>
            <p:grpSpPr bwMode="auto">
              <a:xfrm>
                <a:off x="3340" y="2580"/>
                <a:ext cx="148" cy="109"/>
                <a:chOff x="3340" y="2580"/>
                <a:chExt cx="148" cy="109"/>
              </a:xfrm>
            </p:grpSpPr>
            <p:sp>
              <p:nvSpPr>
                <p:cNvPr id="85125" name="Oval 116"/>
                <p:cNvSpPr>
                  <a:spLocks noChangeArrowheads="1"/>
                </p:cNvSpPr>
                <p:nvPr/>
              </p:nvSpPr>
              <p:spPr bwMode="auto">
                <a:xfrm>
                  <a:off x="3388" y="2627"/>
                  <a:ext cx="100" cy="62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126" name="Oval 117"/>
                <p:cNvSpPr>
                  <a:spLocks noChangeArrowheads="1"/>
                </p:cNvSpPr>
                <p:nvPr/>
              </p:nvSpPr>
              <p:spPr bwMode="auto">
                <a:xfrm>
                  <a:off x="3340" y="2580"/>
                  <a:ext cx="102" cy="61"/>
                </a:xfrm>
                <a:prstGeom prst="ellips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5121" name="Group 118"/>
              <p:cNvGrpSpPr>
                <a:grpSpLocks/>
              </p:cNvGrpSpPr>
              <p:nvPr/>
            </p:nvGrpSpPr>
            <p:grpSpPr bwMode="auto">
              <a:xfrm>
                <a:off x="3334" y="2613"/>
                <a:ext cx="130" cy="112"/>
                <a:chOff x="3334" y="2613"/>
                <a:chExt cx="130" cy="112"/>
              </a:xfrm>
            </p:grpSpPr>
            <p:sp>
              <p:nvSpPr>
                <p:cNvPr id="85123" name="Oval 119"/>
                <p:cNvSpPr>
                  <a:spLocks noChangeArrowheads="1"/>
                </p:cNvSpPr>
                <p:nvPr/>
              </p:nvSpPr>
              <p:spPr bwMode="auto">
                <a:xfrm>
                  <a:off x="3382" y="2661"/>
                  <a:ext cx="82" cy="64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124" name="Oval 120"/>
                <p:cNvSpPr>
                  <a:spLocks noChangeArrowheads="1"/>
                </p:cNvSpPr>
                <p:nvPr/>
              </p:nvSpPr>
              <p:spPr bwMode="auto">
                <a:xfrm>
                  <a:off x="3334" y="2613"/>
                  <a:ext cx="82" cy="64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5122" name="Oval 121"/>
              <p:cNvSpPr>
                <a:spLocks noChangeArrowheads="1"/>
              </p:cNvSpPr>
              <p:nvPr/>
            </p:nvSpPr>
            <p:spPr bwMode="auto">
              <a:xfrm>
                <a:off x="3228" y="2518"/>
                <a:ext cx="158" cy="141"/>
              </a:xfrm>
              <a:prstGeom prst="ellipse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5113" name="Rectangle 122"/>
            <p:cNvSpPr>
              <a:spLocks noChangeArrowheads="1"/>
            </p:cNvSpPr>
            <p:nvPr/>
          </p:nvSpPr>
          <p:spPr bwMode="auto">
            <a:xfrm>
              <a:off x="3234" y="2568"/>
              <a:ext cx="168" cy="4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14" name="Oval 123"/>
            <p:cNvSpPr>
              <a:spLocks noChangeArrowheads="1"/>
            </p:cNvSpPr>
            <p:nvPr/>
          </p:nvSpPr>
          <p:spPr bwMode="auto">
            <a:xfrm>
              <a:off x="3206" y="2659"/>
              <a:ext cx="56" cy="2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115" name="Oval 124"/>
            <p:cNvSpPr>
              <a:spLocks noChangeArrowheads="1"/>
            </p:cNvSpPr>
            <p:nvPr/>
          </p:nvSpPr>
          <p:spPr bwMode="auto">
            <a:xfrm>
              <a:off x="3332" y="2651"/>
              <a:ext cx="44" cy="28"/>
            </a:xfrm>
            <a:prstGeom prst="ellipse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5009" name="Group 125"/>
          <p:cNvGrpSpPr>
            <a:grpSpLocks/>
          </p:cNvGrpSpPr>
          <p:nvPr/>
        </p:nvGrpSpPr>
        <p:grpSpPr bwMode="auto">
          <a:xfrm>
            <a:off x="8991600" y="2667000"/>
            <a:ext cx="990600" cy="838200"/>
            <a:chOff x="3152" y="2518"/>
            <a:chExt cx="336" cy="223"/>
          </a:xfrm>
        </p:grpSpPr>
        <p:grpSp>
          <p:nvGrpSpPr>
            <p:cNvPr id="85089" name="Group 126"/>
            <p:cNvGrpSpPr>
              <a:grpSpLocks/>
            </p:cNvGrpSpPr>
            <p:nvPr/>
          </p:nvGrpSpPr>
          <p:grpSpPr bwMode="auto">
            <a:xfrm>
              <a:off x="3152" y="2518"/>
              <a:ext cx="336" cy="223"/>
              <a:chOff x="3152" y="2518"/>
              <a:chExt cx="336" cy="223"/>
            </a:xfrm>
          </p:grpSpPr>
          <p:sp>
            <p:nvSpPr>
              <p:cNvPr id="85093" name="Oval 127"/>
              <p:cNvSpPr>
                <a:spLocks noChangeArrowheads="1"/>
              </p:cNvSpPr>
              <p:nvPr/>
            </p:nvSpPr>
            <p:spPr bwMode="auto">
              <a:xfrm>
                <a:off x="3198" y="2526"/>
                <a:ext cx="92" cy="81"/>
              </a:xfrm>
              <a:prstGeom prst="ellipse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094" name="Oval 128"/>
              <p:cNvSpPr>
                <a:spLocks noChangeArrowheads="1"/>
              </p:cNvSpPr>
              <p:nvPr/>
            </p:nvSpPr>
            <p:spPr bwMode="auto">
              <a:xfrm>
                <a:off x="3152" y="2570"/>
                <a:ext cx="124" cy="71"/>
              </a:xfrm>
              <a:prstGeom prst="ellips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5095" name="Group 129"/>
              <p:cNvGrpSpPr>
                <a:grpSpLocks/>
              </p:cNvGrpSpPr>
              <p:nvPr/>
            </p:nvGrpSpPr>
            <p:grpSpPr bwMode="auto">
              <a:xfrm>
                <a:off x="3182" y="2623"/>
                <a:ext cx="140" cy="106"/>
                <a:chOff x="3182" y="2623"/>
                <a:chExt cx="140" cy="106"/>
              </a:xfrm>
            </p:grpSpPr>
            <p:sp>
              <p:nvSpPr>
                <p:cNvPr id="85110" name="Oval 130"/>
                <p:cNvSpPr>
                  <a:spLocks noChangeArrowheads="1"/>
                </p:cNvSpPr>
                <p:nvPr/>
              </p:nvSpPr>
              <p:spPr bwMode="auto">
                <a:xfrm>
                  <a:off x="3230" y="2671"/>
                  <a:ext cx="92" cy="58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111" name="Oval 131"/>
                <p:cNvSpPr>
                  <a:spLocks noChangeArrowheads="1"/>
                </p:cNvSpPr>
                <p:nvPr/>
              </p:nvSpPr>
              <p:spPr bwMode="auto">
                <a:xfrm>
                  <a:off x="3182" y="2623"/>
                  <a:ext cx="94" cy="58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5096" name="Group 132"/>
              <p:cNvGrpSpPr>
                <a:grpSpLocks/>
              </p:cNvGrpSpPr>
              <p:nvPr/>
            </p:nvGrpSpPr>
            <p:grpSpPr bwMode="auto">
              <a:xfrm>
                <a:off x="3194" y="2526"/>
                <a:ext cx="288" cy="215"/>
                <a:chOff x="3194" y="2526"/>
                <a:chExt cx="288" cy="215"/>
              </a:xfrm>
            </p:grpSpPr>
            <p:grpSp>
              <p:nvGrpSpPr>
                <p:cNvPr id="85104" name="Group 133"/>
                <p:cNvGrpSpPr>
                  <a:grpSpLocks/>
                </p:cNvGrpSpPr>
                <p:nvPr/>
              </p:nvGrpSpPr>
              <p:grpSpPr bwMode="auto">
                <a:xfrm>
                  <a:off x="3194" y="2526"/>
                  <a:ext cx="262" cy="215"/>
                  <a:chOff x="3194" y="2526"/>
                  <a:chExt cx="262" cy="215"/>
                </a:xfrm>
              </p:grpSpPr>
              <p:sp>
                <p:nvSpPr>
                  <p:cNvPr id="85108" name="Oval 134"/>
                  <p:cNvSpPr>
                    <a:spLocks noChangeArrowheads="1"/>
                  </p:cNvSpPr>
                  <p:nvPr/>
                </p:nvSpPr>
                <p:spPr bwMode="auto">
                  <a:xfrm>
                    <a:off x="3242" y="2574"/>
                    <a:ext cx="214" cy="167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5109" name="Oval 135"/>
                  <p:cNvSpPr>
                    <a:spLocks noChangeArrowheads="1"/>
                  </p:cNvSpPr>
                  <p:nvPr/>
                </p:nvSpPr>
                <p:spPr bwMode="auto">
                  <a:xfrm>
                    <a:off x="3194" y="2526"/>
                    <a:ext cx="214" cy="167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85105" name="Group 136"/>
                <p:cNvGrpSpPr>
                  <a:grpSpLocks/>
                </p:cNvGrpSpPr>
                <p:nvPr/>
              </p:nvGrpSpPr>
              <p:grpSpPr bwMode="auto">
                <a:xfrm>
                  <a:off x="3322" y="2544"/>
                  <a:ext cx="160" cy="121"/>
                  <a:chOff x="3322" y="2544"/>
                  <a:chExt cx="160" cy="121"/>
                </a:xfrm>
              </p:grpSpPr>
              <p:sp>
                <p:nvSpPr>
                  <p:cNvPr id="85106" name="Oval 137"/>
                  <p:cNvSpPr>
                    <a:spLocks noChangeArrowheads="1"/>
                  </p:cNvSpPr>
                  <p:nvPr/>
                </p:nvSpPr>
                <p:spPr bwMode="auto">
                  <a:xfrm>
                    <a:off x="3370" y="2591"/>
                    <a:ext cx="112" cy="74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5107" name="Oval 138"/>
                  <p:cNvSpPr>
                    <a:spLocks noChangeArrowheads="1"/>
                  </p:cNvSpPr>
                  <p:nvPr/>
                </p:nvSpPr>
                <p:spPr bwMode="auto">
                  <a:xfrm>
                    <a:off x="3322" y="2544"/>
                    <a:ext cx="112" cy="73"/>
                  </a:xfrm>
                  <a:prstGeom prst="ellipse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kumimoji="1" lang="zh-CN" altLang="en-US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85097" name="Group 139"/>
              <p:cNvGrpSpPr>
                <a:grpSpLocks/>
              </p:cNvGrpSpPr>
              <p:nvPr/>
            </p:nvGrpSpPr>
            <p:grpSpPr bwMode="auto">
              <a:xfrm>
                <a:off x="3340" y="2580"/>
                <a:ext cx="148" cy="109"/>
                <a:chOff x="3340" y="2580"/>
                <a:chExt cx="148" cy="109"/>
              </a:xfrm>
            </p:grpSpPr>
            <p:sp>
              <p:nvSpPr>
                <p:cNvPr id="85102" name="Oval 140"/>
                <p:cNvSpPr>
                  <a:spLocks noChangeArrowheads="1"/>
                </p:cNvSpPr>
                <p:nvPr/>
              </p:nvSpPr>
              <p:spPr bwMode="auto">
                <a:xfrm>
                  <a:off x="3388" y="2627"/>
                  <a:ext cx="100" cy="62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103" name="Oval 141"/>
                <p:cNvSpPr>
                  <a:spLocks noChangeArrowheads="1"/>
                </p:cNvSpPr>
                <p:nvPr/>
              </p:nvSpPr>
              <p:spPr bwMode="auto">
                <a:xfrm>
                  <a:off x="3340" y="2580"/>
                  <a:ext cx="102" cy="61"/>
                </a:xfrm>
                <a:prstGeom prst="ellips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5098" name="Group 142"/>
              <p:cNvGrpSpPr>
                <a:grpSpLocks/>
              </p:cNvGrpSpPr>
              <p:nvPr/>
            </p:nvGrpSpPr>
            <p:grpSpPr bwMode="auto">
              <a:xfrm>
                <a:off x="3334" y="2613"/>
                <a:ext cx="130" cy="112"/>
                <a:chOff x="3334" y="2613"/>
                <a:chExt cx="130" cy="112"/>
              </a:xfrm>
            </p:grpSpPr>
            <p:sp>
              <p:nvSpPr>
                <p:cNvPr id="85100" name="Oval 143"/>
                <p:cNvSpPr>
                  <a:spLocks noChangeArrowheads="1"/>
                </p:cNvSpPr>
                <p:nvPr/>
              </p:nvSpPr>
              <p:spPr bwMode="auto">
                <a:xfrm>
                  <a:off x="3382" y="2661"/>
                  <a:ext cx="82" cy="64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101" name="Oval 144"/>
                <p:cNvSpPr>
                  <a:spLocks noChangeArrowheads="1"/>
                </p:cNvSpPr>
                <p:nvPr/>
              </p:nvSpPr>
              <p:spPr bwMode="auto">
                <a:xfrm>
                  <a:off x="3334" y="2613"/>
                  <a:ext cx="82" cy="64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5099" name="Oval 145"/>
              <p:cNvSpPr>
                <a:spLocks noChangeArrowheads="1"/>
              </p:cNvSpPr>
              <p:nvPr/>
            </p:nvSpPr>
            <p:spPr bwMode="auto">
              <a:xfrm>
                <a:off x="3228" y="2518"/>
                <a:ext cx="158" cy="141"/>
              </a:xfrm>
              <a:prstGeom prst="ellipse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5090" name="Rectangle 146"/>
            <p:cNvSpPr>
              <a:spLocks noChangeArrowheads="1"/>
            </p:cNvSpPr>
            <p:nvPr/>
          </p:nvSpPr>
          <p:spPr bwMode="auto">
            <a:xfrm>
              <a:off x="3234" y="2568"/>
              <a:ext cx="168" cy="4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091" name="Oval 147"/>
            <p:cNvSpPr>
              <a:spLocks noChangeArrowheads="1"/>
            </p:cNvSpPr>
            <p:nvPr/>
          </p:nvSpPr>
          <p:spPr bwMode="auto">
            <a:xfrm>
              <a:off x="3206" y="2659"/>
              <a:ext cx="56" cy="2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092" name="Oval 148"/>
            <p:cNvSpPr>
              <a:spLocks noChangeArrowheads="1"/>
            </p:cNvSpPr>
            <p:nvPr/>
          </p:nvSpPr>
          <p:spPr bwMode="auto">
            <a:xfrm>
              <a:off x="3332" y="2651"/>
              <a:ext cx="44" cy="28"/>
            </a:xfrm>
            <a:prstGeom prst="ellipse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5010" name="Text Box 149"/>
          <p:cNvSpPr txBox="1">
            <a:spLocks noChangeArrowheads="1"/>
          </p:cNvSpPr>
          <p:nvPr/>
        </p:nvSpPr>
        <p:spPr bwMode="auto">
          <a:xfrm>
            <a:off x="2268538" y="2286001"/>
            <a:ext cx="931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</a:t>
            </a:r>
            <a:r>
              <a: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</a:p>
        </p:txBody>
      </p:sp>
      <p:sp>
        <p:nvSpPr>
          <p:cNvPr id="85011" name="Text Box 150"/>
          <p:cNvSpPr txBox="1">
            <a:spLocks noChangeArrowheads="1"/>
          </p:cNvSpPr>
          <p:nvPr/>
        </p:nvSpPr>
        <p:spPr bwMode="auto">
          <a:xfrm>
            <a:off x="4402138" y="2286001"/>
            <a:ext cx="876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</a:t>
            </a:r>
            <a:r>
              <a: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5012" name="Text Box 151"/>
          <p:cNvSpPr txBox="1">
            <a:spLocks noChangeArrowheads="1"/>
          </p:cNvSpPr>
          <p:nvPr/>
        </p:nvSpPr>
        <p:spPr bwMode="auto">
          <a:xfrm>
            <a:off x="6688138" y="2286001"/>
            <a:ext cx="876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</a:t>
            </a:r>
            <a:r>
              <a: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85013" name="Text Box 152"/>
          <p:cNvSpPr txBox="1">
            <a:spLocks noChangeArrowheads="1"/>
          </p:cNvSpPr>
          <p:nvPr/>
        </p:nvSpPr>
        <p:spPr bwMode="auto">
          <a:xfrm>
            <a:off x="8897939" y="2286001"/>
            <a:ext cx="847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</a:t>
            </a:r>
            <a:r>
              <a: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85014" name="Text Box 153"/>
          <p:cNvSpPr txBox="1">
            <a:spLocks noChangeArrowheads="1"/>
          </p:cNvSpPr>
          <p:nvPr/>
        </p:nvSpPr>
        <p:spPr bwMode="auto">
          <a:xfrm>
            <a:off x="3289300" y="2286001"/>
            <a:ext cx="1130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路由器</a:t>
            </a:r>
            <a:r>
              <a:rPr kumimoji="1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85015" name="Text Box 154"/>
          <p:cNvSpPr txBox="1">
            <a:spLocks noChangeArrowheads="1"/>
          </p:cNvSpPr>
          <p:nvPr/>
        </p:nvSpPr>
        <p:spPr bwMode="auto">
          <a:xfrm>
            <a:off x="5422901" y="2286001"/>
            <a:ext cx="1116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路由器</a:t>
            </a:r>
            <a:r>
              <a:rPr kumimoji="1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85016" name="Text Box 155"/>
          <p:cNvSpPr txBox="1">
            <a:spLocks noChangeArrowheads="1"/>
          </p:cNvSpPr>
          <p:nvPr/>
        </p:nvSpPr>
        <p:spPr bwMode="auto">
          <a:xfrm>
            <a:off x="7696201" y="2286001"/>
            <a:ext cx="1116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路由器</a:t>
            </a:r>
            <a:r>
              <a:rPr kumimoji="1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85017" name="Rectangle 156"/>
          <p:cNvSpPr>
            <a:spLocks noChangeArrowheads="1"/>
          </p:cNvSpPr>
          <p:nvPr/>
        </p:nvSpPr>
        <p:spPr bwMode="auto">
          <a:xfrm>
            <a:off x="2978150" y="3581400"/>
            <a:ext cx="1600200" cy="236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018" name="Text Box 157"/>
          <p:cNvSpPr txBox="1">
            <a:spLocks noChangeArrowheads="1"/>
          </p:cNvSpPr>
          <p:nvPr/>
        </p:nvSpPr>
        <p:spPr bwMode="auto">
          <a:xfrm>
            <a:off x="3327400" y="3581401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路由表</a:t>
            </a:r>
          </a:p>
        </p:txBody>
      </p:sp>
      <p:sp>
        <p:nvSpPr>
          <p:cNvPr id="85019" name="Text Box 158"/>
          <p:cNvSpPr txBox="1">
            <a:spLocks noChangeArrowheads="1"/>
          </p:cNvSpPr>
          <p:nvPr/>
        </p:nvSpPr>
        <p:spPr bwMode="auto">
          <a:xfrm>
            <a:off x="2978150" y="3976688"/>
            <a:ext cx="167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网络 端口 距离</a:t>
            </a:r>
          </a:p>
        </p:txBody>
      </p:sp>
      <p:sp>
        <p:nvSpPr>
          <p:cNvPr id="85020" name="Line 159"/>
          <p:cNvSpPr>
            <a:spLocks noChangeShapeType="1"/>
          </p:cNvSpPr>
          <p:nvPr/>
        </p:nvSpPr>
        <p:spPr bwMode="auto">
          <a:xfrm>
            <a:off x="2978150" y="3962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21" name="Line 160"/>
          <p:cNvSpPr>
            <a:spLocks noChangeShapeType="1"/>
          </p:cNvSpPr>
          <p:nvPr/>
        </p:nvSpPr>
        <p:spPr bwMode="auto">
          <a:xfrm>
            <a:off x="2978150" y="4343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22" name="Line 161"/>
          <p:cNvSpPr>
            <a:spLocks noChangeShapeType="1"/>
          </p:cNvSpPr>
          <p:nvPr/>
        </p:nvSpPr>
        <p:spPr bwMode="auto">
          <a:xfrm>
            <a:off x="2978150" y="4724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23" name="Line 162"/>
          <p:cNvSpPr>
            <a:spLocks noChangeShapeType="1"/>
          </p:cNvSpPr>
          <p:nvPr/>
        </p:nvSpPr>
        <p:spPr bwMode="auto">
          <a:xfrm>
            <a:off x="2978150" y="5105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24" name="Line 163"/>
          <p:cNvSpPr>
            <a:spLocks noChangeShapeType="1"/>
          </p:cNvSpPr>
          <p:nvPr/>
        </p:nvSpPr>
        <p:spPr bwMode="auto">
          <a:xfrm flipH="1">
            <a:off x="4038600" y="3962400"/>
            <a:ext cx="635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25" name="Rectangle 164"/>
          <p:cNvSpPr>
            <a:spLocks noChangeArrowheads="1"/>
          </p:cNvSpPr>
          <p:nvPr/>
        </p:nvSpPr>
        <p:spPr bwMode="auto">
          <a:xfrm>
            <a:off x="7626350" y="3581400"/>
            <a:ext cx="1600200" cy="236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026" name="Text Box 165"/>
          <p:cNvSpPr txBox="1">
            <a:spLocks noChangeArrowheads="1"/>
          </p:cNvSpPr>
          <p:nvPr/>
        </p:nvSpPr>
        <p:spPr bwMode="auto">
          <a:xfrm>
            <a:off x="7975600" y="3581401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路由表</a:t>
            </a:r>
          </a:p>
        </p:txBody>
      </p:sp>
      <p:sp>
        <p:nvSpPr>
          <p:cNvPr id="85027" name="Text Box 166"/>
          <p:cNvSpPr txBox="1">
            <a:spLocks noChangeArrowheads="1"/>
          </p:cNvSpPr>
          <p:nvPr/>
        </p:nvSpPr>
        <p:spPr bwMode="auto">
          <a:xfrm>
            <a:off x="7626350" y="3976688"/>
            <a:ext cx="167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网络 端口 距离</a:t>
            </a:r>
          </a:p>
        </p:txBody>
      </p:sp>
      <p:sp>
        <p:nvSpPr>
          <p:cNvPr id="85028" name="Line 167"/>
          <p:cNvSpPr>
            <a:spLocks noChangeShapeType="1"/>
          </p:cNvSpPr>
          <p:nvPr/>
        </p:nvSpPr>
        <p:spPr bwMode="auto">
          <a:xfrm>
            <a:off x="7626350" y="3962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29" name="Line 168"/>
          <p:cNvSpPr>
            <a:spLocks noChangeShapeType="1"/>
          </p:cNvSpPr>
          <p:nvPr/>
        </p:nvSpPr>
        <p:spPr bwMode="auto">
          <a:xfrm>
            <a:off x="7626350" y="4343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30" name="Line 169"/>
          <p:cNvSpPr>
            <a:spLocks noChangeShapeType="1"/>
          </p:cNvSpPr>
          <p:nvPr/>
        </p:nvSpPr>
        <p:spPr bwMode="auto">
          <a:xfrm>
            <a:off x="7626350" y="4724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31" name="Line 170"/>
          <p:cNvSpPr>
            <a:spLocks noChangeShapeType="1"/>
          </p:cNvSpPr>
          <p:nvPr/>
        </p:nvSpPr>
        <p:spPr bwMode="auto">
          <a:xfrm>
            <a:off x="7626350" y="5105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32" name="Rectangle 171"/>
          <p:cNvSpPr>
            <a:spLocks noChangeArrowheads="1"/>
          </p:cNvSpPr>
          <p:nvPr/>
        </p:nvSpPr>
        <p:spPr bwMode="auto">
          <a:xfrm>
            <a:off x="5334000" y="3581400"/>
            <a:ext cx="1600200" cy="236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033" name="Text Box 172"/>
          <p:cNvSpPr txBox="1">
            <a:spLocks noChangeArrowheads="1"/>
          </p:cNvSpPr>
          <p:nvPr/>
        </p:nvSpPr>
        <p:spPr bwMode="auto">
          <a:xfrm>
            <a:off x="5683250" y="3581401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路由表</a:t>
            </a:r>
          </a:p>
        </p:txBody>
      </p:sp>
      <p:sp>
        <p:nvSpPr>
          <p:cNvPr id="85034" name="Text Box 173"/>
          <p:cNvSpPr txBox="1">
            <a:spLocks noChangeArrowheads="1"/>
          </p:cNvSpPr>
          <p:nvPr/>
        </p:nvSpPr>
        <p:spPr bwMode="auto">
          <a:xfrm>
            <a:off x="5334000" y="3976688"/>
            <a:ext cx="167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网络 端口 距离</a:t>
            </a:r>
          </a:p>
        </p:txBody>
      </p:sp>
      <p:sp>
        <p:nvSpPr>
          <p:cNvPr id="85035" name="Line 174"/>
          <p:cNvSpPr>
            <a:spLocks noChangeShapeType="1"/>
          </p:cNvSpPr>
          <p:nvPr/>
        </p:nvSpPr>
        <p:spPr bwMode="auto">
          <a:xfrm>
            <a:off x="5334000" y="3962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36" name="Line 175"/>
          <p:cNvSpPr>
            <a:spLocks noChangeShapeType="1"/>
          </p:cNvSpPr>
          <p:nvPr/>
        </p:nvSpPr>
        <p:spPr bwMode="auto">
          <a:xfrm>
            <a:off x="5334000" y="4343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37" name="Line 176"/>
          <p:cNvSpPr>
            <a:spLocks noChangeShapeType="1"/>
          </p:cNvSpPr>
          <p:nvPr/>
        </p:nvSpPr>
        <p:spPr bwMode="auto">
          <a:xfrm>
            <a:off x="5334000" y="4724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38" name="Line 177"/>
          <p:cNvSpPr>
            <a:spLocks noChangeShapeType="1"/>
          </p:cNvSpPr>
          <p:nvPr/>
        </p:nvSpPr>
        <p:spPr bwMode="auto">
          <a:xfrm>
            <a:off x="5334000" y="5105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39" name="Line 178"/>
          <p:cNvSpPr>
            <a:spLocks noChangeShapeType="1"/>
          </p:cNvSpPr>
          <p:nvPr/>
        </p:nvSpPr>
        <p:spPr bwMode="auto">
          <a:xfrm>
            <a:off x="5867400" y="39624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40" name="Line 179"/>
          <p:cNvSpPr>
            <a:spLocks noChangeShapeType="1"/>
          </p:cNvSpPr>
          <p:nvPr/>
        </p:nvSpPr>
        <p:spPr bwMode="auto">
          <a:xfrm>
            <a:off x="6400800" y="39624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41" name="Text Box 180"/>
          <p:cNvSpPr txBox="1">
            <a:spLocks noChangeArrowheads="1"/>
          </p:cNvSpPr>
          <p:nvPr/>
        </p:nvSpPr>
        <p:spPr bwMode="auto">
          <a:xfrm>
            <a:off x="3124200" y="2711450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A1</a:t>
            </a:r>
          </a:p>
        </p:txBody>
      </p:sp>
      <p:sp>
        <p:nvSpPr>
          <p:cNvPr id="85042" name="Text Box 181"/>
          <p:cNvSpPr txBox="1">
            <a:spLocks noChangeArrowheads="1"/>
          </p:cNvSpPr>
          <p:nvPr/>
        </p:nvSpPr>
        <p:spPr bwMode="auto">
          <a:xfrm>
            <a:off x="4114800" y="2711450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A2</a:t>
            </a:r>
          </a:p>
        </p:txBody>
      </p:sp>
      <p:sp>
        <p:nvSpPr>
          <p:cNvPr id="85043" name="Text Box 182"/>
          <p:cNvSpPr txBox="1">
            <a:spLocks noChangeArrowheads="1"/>
          </p:cNvSpPr>
          <p:nvPr/>
        </p:nvSpPr>
        <p:spPr bwMode="auto">
          <a:xfrm>
            <a:off x="5334000" y="2711450"/>
            <a:ext cx="420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B1</a:t>
            </a:r>
          </a:p>
        </p:txBody>
      </p:sp>
      <p:sp>
        <p:nvSpPr>
          <p:cNvPr id="85044" name="Text Box 183"/>
          <p:cNvSpPr txBox="1">
            <a:spLocks noChangeArrowheads="1"/>
          </p:cNvSpPr>
          <p:nvPr/>
        </p:nvSpPr>
        <p:spPr bwMode="auto">
          <a:xfrm>
            <a:off x="6361114" y="2711450"/>
            <a:ext cx="420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B2</a:t>
            </a:r>
          </a:p>
        </p:txBody>
      </p:sp>
      <p:sp>
        <p:nvSpPr>
          <p:cNvPr id="85045" name="Text Box 184"/>
          <p:cNvSpPr txBox="1">
            <a:spLocks noChangeArrowheads="1"/>
          </p:cNvSpPr>
          <p:nvPr/>
        </p:nvSpPr>
        <p:spPr bwMode="auto">
          <a:xfrm>
            <a:off x="7696200" y="2711450"/>
            <a:ext cx="420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C1</a:t>
            </a:r>
          </a:p>
        </p:txBody>
      </p:sp>
      <p:sp>
        <p:nvSpPr>
          <p:cNvPr id="85046" name="Text Box 185"/>
          <p:cNvSpPr txBox="1">
            <a:spLocks noChangeArrowheads="1"/>
          </p:cNvSpPr>
          <p:nvPr/>
        </p:nvSpPr>
        <p:spPr bwMode="auto">
          <a:xfrm>
            <a:off x="8686800" y="2711450"/>
            <a:ext cx="420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C2</a:t>
            </a:r>
          </a:p>
        </p:txBody>
      </p:sp>
      <p:sp>
        <p:nvSpPr>
          <p:cNvPr id="85047" name="Text Box 186"/>
          <p:cNvSpPr txBox="1">
            <a:spLocks noChangeArrowheads="1"/>
          </p:cNvSpPr>
          <p:nvPr/>
        </p:nvSpPr>
        <p:spPr bwMode="auto">
          <a:xfrm>
            <a:off x="3048000" y="4343400"/>
            <a:ext cx="3762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</a:p>
        </p:txBody>
      </p:sp>
      <p:sp>
        <p:nvSpPr>
          <p:cNvPr id="85048" name="Text Box 187"/>
          <p:cNvSpPr txBox="1">
            <a:spLocks noChangeArrowheads="1"/>
          </p:cNvSpPr>
          <p:nvPr/>
        </p:nvSpPr>
        <p:spPr bwMode="auto">
          <a:xfrm>
            <a:off x="3586163" y="4343400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A1</a:t>
            </a:r>
          </a:p>
        </p:txBody>
      </p:sp>
      <p:sp>
        <p:nvSpPr>
          <p:cNvPr id="85049" name="Text Box 188"/>
          <p:cNvSpPr txBox="1">
            <a:spLocks noChangeArrowheads="1"/>
          </p:cNvSpPr>
          <p:nvPr/>
        </p:nvSpPr>
        <p:spPr bwMode="auto">
          <a:xfrm>
            <a:off x="4119563" y="4343400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85050" name="Text Box 189"/>
          <p:cNvSpPr txBox="1">
            <a:spLocks noChangeArrowheads="1"/>
          </p:cNvSpPr>
          <p:nvPr/>
        </p:nvSpPr>
        <p:spPr bwMode="auto">
          <a:xfrm>
            <a:off x="3048000" y="476885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5051" name="Text Box 190"/>
          <p:cNvSpPr txBox="1">
            <a:spLocks noChangeArrowheads="1"/>
          </p:cNvSpPr>
          <p:nvPr/>
        </p:nvSpPr>
        <p:spPr bwMode="auto">
          <a:xfrm>
            <a:off x="3586163" y="4768850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A2</a:t>
            </a:r>
          </a:p>
        </p:txBody>
      </p:sp>
      <p:sp>
        <p:nvSpPr>
          <p:cNvPr id="85052" name="Text Box 191"/>
          <p:cNvSpPr txBox="1">
            <a:spLocks noChangeArrowheads="1"/>
          </p:cNvSpPr>
          <p:nvPr/>
        </p:nvSpPr>
        <p:spPr bwMode="auto">
          <a:xfrm>
            <a:off x="4119563" y="4768850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85053" name="Text Box 192"/>
          <p:cNvSpPr txBox="1">
            <a:spLocks noChangeArrowheads="1"/>
          </p:cNvSpPr>
          <p:nvPr/>
        </p:nvSpPr>
        <p:spPr bwMode="auto">
          <a:xfrm>
            <a:off x="5410200" y="434340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5054" name="Text Box 193"/>
          <p:cNvSpPr txBox="1">
            <a:spLocks noChangeArrowheads="1"/>
          </p:cNvSpPr>
          <p:nvPr/>
        </p:nvSpPr>
        <p:spPr bwMode="auto">
          <a:xfrm>
            <a:off x="5948364" y="4343400"/>
            <a:ext cx="420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B1</a:t>
            </a:r>
          </a:p>
        </p:txBody>
      </p:sp>
      <p:sp>
        <p:nvSpPr>
          <p:cNvPr id="85055" name="Text Box 194"/>
          <p:cNvSpPr txBox="1">
            <a:spLocks noChangeArrowheads="1"/>
          </p:cNvSpPr>
          <p:nvPr/>
        </p:nvSpPr>
        <p:spPr bwMode="auto">
          <a:xfrm>
            <a:off x="6481763" y="4343400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85056" name="Text Box 195"/>
          <p:cNvSpPr txBox="1">
            <a:spLocks noChangeArrowheads="1"/>
          </p:cNvSpPr>
          <p:nvPr/>
        </p:nvSpPr>
        <p:spPr bwMode="auto">
          <a:xfrm>
            <a:off x="5410200" y="476885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85057" name="Text Box 196"/>
          <p:cNvSpPr txBox="1">
            <a:spLocks noChangeArrowheads="1"/>
          </p:cNvSpPr>
          <p:nvPr/>
        </p:nvSpPr>
        <p:spPr bwMode="auto">
          <a:xfrm>
            <a:off x="5948364" y="4768850"/>
            <a:ext cx="420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B2</a:t>
            </a:r>
          </a:p>
        </p:txBody>
      </p:sp>
      <p:sp>
        <p:nvSpPr>
          <p:cNvPr id="85058" name="Text Box 197"/>
          <p:cNvSpPr txBox="1">
            <a:spLocks noChangeArrowheads="1"/>
          </p:cNvSpPr>
          <p:nvPr/>
        </p:nvSpPr>
        <p:spPr bwMode="auto">
          <a:xfrm>
            <a:off x="6481763" y="4768850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85059" name="Text Box 198"/>
          <p:cNvSpPr txBox="1">
            <a:spLocks noChangeArrowheads="1"/>
          </p:cNvSpPr>
          <p:nvPr/>
        </p:nvSpPr>
        <p:spPr bwMode="auto">
          <a:xfrm>
            <a:off x="7747000" y="434340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85060" name="Text Box 199"/>
          <p:cNvSpPr txBox="1">
            <a:spLocks noChangeArrowheads="1"/>
          </p:cNvSpPr>
          <p:nvPr/>
        </p:nvSpPr>
        <p:spPr bwMode="auto">
          <a:xfrm>
            <a:off x="8234364" y="4343400"/>
            <a:ext cx="420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C1</a:t>
            </a:r>
          </a:p>
        </p:txBody>
      </p:sp>
      <p:sp>
        <p:nvSpPr>
          <p:cNvPr id="85061" name="Text Box 200"/>
          <p:cNvSpPr txBox="1">
            <a:spLocks noChangeArrowheads="1"/>
          </p:cNvSpPr>
          <p:nvPr/>
        </p:nvSpPr>
        <p:spPr bwMode="auto">
          <a:xfrm>
            <a:off x="8767763" y="4343400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85062" name="Text Box 201"/>
          <p:cNvSpPr txBox="1">
            <a:spLocks noChangeArrowheads="1"/>
          </p:cNvSpPr>
          <p:nvPr/>
        </p:nvSpPr>
        <p:spPr bwMode="auto">
          <a:xfrm>
            <a:off x="7696201" y="4768850"/>
            <a:ext cx="358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Z</a:t>
            </a:r>
          </a:p>
        </p:txBody>
      </p:sp>
      <p:sp>
        <p:nvSpPr>
          <p:cNvPr id="85063" name="Text Box 202"/>
          <p:cNvSpPr txBox="1">
            <a:spLocks noChangeArrowheads="1"/>
          </p:cNvSpPr>
          <p:nvPr/>
        </p:nvSpPr>
        <p:spPr bwMode="auto">
          <a:xfrm>
            <a:off x="8234364" y="4768850"/>
            <a:ext cx="420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C2</a:t>
            </a:r>
          </a:p>
        </p:txBody>
      </p:sp>
      <p:sp>
        <p:nvSpPr>
          <p:cNvPr id="85064" name="Text Box 203"/>
          <p:cNvSpPr txBox="1">
            <a:spLocks noChangeArrowheads="1"/>
          </p:cNvSpPr>
          <p:nvPr/>
        </p:nvSpPr>
        <p:spPr bwMode="auto">
          <a:xfrm>
            <a:off x="8767763" y="4768850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85065" name="Line 204"/>
          <p:cNvSpPr>
            <a:spLocks noChangeShapeType="1"/>
          </p:cNvSpPr>
          <p:nvPr/>
        </p:nvSpPr>
        <p:spPr bwMode="auto">
          <a:xfrm>
            <a:off x="3505200" y="39624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66" name="Line 205"/>
          <p:cNvSpPr>
            <a:spLocks noChangeShapeType="1"/>
          </p:cNvSpPr>
          <p:nvPr/>
        </p:nvSpPr>
        <p:spPr bwMode="auto">
          <a:xfrm>
            <a:off x="2971800" y="5486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67" name="Line 206"/>
          <p:cNvSpPr>
            <a:spLocks noChangeShapeType="1"/>
          </p:cNvSpPr>
          <p:nvPr/>
        </p:nvSpPr>
        <p:spPr bwMode="auto">
          <a:xfrm>
            <a:off x="8153400" y="39624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68" name="Line 207"/>
          <p:cNvSpPr>
            <a:spLocks noChangeShapeType="1"/>
          </p:cNvSpPr>
          <p:nvPr/>
        </p:nvSpPr>
        <p:spPr bwMode="auto">
          <a:xfrm>
            <a:off x="8686800" y="39624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69" name="Line 208"/>
          <p:cNvSpPr>
            <a:spLocks noChangeShapeType="1"/>
          </p:cNvSpPr>
          <p:nvPr/>
        </p:nvSpPr>
        <p:spPr bwMode="auto">
          <a:xfrm>
            <a:off x="7620000" y="5486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70" name="Line 209"/>
          <p:cNvSpPr>
            <a:spLocks noChangeShapeType="1"/>
          </p:cNvSpPr>
          <p:nvPr/>
        </p:nvSpPr>
        <p:spPr bwMode="auto">
          <a:xfrm>
            <a:off x="5334000" y="54864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71" name="Text Box 211"/>
          <p:cNvSpPr txBox="1">
            <a:spLocks noChangeArrowheads="1"/>
          </p:cNvSpPr>
          <p:nvPr/>
        </p:nvSpPr>
        <p:spPr bwMode="auto">
          <a:xfrm>
            <a:off x="3048000" y="5119688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85072" name="Text Box 212"/>
          <p:cNvSpPr txBox="1">
            <a:spLocks noChangeArrowheads="1"/>
          </p:cNvSpPr>
          <p:nvPr/>
        </p:nvSpPr>
        <p:spPr bwMode="auto">
          <a:xfrm>
            <a:off x="3581400" y="5119688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A2</a:t>
            </a:r>
          </a:p>
        </p:txBody>
      </p:sp>
      <p:sp>
        <p:nvSpPr>
          <p:cNvPr id="85073" name="Text Box 213"/>
          <p:cNvSpPr txBox="1">
            <a:spLocks noChangeArrowheads="1"/>
          </p:cNvSpPr>
          <p:nvPr/>
        </p:nvSpPr>
        <p:spPr bwMode="auto">
          <a:xfrm>
            <a:off x="4114800" y="5119688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</a:t>
            </a:r>
          </a:p>
        </p:txBody>
      </p:sp>
      <p:sp>
        <p:nvSpPr>
          <p:cNvPr id="85074" name="Text Box 214"/>
          <p:cNvSpPr txBox="1">
            <a:spLocks noChangeArrowheads="1"/>
          </p:cNvSpPr>
          <p:nvPr/>
        </p:nvSpPr>
        <p:spPr bwMode="auto">
          <a:xfrm>
            <a:off x="5937250" y="5151438"/>
            <a:ext cx="420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B1</a:t>
            </a:r>
          </a:p>
        </p:txBody>
      </p:sp>
      <p:sp>
        <p:nvSpPr>
          <p:cNvPr id="85075" name="Text Box 215"/>
          <p:cNvSpPr txBox="1">
            <a:spLocks noChangeArrowheads="1"/>
          </p:cNvSpPr>
          <p:nvPr/>
        </p:nvSpPr>
        <p:spPr bwMode="auto">
          <a:xfrm>
            <a:off x="6470650" y="5151438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</a:t>
            </a:r>
          </a:p>
        </p:txBody>
      </p:sp>
      <p:sp>
        <p:nvSpPr>
          <p:cNvPr id="85076" name="Text Box 216"/>
          <p:cNvSpPr txBox="1">
            <a:spLocks noChangeArrowheads="1"/>
          </p:cNvSpPr>
          <p:nvPr/>
        </p:nvSpPr>
        <p:spPr bwMode="auto">
          <a:xfrm>
            <a:off x="5410200" y="5151438"/>
            <a:ext cx="3762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</a:p>
        </p:txBody>
      </p:sp>
      <p:sp>
        <p:nvSpPr>
          <p:cNvPr id="85077" name="Text Box 217"/>
          <p:cNvSpPr txBox="1">
            <a:spLocks noChangeArrowheads="1"/>
          </p:cNvSpPr>
          <p:nvPr/>
        </p:nvSpPr>
        <p:spPr bwMode="auto">
          <a:xfrm>
            <a:off x="7732713" y="5151438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5078" name="Text Box 218"/>
          <p:cNvSpPr txBox="1">
            <a:spLocks noChangeArrowheads="1"/>
          </p:cNvSpPr>
          <p:nvPr/>
        </p:nvSpPr>
        <p:spPr bwMode="auto">
          <a:xfrm>
            <a:off x="8266114" y="5151438"/>
            <a:ext cx="420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C1</a:t>
            </a:r>
          </a:p>
        </p:txBody>
      </p:sp>
      <p:sp>
        <p:nvSpPr>
          <p:cNvPr id="85079" name="Text Box 219"/>
          <p:cNvSpPr txBox="1">
            <a:spLocks noChangeArrowheads="1"/>
          </p:cNvSpPr>
          <p:nvPr/>
        </p:nvSpPr>
        <p:spPr bwMode="auto">
          <a:xfrm>
            <a:off x="8763000" y="5151438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</a:t>
            </a:r>
          </a:p>
        </p:txBody>
      </p:sp>
      <p:sp>
        <p:nvSpPr>
          <p:cNvPr id="85080" name="Text Box 220"/>
          <p:cNvSpPr txBox="1">
            <a:spLocks noChangeArrowheads="1"/>
          </p:cNvSpPr>
          <p:nvPr/>
        </p:nvSpPr>
        <p:spPr bwMode="auto">
          <a:xfrm>
            <a:off x="7732714" y="5532438"/>
            <a:ext cx="3762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</a:p>
        </p:txBody>
      </p:sp>
      <p:sp>
        <p:nvSpPr>
          <p:cNvPr id="85081" name="Text Box 221"/>
          <p:cNvSpPr txBox="1">
            <a:spLocks noChangeArrowheads="1"/>
          </p:cNvSpPr>
          <p:nvPr/>
        </p:nvSpPr>
        <p:spPr bwMode="auto">
          <a:xfrm>
            <a:off x="8266114" y="5532438"/>
            <a:ext cx="420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C1</a:t>
            </a:r>
          </a:p>
        </p:txBody>
      </p:sp>
      <p:sp>
        <p:nvSpPr>
          <p:cNvPr id="85082" name="Text Box 222"/>
          <p:cNvSpPr txBox="1">
            <a:spLocks noChangeArrowheads="1"/>
          </p:cNvSpPr>
          <p:nvPr/>
        </p:nvSpPr>
        <p:spPr bwMode="auto">
          <a:xfrm>
            <a:off x="8799513" y="5532438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5083" name="Text Box 223"/>
          <p:cNvSpPr txBox="1">
            <a:spLocks noChangeArrowheads="1"/>
          </p:cNvSpPr>
          <p:nvPr/>
        </p:nvSpPr>
        <p:spPr bwMode="auto">
          <a:xfrm>
            <a:off x="5410201" y="5532438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85084" name="Text Box 224"/>
          <p:cNvSpPr txBox="1">
            <a:spLocks noChangeArrowheads="1"/>
          </p:cNvSpPr>
          <p:nvPr/>
        </p:nvSpPr>
        <p:spPr bwMode="auto">
          <a:xfrm>
            <a:off x="5943600" y="5532438"/>
            <a:ext cx="420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B2</a:t>
            </a:r>
          </a:p>
        </p:txBody>
      </p:sp>
      <p:sp>
        <p:nvSpPr>
          <p:cNvPr id="85085" name="Text Box 225"/>
          <p:cNvSpPr txBox="1">
            <a:spLocks noChangeArrowheads="1"/>
          </p:cNvSpPr>
          <p:nvPr/>
        </p:nvSpPr>
        <p:spPr bwMode="auto">
          <a:xfrm>
            <a:off x="6477000" y="5532438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</a:t>
            </a:r>
          </a:p>
        </p:txBody>
      </p:sp>
      <p:sp>
        <p:nvSpPr>
          <p:cNvPr id="85086" name="Text Box 226"/>
          <p:cNvSpPr txBox="1">
            <a:spLocks noChangeArrowheads="1"/>
          </p:cNvSpPr>
          <p:nvPr/>
        </p:nvSpPr>
        <p:spPr bwMode="auto">
          <a:xfrm>
            <a:off x="3048001" y="5532438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85087" name="Text Box 227"/>
          <p:cNvSpPr txBox="1">
            <a:spLocks noChangeArrowheads="1"/>
          </p:cNvSpPr>
          <p:nvPr/>
        </p:nvSpPr>
        <p:spPr bwMode="auto">
          <a:xfrm>
            <a:off x="3581400" y="5532438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A2</a:t>
            </a:r>
          </a:p>
        </p:txBody>
      </p:sp>
      <p:sp>
        <p:nvSpPr>
          <p:cNvPr id="85088" name="Text Box 228"/>
          <p:cNvSpPr txBox="1">
            <a:spLocks noChangeArrowheads="1"/>
          </p:cNvSpPr>
          <p:nvPr/>
        </p:nvSpPr>
        <p:spPr bwMode="auto">
          <a:xfrm>
            <a:off x="4114800" y="5532438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</a:t>
            </a:r>
          </a:p>
        </p:txBody>
      </p:sp>
      <p:sp>
        <p:nvSpPr>
          <p:cNvPr id="228" name="Text Box 2"/>
          <p:cNvSpPr txBox="1">
            <a:spLocks noChangeArrowheads="1"/>
          </p:cNvSpPr>
          <p:nvPr/>
        </p:nvSpPr>
        <p:spPr bwMode="auto">
          <a:xfrm>
            <a:off x="5191619" y="235171"/>
            <a:ext cx="430117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距离矢量路由算法</a:t>
            </a:r>
            <a:endParaRPr lang="zh-CN" altLang="en-US" sz="40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823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AB79-2F29-4FA9-B5E6-E12554C3760F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80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185313" y="108537"/>
            <a:ext cx="6224809" cy="1143000"/>
          </a:xfrm>
        </p:spPr>
        <p:txBody>
          <a:bodyPr/>
          <a:lstStyle/>
          <a:p>
            <a:r>
              <a:rPr lang="zh-CN" altLang="en-US" dirty="0"/>
              <a:t>距离</a:t>
            </a:r>
            <a:r>
              <a:rPr lang="zh-CN" altLang="en-US" dirty="0" smtClean="0"/>
              <a:t>矢量路由协议</a:t>
            </a:r>
            <a:r>
              <a:rPr lang="en-US" altLang="zh-CN" dirty="0" smtClean="0"/>
              <a:t>—RIP</a:t>
            </a:r>
            <a:endParaRPr lang="zh-CN" altLang="en-US" dirty="0"/>
          </a:p>
        </p:txBody>
      </p:sp>
      <p:sp>
        <p:nvSpPr>
          <p:cNvPr id="80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3333" y="1266825"/>
            <a:ext cx="10136588" cy="545465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</a:t>
            </a:r>
            <a:r>
              <a:rPr lang="zh-CN" altLang="en-US" sz="28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8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l"/>
            </a:pPr>
            <a:endParaRPr lang="zh-CN" altLang="en-US" sz="1000" dirty="0"/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只与邻节点交换路由信息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各节点独立计算最优路径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能适应网络拓扑的变化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稳定后，形成最短路径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简单</a:t>
            </a:r>
            <a:endParaRPr lang="en-US" altLang="zh-CN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zh-CN" altLang="en-US" sz="10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缺点</a:t>
            </a:r>
            <a:r>
              <a:rPr lang="zh-CN" altLang="en-US" sz="28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8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l"/>
            </a:pPr>
            <a:endParaRPr lang="zh-CN" altLang="en-US" sz="1000" dirty="0"/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网络变化扩散到全网速度慢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扩散时间：所有节点都发现变化的速度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路由收敛慢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收敛时间：大家分别计算，结果达到统一的速度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存在路由环的问题：规定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当距离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=16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时，该路由信息无效，即表示目标网络不可达</a:t>
            </a: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限制了网络的规模，即网络的最大距离不能达于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15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zh-CN" altLang="en-US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71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2" name="Text Box 3"/>
          <p:cNvSpPr txBox="1">
            <a:spLocks noChangeArrowheads="1"/>
          </p:cNvSpPr>
          <p:nvPr/>
        </p:nvSpPr>
        <p:spPr bwMode="auto">
          <a:xfrm>
            <a:off x="0" y="1376739"/>
            <a:ext cx="12031994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SPF</a:t>
            </a:r>
            <a:r>
              <a:rPr lang="zh-CN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Shortest Path First</a:t>
            </a:r>
            <a:r>
              <a:rPr lang="zh-CN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）最短路径优先</a:t>
            </a:r>
            <a:r>
              <a:rPr lang="zh-CN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算法：</a:t>
            </a:r>
            <a:endParaRPr lang="en-US" altLang="zh-CN" sz="28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095375" lvl="3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Dijkstra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算法，是链路状态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路由选择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算法的核心，它是一种广度优先搜索算法，按照每条链路的通信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代价（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如带宽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等）计算出每一点至各点的最短路径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095375" lvl="3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095375" lvl="3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每一步都取出当前最短的路径，计算该路径对其它路径的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改变。从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最近开始逐步计算到最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远</a:t>
            </a:r>
            <a:endParaRPr lang="en-US" altLang="zh-CN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552575" lvl="4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085850" lvl="1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通信代价：缺省值按带宽来计算：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COST = 10</a:t>
            </a:r>
            <a:r>
              <a:rPr lang="en-US" altLang="zh-CN" b="1" baseline="30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带宽（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bit/s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en-US" altLang="zh-CN" sz="10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485900" lvl="2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10M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线路为例，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COST =  10</a:t>
            </a:r>
            <a:r>
              <a:rPr lang="en-US" altLang="zh-CN" b="1" baseline="30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/ 10000000 = 10</a:t>
            </a:r>
          </a:p>
          <a:p>
            <a:pPr marL="1552575" lvl="4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zh-CN" altLang="en-US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" name="Rectangle 2"/>
          <p:cNvSpPr txBox="1">
            <a:spLocks noChangeArrowheads="1"/>
          </p:cNvSpPr>
          <p:nvPr/>
        </p:nvSpPr>
        <p:spPr>
          <a:xfrm>
            <a:off x="4573066" y="274549"/>
            <a:ext cx="6224809" cy="61977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 smtClean="0"/>
              <a:t>链路状态路由算法</a:t>
            </a:r>
            <a:r>
              <a:rPr lang="en-US" altLang="zh-CN" dirty="0" smtClean="0"/>
              <a:t>—SPF</a:t>
            </a:r>
            <a:endParaRPr lang="zh-CN" altLang="en-US" dirty="0"/>
          </a:p>
        </p:txBody>
      </p:sp>
      <p:grpSp>
        <p:nvGrpSpPr>
          <p:cNvPr id="59" name="组合 58"/>
          <p:cNvGrpSpPr/>
          <p:nvPr/>
        </p:nvGrpSpPr>
        <p:grpSpPr>
          <a:xfrm>
            <a:off x="6822220" y="3856231"/>
            <a:ext cx="5001993" cy="2361688"/>
            <a:chOff x="3622675" y="3744914"/>
            <a:chExt cx="4249738" cy="2205037"/>
          </a:xfrm>
        </p:grpSpPr>
        <p:sp>
          <p:nvSpPr>
            <p:cNvPr id="60" name="Oval 4"/>
            <p:cNvSpPr>
              <a:spLocks noChangeArrowheads="1"/>
            </p:cNvSpPr>
            <p:nvPr/>
          </p:nvSpPr>
          <p:spPr bwMode="auto">
            <a:xfrm>
              <a:off x="4310064" y="4481514"/>
              <a:ext cx="312737" cy="306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2</a:t>
              </a:r>
            </a:p>
          </p:txBody>
        </p:sp>
        <p:sp>
          <p:nvSpPr>
            <p:cNvPr id="61" name="Oval 5"/>
            <p:cNvSpPr>
              <a:spLocks noChangeArrowheads="1"/>
            </p:cNvSpPr>
            <p:nvPr/>
          </p:nvSpPr>
          <p:spPr bwMode="auto">
            <a:xfrm>
              <a:off x="3622675" y="5337175"/>
              <a:ext cx="312738" cy="3063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1</a:t>
              </a:r>
            </a:p>
          </p:txBody>
        </p:sp>
        <p:sp>
          <p:nvSpPr>
            <p:cNvPr id="62" name="Oval 6"/>
            <p:cNvSpPr>
              <a:spLocks noChangeArrowheads="1"/>
            </p:cNvSpPr>
            <p:nvPr/>
          </p:nvSpPr>
          <p:spPr bwMode="auto">
            <a:xfrm>
              <a:off x="4872039" y="5643563"/>
              <a:ext cx="312737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3</a:t>
              </a:r>
            </a:p>
          </p:txBody>
        </p:sp>
        <p:sp>
          <p:nvSpPr>
            <p:cNvPr id="63" name="Oval 7"/>
            <p:cNvSpPr>
              <a:spLocks noChangeArrowheads="1"/>
            </p:cNvSpPr>
            <p:nvPr/>
          </p:nvSpPr>
          <p:spPr bwMode="auto">
            <a:xfrm>
              <a:off x="5934074" y="3932239"/>
              <a:ext cx="312738" cy="306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4</a:t>
              </a:r>
            </a:p>
          </p:txBody>
        </p:sp>
        <p:sp>
          <p:nvSpPr>
            <p:cNvPr id="64" name="Oval 8"/>
            <p:cNvSpPr>
              <a:spLocks noChangeArrowheads="1"/>
            </p:cNvSpPr>
            <p:nvPr/>
          </p:nvSpPr>
          <p:spPr bwMode="auto">
            <a:xfrm>
              <a:off x="6434138" y="5092700"/>
              <a:ext cx="312737" cy="3063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5</a:t>
              </a:r>
            </a:p>
          </p:txBody>
        </p:sp>
        <p:sp>
          <p:nvSpPr>
            <p:cNvPr id="65" name="Oval 9"/>
            <p:cNvSpPr>
              <a:spLocks noChangeArrowheads="1"/>
            </p:cNvSpPr>
            <p:nvPr/>
          </p:nvSpPr>
          <p:spPr bwMode="auto">
            <a:xfrm>
              <a:off x="7559675" y="4437064"/>
              <a:ext cx="312738" cy="306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6</a:t>
              </a:r>
            </a:p>
          </p:txBody>
        </p:sp>
        <p:cxnSp>
          <p:nvCxnSpPr>
            <p:cNvPr id="66" name="AutoShape 10"/>
            <p:cNvCxnSpPr>
              <a:cxnSpLocks noChangeShapeType="1"/>
              <a:stCxn id="61" idx="7"/>
              <a:endCxn id="60" idx="3"/>
            </p:cNvCxnSpPr>
            <p:nvPr/>
          </p:nvCxnSpPr>
          <p:spPr bwMode="auto">
            <a:xfrm flipV="1">
              <a:off x="3889376" y="4743451"/>
              <a:ext cx="466725" cy="638175"/>
            </a:xfrm>
            <a:prstGeom prst="straightConnector1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AutoShape 11"/>
            <p:cNvCxnSpPr>
              <a:cxnSpLocks noChangeShapeType="1"/>
              <a:stCxn id="61" idx="5"/>
              <a:endCxn id="62" idx="2"/>
            </p:cNvCxnSpPr>
            <p:nvPr/>
          </p:nvCxnSpPr>
          <p:spPr bwMode="auto">
            <a:xfrm>
              <a:off x="3889376" y="5599113"/>
              <a:ext cx="982663" cy="196850"/>
            </a:xfrm>
            <a:prstGeom prst="straightConnector1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AutoShape 12"/>
            <p:cNvCxnSpPr>
              <a:cxnSpLocks noChangeShapeType="1"/>
              <a:stCxn id="62" idx="6"/>
              <a:endCxn id="64" idx="3"/>
            </p:cNvCxnSpPr>
            <p:nvPr/>
          </p:nvCxnSpPr>
          <p:spPr bwMode="auto">
            <a:xfrm flipV="1">
              <a:off x="5184775" y="5354639"/>
              <a:ext cx="1295400" cy="441325"/>
            </a:xfrm>
            <a:prstGeom prst="straightConnector1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AutoShape 13"/>
            <p:cNvCxnSpPr>
              <a:cxnSpLocks noChangeShapeType="1"/>
              <a:stCxn id="63" idx="6"/>
              <a:endCxn id="65" idx="2"/>
            </p:cNvCxnSpPr>
            <p:nvPr/>
          </p:nvCxnSpPr>
          <p:spPr bwMode="auto">
            <a:xfrm>
              <a:off x="6246813" y="4086226"/>
              <a:ext cx="1312862" cy="5048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AutoShape 14"/>
            <p:cNvCxnSpPr>
              <a:cxnSpLocks noChangeShapeType="1"/>
              <a:stCxn id="65" idx="4"/>
              <a:endCxn id="64" idx="7"/>
            </p:cNvCxnSpPr>
            <p:nvPr/>
          </p:nvCxnSpPr>
          <p:spPr bwMode="auto">
            <a:xfrm flipH="1">
              <a:off x="6700838" y="4743450"/>
              <a:ext cx="1016000" cy="393700"/>
            </a:xfrm>
            <a:prstGeom prst="straightConnector1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AutoShape 15"/>
            <p:cNvCxnSpPr>
              <a:cxnSpLocks noChangeShapeType="1"/>
              <a:stCxn id="63" idx="5"/>
              <a:endCxn id="64" idx="0"/>
            </p:cNvCxnSpPr>
            <p:nvPr/>
          </p:nvCxnSpPr>
          <p:spPr bwMode="auto">
            <a:xfrm>
              <a:off x="6200776" y="4194176"/>
              <a:ext cx="390525" cy="8985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AutoShape 17"/>
            <p:cNvCxnSpPr>
              <a:cxnSpLocks noChangeShapeType="1"/>
              <a:stCxn id="62" idx="7"/>
              <a:endCxn id="63" idx="4"/>
            </p:cNvCxnSpPr>
            <p:nvPr/>
          </p:nvCxnSpPr>
          <p:spPr bwMode="auto">
            <a:xfrm flipV="1">
              <a:off x="5138738" y="4238625"/>
              <a:ext cx="952500" cy="14493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AutoShape 18"/>
            <p:cNvCxnSpPr>
              <a:cxnSpLocks noChangeShapeType="1"/>
              <a:stCxn id="62" idx="1"/>
              <a:endCxn id="60" idx="4"/>
            </p:cNvCxnSpPr>
            <p:nvPr/>
          </p:nvCxnSpPr>
          <p:spPr bwMode="auto">
            <a:xfrm flipH="1" flipV="1">
              <a:off x="4467225" y="4787901"/>
              <a:ext cx="450850" cy="900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AutoShape 19"/>
            <p:cNvCxnSpPr>
              <a:cxnSpLocks noChangeShapeType="1"/>
              <a:stCxn id="60" idx="6"/>
              <a:endCxn id="63" idx="3"/>
            </p:cNvCxnSpPr>
            <p:nvPr/>
          </p:nvCxnSpPr>
          <p:spPr bwMode="auto">
            <a:xfrm flipV="1">
              <a:off x="4622801" y="4194176"/>
              <a:ext cx="1357313" cy="441325"/>
            </a:xfrm>
            <a:prstGeom prst="straightConnector1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5" name="Freeform 20"/>
            <p:cNvSpPr>
              <a:spLocks/>
            </p:cNvSpPr>
            <p:nvPr/>
          </p:nvSpPr>
          <p:spPr bwMode="auto">
            <a:xfrm>
              <a:off x="3846513" y="4779964"/>
              <a:ext cx="531812" cy="1169987"/>
            </a:xfrm>
            <a:custGeom>
              <a:avLst/>
              <a:gdLst>
                <a:gd name="T0" fmla="*/ 0 w 335"/>
                <a:gd name="T1" fmla="*/ 0 h 737"/>
                <a:gd name="T2" fmla="*/ 283 w 335"/>
                <a:gd name="T3" fmla="*/ 255 h 737"/>
                <a:gd name="T4" fmla="*/ 311 w 335"/>
                <a:gd name="T5" fmla="*/ 737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5" h="737">
                  <a:moveTo>
                    <a:pt x="0" y="0"/>
                  </a:moveTo>
                  <a:cubicBezTo>
                    <a:pt x="115" y="66"/>
                    <a:pt x="231" y="132"/>
                    <a:pt x="283" y="255"/>
                  </a:cubicBezTo>
                  <a:cubicBezTo>
                    <a:pt x="335" y="378"/>
                    <a:pt x="323" y="557"/>
                    <a:pt x="311" y="737"/>
                  </a:cubicBezTo>
                </a:path>
              </a:pathLst>
            </a:custGeom>
            <a:noFill/>
            <a:ln w="38100" cap="flat" cmpd="sng">
              <a:solidFill>
                <a:srgbClr val="FF993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22"/>
            <p:cNvSpPr>
              <a:spLocks/>
            </p:cNvSpPr>
            <p:nvPr/>
          </p:nvSpPr>
          <p:spPr bwMode="auto">
            <a:xfrm>
              <a:off x="4835526" y="4105275"/>
              <a:ext cx="1035050" cy="1665288"/>
            </a:xfrm>
            <a:custGeom>
              <a:avLst/>
              <a:gdLst>
                <a:gd name="T0" fmla="*/ 0 w 335"/>
                <a:gd name="T1" fmla="*/ 0 h 737"/>
                <a:gd name="T2" fmla="*/ 283 w 335"/>
                <a:gd name="T3" fmla="*/ 255 h 737"/>
                <a:gd name="T4" fmla="*/ 311 w 335"/>
                <a:gd name="T5" fmla="*/ 737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5" h="737">
                  <a:moveTo>
                    <a:pt x="0" y="0"/>
                  </a:moveTo>
                  <a:cubicBezTo>
                    <a:pt x="115" y="66"/>
                    <a:pt x="231" y="132"/>
                    <a:pt x="283" y="255"/>
                  </a:cubicBezTo>
                  <a:cubicBezTo>
                    <a:pt x="335" y="378"/>
                    <a:pt x="323" y="557"/>
                    <a:pt x="311" y="737"/>
                  </a:cubicBezTo>
                </a:path>
              </a:pathLst>
            </a:custGeom>
            <a:noFill/>
            <a:ln w="38100" cap="flat" cmpd="sng">
              <a:solidFill>
                <a:srgbClr val="FF993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23"/>
            <p:cNvSpPr>
              <a:spLocks/>
            </p:cNvSpPr>
            <p:nvPr/>
          </p:nvSpPr>
          <p:spPr bwMode="auto">
            <a:xfrm>
              <a:off x="6321425" y="3744914"/>
              <a:ext cx="1035050" cy="1665287"/>
            </a:xfrm>
            <a:custGeom>
              <a:avLst/>
              <a:gdLst>
                <a:gd name="T0" fmla="*/ 0 w 335"/>
                <a:gd name="T1" fmla="*/ 0 h 737"/>
                <a:gd name="T2" fmla="*/ 283 w 335"/>
                <a:gd name="T3" fmla="*/ 255 h 737"/>
                <a:gd name="T4" fmla="*/ 311 w 335"/>
                <a:gd name="T5" fmla="*/ 737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5" h="737">
                  <a:moveTo>
                    <a:pt x="0" y="0"/>
                  </a:moveTo>
                  <a:cubicBezTo>
                    <a:pt x="115" y="66"/>
                    <a:pt x="231" y="132"/>
                    <a:pt x="283" y="255"/>
                  </a:cubicBezTo>
                  <a:cubicBezTo>
                    <a:pt x="335" y="378"/>
                    <a:pt x="323" y="557"/>
                    <a:pt x="311" y="737"/>
                  </a:cubicBezTo>
                </a:path>
              </a:pathLst>
            </a:custGeom>
            <a:noFill/>
            <a:ln w="38100" cap="flat" cmpd="sng">
              <a:solidFill>
                <a:srgbClr val="FF993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475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823" y="1339394"/>
            <a:ext cx="5712904" cy="500953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accent6">
                  <a:lumMod val="50000"/>
                </a:schemeClr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SPF</a:t>
            </a:r>
            <a:r>
              <a:rPr lang="zh-CN" altLang="en-US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算法计算最佳</a:t>
            </a:r>
            <a:r>
              <a:rPr lang="zh-CN" altLang="en-US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</a:t>
            </a:r>
          </a:p>
        </p:txBody>
      </p:sp>
      <p:sp>
        <p:nvSpPr>
          <p:cNvPr id="858116" name="Oval 4"/>
          <p:cNvSpPr>
            <a:spLocks noChangeArrowheads="1"/>
          </p:cNvSpPr>
          <p:nvPr/>
        </p:nvSpPr>
        <p:spPr bwMode="auto">
          <a:xfrm>
            <a:off x="9894882" y="1323974"/>
            <a:ext cx="582612" cy="519351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8117" name="Text Box 5"/>
          <p:cNvSpPr txBox="1">
            <a:spLocks noChangeArrowheads="1"/>
          </p:cNvSpPr>
          <p:nvPr/>
        </p:nvSpPr>
        <p:spPr bwMode="auto">
          <a:xfrm>
            <a:off x="9967078" y="1387475"/>
            <a:ext cx="466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ea typeface="仿宋_GB2312" pitchFamily="49" charset="-122"/>
              </a:rPr>
              <a:t>A1</a:t>
            </a:r>
          </a:p>
        </p:txBody>
      </p:sp>
      <p:sp>
        <p:nvSpPr>
          <p:cNvPr id="858118" name="Oval 6"/>
          <p:cNvSpPr>
            <a:spLocks noChangeArrowheads="1"/>
          </p:cNvSpPr>
          <p:nvPr/>
        </p:nvSpPr>
        <p:spPr bwMode="auto">
          <a:xfrm>
            <a:off x="8420240" y="2366865"/>
            <a:ext cx="673270" cy="519351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8119" name="Text Box 7"/>
          <p:cNvSpPr txBox="1">
            <a:spLocks noChangeArrowheads="1"/>
          </p:cNvSpPr>
          <p:nvPr/>
        </p:nvSpPr>
        <p:spPr bwMode="auto">
          <a:xfrm>
            <a:off x="8518181" y="2458198"/>
            <a:ext cx="466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ea typeface="仿宋_GB2312" pitchFamily="49" charset="-122"/>
              </a:rPr>
              <a:t>A2</a:t>
            </a:r>
          </a:p>
        </p:txBody>
      </p:sp>
      <p:sp>
        <p:nvSpPr>
          <p:cNvPr id="858120" name="Oval 8"/>
          <p:cNvSpPr>
            <a:spLocks noChangeArrowheads="1"/>
          </p:cNvSpPr>
          <p:nvPr/>
        </p:nvSpPr>
        <p:spPr bwMode="auto">
          <a:xfrm>
            <a:off x="9405323" y="3810675"/>
            <a:ext cx="603250" cy="519351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8121" name="Text Box 9"/>
          <p:cNvSpPr txBox="1">
            <a:spLocks noChangeArrowheads="1"/>
          </p:cNvSpPr>
          <p:nvPr/>
        </p:nvSpPr>
        <p:spPr bwMode="auto">
          <a:xfrm>
            <a:off x="9452896" y="3875630"/>
            <a:ext cx="466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ea typeface="仿宋_GB2312" pitchFamily="49" charset="-122"/>
              </a:rPr>
              <a:t>A4</a:t>
            </a:r>
          </a:p>
        </p:txBody>
      </p:sp>
      <p:sp>
        <p:nvSpPr>
          <p:cNvPr id="858122" name="Oval 10"/>
          <p:cNvSpPr>
            <a:spLocks noChangeArrowheads="1"/>
          </p:cNvSpPr>
          <p:nvPr/>
        </p:nvSpPr>
        <p:spPr bwMode="auto">
          <a:xfrm>
            <a:off x="11116258" y="2333387"/>
            <a:ext cx="539819" cy="519351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8123" name="Text Box 11"/>
          <p:cNvSpPr txBox="1">
            <a:spLocks noChangeArrowheads="1"/>
          </p:cNvSpPr>
          <p:nvPr/>
        </p:nvSpPr>
        <p:spPr bwMode="auto">
          <a:xfrm>
            <a:off x="11102174" y="2395538"/>
            <a:ext cx="466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ea typeface="仿宋_GB2312" pitchFamily="49" charset="-122"/>
              </a:rPr>
              <a:t>A3</a:t>
            </a:r>
          </a:p>
        </p:txBody>
      </p:sp>
      <p:sp>
        <p:nvSpPr>
          <p:cNvPr id="858124" name="Oval 12"/>
          <p:cNvSpPr>
            <a:spLocks noChangeArrowheads="1"/>
          </p:cNvSpPr>
          <p:nvPr/>
        </p:nvSpPr>
        <p:spPr bwMode="auto">
          <a:xfrm>
            <a:off x="11335571" y="3875630"/>
            <a:ext cx="619057" cy="519351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8125" name="Text Box 13"/>
          <p:cNvSpPr txBox="1">
            <a:spLocks noChangeArrowheads="1"/>
          </p:cNvSpPr>
          <p:nvPr/>
        </p:nvSpPr>
        <p:spPr bwMode="auto">
          <a:xfrm>
            <a:off x="11388900" y="3908381"/>
            <a:ext cx="466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ea typeface="仿宋_GB2312" pitchFamily="49" charset="-122"/>
              </a:rPr>
              <a:t>A5</a:t>
            </a:r>
          </a:p>
        </p:txBody>
      </p:sp>
      <p:sp>
        <p:nvSpPr>
          <p:cNvPr id="858126" name="Line 14"/>
          <p:cNvSpPr>
            <a:spLocks noChangeShapeType="1"/>
          </p:cNvSpPr>
          <p:nvPr/>
        </p:nvSpPr>
        <p:spPr bwMode="auto">
          <a:xfrm flipH="1">
            <a:off x="8955452" y="1722498"/>
            <a:ext cx="964237" cy="70514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858127" name="Line 15"/>
          <p:cNvSpPr>
            <a:spLocks noChangeShapeType="1"/>
          </p:cNvSpPr>
          <p:nvPr/>
        </p:nvSpPr>
        <p:spPr bwMode="auto">
          <a:xfrm flipH="1">
            <a:off x="9732162" y="1849676"/>
            <a:ext cx="592138" cy="19396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858128" name="Line 16"/>
          <p:cNvSpPr>
            <a:spLocks noChangeShapeType="1"/>
          </p:cNvSpPr>
          <p:nvPr/>
        </p:nvSpPr>
        <p:spPr bwMode="auto">
          <a:xfrm>
            <a:off x="9111619" y="2636282"/>
            <a:ext cx="1990555" cy="5714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858129" name="Line 17"/>
          <p:cNvSpPr>
            <a:spLocks noChangeShapeType="1"/>
          </p:cNvSpPr>
          <p:nvPr/>
        </p:nvSpPr>
        <p:spPr bwMode="auto">
          <a:xfrm flipV="1">
            <a:off x="10021088" y="2859089"/>
            <a:ext cx="1296374" cy="1217611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858130" name="Line 18"/>
          <p:cNvSpPr>
            <a:spLocks noChangeShapeType="1"/>
          </p:cNvSpPr>
          <p:nvPr/>
        </p:nvSpPr>
        <p:spPr bwMode="auto">
          <a:xfrm>
            <a:off x="8984975" y="2798859"/>
            <a:ext cx="2475976" cy="113337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858131" name="Line 19"/>
          <p:cNvSpPr>
            <a:spLocks noChangeShapeType="1"/>
          </p:cNvSpPr>
          <p:nvPr/>
        </p:nvSpPr>
        <p:spPr bwMode="auto">
          <a:xfrm>
            <a:off x="11473466" y="2881868"/>
            <a:ext cx="167938" cy="993761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858132" name="Line 20"/>
          <p:cNvSpPr>
            <a:spLocks noChangeShapeType="1"/>
          </p:cNvSpPr>
          <p:nvPr/>
        </p:nvSpPr>
        <p:spPr bwMode="auto">
          <a:xfrm>
            <a:off x="10477495" y="1713431"/>
            <a:ext cx="767556" cy="563044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858133" name="Text Box 21"/>
          <p:cNvSpPr txBox="1">
            <a:spLocks noChangeArrowheads="1"/>
          </p:cNvSpPr>
          <p:nvPr/>
        </p:nvSpPr>
        <p:spPr bwMode="auto">
          <a:xfrm>
            <a:off x="9408575" y="1512855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b="1">
                <a:ea typeface="仿宋_GB2312" pitchFamily="49" charset="-122"/>
              </a:defRPr>
            </a:lvl1pPr>
          </a:lstStyle>
          <a:p>
            <a:r>
              <a:rPr lang="en-US" altLang="zh-CN" dirty="0"/>
              <a:t>2</a:t>
            </a:r>
          </a:p>
        </p:txBody>
      </p:sp>
      <p:sp>
        <p:nvSpPr>
          <p:cNvPr id="858134" name="Text Box 22"/>
          <p:cNvSpPr txBox="1">
            <a:spLocks noChangeArrowheads="1"/>
          </p:cNvSpPr>
          <p:nvPr/>
        </p:nvSpPr>
        <p:spPr bwMode="auto">
          <a:xfrm>
            <a:off x="10668787" y="1387475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b="1">
                <a:ea typeface="仿宋_GB2312" pitchFamily="49" charset="-122"/>
              </a:defRPr>
            </a:lvl1pPr>
          </a:lstStyle>
          <a:p>
            <a:r>
              <a:rPr lang="en-US" altLang="zh-CN" dirty="0"/>
              <a:t>6</a:t>
            </a:r>
          </a:p>
        </p:txBody>
      </p:sp>
      <p:sp>
        <p:nvSpPr>
          <p:cNvPr id="858135" name="Text Box 23"/>
          <p:cNvSpPr txBox="1">
            <a:spLocks noChangeArrowheads="1"/>
          </p:cNvSpPr>
          <p:nvPr/>
        </p:nvSpPr>
        <p:spPr bwMode="auto">
          <a:xfrm>
            <a:off x="10236987" y="1935163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b="1">
                <a:ea typeface="仿宋_GB2312" pitchFamily="49" charset="-122"/>
              </a:defRPr>
            </a:lvl1pPr>
          </a:lstStyle>
          <a:p>
            <a:r>
              <a:rPr lang="en-US" altLang="zh-CN"/>
              <a:t>5</a:t>
            </a:r>
          </a:p>
        </p:txBody>
      </p:sp>
      <p:sp>
        <p:nvSpPr>
          <p:cNvPr id="858136" name="Text Box 24"/>
          <p:cNvSpPr txBox="1">
            <a:spLocks noChangeArrowheads="1"/>
          </p:cNvSpPr>
          <p:nvPr/>
        </p:nvSpPr>
        <p:spPr bwMode="auto">
          <a:xfrm>
            <a:off x="9452896" y="2284911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b="1">
                <a:ea typeface="仿宋_GB2312" pitchFamily="49" charset="-122"/>
              </a:defRPr>
            </a:lvl1pPr>
          </a:lstStyle>
          <a:p>
            <a:r>
              <a:rPr lang="en-US" altLang="zh-CN" dirty="0"/>
              <a:t>1</a:t>
            </a:r>
          </a:p>
        </p:txBody>
      </p:sp>
      <p:sp>
        <p:nvSpPr>
          <p:cNvPr id="858137" name="Text Box 25"/>
          <p:cNvSpPr txBox="1">
            <a:spLocks noChangeArrowheads="1"/>
          </p:cNvSpPr>
          <p:nvPr/>
        </p:nvSpPr>
        <p:spPr bwMode="auto">
          <a:xfrm>
            <a:off x="9074032" y="2940065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b="1">
                <a:ea typeface="仿宋_GB2312" pitchFamily="49" charset="-122"/>
              </a:defRPr>
            </a:lvl1pPr>
          </a:lstStyle>
          <a:p>
            <a:r>
              <a:rPr lang="en-US" altLang="zh-CN" dirty="0"/>
              <a:t>2</a:t>
            </a:r>
          </a:p>
        </p:txBody>
      </p:sp>
      <p:sp>
        <p:nvSpPr>
          <p:cNvPr id="858138" name="Text Box 26"/>
          <p:cNvSpPr txBox="1">
            <a:spLocks noChangeArrowheads="1"/>
          </p:cNvSpPr>
          <p:nvPr/>
        </p:nvSpPr>
        <p:spPr bwMode="auto">
          <a:xfrm>
            <a:off x="10243337" y="3789363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ea typeface="仿宋_GB2312" pitchFamily="49" charset="-122"/>
              </a:rPr>
              <a:t>1</a:t>
            </a:r>
          </a:p>
        </p:txBody>
      </p:sp>
      <p:sp>
        <p:nvSpPr>
          <p:cNvPr id="858139" name="Text Box 27"/>
          <p:cNvSpPr txBox="1">
            <a:spLocks noChangeArrowheads="1"/>
          </p:cNvSpPr>
          <p:nvPr/>
        </p:nvSpPr>
        <p:spPr bwMode="auto">
          <a:xfrm>
            <a:off x="11605412" y="301625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b="1">
                <a:ea typeface="仿宋_GB2312" pitchFamily="49" charset="-122"/>
              </a:defRPr>
            </a:lvl1pPr>
          </a:lstStyle>
          <a:p>
            <a:r>
              <a:rPr lang="en-US" altLang="zh-CN" dirty="0"/>
              <a:t>5</a:t>
            </a:r>
          </a:p>
        </p:txBody>
      </p:sp>
      <p:sp>
        <p:nvSpPr>
          <p:cNvPr id="858141" name="Text Box 29"/>
          <p:cNvSpPr txBox="1">
            <a:spLocks noChangeArrowheads="1"/>
          </p:cNvSpPr>
          <p:nvPr/>
        </p:nvSpPr>
        <p:spPr bwMode="auto">
          <a:xfrm>
            <a:off x="408471" y="1946692"/>
            <a:ext cx="773041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寻找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A1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到所有节点的最短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</a:t>
            </a:r>
            <a:endParaRPr lang="en-US" altLang="zh-CN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</a:pP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）初始化时，设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A1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到其它不直连顶点距离为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∞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</a:pP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）选择距离最短的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</a:pP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）观察通过新选择的路径是否能更短到达其它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顶点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</a:pP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）选择出的最短路径将不参加下一轮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比较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</a:pP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）反复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2 - 4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步，直到不剩有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顶点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58142" name="Rectangle 30"/>
          <p:cNvSpPr>
            <a:spLocks noChangeArrowheads="1"/>
          </p:cNvSpPr>
          <p:nvPr/>
        </p:nvSpPr>
        <p:spPr bwMode="auto">
          <a:xfrm>
            <a:off x="2063750" y="4814064"/>
            <a:ext cx="719138" cy="40011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43" name="Text Box 31"/>
          <p:cNvSpPr txBox="1">
            <a:spLocks noChangeArrowheads="1"/>
          </p:cNvSpPr>
          <p:nvPr/>
        </p:nvSpPr>
        <p:spPr bwMode="auto">
          <a:xfrm>
            <a:off x="2135188" y="4762500"/>
            <a:ext cx="5132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A2</a:t>
            </a:r>
          </a:p>
        </p:txBody>
      </p:sp>
      <p:sp>
        <p:nvSpPr>
          <p:cNvPr id="858144" name="Rectangle 32"/>
          <p:cNvSpPr>
            <a:spLocks noChangeArrowheads="1"/>
          </p:cNvSpPr>
          <p:nvPr/>
        </p:nvSpPr>
        <p:spPr bwMode="auto">
          <a:xfrm>
            <a:off x="2063750" y="5318889"/>
            <a:ext cx="719138" cy="40011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45" name="Text Box 33"/>
          <p:cNvSpPr txBox="1">
            <a:spLocks noChangeArrowheads="1"/>
          </p:cNvSpPr>
          <p:nvPr/>
        </p:nvSpPr>
        <p:spPr bwMode="auto">
          <a:xfrm>
            <a:off x="2135188" y="5267325"/>
            <a:ext cx="5132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A3</a:t>
            </a:r>
          </a:p>
        </p:txBody>
      </p:sp>
      <p:sp>
        <p:nvSpPr>
          <p:cNvPr id="858146" name="Rectangle 34"/>
          <p:cNvSpPr>
            <a:spLocks noChangeArrowheads="1"/>
          </p:cNvSpPr>
          <p:nvPr/>
        </p:nvSpPr>
        <p:spPr bwMode="auto">
          <a:xfrm>
            <a:off x="2063750" y="5822126"/>
            <a:ext cx="719138" cy="40011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47" name="Text Box 35"/>
          <p:cNvSpPr txBox="1">
            <a:spLocks noChangeArrowheads="1"/>
          </p:cNvSpPr>
          <p:nvPr/>
        </p:nvSpPr>
        <p:spPr bwMode="auto">
          <a:xfrm>
            <a:off x="2135188" y="5770563"/>
            <a:ext cx="5132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A4</a:t>
            </a:r>
          </a:p>
        </p:txBody>
      </p:sp>
      <p:sp>
        <p:nvSpPr>
          <p:cNvPr id="858148" name="Rectangle 36"/>
          <p:cNvSpPr>
            <a:spLocks noChangeArrowheads="1"/>
          </p:cNvSpPr>
          <p:nvPr/>
        </p:nvSpPr>
        <p:spPr bwMode="auto">
          <a:xfrm>
            <a:off x="2063750" y="6325364"/>
            <a:ext cx="719138" cy="40011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49" name="Text Box 37"/>
          <p:cNvSpPr txBox="1">
            <a:spLocks noChangeArrowheads="1"/>
          </p:cNvSpPr>
          <p:nvPr/>
        </p:nvSpPr>
        <p:spPr bwMode="auto">
          <a:xfrm>
            <a:off x="2135188" y="6273800"/>
            <a:ext cx="5132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A5</a:t>
            </a:r>
          </a:p>
        </p:txBody>
      </p:sp>
      <p:sp>
        <p:nvSpPr>
          <p:cNvPr id="858150" name="Rectangle 38"/>
          <p:cNvSpPr>
            <a:spLocks noChangeArrowheads="1"/>
          </p:cNvSpPr>
          <p:nvPr/>
        </p:nvSpPr>
        <p:spPr bwMode="auto">
          <a:xfrm>
            <a:off x="2782889" y="4813145"/>
            <a:ext cx="792161" cy="40011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51" name="Rectangle 39"/>
          <p:cNvSpPr>
            <a:spLocks noChangeArrowheads="1"/>
          </p:cNvSpPr>
          <p:nvPr/>
        </p:nvSpPr>
        <p:spPr bwMode="auto">
          <a:xfrm>
            <a:off x="2782889" y="5322328"/>
            <a:ext cx="792161" cy="40011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52" name="Rectangle 40"/>
          <p:cNvSpPr>
            <a:spLocks noChangeArrowheads="1"/>
          </p:cNvSpPr>
          <p:nvPr/>
        </p:nvSpPr>
        <p:spPr bwMode="auto">
          <a:xfrm>
            <a:off x="2782889" y="5821729"/>
            <a:ext cx="783814" cy="40011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53" name="Rectangle 41"/>
          <p:cNvSpPr>
            <a:spLocks noChangeArrowheads="1"/>
          </p:cNvSpPr>
          <p:nvPr/>
        </p:nvSpPr>
        <p:spPr bwMode="auto">
          <a:xfrm>
            <a:off x="2782889" y="6331059"/>
            <a:ext cx="783814" cy="40011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54" name="Rectangle 42"/>
          <p:cNvSpPr>
            <a:spLocks noChangeArrowheads="1"/>
          </p:cNvSpPr>
          <p:nvPr/>
        </p:nvSpPr>
        <p:spPr bwMode="auto">
          <a:xfrm>
            <a:off x="3575050" y="4814064"/>
            <a:ext cx="2520950" cy="40011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55" name="Rectangle 43"/>
          <p:cNvSpPr>
            <a:spLocks noChangeArrowheads="1"/>
          </p:cNvSpPr>
          <p:nvPr/>
        </p:nvSpPr>
        <p:spPr bwMode="auto">
          <a:xfrm>
            <a:off x="3575050" y="5318095"/>
            <a:ext cx="2520950" cy="40011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56" name="Rectangle 44"/>
          <p:cNvSpPr>
            <a:spLocks noChangeArrowheads="1"/>
          </p:cNvSpPr>
          <p:nvPr/>
        </p:nvSpPr>
        <p:spPr bwMode="auto">
          <a:xfrm>
            <a:off x="3575050" y="5821332"/>
            <a:ext cx="2520950" cy="40011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57" name="Rectangle 45"/>
          <p:cNvSpPr>
            <a:spLocks noChangeArrowheads="1"/>
          </p:cNvSpPr>
          <p:nvPr/>
        </p:nvSpPr>
        <p:spPr bwMode="auto">
          <a:xfrm>
            <a:off x="3575050" y="6326157"/>
            <a:ext cx="2520950" cy="40011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58" name="Rectangle 46"/>
          <p:cNvSpPr>
            <a:spLocks noChangeArrowheads="1"/>
          </p:cNvSpPr>
          <p:nvPr/>
        </p:nvSpPr>
        <p:spPr bwMode="auto">
          <a:xfrm>
            <a:off x="2063750" y="4309239"/>
            <a:ext cx="719138" cy="40011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59" name="Text Box 47"/>
          <p:cNvSpPr txBox="1">
            <a:spLocks noChangeArrowheads="1"/>
          </p:cNvSpPr>
          <p:nvPr/>
        </p:nvSpPr>
        <p:spPr bwMode="auto">
          <a:xfrm>
            <a:off x="2109228" y="4336018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ea typeface="仿宋_GB2312" pitchFamily="49" charset="-122"/>
              </a:rPr>
              <a:t>顶点</a:t>
            </a:r>
          </a:p>
        </p:txBody>
      </p:sp>
      <p:sp>
        <p:nvSpPr>
          <p:cNvPr id="858160" name="Rectangle 48"/>
          <p:cNvSpPr>
            <a:spLocks noChangeArrowheads="1"/>
          </p:cNvSpPr>
          <p:nvPr/>
        </p:nvSpPr>
        <p:spPr bwMode="auto">
          <a:xfrm>
            <a:off x="2782889" y="4310826"/>
            <a:ext cx="792161" cy="40011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61" name="Rectangle 49"/>
          <p:cNvSpPr>
            <a:spLocks noChangeArrowheads="1"/>
          </p:cNvSpPr>
          <p:nvPr/>
        </p:nvSpPr>
        <p:spPr bwMode="auto">
          <a:xfrm>
            <a:off x="3575050" y="4309239"/>
            <a:ext cx="2520950" cy="40011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sz="2000" b="1"/>
          </a:p>
        </p:txBody>
      </p:sp>
      <p:sp>
        <p:nvSpPr>
          <p:cNvPr id="858162" name="Text Box 50"/>
          <p:cNvSpPr txBox="1">
            <a:spLocks noChangeArrowheads="1"/>
          </p:cNvSpPr>
          <p:nvPr/>
        </p:nvSpPr>
        <p:spPr bwMode="auto">
          <a:xfrm>
            <a:off x="2835621" y="4328459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ea typeface="仿宋_GB2312" pitchFamily="49" charset="-122"/>
              </a:rPr>
              <a:t>距离</a:t>
            </a:r>
          </a:p>
        </p:txBody>
      </p:sp>
      <p:sp>
        <p:nvSpPr>
          <p:cNvPr id="858163" name="Text Box 51"/>
          <p:cNvSpPr txBox="1">
            <a:spLocks noChangeArrowheads="1"/>
          </p:cNvSpPr>
          <p:nvPr/>
        </p:nvSpPr>
        <p:spPr bwMode="auto">
          <a:xfrm>
            <a:off x="4323432" y="4350156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ea typeface="仿宋_GB2312" pitchFamily="49" charset="-122"/>
              </a:rPr>
              <a:t>路径</a:t>
            </a:r>
          </a:p>
        </p:txBody>
      </p:sp>
      <p:sp>
        <p:nvSpPr>
          <p:cNvPr id="858168" name="Text Box 56"/>
          <p:cNvSpPr txBox="1">
            <a:spLocks noChangeArrowheads="1"/>
          </p:cNvSpPr>
          <p:nvPr/>
        </p:nvSpPr>
        <p:spPr bwMode="auto">
          <a:xfrm>
            <a:off x="2979738" y="4765675"/>
            <a:ext cx="327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2</a:t>
            </a:r>
          </a:p>
        </p:txBody>
      </p:sp>
      <p:sp>
        <p:nvSpPr>
          <p:cNvPr id="858169" name="Text Box 57"/>
          <p:cNvSpPr txBox="1">
            <a:spLocks noChangeArrowheads="1"/>
          </p:cNvSpPr>
          <p:nvPr/>
        </p:nvSpPr>
        <p:spPr bwMode="auto">
          <a:xfrm>
            <a:off x="2962275" y="5264150"/>
            <a:ext cx="327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6</a:t>
            </a:r>
          </a:p>
        </p:txBody>
      </p:sp>
      <p:sp>
        <p:nvSpPr>
          <p:cNvPr id="858170" name="Text Box 58"/>
          <p:cNvSpPr txBox="1">
            <a:spLocks noChangeArrowheads="1"/>
          </p:cNvSpPr>
          <p:nvPr/>
        </p:nvSpPr>
        <p:spPr bwMode="auto">
          <a:xfrm>
            <a:off x="2962275" y="5770563"/>
            <a:ext cx="327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5</a:t>
            </a:r>
          </a:p>
        </p:txBody>
      </p:sp>
      <p:sp>
        <p:nvSpPr>
          <p:cNvPr id="858171" name="Text Box 59"/>
          <p:cNvSpPr txBox="1">
            <a:spLocks noChangeArrowheads="1"/>
          </p:cNvSpPr>
          <p:nvPr/>
        </p:nvSpPr>
        <p:spPr bwMode="auto">
          <a:xfrm>
            <a:off x="2855913" y="6300788"/>
            <a:ext cx="3674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ea typeface="仿宋_GB2312" pitchFamily="49" charset="-122"/>
              </a:rPr>
              <a:t>∞</a:t>
            </a:r>
          </a:p>
        </p:txBody>
      </p:sp>
      <p:sp>
        <p:nvSpPr>
          <p:cNvPr id="858172" name="Text Box 60"/>
          <p:cNvSpPr txBox="1">
            <a:spLocks noChangeArrowheads="1"/>
          </p:cNvSpPr>
          <p:nvPr/>
        </p:nvSpPr>
        <p:spPr bwMode="auto">
          <a:xfrm>
            <a:off x="4419600" y="4829176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A2</a:t>
            </a:r>
          </a:p>
        </p:txBody>
      </p:sp>
      <p:sp>
        <p:nvSpPr>
          <p:cNvPr id="858173" name="Text Box 61"/>
          <p:cNvSpPr txBox="1">
            <a:spLocks noChangeArrowheads="1"/>
          </p:cNvSpPr>
          <p:nvPr/>
        </p:nvSpPr>
        <p:spPr bwMode="auto">
          <a:xfrm>
            <a:off x="4419600" y="5334001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A3</a:t>
            </a:r>
          </a:p>
        </p:txBody>
      </p:sp>
      <p:sp>
        <p:nvSpPr>
          <p:cNvPr id="858174" name="Text Box 62"/>
          <p:cNvSpPr txBox="1">
            <a:spLocks noChangeArrowheads="1"/>
          </p:cNvSpPr>
          <p:nvPr/>
        </p:nvSpPr>
        <p:spPr bwMode="auto">
          <a:xfrm>
            <a:off x="4419600" y="5837239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A4</a:t>
            </a:r>
          </a:p>
        </p:txBody>
      </p:sp>
      <p:sp>
        <p:nvSpPr>
          <p:cNvPr id="858175" name="Text Box 63"/>
          <p:cNvSpPr txBox="1">
            <a:spLocks noChangeArrowheads="1"/>
          </p:cNvSpPr>
          <p:nvPr/>
        </p:nvSpPr>
        <p:spPr bwMode="auto">
          <a:xfrm>
            <a:off x="6834506" y="5254931"/>
            <a:ext cx="1952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仿宋_GB2312" pitchFamily="49" charset="-122"/>
              </a:rPr>
              <a:t>A1 A2 A3</a:t>
            </a:r>
            <a:r>
              <a:rPr lang="zh-CN" altLang="en-US" sz="2000">
                <a:ea typeface="仿宋_GB2312" pitchFamily="49" charset="-122"/>
              </a:rPr>
              <a:t>－－</a:t>
            </a:r>
            <a:r>
              <a:rPr lang="en-US" altLang="zh-CN" sz="2000">
                <a:ea typeface="仿宋_GB2312" pitchFamily="49" charset="-122"/>
              </a:rPr>
              <a:t>3</a:t>
            </a:r>
          </a:p>
        </p:txBody>
      </p:sp>
      <p:sp>
        <p:nvSpPr>
          <p:cNvPr id="858176" name="Text Box 64"/>
          <p:cNvSpPr txBox="1">
            <a:spLocks noChangeArrowheads="1"/>
          </p:cNvSpPr>
          <p:nvPr/>
        </p:nvSpPr>
        <p:spPr bwMode="auto">
          <a:xfrm>
            <a:off x="9139556" y="5240644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ea typeface="仿宋_GB2312" pitchFamily="49" charset="-122"/>
              </a:rPr>
              <a:t>更新</a:t>
            </a:r>
          </a:p>
        </p:txBody>
      </p:sp>
      <p:sp>
        <p:nvSpPr>
          <p:cNvPr id="858177" name="Text Box 65"/>
          <p:cNvSpPr txBox="1">
            <a:spLocks noChangeArrowheads="1"/>
          </p:cNvSpPr>
          <p:nvPr/>
        </p:nvSpPr>
        <p:spPr bwMode="auto">
          <a:xfrm>
            <a:off x="4148139" y="5338763"/>
            <a:ext cx="12925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A1 A2 A3</a:t>
            </a:r>
          </a:p>
        </p:txBody>
      </p:sp>
      <p:sp>
        <p:nvSpPr>
          <p:cNvPr id="858178" name="Text Box 66"/>
          <p:cNvSpPr txBox="1">
            <a:spLocks noChangeArrowheads="1"/>
          </p:cNvSpPr>
          <p:nvPr/>
        </p:nvSpPr>
        <p:spPr bwMode="auto">
          <a:xfrm>
            <a:off x="2962275" y="5267326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3</a:t>
            </a:r>
          </a:p>
        </p:txBody>
      </p:sp>
      <p:sp>
        <p:nvSpPr>
          <p:cNvPr id="858179" name="Text Box 67"/>
          <p:cNvSpPr txBox="1">
            <a:spLocks noChangeArrowheads="1"/>
          </p:cNvSpPr>
          <p:nvPr/>
        </p:nvSpPr>
        <p:spPr bwMode="auto">
          <a:xfrm>
            <a:off x="6651625" y="5758168"/>
            <a:ext cx="20061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仿宋_GB2312" pitchFamily="49" charset="-122"/>
              </a:rPr>
              <a:t>A1 A2 A4</a:t>
            </a:r>
            <a:r>
              <a:rPr lang="zh-CN" altLang="en-US" sz="2000">
                <a:ea typeface="仿宋_GB2312" pitchFamily="49" charset="-122"/>
              </a:rPr>
              <a:t>－－ ∞</a:t>
            </a:r>
          </a:p>
        </p:txBody>
      </p:sp>
      <p:sp>
        <p:nvSpPr>
          <p:cNvPr id="858180" name="Text Box 68"/>
          <p:cNvSpPr txBox="1">
            <a:spLocks noChangeArrowheads="1"/>
          </p:cNvSpPr>
          <p:nvPr/>
        </p:nvSpPr>
        <p:spPr bwMode="auto">
          <a:xfrm>
            <a:off x="6672264" y="6302681"/>
            <a:ext cx="2022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仿宋_GB2312" pitchFamily="49" charset="-122"/>
              </a:rPr>
              <a:t>A1 A2 A5</a:t>
            </a:r>
            <a:r>
              <a:rPr lang="zh-CN" altLang="en-US" sz="2000">
                <a:ea typeface="仿宋_GB2312" pitchFamily="49" charset="-122"/>
              </a:rPr>
              <a:t>－－ </a:t>
            </a:r>
            <a:r>
              <a:rPr lang="en-US" altLang="zh-CN" sz="2000">
                <a:ea typeface="仿宋_GB2312" pitchFamily="49" charset="-122"/>
              </a:rPr>
              <a:t>4</a:t>
            </a:r>
          </a:p>
        </p:txBody>
      </p:sp>
      <p:sp>
        <p:nvSpPr>
          <p:cNvPr id="858181" name="Text Box 69"/>
          <p:cNvSpPr txBox="1">
            <a:spLocks noChangeArrowheads="1"/>
          </p:cNvSpPr>
          <p:nvPr/>
        </p:nvSpPr>
        <p:spPr bwMode="auto">
          <a:xfrm>
            <a:off x="6672263" y="5764519"/>
            <a:ext cx="2347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仿宋_GB2312" pitchFamily="49" charset="-122"/>
              </a:rPr>
              <a:t>A1 A2 A3 A4</a:t>
            </a:r>
            <a:r>
              <a:rPr lang="zh-CN" altLang="en-US" sz="2000">
                <a:ea typeface="仿宋_GB2312" pitchFamily="49" charset="-122"/>
              </a:rPr>
              <a:t>－－</a:t>
            </a:r>
            <a:r>
              <a:rPr lang="en-US" altLang="zh-CN" sz="2000">
                <a:ea typeface="仿宋_GB2312" pitchFamily="49" charset="-122"/>
              </a:rPr>
              <a:t>4</a:t>
            </a:r>
          </a:p>
        </p:txBody>
      </p:sp>
      <p:sp>
        <p:nvSpPr>
          <p:cNvPr id="858182" name="Text Box 70"/>
          <p:cNvSpPr txBox="1">
            <a:spLocks noChangeArrowheads="1"/>
          </p:cNvSpPr>
          <p:nvPr/>
        </p:nvSpPr>
        <p:spPr bwMode="auto">
          <a:xfrm>
            <a:off x="9099551" y="5764519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ea typeface="仿宋_GB2312" pitchFamily="49" charset="-122"/>
              </a:rPr>
              <a:t>更新</a:t>
            </a:r>
          </a:p>
        </p:txBody>
      </p:sp>
      <p:sp>
        <p:nvSpPr>
          <p:cNvPr id="858183" name="Text Box 71"/>
          <p:cNvSpPr txBox="1">
            <a:spLocks noChangeArrowheads="1"/>
          </p:cNvSpPr>
          <p:nvPr/>
        </p:nvSpPr>
        <p:spPr bwMode="auto">
          <a:xfrm>
            <a:off x="4008439" y="5843588"/>
            <a:ext cx="168225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A1 A2 A3 A4</a:t>
            </a:r>
          </a:p>
        </p:txBody>
      </p:sp>
      <p:sp>
        <p:nvSpPr>
          <p:cNvPr id="858184" name="Text Box 72"/>
          <p:cNvSpPr txBox="1">
            <a:spLocks noChangeArrowheads="1"/>
          </p:cNvSpPr>
          <p:nvPr/>
        </p:nvSpPr>
        <p:spPr bwMode="auto">
          <a:xfrm>
            <a:off x="2962275" y="5770564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4</a:t>
            </a:r>
          </a:p>
        </p:txBody>
      </p:sp>
      <p:sp>
        <p:nvSpPr>
          <p:cNvPr id="858185" name="Text Box 73"/>
          <p:cNvSpPr txBox="1">
            <a:spLocks noChangeArrowheads="1"/>
          </p:cNvSpPr>
          <p:nvPr/>
        </p:nvSpPr>
        <p:spPr bwMode="auto">
          <a:xfrm>
            <a:off x="6672263" y="6302681"/>
            <a:ext cx="2347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仿宋_GB2312" pitchFamily="49" charset="-122"/>
              </a:rPr>
              <a:t>A1 A2 A3 A5</a:t>
            </a:r>
            <a:r>
              <a:rPr lang="zh-CN" altLang="en-US" sz="2000">
                <a:ea typeface="仿宋_GB2312" pitchFamily="49" charset="-122"/>
              </a:rPr>
              <a:t>－－</a:t>
            </a:r>
            <a:r>
              <a:rPr lang="en-US" altLang="zh-CN" sz="2000">
                <a:ea typeface="仿宋_GB2312" pitchFamily="49" charset="-122"/>
              </a:rPr>
              <a:t>8</a:t>
            </a:r>
          </a:p>
        </p:txBody>
      </p:sp>
      <p:sp>
        <p:nvSpPr>
          <p:cNvPr id="858186" name="Text Box 74"/>
          <p:cNvSpPr txBox="1">
            <a:spLocks noChangeArrowheads="1"/>
          </p:cNvSpPr>
          <p:nvPr/>
        </p:nvSpPr>
        <p:spPr bwMode="auto">
          <a:xfrm>
            <a:off x="3935414" y="6346825"/>
            <a:ext cx="12925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A1 A2 A5</a:t>
            </a:r>
          </a:p>
        </p:txBody>
      </p:sp>
      <p:sp>
        <p:nvSpPr>
          <p:cNvPr id="858187" name="Text Box 75"/>
          <p:cNvSpPr txBox="1">
            <a:spLocks noChangeArrowheads="1"/>
          </p:cNvSpPr>
          <p:nvPr/>
        </p:nvSpPr>
        <p:spPr bwMode="auto">
          <a:xfrm>
            <a:off x="2979739" y="6346826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仿宋_GB2312" pitchFamily="49" charset="-122"/>
              </a:rPr>
              <a:t>4</a:t>
            </a:r>
          </a:p>
        </p:txBody>
      </p:sp>
      <p:sp>
        <p:nvSpPr>
          <p:cNvPr id="858188" name="Text Box 76"/>
          <p:cNvSpPr txBox="1">
            <a:spLocks noChangeArrowheads="1"/>
          </p:cNvSpPr>
          <p:nvPr/>
        </p:nvSpPr>
        <p:spPr bwMode="auto">
          <a:xfrm>
            <a:off x="6667500" y="6302680"/>
            <a:ext cx="26350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仿宋_GB2312" pitchFamily="49" charset="-122"/>
              </a:rPr>
              <a:t>A1 A2 A3 A4 A5</a:t>
            </a:r>
            <a:r>
              <a:rPr lang="zh-CN" altLang="en-US" sz="2000">
                <a:ea typeface="仿宋_GB2312" pitchFamily="49" charset="-122"/>
              </a:rPr>
              <a:t>－－</a:t>
            </a:r>
            <a:r>
              <a:rPr lang="zh-CN" altLang="en-US" sz="2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∞</a:t>
            </a:r>
          </a:p>
        </p:txBody>
      </p:sp>
      <p:sp>
        <p:nvSpPr>
          <p:cNvPr id="858189" name="Text Box 77"/>
          <p:cNvSpPr txBox="1">
            <a:spLocks noChangeArrowheads="1"/>
          </p:cNvSpPr>
          <p:nvPr/>
        </p:nvSpPr>
        <p:spPr bwMode="auto">
          <a:xfrm>
            <a:off x="9217026" y="6267756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ea typeface="仿宋_GB2312" pitchFamily="49" charset="-122"/>
              </a:rPr>
              <a:t>更新</a:t>
            </a:r>
          </a:p>
        </p:txBody>
      </p:sp>
      <p:sp>
        <p:nvSpPr>
          <p:cNvPr id="80" name="Rectangle 2"/>
          <p:cNvSpPr txBox="1">
            <a:spLocks noChangeArrowheads="1"/>
          </p:cNvSpPr>
          <p:nvPr/>
        </p:nvSpPr>
        <p:spPr>
          <a:xfrm>
            <a:off x="4573066" y="274549"/>
            <a:ext cx="6224809" cy="61977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 smtClean="0"/>
              <a:t>链路状态路由算法</a:t>
            </a:r>
            <a:r>
              <a:rPr lang="en-US" altLang="zh-CN" dirty="0" smtClean="0"/>
              <a:t>—SPF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524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8581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85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8581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85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" dur="indefinite"/>
                                        <p:tgtEl>
                                          <p:spTgt spid="8581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85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" dur="indefinite"/>
                                        <p:tgtEl>
                                          <p:spTgt spid="8581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85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" dur="indefinite"/>
                                        <p:tgtEl>
                                          <p:spTgt spid="85816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85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1" dur="indefinite"/>
                                        <p:tgtEl>
                                          <p:spTgt spid="8581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858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858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858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58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58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858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58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858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5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85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85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858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85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858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85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858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58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4" dur="500"/>
                                        <p:tgtEl>
                                          <p:spTgt spid="858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858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858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5" dur="indefinite"/>
                                        <p:tgtEl>
                                          <p:spTgt spid="8581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6" dur="indefinite"/>
                                        <p:tgtEl>
                                          <p:spTgt spid="85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8" dur="indefinite"/>
                                        <p:tgtEl>
                                          <p:spTgt spid="8581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9" dur="indefinite"/>
                                        <p:tgtEl>
                                          <p:spTgt spid="85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1" dur="indefinite"/>
                                        <p:tgtEl>
                                          <p:spTgt spid="8581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2" dur="indefinite"/>
                                        <p:tgtEl>
                                          <p:spTgt spid="85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4" dur="indefinite"/>
                                        <p:tgtEl>
                                          <p:spTgt spid="8581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5" dur="indefinite"/>
                                        <p:tgtEl>
                                          <p:spTgt spid="85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7" dur="indefinite"/>
                                        <p:tgtEl>
                                          <p:spTgt spid="8581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8" dur="indefinite"/>
                                        <p:tgtEl>
                                          <p:spTgt spid="85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0" dur="indefinite"/>
                                        <p:tgtEl>
                                          <p:spTgt spid="8581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1" dur="indefinite"/>
                                        <p:tgtEl>
                                          <p:spTgt spid="858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3" dur="indefinite"/>
                                        <p:tgtEl>
                                          <p:spTgt spid="85817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4" dur="indefinite"/>
                                        <p:tgtEl>
                                          <p:spTgt spid="858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6" dur="indefinite"/>
                                        <p:tgtEl>
                                          <p:spTgt spid="85817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7" dur="indefinite"/>
                                        <p:tgtEl>
                                          <p:spTgt spid="85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500" fill="hold"/>
                                        <p:tgtEl>
                                          <p:spTgt spid="858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858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85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85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858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85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858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85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85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858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858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858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0" dur="indefinite"/>
                                        <p:tgtEl>
                                          <p:spTgt spid="8581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1" dur="indefinite"/>
                                        <p:tgtEl>
                                          <p:spTgt spid="85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3" dur="indefinite"/>
                                        <p:tgtEl>
                                          <p:spTgt spid="8581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4" dur="indefinite"/>
                                        <p:tgtEl>
                                          <p:spTgt spid="85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6" dur="indefinite"/>
                                        <p:tgtEl>
                                          <p:spTgt spid="8581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7" dur="indefinite"/>
                                        <p:tgtEl>
                                          <p:spTgt spid="85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9" dur="indefinite"/>
                                        <p:tgtEl>
                                          <p:spTgt spid="8581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0" dur="indefinite"/>
                                        <p:tgtEl>
                                          <p:spTgt spid="85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92" dur="indefinite"/>
                                        <p:tgtEl>
                                          <p:spTgt spid="8581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3" dur="indefinite"/>
                                        <p:tgtEl>
                                          <p:spTgt spid="858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95" dur="indefinite"/>
                                        <p:tgtEl>
                                          <p:spTgt spid="85817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6" dur="indefinite"/>
                                        <p:tgtEl>
                                          <p:spTgt spid="858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98" dur="indefinite"/>
                                        <p:tgtEl>
                                          <p:spTgt spid="8581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9" dur="indefinite"/>
                                        <p:tgtEl>
                                          <p:spTgt spid="85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01" dur="indefinite"/>
                                        <p:tgtEl>
                                          <p:spTgt spid="85818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02" dur="indefinite"/>
                                        <p:tgtEl>
                                          <p:spTgt spid="85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500" fill="hold"/>
                                        <p:tgtEl>
                                          <p:spTgt spid="858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858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85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16" dur="indefinite"/>
                                        <p:tgtEl>
                                          <p:spTgt spid="8581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7" dur="indefinite"/>
                                        <p:tgtEl>
                                          <p:spTgt spid="85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19" dur="indefinite"/>
                                        <p:tgtEl>
                                          <p:spTgt spid="8581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0" dur="indefinite"/>
                                        <p:tgtEl>
                                          <p:spTgt spid="85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22" dur="indefinite"/>
                                        <p:tgtEl>
                                          <p:spTgt spid="8581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3" dur="indefinite"/>
                                        <p:tgtEl>
                                          <p:spTgt spid="85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25" dur="indefinite"/>
                                        <p:tgtEl>
                                          <p:spTgt spid="8581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6" dur="indefinite"/>
                                        <p:tgtEl>
                                          <p:spTgt spid="85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28" dur="indefinite"/>
                                        <p:tgtEl>
                                          <p:spTgt spid="85817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9" dur="indefinite"/>
                                        <p:tgtEl>
                                          <p:spTgt spid="85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31" dur="indefinite"/>
                                        <p:tgtEl>
                                          <p:spTgt spid="8581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2" dur="indefinite"/>
                                        <p:tgtEl>
                                          <p:spTgt spid="85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34" dur="indefinite"/>
                                        <p:tgtEl>
                                          <p:spTgt spid="8581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5" dur="indefinite"/>
                                        <p:tgtEl>
                                          <p:spTgt spid="85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500" fill="hold"/>
                                        <p:tgtEl>
                                          <p:spTgt spid="858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858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8142" grpId="0" animBg="1"/>
      <p:bldP spid="858143" grpId="0"/>
      <p:bldP spid="858144" grpId="0" animBg="1"/>
      <p:bldP spid="858145" grpId="0"/>
      <p:bldP spid="858146" grpId="0" animBg="1"/>
      <p:bldP spid="858147" grpId="0"/>
      <p:bldP spid="858148" grpId="0" animBg="1"/>
      <p:bldP spid="858149" grpId="0"/>
      <p:bldP spid="858150" grpId="0" animBg="1"/>
      <p:bldP spid="858151" grpId="0" animBg="1"/>
      <p:bldP spid="858152" grpId="0" animBg="1"/>
      <p:bldP spid="858153" grpId="0" animBg="1"/>
      <p:bldP spid="858154" grpId="0" animBg="1"/>
      <p:bldP spid="858155" grpId="0" animBg="1"/>
      <p:bldP spid="858156" grpId="0" animBg="1"/>
      <p:bldP spid="858157" grpId="0" animBg="1"/>
      <p:bldP spid="858168" grpId="0"/>
      <p:bldP spid="858169" grpId="0"/>
      <p:bldP spid="858169" grpId="1"/>
      <p:bldP spid="858170" grpId="0"/>
      <p:bldP spid="858170" grpId="1"/>
      <p:bldP spid="858171" grpId="0"/>
      <p:bldP spid="858171" grpId="1"/>
      <p:bldP spid="858172" grpId="0"/>
      <p:bldP spid="858173" grpId="0"/>
      <p:bldP spid="858173" grpId="1"/>
      <p:bldP spid="858174" grpId="0"/>
      <p:bldP spid="858174" grpId="1"/>
      <p:bldP spid="858175" grpId="0"/>
      <p:bldP spid="858175" grpId="1"/>
      <p:bldP spid="858176" grpId="0"/>
      <p:bldP spid="858176" grpId="1"/>
      <p:bldP spid="858177" grpId="0"/>
      <p:bldP spid="858177" grpId="1"/>
      <p:bldP spid="858178" grpId="0"/>
      <p:bldP spid="858178" grpId="1"/>
      <p:bldP spid="858179" grpId="0"/>
      <p:bldP spid="858179" grpId="1"/>
      <p:bldP spid="858180" grpId="0"/>
      <p:bldP spid="858180" grpId="1"/>
      <p:bldP spid="858181" grpId="0"/>
      <p:bldP spid="858181" grpId="1"/>
      <p:bldP spid="858182" grpId="0"/>
      <p:bldP spid="858182" grpId="1"/>
      <p:bldP spid="858183" grpId="0"/>
      <p:bldP spid="858183" grpId="1"/>
      <p:bldP spid="858184" grpId="0"/>
      <p:bldP spid="858184" grpId="1"/>
      <p:bldP spid="858185" grpId="0"/>
      <p:bldP spid="858185" grpId="1"/>
      <p:bldP spid="858186" grpId="0"/>
      <p:bldP spid="858186" grpId="1"/>
      <p:bldP spid="858187" grpId="0"/>
      <p:bldP spid="858187" grpId="1"/>
      <p:bldP spid="858188" grpId="0"/>
      <p:bldP spid="858189" grpId="0"/>
      <p:bldP spid="85818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339574" y="1380095"/>
            <a:ext cx="11187678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OSPF</a:t>
            </a:r>
            <a:r>
              <a:rPr lang="zh-CN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是采用链路状态路由选择算法的协议，它适合分层网络结构：</a:t>
            </a:r>
          </a:p>
        </p:txBody>
      </p:sp>
      <p:sp>
        <p:nvSpPr>
          <p:cNvPr id="107524" name="Oval 4"/>
          <p:cNvSpPr>
            <a:spLocks noChangeArrowheads="1"/>
          </p:cNvSpPr>
          <p:nvPr/>
        </p:nvSpPr>
        <p:spPr bwMode="auto">
          <a:xfrm>
            <a:off x="4387796" y="3458155"/>
            <a:ext cx="3352800" cy="990600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5" name="Oval 5"/>
          <p:cNvSpPr>
            <a:spLocks noChangeArrowheads="1"/>
          </p:cNvSpPr>
          <p:nvPr/>
        </p:nvSpPr>
        <p:spPr bwMode="auto">
          <a:xfrm>
            <a:off x="4311596" y="4296355"/>
            <a:ext cx="914400" cy="16002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6" name="Oval 6"/>
          <p:cNvSpPr>
            <a:spLocks noChangeArrowheads="1"/>
          </p:cNvSpPr>
          <p:nvPr/>
        </p:nvSpPr>
        <p:spPr bwMode="auto">
          <a:xfrm>
            <a:off x="5606996" y="4448755"/>
            <a:ext cx="914400" cy="16002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7" name="Oval 7"/>
          <p:cNvSpPr>
            <a:spLocks noChangeArrowheads="1"/>
          </p:cNvSpPr>
          <p:nvPr/>
        </p:nvSpPr>
        <p:spPr bwMode="auto">
          <a:xfrm>
            <a:off x="6902396" y="4296355"/>
            <a:ext cx="914400" cy="16002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8" name="Text Box 9"/>
          <p:cNvSpPr txBox="1">
            <a:spLocks noChangeArrowheads="1"/>
          </p:cNvSpPr>
          <p:nvPr/>
        </p:nvSpPr>
        <p:spPr bwMode="auto">
          <a:xfrm>
            <a:off x="5530796" y="3610556"/>
            <a:ext cx="10048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主干域</a:t>
            </a:r>
          </a:p>
          <a:p>
            <a:pPr eaLnBrk="1" hangingPunct="1"/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AREA0</a:t>
            </a:r>
          </a:p>
        </p:txBody>
      </p:sp>
      <p:sp>
        <p:nvSpPr>
          <p:cNvPr id="107529" name="Text Box 10"/>
          <p:cNvSpPr txBox="1">
            <a:spLocks noChangeArrowheads="1"/>
          </p:cNvSpPr>
          <p:nvPr/>
        </p:nvSpPr>
        <p:spPr bwMode="auto">
          <a:xfrm>
            <a:off x="4311596" y="4767843"/>
            <a:ext cx="920750" cy="67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子域</a:t>
            </a:r>
            <a:r>
              <a:rPr kumimoji="1"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pPr eaLnBrk="1" hangingPunct="1"/>
            <a:r>
              <a:rPr kumimoji="1"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AREA1</a:t>
            </a:r>
          </a:p>
        </p:txBody>
      </p:sp>
      <p:sp>
        <p:nvSpPr>
          <p:cNvPr id="107530" name="Text Box 11"/>
          <p:cNvSpPr txBox="1">
            <a:spLocks noChangeArrowheads="1"/>
          </p:cNvSpPr>
          <p:nvPr/>
        </p:nvSpPr>
        <p:spPr bwMode="auto">
          <a:xfrm>
            <a:off x="5606996" y="4767843"/>
            <a:ext cx="920750" cy="67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子域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  <a:p>
            <a:pPr eaLnBrk="1" hangingPunct="1"/>
            <a:r>
              <a:rPr kumimoji="1"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AREA2</a:t>
            </a:r>
          </a:p>
        </p:txBody>
      </p:sp>
      <p:sp>
        <p:nvSpPr>
          <p:cNvPr id="107531" name="Text Box 12"/>
          <p:cNvSpPr txBox="1">
            <a:spLocks noChangeArrowheads="1"/>
          </p:cNvSpPr>
          <p:nvPr/>
        </p:nvSpPr>
        <p:spPr bwMode="auto">
          <a:xfrm>
            <a:off x="6896046" y="4767843"/>
            <a:ext cx="920750" cy="67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子域</a:t>
            </a:r>
            <a:r>
              <a:rPr kumimoji="1"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  <a:p>
            <a:pPr eaLnBrk="1" hangingPunct="1"/>
            <a:r>
              <a:rPr kumimoji="1"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AREA3</a:t>
            </a:r>
          </a:p>
        </p:txBody>
      </p:sp>
      <p:sp>
        <p:nvSpPr>
          <p:cNvPr id="107532" name="Text Box 13"/>
          <p:cNvSpPr txBox="1">
            <a:spLocks noChangeArrowheads="1"/>
          </p:cNvSpPr>
          <p:nvPr/>
        </p:nvSpPr>
        <p:spPr bwMode="auto">
          <a:xfrm>
            <a:off x="699053" y="1860226"/>
            <a:ext cx="10730285" cy="1420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每个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域中的路由器只需要建立本域的网络拓扑数据库，并以此计算最短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，路由计算的复杂性大为降低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zh-CN" altLang="en-US" sz="10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位于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两域边界的路由器将对各域的路由信息进行聚合，因此要求每个域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地址分配尽可能连续，这样路由选择的效率更高；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4573066" y="274549"/>
            <a:ext cx="6224809" cy="61977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 smtClean="0"/>
              <a:t>链路状态路由协议</a:t>
            </a:r>
            <a:r>
              <a:rPr lang="en-US" altLang="zh-CN" dirty="0" smtClean="0"/>
              <a:t>—OSPF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198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2"/>
          <p:cNvSpPr txBox="1">
            <a:spLocks noChangeArrowheads="1"/>
          </p:cNvSpPr>
          <p:nvPr/>
        </p:nvSpPr>
        <p:spPr bwMode="auto">
          <a:xfrm>
            <a:off x="416779" y="1413463"/>
            <a:ext cx="7228261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Wingdings" panose="05000000000000000000" pitchFamily="2" charset="2"/>
              <a:buChar char="l"/>
            </a:pPr>
            <a:r>
              <a:rPr kumimoji="1"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</a:t>
            </a:r>
            <a:r>
              <a:rPr lang="zh-CN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距离矢量和链路状态路由选择算法的比较</a:t>
            </a: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3048000" y="2254860"/>
            <a:ext cx="61157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距离矢量路由选择算法          链路状态路由选择算法</a:t>
            </a:r>
          </a:p>
        </p:txBody>
      </p:sp>
      <p:sp>
        <p:nvSpPr>
          <p:cNvPr id="108548" name="Text Box 12"/>
          <p:cNvSpPr txBox="1">
            <a:spLocks noChangeArrowheads="1"/>
          </p:cNvSpPr>
          <p:nvPr/>
        </p:nvSpPr>
        <p:spPr bwMode="auto">
          <a:xfrm>
            <a:off x="2965450" y="2712060"/>
            <a:ext cx="6299200" cy="366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从相邻路由器的角度观察网络       获得整个网络的拓扑结构</a:t>
            </a:r>
          </a:p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拓扑结构。</a:t>
            </a:r>
          </a:p>
          <a:p>
            <a:pPr eaLnBrk="1" hangingPunct="1"/>
            <a:endParaRPr kumimoji="1"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路由表在路由器间传递时增加       计算出到达其他各路由器</a:t>
            </a:r>
          </a:p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距离矢量                                           的最短路径</a:t>
            </a:r>
          </a:p>
          <a:p>
            <a:pPr eaLnBrk="1" hangingPunct="1"/>
            <a:endParaRPr kumimoji="1"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路由信息周期地更新，更新频       由链路状态变化触发更新，</a:t>
            </a:r>
          </a:p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繁，收敛速度慢                               收敛速度快 </a:t>
            </a:r>
          </a:p>
          <a:p>
            <a:pPr eaLnBrk="1" hangingPunct="1"/>
            <a:endParaRPr kumimoji="1"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将路由表备份到相邻路由器，       将链路状态传送到其他路由</a:t>
            </a:r>
          </a:p>
          <a:p>
            <a:pPr eaLnBrk="1" hangingPunct="1"/>
            <a:r>
              <a:rPr kumimoji="1"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传递信息量大                                   器上，通常只传变化信息</a:t>
            </a:r>
          </a:p>
          <a:p>
            <a:pPr eaLnBrk="1" hangingPunct="1"/>
            <a:endParaRPr kumimoji="1"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kumimoji="1" lang="en-US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49" name="Rectangle 13"/>
          <p:cNvSpPr>
            <a:spLocks noChangeArrowheads="1"/>
          </p:cNvSpPr>
          <p:nvPr/>
        </p:nvSpPr>
        <p:spPr bwMode="auto">
          <a:xfrm>
            <a:off x="2971800" y="2178659"/>
            <a:ext cx="6324600" cy="3733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50" name="Line 14"/>
          <p:cNvSpPr>
            <a:spLocks noChangeShapeType="1"/>
          </p:cNvSpPr>
          <p:nvPr/>
        </p:nvSpPr>
        <p:spPr bwMode="auto">
          <a:xfrm>
            <a:off x="6096000" y="2178659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1" name="Line 15"/>
          <p:cNvSpPr>
            <a:spLocks noChangeShapeType="1"/>
          </p:cNvSpPr>
          <p:nvPr/>
        </p:nvSpPr>
        <p:spPr bwMode="auto">
          <a:xfrm>
            <a:off x="2971800" y="2712059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2" name="Line 16"/>
          <p:cNvSpPr>
            <a:spLocks noChangeShapeType="1"/>
          </p:cNvSpPr>
          <p:nvPr/>
        </p:nvSpPr>
        <p:spPr bwMode="auto">
          <a:xfrm>
            <a:off x="2971800" y="3397859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3" name="Line 17"/>
          <p:cNvSpPr>
            <a:spLocks noChangeShapeType="1"/>
          </p:cNvSpPr>
          <p:nvPr/>
        </p:nvSpPr>
        <p:spPr bwMode="auto">
          <a:xfrm>
            <a:off x="2971800" y="4236059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4" name="Line 18"/>
          <p:cNvSpPr>
            <a:spLocks noChangeShapeType="1"/>
          </p:cNvSpPr>
          <p:nvPr/>
        </p:nvSpPr>
        <p:spPr bwMode="auto">
          <a:xfrm>
            <a:off x="2971800" y="5074259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4573066" y="274549"/>
            <a:ext cx="6224809" cy="61977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 smtClean="0"/>
              <a:t>算法比较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927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714750" y="0"/>
            <a:ext cx="8477250" cy="1143000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OSPF</a:t>
            </a:r>
            <a:r>
              <a:rPr lang="zh-CN" altLang="en-US" dirty="0" smtClean="0">
                <a:ea typeface="宋体" panose="02010600030101010101" pitchFamily="2" charset="-122"/>
              </a:rPr>
              <a:t>协议配置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6544" y="1334908"/>
            <a:ext cx="10977817" cy="2139812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accent6">
                  <a:lumMod val="50000"/>
                </a:schemeClr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启用</a:t>
            </a:r>
            <a:r>
              <a:rPr lang="en-US" altLang="zh-CN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OSPF</a:t>
            </a:r>
            <a:r>
              <a:rPr lang="zh-CN" altLang="en-US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使用以下命令</a:t>
            </a:r>
            <a:r>
              <a:rPr lang="en-US" altLang="zh-CN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i="1" dirty="0" smtClean="0">
                <a:ea typeface="宋体" panose="02010600030101010101" pitchFamily="2" charset="-122"/>
              </a:rPr>
              <a:t>   </a:t>
            </a:r>
            <a:r>
              <a:rPr lang="en-US" altLang="zh-CN" sz="2400" dirty="0" smtClean="0">
                <a:ea typeface="宋体" panose="02010600030101010101" pitchFamily="2" charset="-122"/>
              </a:rPr>
              <a:t>R1(</a:t>
            </a:r>
            <a:r>
              <a:rPr lang="en-US" altLang="zh-CN" sz="2400" dirty="0" err="1" smtClean="0">
                <a:ea typeface="宋体" panose="02010600030101010101" pitchFamily="2" charset="-122"/>
              </a:rPr>
              <a:t>config</a:t>
            </a:r>
            <a:r>
              <a:rPr lang="en-US" altLang="zh-CN" sz="2400" dirty="0" smtClean="0">
                <a:ea typeface="宋体" panose="02010600030101010101" pitchFamily="2" charset="-122"/>
              </a:rPr>
              <a:t>)#</a:t>
            </a:r>
            <a:r>
              <a:rPr lang="en-US" altLang="zh-CN" sz="2400" b="1" dirty="0" smtClean="0">
                <a:solidFill>
                  <a:schemeClr val="accent2"/>
                </a:solidFill>
                <a:ea typeface="宋体" panose="02010600030101010101" pitchFamily="2" charset="-122"/>
              </a:rPr>
              <a:t>router </a:t>
            </a:r>
            <a:r>
              <a:rPr lang="en-US" altLang="zh-CN" sz="2400" b="1" dirty="0" err="1" smtClean="0">
                <a:solidFill>
                  <a:schemeClr val="accent2"/>
                </a:solidFill>
                <a:ea typeface="宋体" panose="02010600030101010101" pitchFamily="2" charset="-122"/>
              </a:rPr>
              <a:t>ospf</a:t>
            </a:r>
            <a:r>
              <a:rPr lang="en-US" altLang="zh-CN" sz="2400" i="1" dirty="0" smtClean="0">
                <a:solidFill>
                  <a:schemeClr val="accent2"/>
                </a:solidFill>
                <a:ea typeface="宋体" panose="02010600030101010101" pitchFamily="2" charset="-122"/>
              </a:rPr>
              <a:t> process-id</a:t>
            </a:r>
            <a:r>
              <a:rPr lang="en-US" altLang="zh-CN" sz="2400" i="1" dirty="0" smtClean="0">
                <a:ea typeface="宋体" panose="02010600030101010101" pitchFamily="2" charset="-122"/>
              </a:rPr>
              <a:t> </a:t>
            </a:r>
            <a:endParaRPr lang="en-US" altLang="zh-CN" sz="2400" i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1000" i="1" dirty="0" smtClean="0">
              <a:ea typeface="宋体" panose="02010600030101010101" pitchFamily="2" charset="-122"/>
            </a:endParaRPr>
          </a:p>
          <a:p>
            <a:pPr marL="742950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Process id : </a:t>
            </a: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一个介于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65535 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之间的数字，由网络管理员选定</a:t>
            </a: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。仅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在本地有效，这意味着路由器之间建立相邻关系时无需匹配该值。</a:t>
            </a:r>
          </a:p>
        </p:txBody>
      </p:sp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070" y="3227125"/>
            <a:ext cx="7311251" cy="343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59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4731" y="1417134"/>
            <a:ext cx="12057269" cy="5280228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accent6">
                  <a:lumMod val="50000"/>
                </a:schemeClr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OSPF </a:t>
            </a:r>
            <a:r>
              <a:rPr lang="zh-CN" altLang="en-US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 </a:t>
            </a:r>
            <a:r>
              <a:rPr lang="en-US" altLang="zh-CN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network </a:t>
            </a:r>
            <a:r>
              <a:rPr lang="zh-CN" altLang="en-US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命令</a:t>
            </a:r>
            <a:r>
              <a:rPr lang="en-US" altLang="zh-CN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en-US" altLang="zh-CN" sz="28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00050" lvl="2" indent="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None/>
            </a:pPr>
            <a:r>
              <a:rPr lang="en-US" altLang="zh-CN" dirty="0">
                <a:ea typeface="宋体" panose="02010600030101010101" pitchFamily="2" charset="-122"/>
              </a:rPr>
              <a:t>Router(</a:t>
            </a:r>
            <a:r>
              <a:rPr lang="en-US" altLang="zh-CN" dirty="0" err="1">
                <a:ea typeface="宋体" panose="02010600030101010101" pitchFamily="2" charset="-122"/>
              </a:rPr>
              <a:t>config</a:t>
            </a:r>
            <a:r>
              <a:rPr lang="en-US" altLang="zh-CN" dirty="0">
                <a:ea typeface="宋体" panose="02010600030101010101" pitchFamily="2" charset="-122"/>
              </a:rPr>
              <a:t>-router)#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network</a:t>
            </a: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</a:rPr>
              <a:t> network-address </a:t>
            </a:r>
            <a:r>
              <a:rPr lang="en-US" altLang="zh-CN" i="1" dirty="0" smtClean="0">
                <a:solidFill>
                  <a:schemeClr val="accent2"/>
                </a:solidFill>
                <a:ea typeface="宋体" panose="02010600030101010101" pitchFamily="2" charset="-122"/>
              </a:rPr>
              <a:t>wildcard-mask</a:t>
            </a: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</a:rPr>
              <a:t> 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area</a:t>
            </a: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</a:rPr>
              <a:t> </a:t>
            </a:r>
            <a:r>
              <a:rPr lang="en-US" altLang="zh-CN" i="1" dirty="0" smtClean="0">
                <a:solidFill>
                  <a:schemeClr val="accent2"/>
                </a:solidFill>
                <a:ea typeface="宋体" panose="02010600030101010101" pitchFamily="2" charset="-122"/>
              </a:rPr>
              <a:t>area-id</a:t>
            </a:r>
          </a:p>
          <a:p>
            <a:pPr marL="742950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en-US" altLang="zh-CN" sz="1000" i="1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marL="742950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路由器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上任何符合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network 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命令中的网络地址的接口都将启用，可发送和接收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OSPF 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数据包。</a:t>
            </a:r>
          </a:p>
          <a:p>
            <a:pPr marL="742950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此网络（或子网）将被包括在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OSPF 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路由更新中</a:t>
            </a: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zh-CN" altLang="en-US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通配符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掩码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</a:p>
          <a:p>
            <a:pPr marL="1200150" lvl="3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网络地址和通配符掩码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一起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用于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指定此 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network 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命令启用的接口或接口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范围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2" indent="-40005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area:</a:t>
            </a:r>
          </a:p>
          <a:p>
            <a:pPr marL="1257300" lvl="3" indent="-40005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OSPF 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区域是共享链路状态信息的一组路由器。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OSPF 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网络也可配置为多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区域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area-id:</a:t>
            </a:r>
          </a:p>
          <a:p>
            <a:pPr marL="1200150" lvl="3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zh-CN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所有路由器都处于同一个 OSPF 区域，则必须在所有路由器上使用相同的 area-id 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配置 </a:t>
            </a:r>
            <a:r>
              <a:rPr lang="zh-CN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network 命令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比较好的做法是在单区域 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OSPF 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中使用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area-id </a:t>
            </a: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458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154" y="3072940"/>
            <a:ext cx="6650038" cy="310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714750" y="0"/>
            <a:ext cx="84772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mtClean="0">
                <a:ea typeface="宋体" panose="02010600030101010101" pitchFamily="2" charset="-122"/>
              </a:rPr>
              <a:t>OSPF</a:t>
            </a:r>
            <a:r>
              <a:rPr lang="zh-CN" altLang="en-US" smtClean="0">
                <a:ea typeface="宋体" panose="02010600030101010101" pitchFamily="2" charset="-122"/>
              </a:rPr>
              <a:t>协议配置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009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etwork">
  <a:themeElements>
    <a:clrScheme name="Network 13">
      <a:dk1>
        <a:srgbClr val="666699"/>
      </a:dk1>
      <a:lt1>
        <a:srgbClr val="FFFF66"/>
      </a:lt1>
      <a:dk2>
        <a:srgbClr val="000054"/>
      </a:dk2>
      <a:lt2>
        <a:srgbClr val="66FF99"/>
      </a:lt2>
      <a:accent1>
        <a:srgbClr val="3333FF"/>
      </a:accent1>
      <a:accent2>
        <a:srgbClr val="006699"/>
      </a:accent2>
      <a:accent3>
        <a:srgbClr val="AAAAB3"/>
      </a:accent3>
      <a:accent4>
        <a:srgbClr val="DADA56"/>
      </a:accent4>
      <a:accent5>
        <a:srgbClr val="ADADFF"/>
      </a:accent5>
      <a:accent6>
        <a:srgbClr val="005C8A"/>
      </a:accent6>
      <a:hlink>
        <a:srgbClr val="669900"/>
      </a:hlink>
      <a:folHlink>
        <a:srgbClr val="0000FF"/>
      </a:folHlink>
    </a:clrScheme>
    <a:fontScheme name="Network">
      <a:majorFont>
        <a:latin typeface="Arial"/>
        <a:ea typeface="隶书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1">
        <a:dk1>
          <a:srgbClr val="666699"/>
        </a:dk1>
        <a:lt1>
          <a:srgbClr val="FFFF00"/>
        </a:lt1>
        <a:dk2>
          <a:srgbClr val="000054"/>
        </a:dk2>
        <a:lt2>
          <a:srgbClr val="00FF00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00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12">
        <a:dk1>
          <a:srgbClr val="666699"/>
        </a:dk1>
        <a:lt1>
          <a:srgbClr val="FFFF00"/>
        </a:lt1>
        <a:dk2>
          <a:srgbClr val="000054"/>
        </a:dk2>
        <a:lt2>
          <a:srgbClr val="66FF99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00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13">
        <a:dk1>
          <a:srgbClr val="666699"/>
        </a:dk1>
        <a:lt1>
          <a:srgbClr val="FFFF66"/>
        </a:lt1>
        <a:dk2>
          <a:srgbClr val="000054"/>
        </a:dk2>
        <a:lt2>
          <a:srgbClr val="66FF99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56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CC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2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CC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2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006_Title/Bullet_Cisco White Temp">
  <a:themeElements>
    <a:clrScheme name="2006_Title/Bullet_Cisco White Temp 1">
      <a:dk1>
        <a:srgbClr val="000000"/>
      </a:dk1>
      <a:lt1>
        <a:srgbClr val="FFFFFF"/>
      </a:lt1>
      <a:dk2>
        <a:srgbClr val="0183B7"/>
      </a:dk2>
      <a:lt2>
        <a:srgbClr val="8E8E95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2006_Title/Bullet_Cisco White Tem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006_Title/Bullet_Cisco White Temp 1">
        <a:dk1>
          <a:srgbClr val="000000"/>
        </a:dk1>
        <a:lt1>
          <a:srgbClr val="FFFFFF"/>
        </a:lt1>
        <a:dk2>
          <a:srgbClr val="0183B7"/>
        </a:dk2>
        <a:lt2>
          <a:srgbClr val="8E8E95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3007</TotalTime>
  <Words>1124</Words>
  <Application>Microsoft Office PowerPoint</Application>
  <PresentationFormat>宽屏</PresentationFormat>
  <Paragraphs>274</Paragraphs>
  <Slides>15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 Unicode MS</vt:lpstr>
      <vt:lpstr>仿宋_GB2312</vt:lpstr>
      <vt:lpstr>黑体</vt:lpstr>
      <vt:lpstr>华文新魏</vt:lpstr>
      <vt:lpstr>楷体</vt:lpstr>
      <vt:lpstr>楷体_GB2312</vt:lpstr>
      <vt:lpstr>隶书</vt:lpstr>
      <vt:lpstr>宋体</vt:lpstr>
      <vt:lpstr>幼圆</vt:lpstr>
      <vt:lpstr>Arial</vt:lpstr>
      <vt:lpstr>Calibri</vt:lpstr>
      <vt:lpstr>Times New Roman</vt:lpstr>
      <vt:lpstr>Wingdings</vt:lpstr>
      <vt:lpstr>Network</vt:lpstr>
      <vt:lpstr>默认设计模板</vt:lpstr>
      <vt:lpstr>1_默认设计模板</vt:lpstr>
      <vt:lpstr>2_默认设计模板</vt:lpstr>
      <vt:lpstr>3_默认设计模板</vt:lpstr>
      <vt:lpstr>2006_Title/Bullet_Cisco White Temp</vt:lpstr>
      <vt:lpstr>实验8 动态路由协议OSPF配置</vt:lpstr>
      <vt:lpstr>动态路由协议基础概念</vt:lpstr>
      <vt:lpstr>动态路由协议基础概念</vt:lpstr>
      <vt:lpstr>动态路由协议基础概念</vt:lpstr>
      <vt:lpstr>动态路由协议基础概念</vt:lpstr>
      <vt:lpstr>PowerPoint 演示文稿</vt:lpstr>
      <vt:lpstr>PowerPoint 演示文稿</vt:lpstr>
      <vt:lpstr>PowerPoint 演示文稿</vt:lpstr>
      <vt:lpstr>距离矢量路由协议—RIP</vt:lpstr>
      <vt:lpstr>PowerPoint 演示文稿</vt:lpstr>
      <vt:lpstr>PowerPoint 演示文稿</vt:lpstr>
      <vt:lpstr>PowerPoint 演示文稿</vt:lpstr>
      <vt:lpstr>PowerPoint 演示文稿</vt:lpstr>
      <vt:lpstr>OSPF协议配置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张·骏</dc:creator>
  <cp:lastModifiedBy>张· 骏</cp:lastModifiedBy>
  <cp:revision>247</cp:revision>
  <dcterms:created xsi:type="dcterms:W3CDTF">2015-07-08T03:33:10Z</dcterms:created>
  <dcterms:modified xsi:type="dcterms:W3CDTF">2019-08-03T11:56:30Z</dcterms:modified>
</cp:coreProperties>
</file>