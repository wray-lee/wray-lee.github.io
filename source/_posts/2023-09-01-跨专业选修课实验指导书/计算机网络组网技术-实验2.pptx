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7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730" r:id="rId2"/>
    <p:sldMasterId id="2147483810" r:id="rId3"/>
    <p:sldMasterId id="2147483822" r:id="rId4"/>
    <p:sldMasterId id="2147483834" r:id="rId5"/>
    <p:sldMasterId id="2147483846" r:id="rId6"/>
    <p:sldMasterId id="2147483882" r:id="rId7"/>
    <p:sldMasterId id="2147483906" r:id="rId8"/>
  </p:sldMasterIdLst>
  <p:notesMasterIdLst>
    <p:notesMasterId r:id="rId69"/>
  </p:notesMasterIdLst>
  <p:sldIdLst>
    <p:sldId id="402" r:id="rId9"/>
    <p:sldId id="275" r:id="rId10"/>
    <p:sldId id="270" r:id="rId11"/>
    <p:sldId id="295" r:id="rId12"/>
    <p:sldId id="335" r:id="rId13"/>
    <p:sldId id="339" r:id="rId14"/>
    <p:sldId id="340" r:id="rId15"/>
    <p:sldId id="341" r:id="rId16"/>
    <p:sldId id="342" r:id="rId17"/>
    <p:sldId id="343" r:id="rId18"/>
    <p:sldId id="344" r:id="rId19"/>
    <p:sldId id="345" r:id="rId20"/>
    <p:sldId id="330" r:id="rId21"/>
    <p:sldId id="334" r:id="rId22"/>
    <p:sldId id="347" r:id="rId23"/>
    <p:sldId id="346" r:id="rId24"/>
    <p:sldId id="348" r:id="rId25"/>
    <p:sldId id="337" r:id="rId26"/>
    <p:sldId id="338" r:id="rId27"/>
    <p:sldId id="349" r:id="rId28"/>
    <p:sldId id="350" r:id="rId29"/>
    <p:sldId id="351" r:id="rId30"/>
    <p:sldId id="352" r:id="rId31"/>
    <p:sldId id="398" r:id="rId32"/>
    <p:sldId id="364" r:id="rId33"/>
    <p:sldId id="366" r:id="rId34"/>
    <p:sldId id="368" r:id="rId35"/>
    <p:sldId id="371" r:id="rId36"/>
    <p:sldId id="370" r:id="rId37"/>
    <p:sldId id="373" r:id="rId38"/>
    <p:sldId id="375" r:id="rId39"/>
    <p:sldId id="372" r:id="rId40"/>
    <p:sldId id="374" r:id="rId41"/>
    <p:sldId id="376" r:id="rId42"/>
    <p:sldId id="377" r:id="rId43"/>
    <p:sldId id="378" r:id="rId44"/>
    <p:sldId id="399" r:id="rId45"/>
    <p:sldId id="311" r:id="rId46"/>
    <p:sldId id="318" r:id="rId47"/>
    <p:sldId id="307" r:id="rId48"/>
    <p:sldId id="308" r:id="rId49"/>
    <p:sldId id="321" r:id="rId50"/>
    <p:sldId id="322" r:id="rId51"/>
    <p:sldId id="320" r:id="rId52"/>
    <p:sldId id="323" r:id="rId53"/>
    <p:sldId id="324" r:id="rId54"/>
    <p:sldId id="309" r:id="rId55"/>
    <p:sldId id="325" r:id="rId56"/>
    <p:sldId id="326" r:id="rId57"/>
    <p:sldId id="327" r:id="rId58"/>
    <p:sldId id="333" r:id="rId59"/>
    <p:sldId id="358" r:id="rId60"/>
    <p:sldId id="400" r:id="rId61"/>
    <p:sldId id="357" r:id="rId62"/>
    <p:sldId id="360" r:id="rId63"/>
    <p:sldId id="369" r:id="rId64"/>
    <p:sldId id="401" r:id="rId65"/>
    <p:sldId id="393" r:id="rId66"/>
    <p:sldId id="394" r:id="rId67"/>
    <p:sldId id="397" r:id="rId6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99FFCC"/>
    <a:srgbClr val="CCFF66"/>
    <a:srgbClr val="00CC99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9" autoAdjust="0"/>
    <p:restoredTop sz="94660"/>
  </p:normalViewPr>
  <p:slideViewPr>
    <p:cSldViewPr snapToGrid="0">
      <p:cViewPr varScale="1">
        <p:scale>
          <a:sx n="60" d="100"/>
          <a:sy n="60" d="100"/>
        </p:scale>
        <p:origin x="378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502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66" Type="http://schemas.openxmlformats.org/officeDocument/2006/relationships/slide" Target="slides/slide58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3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slide" Target="slides/slide56.xml"/><Relationship Id="rId69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3.xml"/><Relationship Id="rId72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" Type="http://schemas.openxmlformats.org/officeDocument/2006/relationships/slideMaster" Target="slideMasters/slideMaster7.xml"/><Relationship Id="rId7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BB3B10-E75A-4A99-8D77-4819A54DB04C}" type="datetimeFigureOut">
              <a:rPr lang="zh-CN" altLang="en-US" smtClean="0"/>
              <a:t>2019/8/3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CB6A66-BA5C-4236-87D9-16ACC10F6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005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CB6A66-BA5C-4236-87D9-16ACC10F606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188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CB6A66-BA5C-4236-87D9-16ACC10F6069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871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zh-CN">
                <a:solidFill>
                  <a:srgbClr val="000000"/>
                </a:solidFill>
              </a:rPr>
              <a:t>网络工程系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zh-CN" altLang="en-US">
                <a:solidFill>
                  <a:srgbClr val="000000"/>
                </a:solidFill>
              </a:rPr>
              <a:t>yn@uestc.edu.cn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zh-CN">
                <a:solidFill>
                  <a:srgbClr val="000000"/>
                </a:solidFill>
              </a:rPr>
              <a:t>电子科大通信学院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044ADD-BD40-4FF2-B7AA-9FA83C3A7843}" type="slidenum">
              <a:rPr lang="en-US" altLang="zh-CN">
                <a:solidFill>
                  <a:srgbClr val="000000"/>
                </a:solidFill>
              </a:rPr>
              <a:pPr/>
              <a:t>48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40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0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863721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CB6A66-BA5C-4236-87D9-16ACC10F6069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287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175A17-C0E4-4292-8038-CB4B29EF182A}" type="slidenum">
              <a:rPr lang="zh-CN" altLang="en-US"/>
              <a:pPr/>
              <a:t>52</a:t>
            </a:fld>
            <a:endParaRPr lang="en-US" altLang="zh-CN"/>
          </a:p>
        </p:txBody>
      </p:sp>
      <p:sp>
        <p:nvSpPr>
          <p:cNvPr id="130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918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catc.edu.cn/" TargetMode="External"/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Line 2"/>
          <p:cNvSpPr>
            <a:spLocks noChangeShapeType="1"/>
          </p:cNvSpPr>
          <p:nvPr/>
        </p:nvSpPr>
        <p:spPr bwMode="auto">
          <a:xfrm>
            <a:off x="97536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000054"/>
              </a:buClr>
              <a:buSzPct val="70000"/>
              <a:buFont typeface="Wingdings" panose="05000000000000000000" pitchFamily="2" charset="2"/>
              <a:buNone/>
            </a:pPr>
            <a:endParaRPr lang="zh-CN" altLang="en-US" sz="2400" b="1" smtClean="0">
              <a:solidFill>
                <a:srgbClr val="000054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21217" y="466725"/>
            <a:ext cx="9042400" cy="2133600"/>
          </a:xfrm>
        </p:spPr>
        <p:txBody>
          <a:bodyPr/>
          <a:lstStyle>
            <a:lvl1pPr algn="r">
              <a:defRPr sz="50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ECECA0CB-3403-4466-995B-8DF8662D85CD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  <p:grpSp>
        <p:nvGrpSpPr>
          <p:cNvPr id="6152" name="Group 8"/>
          <p:cNvGrpSpPr>
            <a:grpSpLocks/>
          </p:cNvGrpSpPr>
          <p:nvPr/>
        </p:nvGrpSpPr>
        <p:grpSpPr bwMode="auto">
          <a:xfrm>
            <a:off x="9990667" y="2992438"/>
            <a:ext cx="1784351" cy="2189162"/>
            <a:chOff x="4704" y="1885"/>
            <a:chExt cx="843" cy="1379"/>
          </a:xfrm>
        </p:grpSpPr>
        <p:sp>
          <p:nvSpPr>
            <p:cNvPr id="6153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54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55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56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57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58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59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0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1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2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3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4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5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6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7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8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69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0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1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2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3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4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5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6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7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8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79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80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81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82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6183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</p:grpSp>
      <p:sp>
        <p:nvSpPr>
          <p:cNvPr id="6184" name="Line 40"/>
          <p:cNvSpPr>
            <a:spLocks noChangeShapeType="1"/>
          </p:cNvSpPr>
          <p:nvPr/>
        </p:nvSpPr>
        <p:spPr bwMode="auto">
          <a:xfrm>
            <a:off x="406400" y="2819400"/>
            <a:ext cx="109728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000054"/>
              </a:buClr>
              <a:buSzPct val="70000"/>
              <a:buFont typeface="Wingdings" panose="05000000000000000000" pitchFamily="2" charset="2"/>
              <a:buNone/>
            </a:pPr>
            <a:endParaRPr lang="zh-CN" altLang="en-US" sz="2400" b="1" smtClean="0">
              <a:solidFill>
                <a:srgbClr val="0000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7605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 sz="24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 sz="24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 sz="24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 sz="24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F417F7-DC4D-4FC6-9A4A-A143788C97EF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615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33550" y="169864"/>
            <a:ext cx="10058400" cy="858837"/>
          </a:xfrm>
        </p:spPr>
        <p:txBody>
          <a:bodyPr/>
          <a:lstStyle>
            <a:lvl1pPr algn="ctr">
              <a:defRPr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FFFF66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FFFF66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fld id="{6C0BB67A-27FA-4C67-851A-9DC3FA391F2F}" type="slidenum">
              <a:rPr lang="en-US" altLang="zh-CN" smtClean="0">
                <a:solidFill>
                  <a:srgbClr val="FFFF66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lang="en-US" altLang="zh-CN" smtClean="0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1075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310A4A-FEDF-41D2-BF60-E6112B374BF7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0596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34434" y="981075"/>
            <a:ext cx="5659967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1" y="981075"/>
            <a:ext cx="5659967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926A3C-9A65-4465-B748-5538B9A78C93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82319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AE3A43-2650-4DAD-A263-DE8EBD946AC1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3552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CE085D-FDF0-4913-894C-E6D3A82B6E59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10217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837768-19DA-411A-9793-5B5B9B3B817E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3748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02B331-6AF9-48FA-9C2E-F0AE2EB47695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6223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C7D681-DB39-4082-899A-F93CAFB7A110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7851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F68B8E-8429-4779-9666-C8F651629F7C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4089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76785" y="122238"/>
            <a:ext cx="2880783" cy="63309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34434" y="122238"/>
            <a:ext cx="8439151" cy="63309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CF449B-A966-495A-B607-28E85774EB35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376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9"/>
            <a:ext cx="10058400" cy="8588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34434" y="981076"/>
            <a:ext cx="11523133" cy="26590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34434" y="3792538"/>
            <a:ext cx="11523133" cy="26606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453188"/>
            <a:ext cx="2844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453188"/>
            <a:ext cx="3860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203267" y="6489701"/>
            <a:ext cx="2844800" cy="252413"/>
          </a:xfrm>
        </p:spPr>
        <p:txBody>
          <a:bodyPr/>
          <a:lstStyle>
            <a:lvl1pPr>
              <a:defRPr/>
            </a:lvl1pPr>
          </a:lstStyle>
          <a:p>
            <a:fld id="{8E431CDB-2883-498D-A682-DB6A869F556A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059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9"/>
            <a:ext cx="10058400" cy="8588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34434" y="981075"/>
            <a:ext cx="5659967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1" y="981076"/>
            <a:ext cx="5659967" cy="26590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1" y="3792538"/>
            <a:ext cx="5659967" cy="26606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09600" y="6453188"/>
            <a:ext cx="2844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165600" y="6453188"/>
            <a:ext cx="3860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9203267" y="6489701"/>
            <a:ext cx="2844800" cy="252413"/>
          </a:xfrm>
        </p:spPr>
        <p:txBody>
          <a:bodyPr/>
          <a:lstStyle>
            <a:lvl1pPr>
              <a:defRPr/>
            </a:lvl1pPr>
          </a:lstStyle>
          <a:p>
            <a:fld id="{A268E265-8EE9-496D-BD35-3811849A603C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0327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9"/>
            <a:ext cx="10058400" cy="8588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34434" y="981075"/>
            <a:ext cx="5659967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97601" y="981075"/>
            <a:ext cx="5659967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453188"/>
            <a:ext cx="2844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453188"/>
            <a:ext cx="3860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203267" y="6489701"/>
            <a:ext cx="2844800" cy="252413"/>
          </a:xfrm>
        </p:spPr>
        <p:txBody>
          <a:bodyPr/>
          <a:lstStyle>
            <a:lvl1pPr>
              <a:defRPr/>
            </a:lvl1pPr>
          </a:lstStyle>
          <a:p>
            <a:fld id="{0648895C-B952-4267-AF29-20AB1E08D80B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6542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9"/>
            <a:ext cx="10058400" cy="8588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34434" y="981075"/>
            <a:ext cx="5659967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1" y="981075"/>
            <a:ext cx="5659967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453188"/>
            <a:ext cx="2844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453188"/>
            <a:ext cx="3860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203267" y="6489701"/>
            <a:ext cx="2844800" cy="252413"/>
          </a:xfrm>
        </p:spPr>
        <p:txBody>
          <a:bodyPr/>
          <a:lstStyle>
            <a:lvl1pPr>
              <a:defRPr/>
            </a:lvl1pPr>
          </a:lstStyle>
          <a:p>
            <a:fld id="{C63F3E33-8CFD-4753-9383-87EAA3B93554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7064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9"/>
            <a:ext cx="10058400" cy="8588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34434" y="981076"/>
            <a:ext cx="11523133" cy="26590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34434" y="3792538"/>
            <a:ext cx="11523133" cy="26606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453188"/>
            <a:ext cx="2844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453188"/>
            <a:ext cx="3860800" cy="252412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FFFF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203267" y="6489701"/>
            <a:ext cx="2844800" cy="252413"/>
          </a:xfrm>
        </p:spPr>
        <p:txBody>
          <a:bodyPr/>
          <a:lstStyle>
            <a:lvl1pPr>
              <a:defRPr/>
            </a:lvl1pPr>
          </a:lstStyle>
          <a:p>
            <a:fld id="{59CB732B-B811-43FF-AE6F-7861E5DFCD38}" type="slidenum">
              <a:rPr lang="en-US" altLang="zh-CN">
                <a:solidFill>
                  <a:srgbClr val="FFFF66"/>
                </a:solidFill>
              </a:rPr>
              <a:pPr/>
              <a:t>‹#›</a:t>
            </a:fld>
            <a:endParaRPr lang="en-US" altLang="zh-CN">
              <a:solidFill>
                <a:srgbClr val="FF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8838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01D3EC-6C0A-4B75-B9B1-B8470296CBC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4646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08E3AB-722A-4AEA-A937-2E08357C51E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006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279BAD-A866-4A16-8F4C-85F87023AB3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0534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AB781C-6227-43DA-92D8-561D200F7F6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1234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60B88B-A646-4A8F-B6A0-76BA405E215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6079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9ECE20-8548-4556-AF6B-4FBBEC13A2E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0657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BE1699-C1C9-4481-B980-35A70BADA65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1095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C9DB47-0FF2-450E-BE52-8874B15CEDA8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5889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0934E9-6569-44DA-8526-9D879588D8E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56440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AD7049-B63C-4907-AD62-042A86EA7DB5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1351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CB55F8-9B30-4017-98B7-3BB8572DDC3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2652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01D3EC-6C0A-4B75-B9B1-B8470296CBC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10350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08E3AB-722A-4AEA-A937-2E08357C51E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1364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279BAD-A866-4A16-8F4C-85F87023AB3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53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AB781C-6227-43DA-92D8-561D200F7F6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8640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60B88B-A646-4A8F-B6A0-76BA405E215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1894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9ECE20-8548-4556-AF6B-4FBBEC13A2E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4579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BE1699-C1C9-4481-B980-35A70BADA65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5108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C9DB47-0FF2-450E-BE52-8874B15CEDA8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70760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0934E9-6569-44DA-8526-9D879588D8E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4350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AD7049-B63C-4907-AD62-042A86EA7DB5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4165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CB55F8-9B30-4017-98B7-3BB8572DDC3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55190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B8741C-2A94-4BA4-84F0-A9D0AA864BB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1427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45583E-B6BA-4465-B27F-29966067464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4792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111126-AA2D-4C0C-9D7D-7A55AAB5A180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62709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F51426-9369-43AC-9154-E44311111744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42492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584C02-567E-413F-9075-6AC68F1CACD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42506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92D539-2572-4A46-A56A-FD2CF5EC81C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36560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38737E-8065-49D4-96D4-E45928EA0EC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8720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50A346-57F6-4326-A424-88D184A05C9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47114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F3722F-A34E-4929-807C-DCE44AD8D0F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6637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ABB5B9-0CE0-4DE4-8E59-4A96B432D02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46299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37651" y="1"/>
            <a:ext cx="2842683" cy="612616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"/>
            <a:ext cx="8324851" cy="612616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F51D1E-BE3D-4E4C-9185-726F0697648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27133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8CC4B3-103C-4FA1-A68D-1FB9F075AFF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04372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27E1B7-39E0-4F97-9653-0E370A7EDDE4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3727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73498B-4C8F-4E2A-A190-241E72E75ED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55287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ECF9A5-B2B9-432B-BDA7-0C7480E22055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37888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A1F89A-F9F3-4709-9C8E-664833A3BDF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32817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7A4993-FAAD-4E7A-8C63-D56FAAF76266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90713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49CA8-A1E5-411D-84A0-7AECECD9921E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90891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B5B94E-C47E-48F1-883F-2BEE49F2600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3509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6DBB2C-CE1C-4A39-BD38-0AC96A0FE49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27235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BADA-B8BC-4B76-87B9-686904981D9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21533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37651" y="1"/>
            <a:ext cx="2842683" cy="61261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"/>
            <a:ext cx="8324851" cy="61261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07B075-A0E9-4B83-9CBE-93E9D4C9553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64408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BDFA10-1CC5-48C4-9D4E-0D5F38CD077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82666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67A8CE-AB20-4BB1-AC21-A17AD2C10AE6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38977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2DFECE-A22A-4EED-943B-2FDA3AEC024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193943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FF26BA-9875-4E6F-A2A0-D28EFD9F3914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992441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6229EA-4F30-457C-92D5-288E8E8C73E9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30653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02C3A7-DEC6-4374-8731-06F2EBC1F3F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92556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FF687E-5073-47C3-A07F-AB7FC6651B6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56930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8FD6F8-0FF4-4576-A4CF-EFFD504700F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00316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5EE535-CACA-4F69-831D-CA20E319C12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8152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E678A8-6CFE-48F9-8585-5A574272225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19188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AF46CC-5BAE-485B-859D-574F6BD7505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651403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2D9EE7-1DEB-4F5C-A2A5-6B9FC9FB8F5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00776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CBC8B3-8207-4267-A4BD-D7A0522D19E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56941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F999AD-C5F6-458D-A782-4614FCC35D70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057911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793AC7-FA7F-4723-9809-6FD1EA8AF56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73435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434E19-4866-4769-AAA6-FB2187C0438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28158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515CDA-A0AC-4628-A367-FE2C98697A7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66392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5C62C5-1158-4800-BFB4-B52066646B9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54059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92406D-8F8E-4728-AF49-BB96DF83E4A8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5306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FC7DA1-D5CC-43C7-BC97-58B78DF9D85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10853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10E4CA-D981-4A53-8879-D532A3552809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70956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0DE593-4FD3-488E-AE40-B06CC5F8BC9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619489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298" name="Rectangle 2"/>
          <p:cNvSpPr>
            <a:spLocks noChangeArrowheads="1"/>
          </p:cNvSpPr>
          <p:nvPr/>
        </p:nvSpPr>
        <p:spPr bwMode="auto">
          <a:xfrm rot="16200000">
            <a:off x="4724400" y="-3094037"/>
            <a:ext cx="2743200" cy="12192000"/>
          </a:xfrm>
          <a:prstGeom prst="rect">
            <a:avLst/>
          </a:prstGeom>
          <a:solidFill>
            <a:srgbClr val="015F8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B2B2B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025" tIns="36512" rIns="73025" bIns="36512" anchor="ctr"/>
          <a:lstStyle/>
          <a:p>
            <a:pPr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endParaRPr lang="zh-CN" altLang="en-US" sz="2400" i="1" smtClean="0">
              <a:solidFill>
                <a:srgbClr val="000000"/>
              </a:solidFill>
            </a:endParaRPr>
          </a:p>
        </p:txBody>
      </p:sp>
      <p:sp>
        <p:nvSpPr>
          <p:cNvPr id="1335299" name="Rectangle 3"/>
          <p:cNvSpPr>
            <a:spLocks noChangeArrowheads="1"/>
          </p:cNvSpPr>
          <p:nvPr/>
        </p:nvSpPr>
        <p:spPr bwMode="auto">
          <a:xfrm>
            <a:off x="3898900" y="6615453"/>
            <a:ext cx="1345662" cy="206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b" anchorCtr="1">
            <a:spAutoFit/>
          </a:bodyPr>
          <a:lstStyle>
            <a:lvl1pPr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06400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14388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22375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30363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zh-CN" altLang="en-US" sz="800" smtClean="0">
                <a:solidFill>
                  <a:srgbClr val="0183B7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思科网络技术学院理事会</a:t>
            </a:r>
            <a:r>
              <a:rPr lang="en-US" altLang="zh-CN" sz="800" smtClean="0">
                <a:solidFill>
                  <a:srgbClr val="0183B7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.</a:t>
            </a:r>
          </a:p>
        </p:txBody>
      </p:sp>
      <p:sp>
        <p:nvSpPr>
          <p:cNvPr id="1335300" name="Rectangle 4"/>
          <p:cNvSpPr>
            <a:spLocks noChangeArrowheads="1"/>
          </p:cNvSpPr>
          <p:nvPr/>
        </p:nvSpPr>
        <p:spPr bwMode="auto">
          <a:xfrm>
            <a:off x="6102135" y="6615453"/>
            <a:ext cx="1204598" cy="206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b">
            <a:spAutoFit/>
          </a:bodyPr>
          <a:lstStyle>
            <a:lvl1pPr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06400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14388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22375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30363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fontAlgn="base" hangingPunct="0">
              <a:spcAft>
                <a:spcPct val="0"/>
              </a:spcAft>
            </a:pPr>
            <a:r>
              <a:rPr lang="en-US" altLang="zh-CN" sz="800" smtClean="0">
                <a:solidFill>
                  <a:srgbClr val="0183B7"/>
                </a:solidFill>
                <a:ea typeface="宋体" panose="02010600030101010101" pitchFamily="2" charset="-122"/>
                <a:hlinkClick r:id="rId2"/>
              </a:rPr>
              <a:t>http://www.catc.edu.cn</a:t>
            </a:r>
            <a:endParaRPr lang="en-US" altLang="zh-CN" sz="800" smtClean="0">
              <a:solidFill>
                <a:srgbClr val="0183B7"/>
              </a:solidFill>
              <a:ea typeface="宋体" panose="02010600030101010101" pitchFamily="2" charset="-122"/>
            </a:endParaRPr>
          </a:p>
        </p:txBody>
      </p:sp>
      <p:sp>
        <p:nvSpPr>
          <p:cNvPr id="1335301" name="Rectangle 5"/>
          <p:cNvSpPr>
            <a:spLocks noChangeArrowheads="1"/>
          </p:cNvSpPr>
          <p:nvPr/>
        </p:nvSpPr>
        <p:spPr bwMode="auto">
          <a:xfrm>
            <a:off x="11566372" y="6624363"/>
            <a:ext cx="322946" cy="236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b">
            <a:spAutoFit/>
          </a:bodyPr>
          <a:lstStyle>
            <a:lvl1pPr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06400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14388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22375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30363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fontAlgn="base" hangingPunct="0">
              <a:spcAft>
                <a:spcPct val="0"/>
              </a:spcAft>
            </a:pPr>
            <a:fld id="{3009CFF4-D4D0-413F-912F-76BF385B1D9F}" type="slidenum">
              <a:rPr lang="zh-CN" altLang="en-US" sz="1000" smtClean="0">
                <a:solidFill>
                  <a:srgbClr val="D3D3D3"/>
                </a:solidFill>
                <a:ea typeface="宋体" panose="02010600030101010101" pitchFamily="2" charset="-122"/>
              </a:rPr>
              <a:pPr algn="r" eaLnBrk="0" fontAlgn="base" hangingPunct="0">
                <a:spcAft>
                  <a:spcPct val="0"/>
                </a:spcAft>
              </a:pPr>
              <a:t>‹#›</a:t>
            </a:fld>
            <a:endParaRPr lang="en-US" altLang="zh-CN" sz="1000" smtClean="0">
              <a:solidFill>
                <a:srgbClr val="D3D3D3"/>
              </a:solidFill>
              <a:ea typeface="宋体" panose="02010600030101010101" pitchFamily="2" charset="-122"/>
            </a:endParaRPr>
          </a:p>
        </p:txBody>
      </p:sp>
      <p:grpSp>
        <p:nvGrpSpPr>
          <p:cNvPr id="1335302" name="Group 6"/>
          <p:cNvGrpSpPr>
            <a:grpSpLocks/>
          </p:cNvGrpSpPr>
          <p:nvPr/>
        </p:nvGrpSpPr>
        <p:grpSpPr bwMode="auto">
          <a:xfrm>
            <a:off x="812800" y="525464"/>
            <a:ext cx="1930400" cy="769937"/>
            <a:chOff x="3272" y="1316"/>
            <a:chExt cx="1889" cy="1002"/>
          </a:xfrm>
        </p:grpSpPr>
        <p:sp>
          <p:nvSpPr>
            <p:cNvPr id="1335303" name="AutoShape 7"/>
            <p:cNvSpPr>
              <a:spLocks noChangeAspect="1" noChangeArrowheads="1" noTextEdit="1"/>
            </p:cNvSpPr>
            <p:nvPr/>
          </p:nvSpPr>
          <p:spPr bwMode="auto">
            <a:xfrm>
              <a:off x="3272" y="1316"/>
              <a:ext cx="1889" cy="1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04" name="Rectangle 8"/>
            <p:cNvSpPr>
              <a:spLocks noChangeArrowheads="1"/>
            </p:cNvSpPr>
            <p:nvPr/>
          </p:nvSpPr>
          <p:spPr bwMode="auto">
            <a:xfrm>
              <a:off x="3803" y="1980"/>
              <a:ext cx="86" cy="325"/>
            </a:xfrm>
            <a:prstGeom prst="rect">
              <a:avLst/>
            </a:prstGeom>
            <a:solidFill>
              <a:srgbClr val="B21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05" name="Freeform 9"/>
            <p:cNvSpPr>
              <a:spLocks/>
            </p:cNvSpPr>
            <p:nvPr/>
          </p:nvSpPr>
          <p:spPr bwMode="auto">
            <a:xfrm>
              <a:off x="4304" y="1971"/>
              <a:ext cx="249" cy="343"/>
            </a:xfrm>
            <a:custGeom>
              <a:avLst/>
              <a:gdLst>
                <a:gd name="T0" fmla="*/ 58 w 58"/>
                <a:gd name="T1" fmla="*/ 24 h 80"/>
                <a:gd name="T2" fmla="*/ 42 w 58"/>
                <a:gd name="T3" fmla="*/ 20 h 80"/>
                <a:gd name="T4" fmla="*/ 21 w 58"/>
                <a:gd name="T5" fmla="*/ 40 h 80"/>
                <a:gd name="T6" fmla="*/ 42 w 58"/>
                <a:gd name="T7" fmla="*/ 60 h 80"/>
                <a:gd name="T8" fmla="*/ 58 w 58"/>
                <a:gd name="T9" fmla="*/ 56 h 80"/>
                <a:gd name="T10" fmla="*/ 58 w 58"/>
                <a:gd name="T11" fmla="*/ 77 h 80"/>
                <a:gd name="T12" fmla="*/ 41 w 58"/>
                <a:gd name="T13" fmla="*/ 80 h 80"/>
                <a:gd name="T14" fmla="*/ 0 w 58"/>
                <a:gd name="T15" fmla="*/ 40 h 80"/>
                <a:gd name="T16" fmla="*/ 41 w 58"/>
                <a:gd name="T17" fmla="*/ 0 h 80"/>
                <a:gd name="T18" fmla="*/ 58 w 58"/>
                <a:gd name="T19" fmla="*/ 3 h 80"/>
                <a:gd name="T20" fmla="*/ 58 w 58"/>
                <a:gd name="T21" fmla="*/ 2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8" y="23"/>
                    <a:pt x="51" y="20"/>
                    <a:pt x="42" y="20"/>
                  </a:cubicBezTo>
                  <a:cubicBezTo>
                    <a:pt x="30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1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1" y="0"/>
                  </a:cubicBezTo>
                  <a:cubicBezTo>
                    <a:pt x="50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solidFill>
              <a:srgbClr val="B21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06" name="Freeform 10"/>
            <p:cNvSpPr>
              <a:spLocks/>
            </p:cNvSpPr>
            <p:nvPr/>
          </p:nvSpPr>
          <p:spPr bwMode="auto">
            <a:xfrm>
              <a:off x="3443" y="1971"/>
              <a:ext cx="249" cy="343"/>
            </a:xfrm>
            <a:custGeom>
              <a:avLst/>
              <a:gdLst>
                <a:gd name="T0" fmla="*/ 58 w 58"/>
                <a:gd name="T1" fmla="*/ 24 h 80"/>
                <a:gd name="T2" fmla="*/ 42 w 58"/>
                <a:gd name="T3" fmla="*/ 20 h 80"/>
                <a:gd name="T4" fmla="*/ 21 w 58"/>
                <a:gd name="T5" fmla="*/ 40 h 80"/>
                <a:gd name="T6" fmla="*/ 42 w 58"/>
                <a:gd name="T7" fmla="*/ 60 h 80"/>
                <a:gd name="T8" fmla="*/ 58 w 58"/>
                <a:gd name="T9" fmla="*/ 56 h 80"/>
                <a:gd name="T10" fmla="*/ 58 w 58"/>
                <a:gd name="T11" fmla="*/ 77 h 80"/>
                <a:gd name="T12" fmla="*/ 40 w 58"/>
                <a:gd name="T13" fmla="*/ 80 h 80"/>
                <a:gd name="T14" fmla="*/ 0 w 58"/>
                <a:gd name="T15" fmla="*/ 40 h 80"/>
                <a:gd name="T16" fmla="*/ 40 w 58"/>
                <a:gd name="T17" fmla="*/ 0 h 80"/>
                <a:gd name="T18" fmla="*/ 58 w 58"/>
                <a:gd name="T19" fmla="*/ 3 h 80"/>
                <a:gd name="T20" fmla="*/ 58 w 58"/>
                <a:gd name="T21" fmla="*/ 2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7" y="23"/>
                    <a:pt x="51" y="20"/>
                    <a:pt x="42" y="20"/>
                  </a:cubicBezTo>
                  <a:cubicBezTo>
                    <a:pt x="29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0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0" y="0"/>
                  </a:cubicBezTo>
                  <a:cubicBezTo>
                    <a:pt x="49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solidFill>
              <a:srgbClr val="B21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07" name="Freeform 11"/>
            <p:cNvSpPr>
              <a:spLocks noEditPoints="1"/>
            </p:cNvSpPr>
            <p:nvPr/>
          </p:nvSpPr>
          <p:spPr bwMode="auto">
            <a:xfrm>
              <a:off x="4643" y="1971"/>
              <a:ext cx="342" cy="343"/>
            </a:xfrm>
            <a:custGeom>
              <a:avLst/>
              <a:gdLst>
                <a:gd name="T0" fmla="*/ 80 w 80"/>
                <a:gd name="T1" fmla="*/ 40 h 80"/>
                <a:gd name="T2" fmla="*/ 40 w 80"/>
                <a:gd name="T3" fmla="*/ 80 h 80"/>
                <a:gd name="T4" fmla="*/ 0 w 80"/>
                <a:gd name="T5" fmla="*/ 40 h 80"/>
                <a:gd name="T6" fmla="*/ 40 w 80"/>
                <a:gd name="T7" fmla="*/ 0 h 80"/>
                <a:gd name="T8" fmla="*/ 80 w 80"/>
                <a:gd name="T9" fmla="*/ 40 h 80"/>
                <a:gd name="T10" fmla="*/ 40 w 80"/>
                <a:gd name="T11" fmla="*/ 20 h 80"/>
                <a:gd name="T12" fmla="*/ 20 w 80"/>
                <a:gd name="T13" fmla="*/ 40 h 80"/>
                <a:gd name="T14" fmla="*/ 40 w 80"/>
                <a:gd name="T15" fmla="*/ 60 h 80"/>
                <a:gd name="T16" fmla="*/ 60 w 80"/>
                <a:gd name="T17" fmla="*/ 40 h 80"/>
                <a:gd name="T18" fmla="*/ 40 w 80"/>
                <a:gd name="T19" fmla="*/ 2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cubicBezTo>
                    <a:pt x="80" y="62"/>
                    <a:pt x="64" y="80"/>
                    <a:pt x="40" y="80"/>
                  </a:cubicBezTo>
                  <a:cubicBezTo>
                    <a:pt x="16" y="80"/>
                    <a:pt x="0" y="62"/>
                    <a:pt x="0" y="40"/>
                  </a:cubicBezTo>
                  <a:cubicBezTo>
                    <a:pt x="0" y="18"/>
                    <a:pt x="16" y="0"/>
                    <a:pt x="40" y="0"/>
                  </a:cubicBezTo>
                  <a:cubicBezTo>
                    <a:pt x="64" y="0"/>
                    <a:pt x="80" y="18"/>
                    <a:pt x="80" y="40"/>
                  </a:cubicBezTo>
                  <a:moveTo>
                    <a:pt x="40" y="20"/>
                  </a:moveTo>
                  <a:cubicBezTo>
                    <a:pt x="29" y="20"/>
                    <a:pt x="20" y="29"/>
                    <a:pt x="20" y="40"/>
                  </a:cubicBezTo>
                  <a:cubicBezTo>
                    <a:pt x="20" y="51"/>
                    <a:pt x="29" y="60"/>
                    <a:pt x="40" y="60"/>
                  </a:cubicBezTo>
                  <a:cubicBezTo>
                    <a:pt x="51" y="60"/>
                    <a:pt x="60" y="51"/>
                    <a:pt x="60" y="40"/>
                  </a:cubicBezTo>
                  <a:cubicBezTo>
                    <a:pt x="60" y="29"/>
                    <a:pt x="51" y="20"/>
                    <a:pt x="40" y="20"/>
                  </a:cubicBezTo>
                </a:path>
              </a:pathLst>
            </a:custGeom>
            <a:solidFill>
              <a:srgbClr val="B21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08" name="Freeform 12"/>
            <p:cNvSpPr>
              <a:spLocks/>
            </p:cNvSpPr>
            <p:nvPr/>
          </p:nvSpPr>
          <p:spPr bwMode="auto">
            <a:xfrm>
              <a:off x="4000" y="1971"/>
              <a:ext cx="223" cy="343"/>
            </a:xfrm>
            <a:custGeom>
              <a:avLst/>
              <a:gdLst>
                <a:gd name="T0" fmla="*/ 47 w 52"/>
                <a:gd name="T1" fmla="*/ 19 h 80"/>
                <a:gd name="T2" fmla="*/ 32 w 52"/>
                <a:gd name="T3" fmla="*/ 17 h 80"/>
                <a:gd name="T4" fmla="*/ 20 w 52"/>
                <a:gd name="T5" fmla="*/ 23 h 80"/>
                <a:gd name="T6" fmla="*/ 29 w 52"/>
                <a:gd name="T7" fmla="*/ 30 h 80"/>
                <a:gd name="T8" fmla="*/ 34 w 52"/>
                <a:gd name="T9" fmla="*/ 32 h 80"/>
                <a:gd name="T10" fmla="*/ 52 w 52"/>
                <a:gd name="T11" fmla="*/ 54 h 80"/>
                <a:gd name="T12" fmla="*/ 21 w 52"/>
                <a:gd name="T13" fmla="*/ 80 h 80"/>
                <a:gd name="T14" fmla="*/ 0 w 52"/>
                <a:gd name="T15" fmla="*/ 77 h 80"/>
                <a:gd name="T16" fmla="*/ 0 w 52"/>
                <a:gd name="T17" fmla="*/ 60 h 80"/>
                <a:gd name="T18" fmla="*/ 18 w 52"/>
                <a:gd name="T19" fmla="*/ 63 h 80"/>
                <a:gd name="T20" fmla="*/ 32 w 52"/>
                <a:gd name="T21" fmla="*/ 56 h 80"/>
                <a:gd name="T22" fmla="*/ 23 w 52"/>
                <a:gd name="T23" fmla="*/ 48 h 80"/>
                <a:gd name="T24" fmla="*/ 19 w 52"/>
                <a:gd name="T25" fmla="*/ 47 h 80"/>
                <a:gd name="T26" fmla="*/ 0 w 52"/>
                <a:gd name="T27" fmla="*/ 24 h 80"/>
                <a:gd name="T28" fmla="*/ 28 w 52"/>
                <a:gd name="T29" fmla="*/ 0 h 80"/>
                <a:gd name="T30" fmla="*/ 47 w 52"/>
                <a:gd name="T31" fmla="*/ 3 h 80"/>
                <a:gd name="T32" fmla="*/ 47 w 52"/>
                <a:gd name="T3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" h="80">
                  <a:moveTo>
                    <a:pt x="47" y="19"/>
                  </a:moveTo>
                  <a:cubicBezTo>
                    <a:pt x="47" y="19"/>
                    <a:pt x="38" y="17"/>
                    <a:pt x="32" y="17"/>
                  </a:cubicBezTo>
                  <a:cubicBezTo>
                    <a:pt x="24" y="17"/>
                    <a:pt x="20" y="19"/>
                    <a:pt x="20" y="23"/>
                  </a:cubicBezTo>
                  <a:cubicBezTo>
                    <a:pt x="20" y="28"/>
                    <a:pt x="26" y="29"/>
                    <a:pt x="29" y="30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47" y="36"/>
                    <a:pt x="52" y="45"/>
                    <a:pt x="52" y="54"/>
                  </a:cubicBezTo>
                  <a:cubicBezTo>
                    <a:pt x="52" y="73"/>
                    <a:pt x="35" y="80"/>
                    <a:pt x="21" y="80"/>
                  </a:cubicBezTo>
                  <a:cubicBezTo>
                    <a:pt x="10" y="80"/>
                    <a:pt x="1" y="78"/>
                    <a:pt x="0" y="7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" y="60"/>
                    <a:pt x="10" y="63"/>
                    <a:pt x="18" y="63"/>
                  </a:cubicBezTo>
                  <a:cubicBezTo>
                    <a:pt x="28" y="63"/>
                    <a:pt x="32" y="60"/>
                    <a:pt x="32" y="56"/>
                  </a:cubicBezTo>
                  <a:cubicBezTo>
                    <a:pt x="32" y="52"/>
                    <a:pt x="28" y="49"/>
                    <a:pt x="23" y="48"/>
                  </a:cubicBezTo>
                  <a:cubicBezTo>
                    <a:pt x="22" y="48"/>
                    <a:pt x="21" y="47"/>
                    <a:pt x="19" y="47"/>
                  </a:cubicBezTo>
                  <a:cubicBezTo>
                    <a:pt x="9" y="43"/>
                    <a:pt x="0" y="37"/>
                    <a:pt x="0" y="24"/>
                  </a:cubicBezTo>
                  <a:cubicBezTo>
                    <a:pt x="0" y="10"/>
                    <a:pt x="10" y="0"/>
                    <a:pt x="28" y="0"/>
                  </a:cubicBezTo>
                  <a:cubicBezTo>
                    <a:pt x="37" y="0"/>
                    <a:pt x="46" y="3"/>
                    <a:pt x="47" y="3"/>
                  </a:cubicBezTo>
                  <a:lnTo>
                    <a:pt x="47" y="19"/>
                  </a:lnTo>
                  <a:close/>
                </a:path>
              </a:pathLst>
            </a:custGeom>
            <a:solidFill>
              <a:srgbClr val="B21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09" name="Freeform 13"/>
            <p:cNvSpPr>
              <a:spLocks/>
            </p:cNvSpPr>
            <p:nvPr/>
          </p:nvSpPr>
          <p:spPr bwMode="auto">
            <a:xfrm>
              <a:off x="3272" y="1586"/>
              <a:ext cx="81" cy="167"/>
            </a:xfrm>
            <a:custGeom>
              <a:avLst/>
              <a:gdLst>
                <a:gd name="T0" fmla="*/ 19 w 19"/>
                <a:gd name="T1" fmla="*/ 10 h 39"/>
                <a:gd name="T2" fmla="*/ 10 w 19"/>
                <a:gd name="T3" fmla="*/ 0 h 39"/>
                <a:gd name="T4" fmla="*/ 0 w 19"/>
                <a:gd name="T5" fmla="*/ 10 h 39"/>
                <a:gd name="T6" fmla="*/ 0 w 19"/>
                <a:gd name="T7" fmla="*/ 30 h 39"/>
                <a:gd name="T8" fmla="*/ 10 w 19"/>
                <a:gd name="T9" fmla="*/ 39 h 39"/>
                <a:gd name="T10" fmla="*/ 19 w 19"/>
                <a:gd name="T11" fmla="*/ 30 h 39"/>
                <a:gd name="T12" fmla="*/ 19 w 19"/>
                <a:gd name="T13" fmla="*/ 1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10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0" name="Freeform 14"/>
            <p:cNvSpPr>
              <a:spLocks/>
            </p:cNvSpPr>
            <p:nvPr/>
          </p:nvSpPr>
          <p:spPr bwMode="auto">
            <a:xfrm>
              <a:off x="3499" y="1474"/>
              <a:ext cx="81" cy="279"/>
            </a:xfrm>
            <a:custGeom>
              <a:avLst/>
              <a:gdLst>
                <a:gd name="T0" fmla="*/ 19 w 19"/>
                <a:gd name="T1" fmla="*/ 9 h 65"/>
                <a:gd name="T2" fmla="*/ 9 w 19"/>
                <a:gd name="T3" fmla="*/ 0 h 65"/>
                <a:gd name="T4" fmla="*/ 0 w 19"/>
                <a:gd name="T5" fmla="*/ 9 h 65"/>
                <a:gd name="T6" fmla="*/ 0 w 19"/>
                <a:gd name="T7" fmla="*/ 56 h 65"/>
                <a:gd name="T8" fmla="*/ 9 w 19"/>
                <a:gd name="T9" fmla="*/ 65 h 65"/>
                <a:gd name="T10" fmla="*/ 19 w 19"/>
                <a:gd name="T11" fmla="*/ 56 h 65"/>
                <a:gd name="T12" fmla="*/ 19 w 19"/>
                <a:gd name="T13" fmla="*/ 9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4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1" name="Freeform 15"/>
            <p:cNvSpPr>
              <a:spLocks/>
            </p:cNvSpPr>
            <p:nvPr/>
          </p:nvSpPr>
          <p:spPr bwMode="auto">
            <a:xfrm>
              <a:off x="3722" y="1320"/>
              <a:ext cx="81" cy="514"/>
            </a:xfrm>
            <a:custGeom>
              <a:avLst/>
              <a:gdLst>
                <a:gd name="T0" fmla="*/ 19 w 19"/>
                <a:gd name="T1" fmla="*/ 9 h 120"/>
                <a:gd name="T2" fmla="*/ 10 w 19"/>
                <a:gd name="T3" fmla="*/ 0 h 120"/>
                <a:gd name="T4" fmla="*/ 0 w 19"/>
                <a:gd name="T5" fmla="*/ 9 h 120"/>
                <a:gd name="T6" fmla="*/ 0 w 19"/>
                <a:gd name="T7" fmla="*/ 111 h 120"/>
                <a:gd name="T8" fmla="*/ 10 w 19"/>
                <a:gd name="T9" fmla="*/ 120 h 120"/>
                <a:gd name="T10" fmla="*/ 19 w 19"/>
                <a:gd name="T11" fmla="*/ 111 h 120"/>
                <a:gd name="T12" fmla="*/ 19 w 19"/>
                <a:gd name="T13" fmla="*/ 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5" y="120"/>
                    <a:pt x="10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2" name="Freeform 16"/>
            <p:cNvSpPr>
              <a:spLocks/>
            </p:cNvSpPr>
            <p:nvPr/>
          </p:nvSpPr>
          <p:spPr bwMode="auto">
            <a:xfrm>
              <a:off x="3949" y="1474"/>
              <a:ext cx="81" cy="279"/>
            </a:xfrm>
            <a:custGeom>
              <a:avLst/>
              <a:gdLst>
                <a:gd name="T0" fmla="*/ 19 w 19"/>
                <a:gd name="T1" fmla="*/ 9 h 65"/>
                <a:gd name="T2" fmla="*/ 9 w 19"/>
                <a:gd name="T3" fmla="*/ 0 h 65"/>
                <a:gd name="T4" fmla="*/ 0 w 19"/>
                <a:gd name="T5" fmla="*/ 9 h 65"/>
                <a:gd name="T6" fmla="*/ 0 w 19"/>
                <a:gd name="T7" fmla="*/ 56 h 65"/>
                <a:gd name="T8" fmla="*/ 9 w 19"/>
                <a:gd name="T9" fmla="*/ 65 h 65"/>
                <a:gd name="T10" fmla="*/ 19 w 19"/>
                <a:gd name="T11" fmla="*/ 56 h 65"/>
                <a:gd name="T12" fmla="*/ 19 w 19"/>
                <a:gd name="T13" fmla="*/ 9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3" name="Freeform 17"/>
            <p:cNvSpPr>
              <a:spLocks/>
            </p:cNvSpPr>
            <p:nvPr/>
          </p:nvSpPr>
          <p:spPr bwMode="auto">
            <a:xfrm>
              <a:off x="4171" y="1586"/>
              <a:ext cx="86" cy="167"/>
            </a:xfrm>
            <a:custGeom>
              <a:avLst/>
              <a:gdLst>
                <a:gd name="T0" fmla="*/ 20 w 20"/>
                <a:gd name="T1" fmla="*/ 10 h 39"/>
                <a:gd name="T2" fmla="*/ 10 w 20"/>
                <a:gd name="T3" fmla="*/ 0 h 39"/>
                <a:gd name="T4" fmla="*/ 0 w 20"/>
                <a:gd name="T5" fmla="*/ 10 h 39"/>
                <a:gd name="T6" fmla="*/ 0 w 20"/>
                <a:gd name="T7" fmla="*/ 30 h 39"/>
                <a:gd name="T8" fmla="*/ 10 w 20"/>
                <a:gd name="T9" fmla="*/ 39 h 39"/>
                <a:gd name="T10" fmla="*/ 20 w 20"/>
                <a:gd name="T11" fmla="*/ 30 h 39"/>
                <a:gd name="T12" fmla="*/ 20 w 20"/>
                <a:gd name="T13" fmla="*/ 1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39">
                  <a:moveTo>
                    <a:pt x="20" y="10"/>
                  </a:moveTo>
                  <a:cubicBezTo>
                    <a:pt x="20" y="4"/>
                    <a:pt x="15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5" y="39"/>
                    <a:pt x="10" y="39"/>
                  </a:cubicBezTo>
                  <a:cubicBezTo>
                    <a:pt x="15" y="39"/>
                    <a:pt x="20" y="35"/>
                    <a:pt x="20" y="30"/>
                  </a:cubicBezTo>
                  <a:lnTo>
                    <a:pt x="20" y="10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4" name="Freeform 18"/>
            <p:cNvSpPr>
              <a:spLocks/>
            </p:cNvSpPr>
            <p:nvPr/>
          </p:nvSpPr>
          <p:spPr bwMode="auto">
            <a:xfrm>
              <a:off x="4398" y="1474"/>
              <a:ext cx="82" cy="279"/>
            </a:xfrm>
            <a:custGeom>
              <a:avLst/>
              <a:gdLst>
                <a:gd name="T0" fmla="*/ 19 w 19"/>
                <a:gd name="T1" fmla="*/ 9 h 65"/>
                <a:gd name="T2" fmla="*/ 10 w 19"/>
                <a:gd name="T3" fmla="*/ 0 h 65"/>
                <a:gd name="T4" fmla="*/ 0 w 19"/>
                <a:gd name="T5" fmla="*/ 9 h 65"/>
                <a:gd name="T6" fmla="*/ 0 w 19"/>
                <a:gd name="T7" fmla="*/ 56 h 65"/>
                <a:gd name="T8" fmla="*/ 10 w 19"/>
                <a:gd name="T9" fmla="*/ 65 h 65"/>
                <a:gd name="T10" fmla="*/ 19 w 19"/>
                <a:gd name="T11" fmla="*/ 56 h 65"/>
                <a:gd name="T12" fmla="*/ 19 w 19"/>
                <a:gd name="T13" fmla="*/ 9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5" name="Freeform 19"/>
            <p:cNvSpPr>
              <a:spLocks/>
            </p:cNvSpPr>
            <p:nvPr/>
          </p:nvSpPr>
          <p:spPr bwMode="auto">
            <a:xfrm>
              <a:off x="4625" y="1320"/>
              <a:ext cx="82" cy="514"/>
            </a:xfrm>
            <a:custGeom>
              <a:avLst/>
              <a:gdLst>
                <a:gd name="T0" fmla="*/ 19 w 19"/>
                <a:gd name="T1" fmla="*/ 9 h 120"/>
                <a:gd name="T2" fmla="*/ 9 w 19"/>
                <a:gd name="T3" fmla="*/ 0 h 120"/>
                <a:gd name="T4" fmla="*/ 0 w 19"/>
                <a:gd name="T5" fmla="*/ 9 h 120"/>
                <a:gd name="T6" fmla="*/ 0 w 19"/>
                <a:gd name="T7" fmla="*/ 111 h 120"/>
                <a:gd name="T8" fmla="*/ 9 w 19"/>
                <a:gd name="T9" fmla="*/ 120 h 120"/>
                <a:gd name="T10" fmla="*/ 19 w 19"/>
                <a:gd name="T11" fmla="*/ 111 h 120"/>
                <a:gd name="T12" fmla="*/ 19 w 19"/>
                <a:gd name="T13" fmla="*/ 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4" y="120"/>
                    <a:pt x="9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6" name="Freeform 20"/>
            <p:cNvSpPr>
              <a:spLocks/>
            </p:cNvSpPr>
            <p:nvPr/>
          </p:nvSpPr>
          <p:spPr bwMode="auto">
            <a:xfrm>
              <a:off x="4848" y="1474"/>
              <a:ext cx="82" cy="279"/>
            </a:xfrm>
            <a:custGeom>
              <a:avLst/>
              <a:gdLst>
                <a:gd name="T0" fmla="*/ 19 w 19"/>
                <a:gd name="T1" fmla="*/ 9 h 65"/>
                <a:gd name="T2" fmla="*/ 10 w 19"/>
                <a:gd name="T3" fmla="*/ 0 h 65"/>
                <a:gd name="T4" fmla="*/ 0 w 19"/>
                <a:gd name="T5" fmla="*/ 9 h 65"/>
                <a:gd name="T6" fmla="*/ 0 w 19"/>
                <a:gd name="T7" fmla="*/ 56 h 65"/>
                <a:gd name="T8" fmla="*/ 10 w 19"/>
                <a:gd name="T9" fmla="*/ 65 h 65"/>
                <a:gd name="T10" fmla="*/ 19 w 19"/>
                <a:gd name="T11" fmla="*/ 56 h 65"/>
                <a:gd name="T12" fmla="*/ 19 w 19"/>
                <a:gd name="T13" fmla="*/ 9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5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  <p:sp>
          <p:nvSpPr>
            <p:cNvPr id="1335317" name="Freeform 21"/>
            <p:cNvSpPr>
              <a:spLocks/>
            </p:cNvSpPr>
            <p:nvPr/>
          </p:nvSpPr>
          <p:spPr bwMode="auto">
            <a:xfrm>
              <a:off x="5075" y="1586"/>
              <a:ext cx="82" cy="167"/>
            </a:xfrm>
            <a:custGeom>
              <a:avLst/>
              <a:gdLst>
                <a:gd name="T0" fmla="*/ 19 w 19"/>
                <a:gd name="T1" fmla="*/ 10 h 39"/>
                <a:gd name="T2" fmla="*/ 9 w 19"/>
                <a:gd name="T3" fmla="*/ 0 h 39"/>
                <a:gd name="T4" fmla="*/ 0 w 19"/>
                <a:gd name="T5" fmla="*/ 10 h 39"/>
                <a:gd name="T6" fmla="*/ 0 w 19"/>
                <a:gd name="T7" fmla="*/ 30 h 39"/>
                <a:gd name="T8" fmla="*/ 9 w 19"/>
                <a:gd name="T9" fmla="*/ 39 h 39"/>
                <a:gd name="T10" fmla="*/ 19 w 19"/>
                <a:gd name="T11" fmla="*/ 30 h 39"/>
                <a:gd name="T12" fmla="*/ 19 w 19"/>
                <a:gd name="T13" fmla="*/ 1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solidFill>
              <a:srgbClr val="015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endParaRPr lang="zh-CN" altLang="en-US" sz="2400" i="1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1335318" name="Rectangle 22"/>
          <p:cNvSpPr>
            <a:spLocks noGrp="1" noChangeArrowheads="1"/>
          </p:cNvSpPr>
          <p:nvPr>
            <p:ph type="ctrTitle"/>
          </p:nvPr>
        </p:nvSpPr>
        <p:spPr bwMode="white">
          <a:xfrm>
            <a:off x="867834" y="2676526"/>
            <a:ext cx="5024967" cy="830263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</a:p>
        </p:txBody>
      </p:sp>
      <p:sp>
        <p:nvSpPr>
          <p:cNvPr id="1335319" name="Rectangle 23"/>
          <p:cNvSpPr>
            <a:spLocks noGrp="1" noChangeArrowheads="1"/>
          </p:cNvSpPr>
          <p:nvPr>
            <p:ph type="subTitle" idx="1"/>
          </p:nvPr>
        </p:nvSpPr>
        <p:spPr>
          <a:xfrm>
            <a:off x="867833" y="4733925"/>
            <a:ext cx="9254067" cy="4191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</a:p>
        </p:txBody>
      </p:sp>
      <p:pic>
        <p:nvPicPr>
          <p:cNvPr id="1335320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4734" y="1658938"/>
            <a:ext cx="3075517" cy="2665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53355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32882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2935968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74185" y="1781176"/>
            <a:ext cx="5192183" cy="35718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69567" y="1781176"/>
            <a:ext cx="5192184" cy="35718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22991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01291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51283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532446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9438048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4672039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42682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021234" y="457200"/>
            <a:ext cx="2713567" cy="48958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74185" y="457200"/>
            <a:ext cx="7943849" cy="48958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235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1.xml"/><Relationship Id="rId13" Type="http://schemas.openxmlformats.org/officeDocument/2006/relationships/hyperlink" Target="http://www.catc.edu.cn/" TargetMode="External"/><Relationship Id="rId3" Type="http://schemas.openxmlformats.org/officeDocument/2006/relationships/slideLayout" Target="../slideLayouts/slideLayout86.xml"/><Relationship Id="rId7" Type="http://schemas.openxmlformats.org/officeDocument/2006/relationships/slideLayout" Target="../slideLayouts/slideLayout90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94.xml"/><Relationship Id="rId5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93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2"/>
          <p:cNvSpPr>
            <a:spLocks noChangeShapeType="1"/>
          </p:cNvSpPr>
          <p:nvPr/>
        </p:nvSpPr>
        <p:spPr bwMode="auto">
          <a:xfrm>
            <a:off x="106172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000054"/>
              </a:buClr>
              <a:buSzPct val="70000"/>
              <a:buFont typeface="Wingdings" panose="05000000000000000000" pitchFamily="2" charset="2"/>
              <a:buNone/>
            </a:pPr>
            <a:endParaRPr lang="zh-CN" altLang="en-US" sz="2400" b="1" smtClean="0">
              <a:solidFill>
                <a:srgbClr val="000054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9"/>
            <a:ext cx="100584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4434" y="981075"/>
            <a:ext cx="11523133" cy="547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453188"/>
            <a:ext cx="2844800" cy="25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0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FFFF66"/>
              </a:solidFill>
            </a:endParaRP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453188"/>
            <a:ext cx="3860800" cy="25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SzTx/>
              <a:buFontTx/>
              <a:buNone/>
              <a:defRPr sz="10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FFFF66"/>
              </a:solidFill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03267" y="6489701"/>
            <a:ext cx="2844800" cy="25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0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fontAlgn="base">
              <a:spcAft>
                <a:spcPct val="0"/>
              </a:spcAft>
            </a:pPr>
            <a:fld id="{6C0BB67A-27FA-4C67-851A-9DC3FA391F2F}" type="slidenum">
              <a:rPr lang="en-US" altLang="zh-CN" smtClean="0">
                <a:solidFill>
                  <a:srgbClr val="FFFF66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lang="en-US" altLang="zh-CN" smtClean="0">
              <a:solidFill>
                <a:srgbClr val="FFFF66"/>
              </a:solidFill>
            </a:endParaRPr>
          </a:p>
        </p:txBody>
      </p:sp>
      <p:grpSp>
        <p:nvGrpSpPr>
          <p:cNvPr id="5128" name="Group 8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5129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0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1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2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3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4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5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6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7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8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39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0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1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2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3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4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5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6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7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8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49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0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1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2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3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4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5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6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7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8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  <p:sp>
          <p:nvSpPr>
            <p:cNvPr id="5159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000054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en-US" sz="2400" b="1" smtClean="0">
                <a:solidFill>
                  <a:srgbClr val="000054"/>
                </a:solidFill>
              </a:endParaRPr>
            </a:p>
          </p:txBody>
        </p:sp>
      </p:grpSp>
      <p:pic>
        <p:nvPicPr>
          <p:cNvPr id="5160" name="Picture 40" descr="ppt_bg"/>
          <p:cNvPicPr>
            <a:picLocks noChangeAspect="1" noChangeArrowheads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6160080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78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3200" b="1" kern="1200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692150" indent="-347663" algn="l" rtl="0" fontAlgn="base">
        <a:spcBef>
          <a:spcPct val="20000"/>
        </a:spcBef>
        <a:spcAft>
          <a:spcPct val="0"/>
        </a:spcAft>
        <a:buClr>
          <a:srgbClr val="FF99FF"/>
        </a:buClr>
        <a:buSzPct val="70000"/>
        <a:buFont typeface="Wingdings" panose="05000000000000000000" pitchFamily="2" charset="2"/>
        <a:buChar char="l"/>
        <a:defRPr sz="28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987425" indent="-293688" algn="l" rtl="0" fontAlgn="base">
        <a:spcBef>
          <a:spcPct val="20000"/>
        </a:spcBef>
        <a:spcAft>
          <a:spcPct val="0"/>
        </a:spcAft>
        <a:buClr>
          <a:srgbClr val="00FF00"/>
        </a:buClr>
        <a:buSzPct val="70000"/>
        <a:buFont typeface="Wingdings" panose="05000000000000000000" pitchFamily="2" charset="2"/>
        <a:buChar char="u"/>
        <a:defRPr sz="24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281113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4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1598613" indent="-315913" algn="l" rtl="0" fontAlgn="base">
        <a:spcBef>
          <a:spcPct val="20000"/>
        </a:spcBef>
        <a:spcAft>
          <a:spcPct val="0"/>
        </a:spcAft>
        <a:buClr>
          <a:srgbClr val="FFFFFF"/>
        </a:buClr>
        <a:buSzPct val="80000"/>
        <a:buFont typeface="Wingdings" panose="05000000000000000000" pitchFamily="2" charset="2"/>
        <a:buChar char="Ø"/>
        <a:defRPr sz="2000" b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4597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597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kumimoji="1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4597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SzTx/>
              <a:buFontTx/>
              <a:buNone/>
              <a:defRPr kumimoji="1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4597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kumimoji="1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fontAlgn="base">
              <a:spcAft>
                <a:spcPct val="0"/>
              </a:spcAft>
            </a:pPr>
            <a:fld id="{3C6D6F0C-2B97-467D-A0BD-E656AC1471E3}" type="slidenum">
              <a:rPr lang="en-US" altLang="zh-CN" smtClean="0">
                <a:solidFill>
                  <a:srgbClr val="000000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6068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4597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597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kumimoji="1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4597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SzTx/>
              <a:buFontTx/>
              <a:buNone/>
              <a:defRPr kumimoji="1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4597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kumimoji="1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fontAlgn="base">
              <a:spcAft>
                <a:spcPct val="0"/>
              </a:spcAft>
            </a:pPr>
            <a:fld id="{3C6D6F0C-2B97-467D-A0BD-E656AC1471E3}" type="slidenum">
              <a:rPr lang="en-US" altLang="zh-CN" smtClean="0">
                <a:solidFill>
                  <a:srgbClr val="000000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399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9266" name="Picture 2" descr="ppt_b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926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503085" y="0"/>
            <a:ext cx="8477249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77926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77926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effectLst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77927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effectLst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77927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ffectLst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33C9A19-84A2-441C-8897-CF7DDD77051C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166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000" b="1" kern="1200">
          <a:solidFill>
            <a:srgbClr val="FFFF0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32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800" b="1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•"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•"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5826" name="Picture 2" descr="ppt_b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458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503085" y="0"/>
            <a:ext cx="8477249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8458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8458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effectLst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458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effectLst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458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ffectLst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FCC9321-D69F-4A64-96AF-E6B7A8F42028}" type="slidenum">
              <a:rPr lang="en-US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198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000" b="1" kern="1200">
          <a:solidFill>
            <a:srgbClr val="FFFF0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FFFF00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32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800" b="1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•"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•"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B6C943A-BAAA-4DC5-9A27-5F21E2365E13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551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mtClean="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DE43EFC-9BCE-48A9-AAAD-0EB0EC44C117}" type="slidenum">
              <a:rPr kumimoji="1"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CN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302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2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74184" y="457200"/>
            <a:ext cx="10860616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Slide Title</a:t>
            </a:r>
          </a:p>
        </p:txBody>
      </p:sp>
      <p:sp>
        <p:nvSpPr>
          <p:cNvPr id="1334275" name="Rectangle 3"/>
          <p:cNvSpPr>
            <a:spLocks noChangeArrowheads="1"/>
          </p:cNvSpPr>
          <p:nvPr/>
        </p:nvSpPr>
        <p:spPr bwMode="auto">
          <a:xfrm>
            <a:off x="0" y="0"/>
            <a:ext cx="12192000" cy="177800"/>
          </a:xfrm>
          <a:prstGeom prst="rect">
            <a:avLst/>
          </a:prstGeom>
          <a:solidFill>
            <a:srgbClr val="015F8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endParaRPr lang="zh-CN" altLang="en-US" sz="2400" i="1" smtClean="0">
              <a:solidFill>
                <a:srgbClr val="000000"/>
              </a:solidFill>
            </a:endParaRPr>
          </a:p>
        </p:txBody>
      </p:sp>
      <p:sp>
        <p:nvSpPr>
          <p:cNvPr id="1334276" name="Rectangle 4"/>
          <p:cNvSpPr>
            <a:spLocks noChangeArrowheads="1"/>
          </p:cNvSpPr>
          <p:nvPr/>
        </p:nvSpPr>
        <p:spPr bwMode="auto">
          <a:xfrm>
            <a:off x="11566372" y="6624363"/>
            <a:ext cx="322946" cy="236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b">
            <a:spAutoFit/>
          </a:bodyPr>
          <a:lstStyle>
            <a:lvl1pPr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06400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14388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22375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30363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fontAlgn="base" hangingPunct="0">
              <a:spcAft>
                <a:spcPct val="0"/>
              </a:spcAft>
            </a:pPr>
            <a:fld id="{F783EE2E-3158-4F4F-9F3F-119AF15F4FBA}" type="slidenum">
              <a:rPr lang="zh-CN" altLang="en-US" sz="1000" smtClean="0">
                <a:solidFill>
                  <a:srgbClr val="D3D3D3"/>
                </a:solidFill>
                <a:ea typeface="宋体" panose="02010600030101010101" pitchFamily="2" charset="-122"/>
              </a:rPr>
              <a:pPr algn="r" eaLnBrk="0" fontAlgn="base" hangingPunct="0">
                <a:spcAft>
                  <a:spcPct val="0"/>
                </a:spcAft>
              </a:pPr>
              <a:t>‹#›</a:t>
            </a:fld>
            <a:endParaRPr lang="en-US" altLang="zh-CN" sz="1000" smtClean="0">
              <a:solidFill>
                <a:srgbClr val="D3D3D3"/>
              </a:solidFill>
              <a:ea typeface="宋体" panose="02010600030101010101" pitchFamily="2" charset="-122"/>
            </a:endParaRPr>
          </a:p>
        </p:txBody>
      </p:sp>
      <p:sp>
        <p:nvSpPr>
          <p:cNvPr id="133427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874185" y="1781176"/>
            <a:ext cx="10587567" cy="357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06774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Body Text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334279" name="Rectangle 7"/>
          <p:cNvSpPr>
            <a:spLocks noChangeArrowheads="1"/>
          </p:cNvSpPr>
          <p:nvPr/>
        </p:nvSpPr>
        <p:spPr bwMode="auto">
          <a:xfrm>
            <a:off x="3898900" y="6615453"/>
            <a:ext cx="1345662" cy="206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b" anchorCtr="1">
            <a:spAutoFit/>
          </a:bodyPr>
          <a:lstStyle>
            <a:lvl1pPr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06400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14388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22375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30363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zh-CN" altLang="en-US" sz="800" smtClean="0">
                <a:solidFill>
                  <a:srgbClr val="0183B7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思科网络技术学院理事会</a:t>
            </a:r>
            <a:r>
              <a:rPr lang="en-US" altLang="zh-CN" sz="800" smtClean="0">
                <a:solidFill>
                  <a:srgbClr val="0183B7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.</a:t>
            </a:r>
          </a:p>
        </p:txBody>
      </p:sp>
      <p:sp>
        <p:nvSpPr>
          <p:cNvPr id="1334280" name="Rectangle 8"/>
          <p:cNvSpPr>
            <a:spLocks noChangeArrowheads="1"/>
          </p:cNvSpPr>
          <p:nvPr/>
        </p:nvSpPr>
        <p:spPr bwMode="auto">
          <a:xfrm>
            <a:off x="6102135" y="6615453"/>
            <a:ext cx="1204598" cy="206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b">
            <a:spAutoFit/>
          </a:bodyPr>
          <a:lstStyle>
            <a:lvl1pPr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06400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14388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22375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30363" algn="l" defTabSz="814388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fontAlgn="base" hangingPunct="0">
              <a:spcAft>
                <a:spcPct val="0"/>
              </a:spcAft>
            </a:pPr>
            <a:r>
              <a:rPr lang="en-US" altLang="zh-CN" sz="800" smtClean="0">
                <a:solidFill>
                  <a:srgbClr val="0183B7"/>
                </a:solidFill>
                <a:ea typeface="宋体" panose="02010600030101010101" pitchFamily="2" charset="-122"/>
                <a:hlinkClick r:id="rId13"/>
              </a:rPr>
              <a:t>http://www.catc.edu.cn</a:t>
            </a:r>
            <a:endParaRPr lang="en-US" altLang="zh-CN" sz="800" smtClean="0">
              <a:solidFill>
                <a:srgbClr val="0183B7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0406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</p:sldLayoutIdLst>
  <p:timing>
    <p:tnLst>
      <p:par>
        <p:cTn id="1" dur="indefinite" restart="never" nodeType="tmRoot"/>
      </p:par>
    </p:tnLst>
  </p:timing>
  <p:txStyles>
    <p:titleStyle>
      <a:lvl1pPr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2pPr>
      <a:lvl3pPr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3pPr>
      <a:lvl4pPr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4pPr>
      <a:lvl5pPr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46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5412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41.jpeg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2.png"/><Relationship Id="rId4" Type="http://schemas.openxmlformats.org/officeDocument/2006/relationships/oleObject" Target="../embeddings/oleObject2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jpeg"/><Relationship Id="rId7" Type="http://schemas.openxmlformats.org/officeDocument/2006/relationships/image" Target="../media/image53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slideLayout" Target="../slideLayouts/slideLayout6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wmf"/><Relationship Id="rId4" Type="http://schemas.openxmlformats.org/officeDocument/2006/relationships/image" Target="../media/image58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65.png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64.wmf"/><Relationship Id="rId4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 bwMode="auto">
          <a:xfrm>
            <a:off x="1049820" y="1524732"/>
            <a:ext cx="10256935" cy="4202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530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</a:t>
            </a:r>
            <a:r>
              <a:rPr lang="en-US" altLang="zh-CN" sz="530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br>
              <a:rPr lang="en-US" altLang="zh-CN" sz="530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530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使用交换机组建简单局域网络</a:t>
            </a:r>
            <a:endParaRPr lang="zh-CN" altLang="en-US" sz="44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2301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962025" y="2627313"/>
            <a:ext cx="10515600" cy="1325562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b="1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局域网</a:t>
            </a:r>
            <a:r>
              <a:rPr lang="en-US" altLang="zh-CN" sz="4000" b="1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en-US" sz="4000" b="1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以太网</a:t>
            </a:r>
            <a:endParaRPr lang="zh-CN" altLang="en-US" sz="4000" b="1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7830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8870" y="1155908"/>
            <a:ext cx="10058400" cy="858837"/>
          </a:xfrm>
        </p:spPr>
        <p:txBody>
          <a:bodyPr>
            <a:normAutofit/>
          </a:bodyPr>
          <a:lstStyle/>
          <a:p>
            <a:pPr algn="ctr"/>
            <a:r>
              <a:rPr lang="en-US" altLang="zh-CN" sz="2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LAN—</a:t>
            </a:r>
            <a:r>
              <a:rPr lang="zh-CN" altLang="en-US" sz="28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局域网</a:t>
            </a:r>
            <a:endParaRPr lang="zh-CN" altLang="en-US" sz="28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8867" y="2252580"/>
            <a:ext cx="11523133" cy="2987329"/>
          </a:xfrm>
        </p:spPr>
        <p:txBody>
          <a:bodyPr>
            <a:normAutofit/>
          </a:bodyPr>
          <a:lstStyle/>
          <a:p>
            <a:pPr lvl="1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54"/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rgbClr val="0000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地理</a:t>
            </a:r>
            <a:r>
              <a:rPr lang="zh-CN" altLang="en-US" b="1" dirty="0">
                <a:solidFill>
                  <a:srgbClr val="0000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范围小（几百</a:t>
            </a:r>
            <a:r>
              <a:rPr lang="zh-CN" altLang="en-US" b="1" dirty="0" smtClean="0">
                <a:solidFill>
                  <a:srgbClr val="0000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米</a:t>
            </a:r>
            <a:r>
              <a:rPr lang="en-US" altLang="zh-CN" b="1" dirty="0">
                <a:solidFill>
                  <a:srgbClr val="000054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~</a:t>
            </a:r>
            <a:r>
              <a:rPr lang="zh-CN" altLang="en-US" b="1" dirty="0" smtClean="0">
                <a:solidFill>
                  <a:srgbClr val="0000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几</a:t>
            </a:r>
            <a:r>
              <a:rPr lang="zh-CN" altLang="en-US" b="1" dirty="0">
                <a:solidFill>
                  <a:srgbClr val="0000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公里），办公室、楼</a:t>
            </a:r>
            <a:r>
              <a:rPr lang="zh-CN" altLang="en-US" b="1" dirty="0" smtClean="0">
                <a:solidFill>
                  <a:srgbClr val="0000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endParaRPr lang="en-US" altLang="zh-CN" b="1" dirty="0" smtClean="0">
              <a:solidFill>
                <a:srgbClr val="00005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54"/>
              </a:buClr>
              <a:buSzPct val="70000"/>
              <a:buFont typeface="Arial" panose="020B0604020202020204" pitchFamily="34" charset="0"/>
              <a:buChar char="•"/>
            </a:pPr>
            <a:endParaRPr lang="zh-CN" altLang="en-US" b="1" dirty="0">
              <a:solidFill>
                <a:srgbClr val="00005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54"/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以广播型网络</a:t>
            </a:r>
            <a:r>
              <a:rPr lang="zh-CN" altLang="en-US" b="1" dirty="0" smtClean="0">
                <a:solidFill>
                  <a:srgbClr val="0000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为主</a:t>
            </a:r>
            <a:endParaRPr lang="en-US" altLang="zh-CN" b="1" dirty="0" smtClean="0">
              <a:solidFill>
                <a:srgbClr val="00005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54"/>
              </a:buClr>
              <a:buSzPct val="70000"/>
              <a:buFont typeface="Arial" panose="020B0604020202020204" pitchFamily="34" charset="0"/>
              <a:buChar char="•"/>
            </a:pPr>
            <a:endParaRPr lang="en-US" altLang="zh-CN" b="1" dirty="0" smtClean="0">
              <a:solidFill>
                <a:srgbClr val="00005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54"/>
              </a:buClr>
              <a:buSzPct val="70000"/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0000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以太网、令牌环、</a:t>
            </a:r>
            <a:r>
              <a:rPr lang="en-US" altLang="zh-CN" dirty="0" smtClean="0">
                <a:solidFill>
                  <a:srgbClr val="0000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FDDI</a:t>
            </a:r>
            <a:r>
              <a:rPr lang="zh-CN" altLang="en-US" dirty="0" smtClean="0">
                <a:solidFill>
                  <a:srgbClr val="0000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</a:t>
            </a:r>
            <a:endParaRPr lang="en-US" altLang="zh-CN" b="1" dirty="0">
              <a:solidFill>
                <a:srgbClr val="00005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92150" lvl="1" indent="-347663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54"/>
              </a:buClr>
              <a:buSzPct val="70000"/>
              <a:buFont typeface="Wingdings" panose="05000000000000000000" pitchFamily="2" charset="2"/>
              <a:buChar char="l"/>
            </a:pPr>
            <a:endParaRPr lang="zh-CN" altLang="en-US" sz="1000" b="1" dirty="0">
              <a:solidFill>
                <a:srgbClr val="00005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 bwMode="auto">
          <a:xfrm>
            <a:off x="1452438" y="169946"/>
            <a:ext cx="100584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zh-CN" altLang="en-US" dirty="0"/>
              <a:t>计算机网络与互联网</a:t>
            </a:r>
          </a:p>
        </p:txBody>
      </p:sp>
    </p:spTree>
    <p:extLst>
      <p:ext uri="{BB962C8B-B14F-4D97-AF65-F5344CB8AC3E}">
        <p14:creationId xmlns:p14="http://schemas.microsoft.com/office/powerpoint/2010/main" val="40142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2" name="Group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880035"/>
              </p:ext>
            </p:extLst>
          </p:nvPr>
        </p:nvGraphicFramePr>
        <p:xfrm>
          <a:off x="384238" y="1656119"/>
          <a:ext cx="7730940" cy="2746312"/>
        </p:xfrm>
        <a:graphic>
          <a:graphicData uri="http://schemas.openxmlformats.org/drawingml/2006/table">
            <a:tbl>
              <a:tblPr/>
              <a:tblGrid>
                <a:gridCol w="1359325"/>
                <a:gridCol w="1814140"/>
                <a:gridCol w="4557475"/>
              </a:tblGrid>
              <a:tr h="180975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对应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OSI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TCP/IP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TCP/IP </a:t>
                      </a: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主要协议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</a:tr>
              <a:tr h="474663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高层（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5-7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应用层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TELNET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FTP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SMTP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DNS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HTTP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NFS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SNMP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</a:tr>
              <a:tr h="477838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传输层（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传输层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                         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TCP   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UDP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</a:tr>
              <a:tr h="476250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网络层（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网际层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IGMP   ICMP        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IP 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ARP    RARP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</a:tr>
              <a:tr h="362489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低层（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1-2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网络接口层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可使用各种物理网络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以太网，</a:t>
                      </a:r>
                      <a:r>
                        <a:rPr kumimoji="0" lang="en-US" altLang="zh-CN" sz="1800" b="1" dirty="0" smtClean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FDDI      PPP    ATM     FR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</a:tr>
            </a:tbl>
          </a:graphicData>
        </a:graphic>
      </p:graphicFrame>
      <p:grpSp>
        <p:nvGrpSpPr>
          <p:cNvPr id="163" name="组合 162"/>
          <p:cNvGrpSpPr/>
          <p:nvPr/>
        </p:nvGrpSpPr>
        <p:grpSpPr>
          <a:xfrm>
            <a:off x="8575959" y="1671455"/>
            <a:ext cx="3282665" cy="3048376"/>
            <a:chOff x="4456113" y="2527300"/>
            <a:chExt cx="4440237" cy="3816350"/>
          </a:xfrm>
        </p:grpSpPr>
        <p:sp>
          <p:nvSpPr>
            <p:cNvPr id="164" name="Rectangle 4"/>
            <p:cNvSpPr>
              <a:spLocks noChangeArrowheads="1"/>
            </p:cNvSpPr>
            <p:nvPr/>
          </p:nvSpPr>
          <p:spPr bwMode="auto">
            <a:xfrm>
              <a:off x="4456113" y="2949576"/>
              <a:ext cx="1562100" cy="487363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65" name="Rectangle 5"/>
            <p:cNvSpPr>
              <a:spLocks noChangeArrowheads="1"/>
            </p:cNvSpPr>
            <p:nvPr/>
          </p:nvSpPr>
          <p:spPr bwMode="auto">
            <a:xfrm>
              <a:off x="4875214" y="3073400"/>
              <a:ext cx="728540" cy="269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</a:rPr>
                <a:t>应用层</a:t>
              </a:r>
              <a:endParaRPr lang="zh-CN" altLang="en-US" sz="1400" b="1">
                <a:solidFill>
                  <a:srgbClr val="CCCCFF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66" name="Rectangle 6"/>
            <p:cNvSpPr>
              <a:spLocks noChangeArrowheads="1"/>
            </p:cNvSpPr>
            <p:nvPr/>
          </p:nvSpPr>
          <p:spPr bwMode="auto">
            <a:xfrm>
              <a:off x="4456113" y="5856288"/>
              <a:ext cx="1562100" cy="487362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67" name="Rectangle 7"/>
            <p:cNvSpPr>
              <a:spLocks noChangeArrowheads="1"/>
            </p:cNvSpPr>
            <p:nvPr/>
          </p:nvSpPr>
          <p:spPr bwMode="auto">
            <a:xfrm>
              <a:off x="4875214" y="5980113"/>
              <a:ext cx="728540" cy="269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物理层</a:t>
              </a:r>
              <a:endParaRPr lang="zh-CN" altLang="en-US" sz="1400" b="1" dirty="0">
                <a:solidFill>
                  <a:srgbClr val="CCCCFF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68" name="Rectangle 8"/>
            <p:cNvSpPr>
              <a:spLocks noChangeArrowheads="1"/>
            </p:cNvSpPr>
            <p:nvPr/>
          </p:nvSpPr>
          <p:spPr bwMode="auto">
            <a:xfrm>
              <a:off x="4456113" y="5375276"/>
              <a:ext cx="1562100" cy="481013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69" name="Rectangle 9"/>
            <p:cNvSpPr>
              <a:spLocks noChangeArrowheads="1"/>
            </p:cNvSpPr>
            <p:nvPr/>
          </p:nvSpPr>
          <p:spPr bwMode="auto">
            <a:xfrm>
              <a:off x="4503738" y="5464175"/>
              <a:ext cx="1335656" cy="269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</a:t>
              </a:r>
              <a:r>
                <a:rPr lang="zh-CN" altLang="en-US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数据链路层</a:t>
              </a:r>
              <a:endParaRPr lang="zh-CN" altLang="en-US" sz="1400" b="1" dirty="0">
                <a:solidFill>
                  <a:srgbClr val="CCCCFF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70" name="Rectangle 10"/>
            <p:cNvSpPr>
              <a:spLocks noChangeArrowheads="1"/>
            </p:cNvSpPr>
            <p:nvPr/>
          </p:nvSpPr>
          <p:spPr bwMode="auto">
            <a:xfrm>
              <a:off x="4456113" y="4887913"/>
              <a:ext cx="1562100" cy="487362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71" name="Rectangle 11"/>
            <p:cNvSpPr>
              <a:spLocks noChangeArrowheads="1"/>
            </p:cNvSpPr>
            <p:nvPr/>
          </p:nvSpPr>
          <p:spPr bwMode="auto">
            <a:xfrm>
              <a:off x="4875214" y="5011738"/>
              <a:ext cx="728540" cy="269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网络层</a:t>
              </a:r>
              <a:endParaRPr lang="zh-CN" altLang="en-US" sz="1400" b="1" dirty="0">
                <a:solidFill>
                  <a:srgbClr val="CCCCFF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72" name="Rectangle 12"/>
            <p:cNvSpPr>
              <a:spLocks noChangeArrowheads="1"/>
            </p:cNvSpPr>
            <p:nvPr/>
          </p:nvSpPr>
          <p:spPr bwMode="auto">
            <a:xfrm>
              <a:off x="4456113" y="4405313"/>
              <a:ext cx="1562100" cy="482600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73" name="Rectangle 13"/>
            <p:cNvSpPr>
              <a:spLocks noChangeArrowheads="1"/>
            </p:cNvSpPr>
            <p:nvPr/>
          </p:nvSpPr>
          <p:spPr bwMode="auto">
            <a:xfrm>
              <a:off x="4875214" y="4524375"/>
              <a:ext cx="728540" cy="269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</a:rPr>
                <a:t>传输层</a:t>
              </a:r>
              <a:endParaRPr lang="zh-CN" altLang="en-US" sz="1400" b="1">
                <a:solidFill>
                  <a:srgbClr val="CCCCFF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74" name="Rectangle 14"/>
            <p:cNvSpPr>
              <a:spLocks noChangeArrowheads="1"/>
            </p:cNvSpPr>
            <p:nvPr/>
          </p:nvSpPr>
          <p:spPr bwMode="auto">
            <a:xfrm>
              <a:off x="4456113" y="3919539"/>
              <a:ext cx="1562100" cy="485775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75" name="Rectangle 15"/>
            <p:cNvSpPr>
              <a:spLocks noChangeArrowheads="1"/>
            </p:cNvSpPr>
            <p:nvPr/>
          </p:nvSpPr>
          <p:spPr bwMode="auto">
            <a:xfrm>
              <a:off x="4875214" y="4041775"/>
              <a:ext cx="728540" cy="269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</a:rPr>
                <a:t>会话层</a:t>
              </a:r>
              <a:endParaRPr lang="zh-CN" altLang="en-US" sz="1400" b="1">
                <a:solidFill>
                  <a:srgbClr val="CCCCFF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76" name="Rectangle 16"/>
            <p:cNvSpPr>
              <a:spLocks noChangeArrowheads="1"/>
            </p:cNvSpPr>
            <p:nvPr/>
          </p:nvSpPr>
          <p:spPr bwMode="auto">
            <a:xfrm>
              <a:off x="4456113" y="3436938"/>
              <a:ext cx="1562100" cy="482600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77" name="Rectangle 17"/>
            <p:cNvSpPr>
              <a:spLocks noChangeArrowheads="1"/>
            </p:cNvSpPr>
            <p:nvPr/>
          </p:nvSpPr>
          <p:spPr bwMode="auto">
            <a:xfrm>
              <a:off x="4875214" y="3556000"/>
              <a:ext cx="728540" cy="269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表示层</a:t>
              </a:r>
              <a:endParaRPr lang="zh-CN" altLang="en-US" sz="1400" b="1" dirty="0">
                <a:solidFill>
                  <a:srgbClr val="CCCCFF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78" name="Rectangle 18"/>
            <p:cNvSpPr>
              <a:spLocks noChangeArrowheads="1"/>
            </p:cNvSpPr>
            <p:nvPr/>
          </p:nvSpPr>
          <p:spPr bwMode="auto">
            <a:xfrm>
              <a:off x="4552950" y="2536825"/>
              <a:ext cx="1389863" cy="269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b="1" dirty="0">
                  <a:solidFill>
                    <a:srgbClr val="3333CC"/>
                  </a:solidFill>
                  <a:cs typeface="Times New Roman" panose="02020603050405020304" pitchFamily="18" charset="0"/>
                </a:rPr>
                <a:t>OSI</a:t>
              </a:r>
              <a:r>
                <a:rPr lang="zh-CN" altLang="en-US" sz="1400" b="1" dirty="0">
                  <a:solidFill>
                    <a:srgbClr val="3333CC"/>
                  </a:solidFill>
                  <a:cs typeface="Times New Roman" panose="02020603050405020304" pitchFamily="18" charset="0"/>
                </a:rPr>
                <a:t>参考模型</a:t>
              </a:r>
              <a:endParaRPr lang="zh-CN" altLang="en-US" sz="1400" b="1" dirty="0">
                <a:solidFill>
                  <a:srgbClr val="3333CC"/>
                </a:solidFill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9" name="Rectangle 19"/>
            <p:cNvSpPr>
              <a:spLocks noChangeArrowheads="1"/>
            </p:cNvSpPr>
            <p:nvPr/>
          </p:nvSpPr>
          <p:spPr bwMode="auto">
            <a:xfrm>
              <a:off x="7429500" y="2527300"/>
              <a:ext cx="1281449" cy="269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b="1" dirty="0">
                  <a:solidFill>
                    <a:srgbClr val="3333CC"/>
                  </a:solidFill>
                  <a:cs typeface="Times New Roman" panose="02020603050405020304" pitchFamily="18" charset="0"/>
                </a:rPr>
                <a:t>TCP/IP</a:t>
              </a:r>
              <a:r>
                <a:rPr lang="zh-CN" altLang="en-US" sz="1400" b="1" dirty="0">
                  <a:solidFill>
                    <a:srgbClr val="3333CC"/>
                  </a:solidFill>
                  <a:cs typeface="Times New Roman" panose="02020603050405020304" pitchFamily="18" charset="0"/>
                </a:rPr>
                <a:t>模型</a:t>
              </a:r>
              <a:endParaRPr lang="zh-CN" altLang="en-US" sz="1400" b="1" dirty="0">
                <a:solidFill>
                  <a:srgbClr val="3333CC"/>
                </a:solidFill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0" name="Rectangle 20"/>
            <p:cNvSpPr>
              <a:spLocks noChangeArrowheads="1"/>
            </p:cNvSpPr>
            <p:nvPr/>
          </p:nvSpPr>
          <p:spPr bwMode="auto">
            <a:xfrm>
              <a:off x="7334250" y="2949575"/>
              <a:ext cx="1562100" cy="1455738"/>
            </a:xfrm>
            <a:prstGeom prst="rect">
              <a:avLst/>
            </a:prstGeom>
            <a:solidFill>
              <a:srgbClr val="FF99FF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81" name="Rectangle 21"/>
            <p:cNvSpPr>
              <a:spLocks noChangeArrowheads="1"/>
            </p:cNvSpPr>
            <p:nvPr/>
          </p:nvSpPr>
          <p:spPr bwMode="auto">
            <a:xfrm>
              <a:off x="7753351" y="3556000"/>
              <a:ext cx="728540" cy="269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</a:rPr>
                <a:t>应用层</a:t>
              </a:r>
              <a:endParaRPr lang="zh-CN" altLang="en-US" sz="1400" b="1">
                <a:solidFill>
                  <a:srgbClr val="CCCCFF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82" name="Rectangle 22"/>
            <p:cNvSpPr>
              <a:spLocks noChangeArrowheads="1"/>
            </p:cNvSpPr>
            <p:nvPr/>
          </p:nvSpPr>
          <p:spPr bwMode="auto">
            <a:xfrm>
              <a:off x="7334250" y="5362576"/>
              <a:ext cx="1562100" cy="968375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83" name="Rectangle 23"/>
            <p:cNvSpPr>
              <a:spLocks noChangeArrowheads="1"/>
            </p:cNvSpPr>
            <p:nvPr/>
          </p:nvSpPr>
          <p:spPr bwMode="auto">
            <a:xfrm>
              <a:off x="7378700" y="5738813"/>
              <a:ext cx="1335656" cy="269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</a:t>
              </a:r>
              <a:r>
                <a:rPr lang="zh-CN" altLang="en-US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网络接口层</a:t>
              </a:r>
              <a:endParaRPr lang="zh-CN" altLang="en-US" sz="1400" b="1" dirty="0">
                <a:solidFill>
                  <a:srgbClr val="CCCCFF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84" name="Rectangle 24"/>
            <p:cNvSpPr>
              <a:spLocks noChangeArrowheads="1"/>
            </p:cNvSpPr>
            <p:nvPr/>
          </p:nvSpPr>
          <p:spPr bwMode="auto">
            <a:xfrm>
              <a:off x="7334250" y="4887913"/>
              <a:ext cx="1562100" cy="487362"/>
            </a:xfrm>
            <a:prstGeom prst="rect">
              <a:avLst/>
            </a:prstGeom>
            <a:solidFill>
              <a:srgbClr val="FFFF66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85" name="Rectangle 25"/>
            <p:cNvSpPr>
              <a:spLocks noChangeArrowheads="1"/>
            </p:cNvSpPr>
            <p:nvPr/>
          </p:nvSpPr>
          <p:spPr bwMode="auto">
            <a:xfrm>
              <a:off x="7753351" y="5011738"/>
              <a:ext cx="728540" cy="269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</a:rPr>
                <a:t>网络层</a:t>
              </a:r>
              <a:endParaRPr lang="zh-CN" altLang="en-US" sz="1400" b="1">
                <a:solidFill>
                  <a:srgbClr val="CCCCFF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86" name="Rectangle 26"/>
            <p:cNvSpPr>
              <a:spLocks noChangeArrowheads="1"/>
            </p:cNvSpPr>
            <p:nvPr/>
          </p:nvSpPr>
          <p:spPr bwMode="auto">
            <a:xfrm>
              <a:off x="7334250" y="4405313"/>
              <a:ext cx="1562100" cy="482600"/>
            </a:xfrm>
            <a:prstGeom prst="rect">
              <a:avLst/>
            </a:prstGeom>
            <a:solidFill>
              <a:srgbClr val="CCFFCC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87" name="Rectangle 27"/>
            <p:cNvSpPr>
              <a:spLocks noChangeArrowheads="1"/>
            </p:cNvSpPr>
            <p:nvPr/>
          </p:nvSpPr>
          <p:spPr bwMode="auto">
            <a:xfrm>
              <a:off x="7753351" y="4524375"/>
              <a:ext cx="728540" cy="269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</a:rPr>
                <a:t>传输层</a:t>
              </a:r>
              <a:endParaRPr lang="zh-CN" altLang="en-US" sz="1400" b="1">
                <a:solidFill>
                  <a:srgbClr val="CCCCFF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89" name="Line 29"/>
            <p:cNvSpPr>
              <a:spLocks noChangeShapeType="1"/>
            </p:cNvSpPr>
            <p:nvPr/>
          </p:nvSpPr>
          <p:spPr bwMode="auto">
            <a:xfrm flipV="1">
              <a:off x="6038850" y="4667251"/>
              <a:ext cx="1295400" cy="952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190" name="Line 30"/>
            <p:cNvSpPr>
              <a:spLocks noChangeShapeType="1"/>
            </p:cNvSpPr>
            <p:nvPr/>
          </p:nvSpPr>
          <p:spPr bwMode="auto">
            <a:xfrm flipV="1">
              <a:off x="6038850" y="5124451"/>
              <a:ext cx="1295400" cy="952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191" name="Line 31"/>
            <p:cNvSpPr>
              <a:spLocks noChangeShapeType="1"/>
            </p:cNvSpPr>
            <p:nvPr/>
          </p:nvSpPr>
          <p:spPr bwMode="auto">
            <a:xfrm flipV="1">
              <a:off x="6038850" y="5581651"/>
              <a:ext cx="1295400" cy="952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192" name="Line 32"/>
            <p:cNvSpPr>
              <a:spLocks noChangeShapeType="1"/>
            </p:cNvSpPr>
            <p:nvPr/>
          </p:nvSpPr>
          <p:spPr bwMode="auto">
            <a:xfrm flipV="1">
              <a:off x="6038850" y="6115051"/>
              <a:ext cx="1295400" cy="952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194" name="Text Box 35"/>
          <p:cNvSpPr txBox="1">
            <a:spLocks noChangeArrowheads="1"/>
          </p:cNvSpPr>
          <p:nvPr/>
        </p:nvSpPr>
        <p:spPr bwMode="auto">
          <a:xfrm>
            <a:off x="3992540" y="275760"/>
            <a:ext cx="625523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fontAlgn="base">
              <a:spcBef>
                <a:spcPct val="0"/>
              </a:spcBef>
              <a:spcAft>
                <a:spcPct val="0"/>
              </a:spcAft>
              <a:defRPr sz="40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en-US" altLang="zh-CN" dirty="0"/>
              <a:t>       Internet—TCP/IP</a:t>
            </a:r>
            <a:r>
              <a:rPr lang="zh-CN" altLang="en-US" dirty="0"/>
              <a:t>模型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358646" y="4430780"/>
            <a:ext cx="8900958" cy="2305885"/>
            <a:chOff x="468313" y="2133600"/>
            <a:chExt cx="8207375" cy="3602038"/>
          </a:xfrm>
        </p:grpSpPr>
        <p:sp>
          <p:nvSpPr>
            <p:cNvPr id="51" name="Rectangle 4"/>
            <p:cNvSpPr>
              <a:spLocks noChangeArrowheads="1"/>
            </p:cNvSpPr>
            <p:nvPr/>
          </p:nvSpPr>
          <p:spPr bwMode="auto">
            <a:xfrm>
              <a:off x="468313" y="4727575"/>
              <a:ext cx="8207375" cy="960438"/>
            </a:xfrm>
            <a:prstGeom prst="rect">
              <a:avLst/>
            </a:prstGeom>
            <a:solidFill>
              <a:srgbClr val="E7E7E7"/>
            </a:solidFill>
            <a:ln w="9525">
              <a:solidFill>
                <a:srgbClr val="FFFFFF"/>
              </a:solidFill>
              <a:prstDash val="dash"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anklin Gothic Medium" panose="020B0603020102020204" pitchFamily="34" charset="0"/>
              </a:endParaRPr>
            </a:p>
          </p:txBody>
        </p:sp>
        <p:sp>
          <p:nvSpPr>
            <p:cNvPr id="52" name="Rectangle 5"/>
            <p:cNvSpPr>
              <a:spLocks noChangeArrowheads="1"/>
            </p:cNvSpPr>
            <p:nvPr/>
          </p:nvSpPr>
          <p:spPr bwMode="auto">
            <a:xfrm>
              <a:off x="468313" y="3432175"/>
              <a:ext cx="8207375" cy="1176338"/>
            </a:xfrm>
            <a:prstGeom prst="rect">
              <a:avLst/>
            </a:prstGeom>
            <a:solidFill>
              <a:srgbClr val="E7E7E7"/>
            </a:solidFill>
            <a:ln w="9525">
              <a:solidFill>
                <a:srgbClr val="FFFFFF"/>
              </a:solidFill>
              <a:prstDash val="dash"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anklin Gothic Medium" panose="020B0603020102020204" pitchFamily="34" charset="0"/>
              </a:endParaRPr>
            </a:p>
          </p:txBody>
        </p:sp>
        <p:sp>
          <p:nvSpPr>
            <p:cNvPr id="53" name="Rectangle 6"/>
            <p:cNvSpPr>
              <a:spLocks noChangeArrowheads="1"/>
            </p:cNvSpPr>
            <p:nvPr/>
          </p:nvSpPr>
          <p:spPr bwMode="auto">
            <a:xfrm>
              <a:off x="4383088" y="3673475"/>
              <a:ext cx="1628775" cy="719138"/>
            </a:xfrm>
            <a:prstGeom prst="rect">
              <a:avLst/>
            </a:prstGeom>
            <a:solidFill>
              <a:srgbClr val="F5DA7F"/>
            </a:solidFill>
            <a:ln w="9525">
              <a:solidFill>
                <a:srgbClr val="FFCC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lIns="73025" tIns="36512" rIns="73025" bIns="36512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IP</a:t>
              </a:r>
            </a:p>
          </p:txBody>
        </p:sp>
        <p:sp>
          <p:nvSpPr>
            <p:cNvPr id="54" name="Rectangle 7"/>
            <p:cNvSpPr>
              <a:spLocks noChangeArrowheads="1"/>
            </p:cNvSpPr>
            <p:nvPr/>
          </p:nvSpPr>
          <p:spPr bwMode="auto">
            <a:xfrm>
              <a:off x="2439988" y="4895850"/>
              <a:ext cx="1628775" cy="576263"/>
            </a:xfrm>
            <a:prstGeom prst="rect">
              <a:avLst/>
            </a:prstGeom>
            <a:solidFill>
              <a:srgbClr val="F5DA7F"/>
            </a:solidFill>
            <a:ln w="9525">
              <a:solidFill>
                <a:srgbClr val="FFCC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lIns="73025" tIns="36512" rIns="73025" bIns="36512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LANs</a:t>
              </a:r>
            </a:p>
          </p:txBody>
        </p:sp>
        <p:sp>
          <p:nvSpPr>
            <p:cNvPr id="55" name="Rectangle 8"/>
            <p:cNvSpPr>
              <a:spLocks noChangeArrowheads="1"/>
            </p:cNvSpPr>
            <p:nvPr/>
          </p:nvSpPr>
          <p:spPr bwMode="auto">
            <a:xfrm>
              <a:off x="4383088" y="4895850"/>
              <a:ext cx="1628775" cy="576263"/>
            </a:xfrm>
            <a:prstGeom prst="rect">
              <a:avLst/>
            </a:prstGeom>
            <a:solidFill>
              <a:srgbClr val="F5DA7F"/>
            </a:solidFill>
            <a:ln w="9525">
              <a:solidFill>
                <a:srgbClr val="FFCC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lIns="73025" tIns="36512" rIns="73025" bIns="36512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MANs</a:t>
              </a:r>
            </a:p>
          </p:txBody>
        </p:sp>
        <p:sp>
          <p:nvSpPr>
            <p:cNvPr id="56" name="Rectangle 9"/>
            <p:cNvSpPr>
              <a:spLocks noChangeArrowheads="1"/>
            </p:cNvSpPr>
            <p:nvPr/>
          </p:nvSpPr>
          <p:spPr bwMode="auto">
            <a:xfrm>
              <a:off x="6327775" y="4895850"/>
              <a:ext cx="1628775" cy="576263"/>
            </a:xfrm>
            <a:prstGeom prst="rect">
              <a:avLst/>
            </a:prstGeom>
            <a:solidFill>
              <a:srgbClr val="F5DA7F"/>
            </a:solidFill>
            <a:ln w="9525">
              <a:solidFill>
                <a:srgbClr val="FFCC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lIns="73025" tIns="36512" rIns="73025" bIns="36512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WANs</a:t>
              </a:r>
            </a:p>
          </p:txBody>
        </p:sp>
        <p:sp>
          <p:nvSpPr>
            <p:cNvPr id="57" name="Rectangle 10"/>
            <p:cNvSpPr>
              <a:spLocks noChangeArrowheads="1"/>
            </p:cNvSpPr>
            <p:nvPr/>
          </p:nvSpPr>
          <p:spPr bwMode="auto">
            <a:xfrm>
              <a:off x="1908175" y="3576638"/>
              <a:ext cx="1008063" cy="503237"/>
            </a:xfrm>
            <a:prstGeom prst="rect">
              <a:avLst/>
            </a:prstGeom>
            <a:solidFill>
              <a:srgbClr val="F5DA7F"/>
            </a:solidFill>
            <a:ln w="9525">
              <a:solidFill>
                <a:srgbClr val="FFCC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lIns="73025" tIns="36512" rIns="73025" bIns="36512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ICMP</a:t>
              </a:r>
            </a:p>
          </p:txBody>
        </p:sp>
        <p:sp>
          <p:nvSpPr>
            <p:cNvPr id="58" name="Rectangle 11"/>
            <p:cNvSpPr>
              <a:spLocks noChangeArrowheads="1"/>
            </p:cNvSpPr>
            <p:nvPr/>
          </p:nvSpPr>
          <p:spPr bwMode="auto">
            <a:xfrm>
              <a:off x="3132138" y="3576638"/>
              <a:ext cx="1008062" cy="503237"/>
            </a:xfrm>
            <a:prstGeom prst="rect">
              <a:avLst/>
            </a:prstGeom>
            <a:solidFill>
              <a:srgbClr val="F5DA7F"/>
            </a:solidFill>
            <a:ln w="9525">
              <a:solidFill>
                <a:srgbClr val="FFCC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lIns="73025" tIns="36512" rIns="73025" bIns="36512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IGMP</a:t>
              </a:r>
            </a:p>
          </p:txBody>
        </p:sp>
        <p:sp>
          <p:nvSpPr>
            <p:cNvPr id="59" name="Rectangle 12"/>
            <p:cNvSpPr>
              <a:spLocks noChangeArrowheads="1"/>
            </p:cNvSpPr>
            <p:nvPr/>
          </p:nvSpPr>
          <p:spPr bwMode="auto">
            <a:xfrm>
              <a:off x="6227763" y="3960813"/>
              <a:ext cx="1009650" cy="506412"/>
            </a:xfrm>
            <a:prstGeom prst="rect">
              <a:avLst/>
            </a:prstGeom>
            <a:solidFill>
              <a:srgbClr val="F5DA7F"/>
            </a:solidFill>
            <a:ln w="9525">
              <a:solidFill>
                <a:srgbClr val="FFCC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lIns="73025" tIns="36512" rIns="73025" bIns="36512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ARP</a:t>
              </a:r>
            </a:p>
          </p:txBody>
        </p:sp>
        <p:sp>
          <p:nvSpPr>
            <p:cNvPr id="60" name="Rectangle 13"/>
            <p:cNvSpPr>
              <a:spLocks noChangeArrowheads="1"/>
            </p:cNvSpPr>
            <p:nvPr/>
          </p:nvSpPr>
          <p:spPr bwMode="auto">
            <a:xfrm>
              <a:off x="7450138" y="3960813"/>
              <a:ext cx="1009650" cy="506412"/>
            </a:xfrm>
            <a:prstGeom prst="rect">
              <a:avLst/>
            </a:prstGeom>
            <a:solidFill>
              <a:srgbClr val="F5DA7F"/>
            </a:solidFill>
            <a:ln w="9525">
              <a:solidFill>
                <a:srgbClr val="FFCC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lIns="73025" tIns="36512" rIns="73025" bIns="36512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RARP</a:t>
              </a:r>
            </a:p>
          </p:txBody>
        </p:sp>
        <p:sp>
          <p:nvSpPr>
            <p:cNvPr id="61" name="Text Box 18"/>
            <p:cNvSpPr txBox="1">
              <a:spLocks noChangeArrowheads="1"/>
            </p:cNvSpPr>
            <p:nvPr/>
          </p:nvSpPr>
          <p:spPr bwMode="auto">
            <a:xfrm>
              <a:off x="539750" y="3673475"/>
              <a:ext cx="1279525" cy="676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Franklin Gothic Medium" panose="020B0603020102020204" pitchFamily="34" charset="0"/>
                </a:rPr>
                <a:t>Network</a:t>
              </a:r>
            </a:p>
            <a:p>
              <a:pPr marL="0" marR="0" lvl="0" indent="0" defTabSz="91440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Franklin Gothic Medium" panose="020B0603020102020204" pitchFamily="34" charset="0"/>
                </a:rPr>
                <a:t>Layer</a:t>
              </a:r>
            </a:p>
          </p:txBody>
        </p:sp>
        <p:sp>
          <p:nvSpPr>
            <p:cNvPr id="62" name="Text Box 19"/>
            <p:cNvSpPr txBox="1">
              <a:spLocks noChangeArrowheads="1"/>
            </p:cNvSpPr>
            <p:nvPr/>
          </p:nvSpPr>
          <p:spPr bwMode="auto">
            <a:xfrm>
              <a:off x="539750" y="4767263"/>
              <a:ext cx="1279525" cy="968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Franklin Gothic Medium" panose="020B0603020102020204" pitchFamily="34" charset="0"/>
                </a:rPr>
                <a:t>Network</a:t>
              </a:r>
            </a:p>
            <a:p>
              <a:pPr marL="0" marR="0" lvl="0" indent="0" defTabSz="91440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Franklin Gothic Medium" panose="020B0603020102020204" pitchFamily="34" charset="0"/>
                </a:rPr>
                <a:t>Access</a:t>
              </a:r>
            </a:p>
            <a:p>
              <a:pPr marL="0" marR="0" lvl="0" indent="0" defTabSz="91440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Franklin Gothic Medium" panose="020B0603020102020204" pitchFamily="34" charset="0"/>
                </a:rPr>
                <a:t>Layer</a:t>
              </a:r>
            </a:p>
          </p:txBody>
        </p:sp>
        <p:sp>
          <p:nvSpPr>
            <p:cNvPr id="63" name="Rectangle 20"/>
            <p:cNvSpPr>
              <a:spLocks noChangeArrowheads="1"/>
            </p:cNvSpPr>
            <p:nvPr/>
          </p:nvSpPr>
          <p:spPr bwMode="auto">
            <a:xfrm>
              <a:off x="468313" y="2782888"/>
              <a:ext cx="8207375" cy="506412"/>
            </a:xfrm>
            <a:prstGeom prst="rect">
              <a:avLst/>
            </a:prstGeom>
            <a:solidFill>
              <a:srgbClr val="E7E7E7"/>
            </a:solidFill>
            <a:ln w="9525">
              <a:solidFill>
                <a:srgbClr val="FFFFFF"/>
              </a:solidFill>
              <a:prstDash val="dash"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Franklin Gothic Medium" panose="020B0603020102020204" pitchFamily="34" charset="0"/>
                </a:rPr>
                <a:t>Transport Layer</a:t>
              </a:r>
            </a:p>
          </p:txBody>
        </p:sp>
        <p:sp>
          <p:nvSpPr>
            <p:cNvPr id="64" name="Rectangle 21"/>
            <p:cNvSpPr>
              <a:spLocks noChangeArrowheads="1"/>
            </p:cNvSpPr>
            <p:nvPr/>
          </p:nvSpPr>
          <p:spPr bwMode="auto">
            <a:xfrm>
              <a:off x="468313" y="2133600"/>
              <a:ext cx="8207375" cy="506413"/>
            </a:xfrm>
            <a:prstGeom prst="rect">
              <a:avLst/>
            </a:prstGeom>
            <a:solidFill>
              <a:srgbClr val="E7E7E7"/>
            </a:solidFill>
            <a:ln w="9525">
              <a:solidFill>
                <a:srgbClr val="FFFFFF"/>
              </a:solidFill>
              <a:prstDash val="dash"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Franklin Gothic Medium" panose="020B0603020102020204" pitchFamily="34" charset="0"/>
                </a:rPr>
                <a:t>Application Layer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6437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cs typeface="Times New Roman" panose="02020603050405020304" pitchFamily="18" charset="0"/>
              </a:rPr>
              <a:t>以太网 </a:t>
            </a:r>
            <a:r>
              <a:rPr lang="en-US" altLang="zh-CN" dirty="0" smtClean="0">
                <a:cs typeface="Times New Roman" panose="02020603050405020304" pitchFamily="18" charset="0"/>
              </a:rPr>
              <a:t>—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Ethernet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68" y="3020324"/>
            <a:ext cx="6517182" cy="3595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46088" y="1535113"/>
            <a:ext cx="11212512" cy="1036637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32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SzPct val="70000"/>
              <a:buFont typeface="Wingdings" panose="05000000000000000000" pitchFamily="2" charset="2"/>
              <a:buChar char="l"/>
              <a:defRPr sz="28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Pct val="70000"/>
              <a:buFont typeface="Wingdings" panose="05000000000000000000" pitchFamily="2" charset="2"/>
              <a:buChar char="u"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80000"/>
              <a:buFont typeface="Wingdings" panose="05000000000000000000" pitchFamily="2" charset="2"/>
              <a:buChar char="Ø"/>
              <a:defRPr sz="20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rgbClr val="002060"/>
              </a:buClr>
            </a:pPr>
            <a:r>
              <a:rPr lang="zh-CN" altLang="en-US" sz="24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以太网（</a:t>
            </a:r>
            <a:r>
              <a:rPr lang="en-US" altLang="zh-CN" sz="24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Ethernet</a:t>
            </a:r>
            <a:r>
              <a:rPr lang="zh-CN" altLang="en-US" sz="24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）在 </a:t>
            </a:r>
            <a:r>
              <a:rPr lang="en-US" altLang="zh-CN" sz="24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OSI </a:t>
            </a:r>
            <a:r>
              <a:rPr lang="zh-CN" altLang="en-US" sz="24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模型的下两层，也就是数据链路层和物理层上运行。</a:t>
            </a:r>
            <a:endParaRPr lang="en-US" altLang="zh-CN" sz="24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buClr>
                <a:srgbClr val="002060"/>
              </a:buClr>
            </a:pPr>
            <a:r>
              <a:rPr lang="en-US" altLang="zh-CN" sz="2400" dirty="0" err="1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以太网使用</a:t>
            </a:r>
            <a:r>
              <a:rPr lang="zh-CN" altLang="en-US" sz="24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双绞线（</a:t>
            </a:r>
            <a:r>
              <a:rPr lang="en-US" altLang="zh-CN" sz="24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UTP</a:t>
            </a:r>
            <a:r>
              <a:rPr lang="zh-CN" altLang="en-US" sz="24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）或</a:t>
            </a:r>
            <a:r>
              <a:rPr lang="en-US" altLang="zh-CN" sz="2400" dirty="0" err="1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光缆</a:t>
            </a:r>
            <a:r>
              <a:rPr lang="zh-CN" altLang="en-US" sz="24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</a:t>
            </a:r>
            <a:r>
              <a:rPr lang="en-US" altLang="zh-CN" sz="2400" dirty="0" err="1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交换机等中间设备连接</a:t>
            </a:r>
            <a:r>
              <a:rPr lang="zh-CN" altLang="en-US" sz="24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计算机</a:t>
            </a:r>
            <a:r>
              <a:rPr lang="en-US" altLang="zh-CN" sz="24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4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buClr>
                <a:srgbClr val="002060"/>
              </a:buClr>
            </a:pPr>
            <a:endParaRPr lang="en-US" altLang="zh-CN" sz="2400" dirty="0" smtClean="0">
              <a:solidFill>
                <a:srgbClr val="00206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76" y="2778336"/>
            <a:ext cx="4381500" cy="4079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8392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0194" y="1427164"/>
            <a:ext cx="11639550" cy="1782761"/>
          </a:xfrm>
        </p:spPr>
        <p:txBody>
          <a:bodyPr/>
          <a:lstStyle/>
          <a:p>
            <a:pPr>
              <a:buClr>
                <a:srgbClr val="002060"/>
              </a:buClr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以太网使用载波侦听多路访问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冲突检测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(CSMA/CD)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来检测和处理冲突，并管理通信的恢复。</a:t>
            </a:r>
          </a:p>
          <a:p>
            <a:pPr>
              <a:buClr>
                <a:srgbClr val="002060"/>
              </a:buClr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设备可以确定能够发送的时间。当设备检测到没有其它计算机在传送帧或载波信号时，就会发送其要发送的内容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112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2563" y="2767014"/>
            <a:ext cx="5745162" cy="3995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733550" y="169864"/>
            <a:ext cx="10058400" cy="85883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以太网 </a:t>
            </a:r>
            <a:r>
              <a:rPr lang="en-US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— 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Ethernet</a:t>
            </a:r>
            <a:endParaRPr lang="zh-CN" altLang="en-US" dirty="0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95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63713"/>
            <a:ext cx="11249024" cy="4532312"/>
          </a:xfrm>
        </p:spPr>
        <p:txBody>
          <a:bodyPr/>
          <a:lstStyle/>
          <a:p>
            <a:pPr>
              <a:lnSpc>
                <a:spcPct val="85000"/>
              </a:lnSpc>
              <a:buClr>
                <a:srgbClr val="002060"/>
              </a:buClr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载波侦听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CSMA/CD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访问方法中，要发送报文的所有网络设备在发送之前必须侦听。</a:t>
            </a:r>
            <a:b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5000"/>
              </a:lnSpc>
              <a:buClr>
                <a:srgbClr val="002060"/>
              </a:buClr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多路访问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如果设备之间的距离导致一台设备的信号延时，则另一台设备可能没有检测到信号，从而也开始发送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5000"/>
              </a:lnSpc>
              <a:buClr>
                <a:srgbClr val="002060"/>
              </a:buClr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冲突检测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当设备处于侦听模式时，可以检测共享介质中发生的冲突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5000"/>
              </a:lnSpc>
              <a:buClr>
                <a:srgbClr val="002060"/>
              </a:buClr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堵塞信号和随机回退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---发送设备检测到冲突之后，将发出堵塞信号。这种堵塞信号用于通知其它设备发生了冲突，以便它们调用回退算法。回退算法将使所有设备在随机时间内停止发送，以让冲突消除。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733550" y="169864"/>
            <a:ext cx="10058400" cy="85883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以太网 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 Ethernet</a:t>
            </a:r>
            <a:endParaRPr lang="zh-CN" altLang="en-US" dirty="0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140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11438" y="1320801"/>
            <a:ext cx="7535862" cy="371475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载波侦听多路访问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冲突检测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(CSMA/CD)</a:t>
            </a:r>
          </a:p>
        </p:txBody>
      </p:sp>
      <p:pic>
        <p:nvPicPr>
          <p:cNvPr id="280587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1014" y="1759052"/>
            <a:ext cx="6661149" cy="2678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0588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1014" y="4229902"/>
            <a:ext cx="7056436" cy="2561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2197101" y="5195888"/>
            <a:ext cx="508000" cy="411108"/>
            <a:chOff x="2197101" y="5195888"/>
            <a:chExt cx="508000" cy="411108"/>
          </a:xfrm>
        </p:grpSpPr>
        <p:sp>
          <p:nvSpPr>
            <p:cNvPr id="14" name="Oval 8"/>
            <p:cNvSpPr>
              <a:spLocks noChangeArrowheads="1"/>
            </p:cNvSpPr>
            <p:nvPr/>
          </p:nvSpPr>
          <p:spPr bwMode="auto">
            <a:xfrm>
              <a:off x="2208214" y="5195888"/>
              <a:ext cx="475306" cy="411108"/>
            </a:xfrm>
            <a:prstGeom prst="ellipse">
              <a:avLst/>
            </a:prstGeom>
            <a:solidFill>
              <a:srgbClr val="000000"/>
            </a:solidFill>
            <a:ln w="9525" algn="ctr">
              <a:solidFill>
                <a:srgbClr val="0183B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2124" tIns="41061" rIns="82124" bIns="41061" anchor="ctr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</a:endParaRPr>
            </a:p>
          </p:txBody>
        </p:sp>
        <p:sp>
          <p:nvSpPr>
            <p:cNvPr id="15" name="Text Box 9"/>
            <p:cNvSpPr txBox="1">
              <a:spLocks noChangeArrowheads="1"/>
            </p:cNvSpPr>
            <p:nvPr/>
          </p:nvSpPr>
          <p:spPr bwMode="auto">
            <a:xfrm>
              <a:off x="2197101" y="5224462"/>
              <a:ext cx="508000" cy="332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2124" tIns="41061" rIns="82124" bIns="41061">
              <a:spAutoFit/>
            </a:bodyPr>
            <a:lstStyle>
              <a:lvl1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dirty="0" smtClean="0">
                  <a:solidFill>
                    <a:srgbClr val="FFFFFF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2155827" y="2737672"/>
            <a:ext cx="508000" cy="411108"/>
            <a:chOff x="2197101" y="5195888"/>
            <a:chExt cx="508000" cy="411108"/>
          </a:xfrm>
        </p:grpSpPr>
        <p:sp>
          <p:nvSpPr>
            <p:cNvPr id="18" name="Oval 8"/>
            <p:cNvSpPr>
              <a:spLocks noChangeArrowheads="1"/>
            </p:cNvSpPr>
            <p:nvPr/>
          </p:nvSpPr>
          <p:spPr bwMode="auto">
            <a:xfrm>
              <a:off x="2208214" y="5195888"/>
              <a:ext cx="475306" cy="411108"/>
            </a:xfrm>
            <a:prstGeom prst="ellipse">
              <a:avLst/>
            </a:prstGeom>
            <a:solidFill>
              <a:srgbClr val="000000"/>
            </a:solidFill>
            <a:ln w="9525" algn="ctr">
              <a:solidFill>
                <a:srgbClr val="0183B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2124" tIns="41061" rIns="82124" bIns="41061" anchor="ctr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</a:endParaRPr>
            </a:p>
          </p:txBody>
        </p:sp>
        <p:sp>
          <p:nvSpPr>
            <p:cNvPr id="19" name="Text Box 9"/>
            <p:cNvSpPr txBox="1">
              <a:spLocks noChangeArrowheads="1"/>
            </p:cNvSpPr>
            <p:nvPr/>
          </p:nvSpPr>
          <p:spPr bwMode="auto">
            <a:xfrm>
              <a:off x="2197101" y="5224462"/>
              <a:ext cx="508000" cy="332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2124" tIns="41061" rIns="82124" bIns="41061">
              <a:spAutoFit/>
            </a:bodyPr>
            <a:lstStyle>
              <a:lvl1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dirty="0">
                  <a:solidFill>
                    <a:srgbClr val="FFFFFF"/>
                  </a:solidFill>
                  <a:ea typeface="宋体" panose="02010600030101010101" pitchFamily="2" charset="-122"/>
                </a:rPr>
                <a:t>1</a:t>
              </a:r>
              <a:endParaRPr lang="en-US" altLang="zh-CN" sz="1800" dirty="0" smtClean="0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1733550" y="169864"/>
            <a:ext cx="10058400" cy="85883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以太网 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 Ethernet</a:t>
            </a:r>
            <a:endParaRPr lang="zh-CN" altLang="en-US" dirty="0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796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11438" y="1339851"/>
            <a:ext cx="7535862" cy="371475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载波侦听多路访问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冲突检测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(CSMA/CD)</a:t>
            </a:r>
          </a:p>
        </p:txBody>
      </p:sp>
      <p:pic>
        <p:nvPicPr>
          <p:cNvPr id="281612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951" y="1790701"/>
            <a:ext cx="6271810" cy="2686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1614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113" y="4365625"/>
            <a:ext cx="6511352" cy="2425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" name="组合 9"/>
          <p:cNvGrpSpPr/>
          <p:nvPr/>
        </p:nvGrpSpPr>
        <p:grpSpPr>
          <a:xfrm>
            <a:off x="2197101" y="5195888"/>
            <a:ext cx="508000" cy="411108"/>
            <a:chOff x="2197101" y="5195888"/>
            <a:chExt cx="508000" cy="411108"/>
          </a:xfrm>
        </p:grpSpPr>
        <p:sp>
          <p:nvSpPr>
            <p:cNvPr id="11" name="Oval 8"/>
            <p:cNvSpPr>
              <a:spLocks noChangeArrowheads="1"/>
            </p:cNvSpPr>
            <p:nvPr/>
          </p:nvSpPr>
          <p:spPr bwMode="auto">
            <a:xfrm>
              <a:off x="2208214" y="5195888"/>
              <a:ext cx="475306" cy="411108"/>
            </a:xfrm>
            <a:prstGeom prst="ellipse">
              <a:avLst/>
            </a:prstGeom>
            <a:solidFill>
              <a:srgbClr val="000000"/>
            </a:solidFill>
            <a:ln w="9525" algn="ctr">
              <a:solidFill>
                <a:srgbClr val="0183B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2124" tIns="41061" rIns="82124" bIns="41061" anchor="ctr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2197101" y="5224462"/>
              <a:ext cx="508000" cy="332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2124" tIns="41061" rIns="82124" bIns="41061">
              <a:spAutoFit/>
            </a:bodyPr>
            <a:lstStyle>
              <a:lvl1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dirty="0" smtClean="0">
                  <a:solidFill>
                    <a:srgbClr val="FFFFFF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175520" y="2361435"/>
            <a:ext cx="508000" cy="411108"/>
            <a:chOff x="2197101" y="5195888"/>
            <a:chExt cx="508000" cy="411108"/>
          </a:xfrm>
        </p:grpSpPr>
        <p:sp>
          <p:nvSpPr>
            <p:cNvPr id="14" name="Oval 8"/>
            <p:cNvSpPr>
              <a:spLocks noChangeArrowheads="1"/>
            </p:cNvSpPr>
            <p:nvPr/>
          </p:nvSpPr>
          <p:spPr bwMode="auto">
            <a:xfrm>
              <a:off x="2208214" y="5195888"/>
              <a:ext cx="475306" cy="411108"/>
            </a:xfrm>
            <a:prstGeom prst="ellipse">
              <a:avLst/>
            </a:prstGeom>
            <a:solidFill>
              <a:srgbClr val="000000"/>
            </a:solidFill>
            <a:ln w="9525" algn="ctr">
              <a:solidFill>
                <a:srgbClr val="0183B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2124" tIns="41061" rIns="82124" bIns="41061" anchor="ctr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</a:endParaRPr>
            </a:p>
          </p:txBody>
        </p:sp>
        <p:sp>
          <p:nvSpPr>
            <p:cNvPr id="15" name="Text Box 9"/>
            <p:cNvSpPr txBox="1">
              <a:spLocks noChangeArrowheads="1"/>
            </p:cNvSpPr>
            <p:nvPr/>
          </p:nvSpPr>
          <p:spPr bwMode="auto">
            <a:xfrm>
              <a:off x="2197101" y="5224462"/>
              <a:ext cx="508000" cy="332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2124" tIns="41061" rIns="82124" bIns="41061">
              <a:spAutoFit/>
            </a:bodyPr>
            <a:lstStyle>
              <a:lvl1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dirty="0" smtClean="0">
                  <a:solidFill>
                    <a:srgbClr val="FFFFFF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</p:grpSp>
      <p:sp>
        <p:nvSpPr>
          <p:cNvPr id="17" name="标题 1"/>
          <p:cNvSpPr>
            <a:spLocks noGrp="1"/>
          </p:cNvSpPr>
          <p:nvPr>
            <p:ph type="title"/>
          </p:nvPr>
        </p:nvSpPr>
        <p:spPr>
          <a:xfrm>
            <a:off x="1733550" y="169864"/>
            <a:ext cx="10058400" cy="85883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以太网 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 Ethernet</a:t>
            </a:r>
            <a:endParaRPr lang="zh-CN" altLang="en-US" dirty="0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42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11438" y="1339851"/>
            <a:ext cx="7535862" cy="371475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载波侦听多路访问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冲突检测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(CSMA/CD)</a:t>
            </a:r>
          </a:p>
        </p:txBody>
      </p:sp>
      <p:pic>
        <p:nvPicPr>
          <p:cNvPr id="282637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6138" y="1841501"/>
            <a:ext cx="6290582" cy="2420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2638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9100" y="4262438"/>
            <a:ext cx="6711254" cy="2443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" name="组合 9"/>
          <p:cNvGrpSpPr/>
          <p:nvPr/>
        </p:nvGrpSpPr>
        <p:grpSpPr>
          <a:xfrm>
            <a:off x="2197101" y="5195888"/>
            <a:ext cx="508000" cy="411108"/>
            <a:chOff x="2197101" y="5195888"/>
            <a:chExt cx="508000" cy="411108"/>
          </a:xfrm>
        </p:grpSpPr>
        <p:sp>
          <p:nvSpPr>
            <p:cNvPr id="11" name="Oval 8"/>
            <p:cNvSpPr>
              <a:spLocks noChangeArrowheads="1"/>
            </p:cNvSpPr>
            <p:nvPr/>
          </p:nvSpPr>
          <p:spPr bwMode="auto">
            <a:xfrm>
              <a:off x="2208214" y="5195888"/>
              <a:ext cx="475306" cy="411108"/>
            </a:xfrm>
            <a:prstGeom prst="ellipse">
              <a:avLst/>
            </a:prstGeom>
            <a:solidFill>
              <a:srgbClr val="000000"/>
            </a:solidFill>
            <a:ln w="9525" algn="ctr">
              <a:solidFill>
                <a:srgbClr val="0183B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2124" tIns="41061" rIns="82124" bIns="41061" anchor="ctr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2197101" y="5224462"/>
              <a:ext cx="508000" cy="332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2124" tIns="41061" rIns="82124" bIns="41061">
              <a:spAutoFit/>
            </a:bodyPr>
            <a:lstStyle>
              <a:lvl1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dirty="0" smtClean="0">
                  <a:solidFill>
                    <a:srgbClr val="FFFFFF"/>
                  </a:solidFill>
                  <a:ea typeface="宋体" panose="02010600030101010101" pitchFamily="2" charset="-122"/>
                </a:rPr>
                <a:t>6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156471" y="2486107"/>
            <a:ext cx="508000" cy="411108"/>
            <a:chOff x="2197101" y="5195888"/>
            <a:chExt cx="508000" cy="411108"/>
          </a:xfrm>
        </p:grpSpPr>
        <p:sp>
          <p:nvSpPr>
            <p:cNvPr id="14" name="Oval 8"/>
            <p:cNvSpPr>
              <a:spLocks noChangeArrowheads="1"/>
            </p:cNvSpPr>
            <p:nvPr/>
          </p:nvSpPr>
          <p:spPr bwMode="auto">
            <a:xfrm>
              <a:off x="2208214" y="5195888"/>
              <a:ext cx="475306" cy="411108"/>
            </a:xfrm>
            <a:prstGeom prst="ellipse">
              <a:avLst/>
            </a:prstGeom>
            <a:solidFill>
              <a:srgbClr val="000000"/>
            </a:solidFill>
            <a:ln w="9525" algn="ctr">
              <a:solidFill>
                <a:srgbClr val="0183B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2124" tIns="41061" rIns="82124" bIns="41061" anchor="ctr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</a:endParaRPr>
            </a:p>
          </p:txBody>
        </p:sp>
        <p:sp>
          <p:nvSpPr>
            <p:cNvPr id="15" name="Text Box 9"/>
            <p:cNvSpPr txBox="1">
              <a:spLocks noChangeArrowheads="1"/>
            </p:cNvSpPr>
            <p:nvPr/>
          </p:nvSpPr>
          <p:spPr bwMode="auto">
            <a:xfrm>
              <a:off x="2197101" y="5224462"/>
              <a:ext cx="508000" cy="332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2124" tIns="41061" rIns="82124" bIns="41061">
              <a:spAutoFit/>
            </a:bodyPr>
            <a:lstStyle>
              <a:lvl1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dirty="0" smtClean="0">
                  <a:solidFill>
                    <a:srgbClr val="FFFFFF"/>
                  </a:solidFill>
                  <a:ea typeface="宋体" panose="02010600030101010101" pitchFamily="2" charset="-122"/>
                </a:rPr>
                <a:t>5</a:t>
              </a:r>
            </a:p>
          </p:txBody>
        </p:sp>
      </p:grpSp>
      <p:sp>
        <p:nvSpPr>
          <p:cNvPr id="17" name="标题 1"/>
          <p:cNvSpPr>
            <a:spLocks noGrp="1"/>
          </p:cNvSpPr>
          <p:nvPr>
            <p:ph type="title"/>
          </p:nvPr>
        </p:nvSpPr>
        <p:spPr>
          <a:xfrm>
            <a:off x="1733550" y="169864"/>
            <a:ext cx="10058400" cy="85883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以太网 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 Ethernet</a:t>
            </a:r>
            <a:endParaRPr lang="zh-CN" altLang="en-US" dirty="0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33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11438" y="1339851"/>
            <a:ext cx="7535862" cy="371475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载波侦听多路访问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冲突检测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(CSMA/CD)</a:t>
            </a:r>
          </a:p>
        </p:txBody>
      </p:sp>
      <p:pic>
        <p:nvPicPr>
          <p:cNvPr id="283660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5076" y="1808162"/>
            <a:ext cx="6080908" cy="2420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3661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1" y="4352926"/>
            <a:ext cx="6662340" cy="2438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" name="组合 9"/>
          <p:cNvGrpSpPr/>
          <p:nvPr/>
        </p:nvGrpSpPr>
        <p:grpSpPr>
          <a:xfrm>
            <a:off x="2197101" y="5195888"/>
            <a:ext cx="508000" cy="411108"/>
            <a:chOff x="2197101" y="5195888"/>
            <a:chExt cx="508000" cy="411108"/>
          </a:xfrm>
        </p:grpSpPr>
        <p:sp>
          <p:nvSpPr>
            <p:cNvPr id="11" name="Oval 8"/>
            <p:cNvSpPr>
              <a:spLocks noChangeArrowheads="1"/>
            </p:cNvSpPr>
            <p:nvPr/>
          </p:nvSpPr>
          <p:spPr bwMode="auto">
            <a:xfrm>
              <a:off x="2208214" y="5195888"/>
              <a:ext cx="475306" cy="411108"/>
            </a:xfrm>
            <a:prstGeom prst="ellipse">
              <a:avLst/>
            </a:prstGeom>
            <a:solidFill>
              <a:srgbClr val="000000"/>
            </a:solidFill>
            <a:ln w="9525" algn="ctr">
              <a:solidFill>
                <a:srgbClr val="0183B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2124" tIns="41061" rIns="82124" bIns="41061" anchor="ctr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2197101" y="5224462"/>
              <a:ext cx="508000" cy="332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2124" tIns="41061" rIns="82124" bIns="41061">
              <a:spAutoFit/>
            </a:bodyPr>
            <a:lstStyle>
              <a:lvl1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dirty="0" smtClean="0">
                  <a:solidFill>
                    <a:srgbClr val="FFFFFF"/>
                  </a:solidFill>
                  <a:ea typeface="宋体" panose="02010600030101010101" pitchFamily="2" charset="-122"/>
                </a:rPr>
                <a:t>8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103438" y="2326536"/>
            <a:ext cx="508000" cy="411108"/>
            <a:chOff x="2197101" y="5195888"/>
            <a:chExt cx="508000" cy="411108"/>
          </a:xfrm>
        </p:grpSpPr>
        <p:sp>
          <p:nvSpPr>
            <p:cNvPr id="14" name="Oval 8"/>
            <p:cNvSpPr>
              <a:spLocks noChangeArrowheads="1"/>
            </p:cNvSpPr>
            <p:nvPr/>
          </p:nvSpPr>
          <p:spPr bwMode="auto">
            <a:xfrm>
              <a:off x="2208214" y="5195888"/>
              <a:ext cx="475306" cy="411108"/>
            </a:xfrm>
            <a:prstGeom prst="ellipse">
              <a:avLst/>
            </a:prstGeom>
            <a:solidFill>
              <a:srgbClr val="000000"/>
            </a:solidFill>
            <a:ln w="9525" algn="ctr">
              <a:solidFill>
                <a:srgbClr val="0183B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2124" tIns="41061" rIns="82124" bIns="41061" anchor="ctr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</a:endParaRPr>
            </a:p>
          </p:txBody>
        </p:sp>
        <p:sp>
          <p:nvSpPr>
            <p:cNvPr id="15" name="Text Box 9"/>
            <p:cNvSpPr txBox="1">
              <a:spLocks noChangeArrowheads="1"/>
            </p:cNvSpPr>
            <p:nvPr/>
          </p:nvSpPr>
          <p:spPr bwMode="auto">
            <a:xfrm>
              <a:off x="2197101" y="5224462"/>
              <a:ext cx="508000" cy="332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2124" tIns="41061" rIns="82124" bIns="41061">
              <a:spAutoFit/>
            </a:bodyPr>
            <a:lstStyle>
              <a:lvl1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dirty="0" smtClean="0">
                  <a:solidFill>
                    <a:srgbClr val="FFFFFF"/>
                  </a:solidFill>
                  <a:ea typeface="宋体" panose="02010600030101010101" pitchFamily="2" charset="-122"/>
                </a:rPr>
                <a:t>7</a:t>
              </a:r>
            </a:p>
          </p:txBody>
        </p:sp>
      </p:grpSp>
      <p:sp>
        <p:nvSpPr>
          <p:cNvPr id="17" name="标题 1"/>
          <p:cNvSpPr>
            <a:spLocks noGrp="1"/>
          </p:cNvSpPr>
          <p:nvPr>
            <p:ph type="title"/>
          </p:nvPr>
        </p:nvSpPr>
        <p:spPr>
          <a:xfrm>
            <a:off x="1733550" y="169864"/>
            <a:ext cx="10058400" cy="85883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以太网 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 Ethernet</a:t>
            </a:r>
            <a:endParaRPr lang="zh-CN" altLang="en-US" dirty="0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859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11438" y="1339851"/>
            <a:ext cx="7535862" cy="371475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载波侦听多路访问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冲突检测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(CSMA/CD)</a:t>
            </a:r>
          </a:p>
        </p:txBody>
      </p:sp>
      <p:pic>
        <p:nvPicPr>
          <p:cNvPr id="284684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733550"/>
            <a:ext cx="5334001" cy="2252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4685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889" y="3990974"/>
            <a:ext cx="6002503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" name="组合 9"/>
          <p:cNvGrpSpPr/>
          <p:nvPr/>
        </p:nvGrpSpPr>
        <p:grpSpPr>
          <a:xfrm>
            <a:off x="2197101" y="5195888"/>
            <a:ext cx="508000" cy="411108"/>
            <a:chOff x="2197101" y="5195888"/>
            <a:chExt cx="508000" cy="411108"/>
          </a:xfrm>
        </p:grpSpPr>
        <p:sp>
          <p:nvSpPr>
            <p:cNvPr id="11" name="Oval 8"/>
            <p:cNvSpPr>
              <a:spLocks noChangeArrowheads="1"/>
            </p:cNvSpPr>
            <p:nvPr/>
          </p:nvSpPr>
          <p:spPr bwMode="auto">
            <a:xfrm>
              <a:off x="2208214" y="5195888"/>
              <a:ext cx="475306" cy="411108"/>
            </a:xfrm>
            <a:prstGeom prst="ellipse">
              <a:avLst/>
            </a:prstGeom>
            <a:solidFill>
              <a:srgbClr val="000000"/>
            </a:solidFill>
            <a:ln w="9525" algn="ctr">
              <a:solidFill>
                <a:srgbClr val="0183B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2124" tIns="41061" rIns="82124" bIns="41061" anchor="ctr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2197101" y="5224462"/>
              <a:ext cx="508000" cy="332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2124" tIns="41061" rIns="82124" bIns="41061">
              <a:spAutoFit/>
            </a:bodyPr>
            <a:lstStyle>
              <a:lvl1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dirty="0" smtClean="0">
                  <a:solidFill>
                    <a:srgbClr val="FFFFFF"/>
                  </a:solidFill>
                  <a:ea typeface="宋体" panose="02010600030101010101" pitchFamily="2" charset="-122"/>
                </a:rPr>
                <a:t>10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103438" y="2380511"/>
            <a:ext cx="508000" cy="411108"/>
            <a:chOff x="2197101" y="5195888"/>
            <a:chExt cx="508000" cy="411108"/>
          </a:xfrm>
        </p:grpSpPr>
        <p:sp>
          <p:nvSpPr>
            <p:cNvPr id="14" name="Oval 8"/>
            <p:cNvSpPr>
              <a:spLocks noChangeArrowheads="1"/>
            </p:cNvSpPr>
            <p:nvPr/>
          </p:nvSpPr>
          <p:spPr bwMode="auto">
            <a:xfrm>
              <a:off x="2208214" y="5195888"/>
              <a:ext cx="475306" cy="411108"/>
            </a:xfrm>
            <a:prstGeom prst="ellipse">
              <a:avLst/>
            </a:prstGeom>
            <a:solidFill>
              <a:srgbClr val="000000"/>
            </a:solidFill>
            <a:ln w="9525" algn="ctr">
              <a:solidFill>
                <a:srgbClr val="0183B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2124" tIns="41061" rIns="82124" bIns="41061" anchor="ctr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</a:endParaRPr>
            </a:p>
          </p:txBody>
        </p:sp>
        <p:sp>
          <p:nvSpPr>
            <p:cNvPr id="15" name="Text Box 9"/>
            <p:cNvSpPr txBox="1">
              <a:spLocks noChangeArrowheads="1"/>
            </p:cNvSpPr>
            <p:nvPr/>
          </p:nvSpPr>
          <p:spPr bwMode="auto">
            <a:xfrm>
              <a:off x="2197101" y="5224462"/>
              <a:ext cx="508000" cy="332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2124" tIns="41061" rIns="82124" bIns="41061">
              <a:spAutoFit/>
            </a:bodyPr>
            <a:lstStyle>
              <a:lvl1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dirty="0">
                  <a:solidFill>
                    <a:srgbClr val="FFFFFF"/>
                  </a:solidFill>
                  <a:ea typeface="宋体" panose="02010600030101010101" pitchFamily="2" charset="-122"/>
                </a:rPr>
                <a:t>9</a:t>
              </a:r>
              <a:endParaRPr lang="en-US" altLang="zh-CN" sz="1800" dirty="0" smtClean="0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17" name="标题 1"/>
          <p:cNvSpPr>
            <a:spLocks noGrp="1"/>
          </p:cNvSpPr>
          <p:nvPr>
            <p:ph type="title"/>
          </p:nvPr>
        </p:nvSpPr>
        <p:spPr>
          <a:xfrm>
            <a:off x="1733550" y="169864"/>
            <a:ext cx="10058400" cy="85883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以太网 </a:t>
            </a:r>
            <a:r>
              <a:rPr lang="en-US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— 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Ethernet</a:t>
            </a:r>
            <a:endParaRPr lang="zh-CN" altLang="en-US" dirty="0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074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631882" y="1852652"/>
            <a:ext cx="6623436" cy="2282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>
            <a:lvl1pPr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zh-CN" altLang="en-US" dirty="0" smtClean="0"/>
              <a:t>局域网中的设备</a:t>
            </a:r>
            <a:endParaRPr lang="en-US" altLang="zh-CN" dirty="0" smtClean="0"/>
          </a:p>
          <a:p>
            <a:endParaRPr lang="en-US" altLang="zh-CN" sz="1200" dirty="0" smtClean="0"/>
          </a:p>
          <a:p>
            <a:r>
              <a:rPr lang="zh-CN" altLang="en-US" dirty="0" smtClean="0"/>
              <a:t>交换机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2395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交换机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90499" y="1346350"/>
            <a:ext cx="87308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交换机：将一组计算机组成局域网</a:t>
            </a: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LAN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。局域网组网设备</a:t>
            </a:r>
            <a:endParaRPr lang="en-US" altLang="zh-CN" sz="24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集线器：也可构建</a:t>
            </a: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LAN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。已淘汰。</a:t>
            </a:r>
            <a:endParaRPr lang="zh-CN" altLang="en-US" sz="24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25" y="1834447"/>
            <a:ext cx="6775506" cy="4709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8307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650381" y="170656"/>
            <a:ext cx="8145463" cy="838200"/>
          </a:xfrm>
        </p:spPr>
        <p:txBody>
          <a:bodyPr/>
          <a:lstStyle/>
          <a:p>
            <a:pPr algn="ctr"/>
            <a:r>
              <a:rPr lang="zh-CN" altLang="en-US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以太网</a:t>
            </a:r>
            <a:r>
              <a:rPr lang="en-US" altLang="zh-CN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集线器</a:t>
            </a:r>
          </a:p>
        </p:txBody>
      </p:sp>
      <p:sp>
        <p:nvSpPr>
          <p:cNvPr id="288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9743" y="1331913"/>
            <a:ext cx="11496675" cy="1411286"/>
          </a:xfrm>
        </p:spPr>
        <p:txBody>
          <a:bodyPr/>
          <a:lstStyle/>
          <a:p>
            <a:pPr>
              <a:buClr>
                <a:srgbClr val="002060"/>
              </a:buClr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集线器：传统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以太网使用集线器来连接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网段中的节点。集线器不执行任何类型的通信过滤，而是将所有比特转发到其连接的每台设备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2060"/>
              </a:buClr>
            </a:pPr>
            <a:endParaRPr lang="en-US" altLang="zh-CN" sz="1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2060"/>
              </a:buClr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物理层设备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9887" y="2099988"/>
            <a:ext cx="4695826" cy="475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1024484" y="3066256"/>
            <a:ext cx="2971800" cy="647700"/>
            <a:chOff x="2000250" y="5145089"/>
            <a:chExt cx="2971800" cy="647700"/>
          </a:xfrm>
        </p:grpSpPr>
        <p:sp>
          <p:nvSpPr>
            <p:cNvPr id="68" name="Rectangle 31"/>
            <p:cNvSpPr>
              <a:spLocks noChangeArrowheads="1"/>
            </p:cNvSpPr>
            <p:nvPr/>
          </p:nvSpPr>
          <p:spPr bwMode="auto">
            <a:xfrm>
              <a:off x="2846388" y="5145089"/>
              <a:ext cx="1655762" cy="360362"/>
            </a:xfrm>
            <a:prstGeom prst="rect">
              <a:avLst/>
            </a:prstGeom>
            <a:solidFill>
              <a:srgbClr val="009999"/>
            </a:solidFill>
            <a:ln w="19050">
              <a:solidFill>
                <a:srgbClr val="FFFF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Franklin Gothic Medium" panose="020B0603020102020204" pitchFamily="34" charset="0"/>
                </a:rPr>
                <a:t>Ph</a:t>
              </a:r>
            </a:p>
          </p:txBody>
        </p:sp>
        <p:sp>
          <p:nvSpPr>
            <p:cNvPr id="70" name="Line 33"/>
            <p:cNvSpPr>
              <a:spLocks noChangeShapeType="1"/>
            </p:cNvSpPr>
            <p:nvPr/>
          </p:nvSpPr>
          <p:spPr bwMode="auto">
            <a:xfrm>
              <a:off x="2000250" y="5792789"/>
              <a:ext cx="1168400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 smtClean="0">
                <a:solidFill>
                  <a:srgbClr val="FFFFFF"/>
                </a:solidFill>
                <a:latin typeface="Franklin Gothic Medium" panose="020B0603020102020204" pitchFamily="34" charset="0"/>
              </a:endParaRPr>
            </a:p>
          </p:txBody>
        </p:sp>
        <p:sp>
          <p:nvSpPr>
            <p:cNvPr id="71" name="Line 34"/>
            <p:cNvSpPr>
              <a:spLocks noChangeShapeType="1"/>
            </p:cNvSpPr>
            <p:nvPr/>
          </p:nvSpPr>
          <p:spPr bwMode="auto">
            <a:xfrm>
              <a:off x="4179888" y="5792789"/>
              <a:ext cx="792162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 smtClean="0">
                <a:solidFill>
                  <a:srgbClr val="FFFFFF"/>
                </a:solidFill>
                <a:latin typeface="Franklin Gothic Medium" panose="020B0603020102020204" pitchFamily="34" charset="0"/>
              </a:endParaRPr>
            </a:p>
          </p:txBody>
        </p:sp>
        <p:sp>
          <p:nvSpPr>
            <p:cNvPr id="73" name="Line 36"/>
            <p:cNvSpPr>
              <a:spLocks noChangeShapeType="1"/>
            </p:cNvSpPr>
            <p:nvPr/>
          </p:nvSpPr>
          <p:spPr bwMode="auto">
            <a:xfrm>
              <a:off x="3133725" y="5360989"/>
              <a:ext cx="0" cy="43180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 smtClean="0">
                <a:solidFill>
                  <a:srgbClr val="FFFFFF"/>
                </a:solidFill>
                <a:latin typeface="Franklin Gothic Medium" panose="020B0603020102020204" pitchFamily="34" charset="0"/>
              </a:endParaRPr>
            </a:p>
          </p:txBody>
        </p:sp>
        <p:sp>
          <p:nvSpPr>
            <p:cNvPr id="74" name="Line 37"/>
            <p:cNvSpPr>
              <a:spLocks noChangeShapeType="1"/>
            </p:cNvSpPr>
            <p:nvPr/>
          </p:nvSpPr>
          <p:spPr bwMode="auto">
            <a:xfrm>
              <a:off x="4214813" y="5360989"/>
              <a:ext cx="0" cy="43180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 smtClean="0">
                <a:solidFill>
                  <a:srgbClr val="FFFFFF"/>
                </a:solidFill>
                <a:latin typeface="Franklin Gothic Medium" panose="020B0603020102020204" pitchFamily="34" charset="0"/>
              </a:endParaRPr>
            </a:p>
          </p:txBody>
        </p:sp>
        <p:sp>
          <p:nvSpPr>
            <p:cNvPr id="75" name="Line 38"/>
            <p:cNvSpPr>
              <a:spLocks noChangeShapeType="1"/>
            </p:cNvSpPr>
            <p:nvPr/>
          </p:nvSpPr>
          <p:spPr bwMode="auto">
            <a:xfrm>
              <a:off x="3097213" y="5360989"/>
              <a:ext cx="1150937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 smtClean="0">
                <a:solidFill>
                  <a:srgbClr val="FFFFFF"/>
                </a:solidFill>
                <a:latin typeface="Franklin Gothic Medium" panose="020B0603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8424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47825" y="140890"/>
            <a:ext cx="10058400" cy="858837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以太网</a:t>
            </a:r>
            <a:r>
              <a:rPr lang="en-US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集线器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3092" y="1447800"/>
            <a:ext cx="11523133" cy="666750"/>
          </a:xfrm>
        </p:spPr>
        <p:txBody>
          <a:bodyPr/>
          <a:lstStyle/>
          <a:p>
            <a:pPr>
              <a:buClr>
                <a:srgbClr val="002060"/>
              </a:buClr>
            </a:pPr>
            <a:r>
              <a:rPr lang="zh-CN" altLang="en-US" dirty="0" smtClean="0"/>
              <a:t>基于集线器的以太网性能不佳</a:t>
            </a:r>
            <a:endParaRPr lang="zh-CN" altLang="en-US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402" y="1933575"/>
            <a:ext cx="7361640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2440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99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0810" y="1952625"/>
            <a:ext cx="5649740" cy="367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895475" y="160339"/>
            <a:ext cx="10058400" cy="858837"/>
          </a:xfrm>
        </p:spPr>
        <p:txBody>
          <a:bodyPr/>
          <a:lstStyle/>
          <a:p>
            <a:pPr algn="ctr"/>
            <a:r>
              <a:rPr lang="zh-CN" altLang="en-US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以太网 </a:t>
            </a:r>
            <a:r>
              <a:rPr lang="en-US" altLang="zh-CN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 </a:t>
            </a:r>
            <a:r>
              <a:rPr lang="zh-CN" altLang="en-US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交换机</a:t>
            </a:r>
            <a:endParaRPr lang="en-US" altLang="zh-CN" dirty="0" smtClean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7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975" y="1510506"/>
            <a:ext cx="5772150" cy="4718844"/>
          </a:xfrm>
        </p:spPr>
        <p:txBody>
          <a:bodyPr/>
          <a:lstStyle/>
          <a:p>
            <a:pPr>
              <a:lnSpc>
                <a:spcPct val="85000"/>
              </a:lnSpc>
              <a:buClr>
                <a:srgbClr val="002060"/>
              </a:buClr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在所有节点直接连接到交换机的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中，网络的吞吐量大幅增加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>
                <a:srgbClr val="002060"/>
              </a:buClr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以太网交换机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选择性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地将个别帧从接收端口转发到连接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目的计算机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>
                <a:srgbClr val="002060"/>
              </a:buClr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交换机维护着一个表，称为MAC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表。该表将目的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 </a:t>
            </a:r>
            <a:r>
              <a:rPr lang="en-US" altLang="zh-CN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与用于连接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计算机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的端口进行比对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007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1925" y="1695450"/>
            <a:ext cx="5143500" cy="5137942"/>
          </a:xfrm>
        </p:spPr>
        <p:txBody>
          <a:bodyPr/>
          <a:lstStyle/>
          <a:p>
            <a:pPr>
              <a:buClr>
                <a:srgbClr val="002060"/>
              </a:buClr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为协助确定以太网中的源地址和目的地址，创建了称为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介质访问控制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(MAC)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的唯一标识符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2060"/>
              </a:buClr>
            </a:pPr>
            <a:endParaRPr lang="en-US" altLang="zh-CN" sz="1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2060"/>
              </a:buClr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OSI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数据链路层（第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层）物理编址，是作为以太网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地址实现的，用于通过本地介质传输帧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2060"/>
              </a:buClr>
            </a:pP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2060"/>
              </a:buClr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在数据传输时，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 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地址被加入到以太网帧中。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2060"/>
              </a:buClr>
            </a:pP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2060"/>
              </a:buClr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以太网 MAC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地址是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位二进制值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，可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表示为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个十六进制数字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75" y="1695450"/>
            <a:ext cx="6674375" cy="428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895475" y="160339"/>
            <a:ext cx="10058400" cy="858837"/>
          </a:xfrm>
        </p:spPr>
        <p:txBody>
          <a:bodyPr/>
          <a:lstStyle/>
          <a:p>
            <a:pPr algn="ctr"/>
            <a:r>
              <a:rPr lang="zh-CN" altLang="en-US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以太网 </a:t>
            </a:r>
            <a:r>
              <a:rPr lang="en-US" altLang="zh-CN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 </a:t>
            </a:r>
            <a:r>
              <a:rPr lang="zh-CN" altLang="en-US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交换机</a:t>
            </a:r>
            <a:endParaRPr lang="en-US" altLang="zh-CN" dirty="0" smtClean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0743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550" y="1370014"/>
            <a:ext cx="11839575" cy="2047875"/>
          </a:xfrm>
        </p:spPr>
        <p:txBody>
          <a:bodyPr/>
          <a:lstStyle/>
          <a:p>
            <a:pPr>
              <a:lnSpc>
                <a:spcPct val="75000"/>
              </a:lnSpc>
              <a:buClr>
                <a:srgbClr val="002060"/>
              </a:buClr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配给网卡或其它以太网设备的所有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地址都必须使用厂商分配的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OUI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作为前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个字节。</a:t>
            </a:r>
          </a:p>
          <a:p>
            <a:pPr>
              <a:lnSpc>
                <a:spcPct val="75000"/>
              </a:lnSpc>
              <a:buClr>
                <a:srgbClr val="002060"/>
              </a:buClr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OUI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相同的所有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地址的最后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个字节必须是唯一的值（厂商代码或序列号）。</a:t>
            </a:r>
          </a:p>
          <a:p>
            <a:pPr>
              <a:lnSpc>
                <a:spcPct val="75000"/>
              </a:lnSpc>
              <a:buClr>
                <a:srgbClr val="002060"/>
              </a:buClr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地址通常称为烧录地址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(BIA)，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因为它被烧录到网卡的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ROM（只读存储器）中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829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2343" y="2921001"/>
            <a:ext cx="5233988" cy="371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895475" y="160339"/>
            <a:ext cx="10058400" cy="858837"/>
          </a:xfrm>
        </p:spPr>
        <p:txBody>
          <a:bodyPr/>
          <a:lstStyle/>
          <a:p>
            <a:pPr algn="ctr"/>
            <a:r>
              <a:rPr lang="zh-CN" altLang="en-US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以太网 </a:t>
            </a:r>
            <a:r>
              <a:rPr lang="en-US" altLang="zh-CN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 </a:t>
            </a:r>
            <a:r>
              <a:rPr lang="zh-CN" altLang="en-US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交换机</a:t>
            </a:r>
            <a:endParaRPr lang="en-US" altLang="zh-CN" dirty="0" smtClean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5977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250" y="1333757"/>
            <a:ext cx="4914899" cy="366055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endParaRPr lang="en-US" altLang="zh-CN" sz="1800" dirty="0">
              <a:ea typeface="宋体" panose="02010600030101010101" pitchFamily="2" charset="-122"/>
            </a:endParaRPr>
          </a:p>
          <a:p>
            <a:pPr>
              <a:buClr>
                <a:srgbClr val="002060"/>
              </a:buClr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交换机是链路层设备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2060"/>
              </a:buClr>
            </a:pPr>
            <a:endParaRPr lang="en-US" altLang="zh-CN" sz="1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2060"/>
              </a:buClr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采用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五种基本操作来实现其用途：</a:t>
            </a:r>
          </a:p>
          <a:p>
            <a:pPr lvl="1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获取</a:t>
            </a:r>
          </a:p>
          <a:p>
            <a:pPr lvl="1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过期</a:t>
            </a:r>
          </a:p>
          <a:p>
            <a:pPr lvl="1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泛洪</a:t>
            </a:r>
          </a:p>
          <a:p>
            <a:pPr lvl="1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选择性转发</a:t>
            </a:r>
          </a:p>
          <a:p>
            <a:pPr lvl="1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过滤</a:t>
            </a:r>
          </a:p>
        </p:txBody>
      </p:sp>
      <p:pic>
        <p:nvPicPr>
          <p:cNvPr id="30004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213" y="1819275"/>
            <a:ext cx="6588706" cy="414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669925" y="5392088"/>
            <a:ext cx="3019425" cy="792162"/>
            <a:chOff x="4076700" y="4760913"/>
            <a:chExt cx="3019425" cy="792162"/>
          </a:xfrm>
        </p:grpSpPr>
        <p:grpSp>
          <p:nvGrpSpPr>
            <p:cNvPr id="34" name="Group 103"/>
            <p:cNvGrpSpPr>
              <a:grpSpLocks/>
            </p:cNvGrpSpPr>
            <p:nvPr/>
          </p:nvGrpSpPr>
          <p:grpSpPr bwMode="auto">
            <a:xfrm>
              <a:off x="4592638" y="4760913"/>
              <a:ext cx="2087562" cy="576262"/>
              <a:chOff x="2653" y="1162"/>
              <a:chExt cx="1315" cy="363"/>
            </a:xfrm>
          </p:grpSpPr>
          <p:sp>
            <p:nvSpPr>
              <p:cNvPr id="35" name="Rectangle 73"/>
              <p:cNvSpPr>
                <a:spLocks noChangeArrowheads="1"/>
              </p:cNvSpPr>
              <p:nvPr/>
            </p:nvSpPr>
            <p:spPr bwMode="auto">
              <a:xfrm>
                <a:off x="2653" y="1162"/>
                <a:ext cx="1315" cy="181"/>
              </a:xfrm>
              <a:prstGeom prst="rect">
                <a:avLst/>
              </a:prstGeom>
              <a:solidFill>
                <a:srgbClr val="009999"/>
              </a:solidFill>
              <a:ln w="19050">
                <a:solidFill>
                  <a:srgbClr val="FFFFFF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lIns="9000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200" b="1" i="0" u="none" strike="noStrike" kern="0" cap="none" spc="0" normalizeH="0" baseline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Franklin Gothic Medium" panose="020B0603020102020204" pitchFamily="34" charset="0"/>
                  </a:rPr>
                  <a:t>DL</a:t>
                </a:r>
              </a:p>
            </p:txBody>
          </p:sp>
          <p:sp>
            <p:nvSpPr>
              <p:cNvPr id="36" name="Rectangle 80"/>
              <p:cNvSpPr>
                <a:spLocks noChangeArrowheads="1"/>
              </p:cNvSpPr>
              <p:nvPr/>
            </p:nvSpPr>
            <p:spPr bwMode="auto">
              <a:xfrm>
                <a:off x="3514" y="1344"/>
                <a:ext cx="454" cy="181"/>
              </a:xfrm>
              <a:prstGeom prst="rect">
                <a:avLst/>
              </a:prstGeom>
              <a:solidFill>
                <a:srgbClr val="009999"/>
              </a:solidFill>
              <a:ln w="19050">
                <a:solidFill>
                  <a:srgbClr val="FFFFFF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marL="0" marR="0" lvl="0" indent="0" algn="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200" b="1" i="0" u="none" strike="noStrike" kern="0" cap="none" spc="0" normalizeH="0" baseline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Franklin Gothic Medium" panose="020B0603020102020204" pitchFamily="34" charset="0"/>
                  </a:rPr>
                  <a:t>Ph</a:t>
                </a:r>
              </a:p>
            </p:txBody>
          </p:sp>
          <p:sp>
            <p:nvSpPr>
              <p:cNvPr id="37" name="Rectangle 83"/>
              <p:cNvSpPr>
                <a:spLocks noChangeArrowheads="1"/>
              </p:cNvSpPr>
              <p:nvPr/>
            </p:nvSpPr>
            <p:spPr bwMode="auto">
              <a:xfrm>
                <a:off x="2653" y="1344"/>
                <a:ext cx="499" cy="181"/>
              </a:xfrm>
              <a:prstGeom prst="rect">
                <a:avLst/>
              </a:prstGeom>
              <a:solidFill>
                <a:srgbClr val="009999"/>
              </a:solidFill>
              <a:ln w="19050">
                <a:solidFill>
                  <a:srgbClr val="FFFFFF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200" b="1" i="0" u="none" strike="noStrike" kern="0" cap="none" spc="0" normalizeH="0" baseline="0" noProof="0" smtClean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Franklin Gothic Medium" panose="020B0603020102020204" pitchFamily="34" charset="0"/>
                  </a:rPr>
                  <a:t>Ph</a:t>
                </a:r>
              </a:p>
            </p:txBody>
          </p:sp>
        </p:grpSp>
        <p:sp>
          <p:nvSpPr>
            <p:cNvPr id="38" name="Line 84"/>
            <p:cNvSpPr>
              <a:spLocks noChangeShapeType="1"/>
            </p:cNvSpPr>
            <p:nvPr/>
          </p:nvSpPr>
          <p:spPr bwMode="auto">
            <a:xfrm>
              <a:off x="4076700" y="5553075"/>
              <a:ext cx="1054100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 smtClean="0">
                <a:solidFill>
                  <a:srgbClr val="FFFFFF"/>
                </a:solidFill>
                <a:latin typeface="Franklin Gothic Medium" panose="020B0603020102020204" pitchFamily="34" charset="0"/>
              </a:endParaRPr>
            </a:p>
          </p:txBody>
        </p:sp>
        <p:sp>
          <p:nvSpPr>
            <p:cNvPr id="39" name="Line 85"/>
            <p:cNvSpPr>
              <a:spLocks noChangeShapeType="1"/>
            </p:cNvSpPr>
            <p:nvPr/>
          </p:nvSpPr>
          <p:spPr bwMode="auto">
            <a:xfrm>
              <a:off x="6142038" y="5553075"/>
              <a:ext cx="954087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 smtClean="0">
                <a:solidFill>
                  <a:srgbClr val="FFFFFF"/>
                </a:solidFill>
                <a:latin typeface="Franklin Gothic Medium" panose="020B0603020102020204" pitchFamily="34" charset="0"/>
              </a:endParaRPr>
            </a:p>
          </p:txBody>
        </p:sp>
        <p:sp>
          <p:nvSpPr>
            <p:cNvPr id="40" name="Line 86"/>
            <p:cNvSpPr>
              <a:spLocks noChangeShapeType="1"/>
            </p:cNvSpPr>
            <p:nvPr/>
          </p:nvSpPr>
          <p:spPr bwMode="auto">
            <a:xfrm>
              <a:off x="5059363" y="4905375"/>
              <a:ext cx="1150937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 smtClean="0">
                <a:solidFill>
                  <a:srgbClr val="FFFFFF"/>
                </a:solidFill>
                <a:latin typeface="Franklin Gothic Medium" panose="020B0603020102020204" pitchFamily="34" charset="0"/>
              </a:endParaRPr>
            </a:p>
          </p:txBody>
        </p:sp>
        <p:sp>
          <p:nvSpPr>
            <p:cNvPr id="41" name="Line 88"/>
            <p:cNvSpPr>
              <a:spLocks noChangeShapeType="1"/>
            </p:cNvSpPr>
            <p:nvPr/>
          </p:nvSpPr>
          <p:spPr bwMode="auto">
            <a:xfrm>
              <a:off x="5095875" y="4905375"/>
              <a:ext cx="0" cy="64770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 smtClean="0">
                <a:solidFill>
                  <a:srgbClr val="FFFFFF"/>
                </a:solidFill>
                <a:latin typeface="Franklin Gothic Medium" panose="020B0603020102020204" pitchFamily="34" charset="0"/>
              </a:endParaRPr>
            </a:p>
          </p:txBody>
        </p:sp>
        <p:sp>
          <p:nvSpPr>
            <p:cNvPr id="42" name="Line 89"/>
            <p:cNvSpPr>
              <a:spLocks noChangeShapeType="1"/>
            </p:cNvSpPr>
            <p:nvPr/>
          </p:nvSpPr>
          <p:spPr bwMode="auto">
            <a:xfrm>
              <a:off x="6176963" y="4905375"/>
              <a:ext cx="0" cy="64770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 smtClean="0">
                <a:solidFill>
                  <a:srgbClr val="FFFFFF"/>
                </a:solidFill>
                <a:latin typeface="Franklin Gothic Medium" panose="020B060302010202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514850" y="3800475"/>
            <a:ext cx="495299" cy="459414"/>
            <a:chOff x="1519238" y="4910138"/>
            <a:chExt cx="300037" cy="300037"/>
          </a:xfrm>
        </p:grpSpPr>
        <p:sp>
          <p:nvSpPr>
            <p:cNvPr id="46" name="Oval 5"/>
            <p:cNvSpPr>
              <a:spLocks noChangeArrowheads="1"/>
            </p:cNvSpPr>
            <p:nvPr/>
          </p:nvSpPr>
          <p:spPr bwMode="auto">
            <a:xfrm>
              <a:off x="1519238" y="4910138"/>
              <a:ext cx="300037" cy="300037"/>
            </a:xfrm>
            <a:prstGeom prst="ellipse">
              <a:avLst/>
            </a:prstGeom>
            <a:solidFill>
              <a:srgbClr val="000000"/>
            </a:solidFill>
            <a:ln w="9525" algn="ctr">
              <a:solidFill>
                <a:srgbClr val="0183B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82124" tIns="41061" rIns="82124" bIns="41061" anchor="ctr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</a:endParaRPr>
            </a:p>
          </p:txBody>
        </p:sp>
        <p:sp>
          <p:nvSpPr>
            <p:cNvPr id="47" name="Text Box 6"/>
            <p:cNvSpPr txBox="1">
              <a:spLocks noChangeArrowheads="1"/>
            </p:cNvSpPr>
            <p:nvPr/>
          </p:nvSpPr>
          <p:spPr bwMode="auto">
            <a:xfrm>
              <a:off x="1544535" y="4954200"/>
              <a:ext cx="241506" cy="2199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2124" tIns="41061" rIns="82124" bIns="41061">
              <a:spAutoFit/>
            </a:bodyPr>
            <a:lstStyle>
              <a:lvl1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dirty="0" smtClean="0">
                  <a:solidFill>
                    <a:srgbClr val="FFFFFF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1895475" y="160339"/>
            <a:ext cx="10058400" cy="858837"/>
          </a:xfrm>
        </p:spPr>
        <p:txBody>
          <a:bodyPr/>
          <a:lstStyle/>
          <a:p>
            <a:pPr algn="ctr"/>
            <a:r>
              <a:rPr lang="zh-CN" altLang="en-US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以太网 </a:t>
            </a:r>
            <a:r>
              <a:rPr lang="en-US" altLang="zh-CN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 </a:t>
            </a:r>
            <a:r>
              <a:rPr lang="zh-CN" altLang="en-US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交换机</a:t>
            </a:r>
            <a:endParaRPr lang="en-US" altLang="zh-CN" dirty="0" smtClean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1371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190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3" y="2131218"/>
            <a:ext cx="6067538" cy="3755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6192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735" y="2277226"/>
            <a:ext cx="5953125" cy="4009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" name="组合 8"/>
          <p:cNvGrpSpPr/>
          <p:nvPr/>
        </p:nvGrpSpPr>
        <p:grpSpPr>
          <a:xfrm>
            <a:off x="8909535" y="1571748"/>
            <a:ext cx="495299" cy="459414"/>
            <a:chOff x="1519238" y="4910138"/>
            <a:chExt cx="300037" cy="300037"/>
          </a:xfrm>
        </p:grpSpPr>
        <p:sp>
          <p:nvSpPr>
            <p:cNvPr id="10" name="Oval 5"/>
            <p:cNvSpPr>
              <a:spLocks noChangeArrowheads="1"/>
            </p:cNvSpPr>
            <p:nvPr/>
          </p:nvSpPr>
          <p:spPr bwMode="auto">
            <a:xfrm>
              <a:off x="1519238" y="4910138"/>
              <a:ext cx="300037" cy="300037"/>
            </a:xfrm>
            <a:prstGeom prst="ellipse">
              <a:avLst/>
            </a:prstGeom>
            <a:solidFill>
              <a:srgbClr val="000000"/>
            </a:solidFill>
            <a:ln w="9525" algn="ctr">
              <a:solidFill>
                <a:srgbClr val="0183B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82124" tIns="41061" rIns="82124" bIns="41061" anchor="ctr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</a:endParaRPr>
            </a:p>
          </p:txBody>
        </p:sp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>
              <a:off x="1544535" y="4954200"/>
              <a:ext cx="241506" cy="2199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2124" tIns="41061" rIns="82124" bIns="41061">
              <a:spAutoFit/>
            </a:bodyPr>
            <a:lstStyle>
              <a:lvl1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dirty="0" smtClean="0">
                  <a:solidFill>
                    <a:srgbClr val="FFFFFF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790823" y="1545510"/>
            <a:ext cx="495299" cy="459414"/>
            <a:chOff x="1519238" y="4910138"/>
            <a:chExt cx="300037" cy="300037"/>
          </a:xfrm>
        </p:grpSpPr>
        <p:sp>
          <p:nvSpPr>
            <p:cNvPr id="13" name="Oval 5"/>
            <p:cNvSpPr>
              <a:spLocks noChangeArrowheads="1"/>
            </p:cNvSpPr>
            <p:nvPr/>
          </p:nvSpPr>
          <p:spPr bwMode="auto">
            <a:xfrm>
              <a:off x="1519238" y="4910138"/>
              <a:ext cx="300037" cy="300037"/>
            </a:xfrm>
            <a:prstGeom prst="ellipse">
              <a:avLst/>
            </a:prstGeom>
            <a:solidFill>
              <a:srgbClr val="000000"/>
            </a:solidFill>
            <a:ln w="9525" algn="ctr">
              <a:solidFill>
                <a:srgbClr val="0183B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82124" tIns="41061" rIns="82124" bIns="41061" anchor="ctr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</a:endParaRPr>
            </a:p>
          </p:txBody>
        </p:sp>
        <p:sp>
          <p:nvSpPr>
            <p:cNvPr id="14" name="Text Box 6"/>
            <p:cNvSpPr txBox="1">
              <a:spLocks noChangeArrowheads="1"/>
            </p:cNvSpPr>
            <p:nvPr/>
          </p:nvSpPr>
          <p:spPr bwMode="auto">
            <a:xfrm>
              <a:off x="1544535" y="4954200"/>
              <a:ext cx="241506" cy="2199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2124" tIns="41061" rIns="82124" bIns="41061">
              <a:spAutoFit/>
            </a:bodyPr>
            <a:lstStyle>
              <a:lvl1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dirty="0" smtClean="0">
                  <a:solidFill>
                    <a:srgbClr val="FFFFFF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</p:grp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1895475" y="160339"/>
            <a:ext cx="10058400" cy="858837"/>
          </a:xfrm>
        </p:spPr>
        <p:txBody>
          <a:bodyPr/>
          <a:lstStyle/>
          <a:p>
            <a:pPr algn="ctr"/>
            <a:r>
              <a:rPr lang="zh-CN" altLang="en-US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以太网 </a:t>
            </a:r>
            <a:r>
              <a:rPr lang="en-US" altLang="zh-CN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 </a:t>
            </a:r>
            <a:r>
              <a:rPr lang="zh-CN" altLang="en-US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交换机</a:t>
            </a:r>
            <a:endParaRPr lang="en-US" altLang="zh-CN" dirty="0" smtClean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063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259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2290279"/>
            <a:ext cx="6070070" cy="3648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9260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321" y="2290279"/>
            <a:ext cx="6026680" cy="3558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" name="组合 8"/>
          <p:cNvGrpSpPr/>
          <p:nvPr/>
        </p:nvGrpSpPr>
        <p:grpSpPr>
          <a:xfrm>
            <a:off x="8743950" y="1650374"/>
            <a:ext cx="495299" cy="459414"/>
            <a:chOff x="1519238" y="4910138"/>
            <a:chExt cx="300037" cy="300037"/>
          </a:xfrm>
        </p:grpSpPr>
        <p:sp>
          <p:nvSpPr>
            <p:cNvPr id="10" name="Oval 5"/>
            <p:cNvSpPr>
              <a:spLocks noChangeArrowheads="1"/>
            </p:cNvSpPr>
            <p:nvPr/>
          </p:nvSpPr>
          <p:spPr bwMode="auto">
            <a:xfrm>
              <a:off x="1519238" y="4910138"/>
              <a:ext cx="300037" cy="300037"/>
            </a:xfrm>
            <a:prstGeom prst="ellipse">
              <a:avLst/>
            </a:prstGeom>
            <a:solidFill>
              <a:srgbClr val="000000"/>
            </a:solidFill>
            <a:ln w="9525" algn="ctr">
              <a:solidFill>
                <a:srgbClr val="0183B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82124" tIns="41061" rIns="82124" bIns="41061" anchor="ctr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</a:endParaRPr>
            </a:p>
          </p:txBody>
        </p:sp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>
              <a:off x="1544535" y="4954200"/>
              <a:ext cx="241506" cy="2199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2124" tIns="41061" rIns="82124" bIns="41061">
              <a:spAutoFit/>
            </a:bodyPr>
            <a:lstStyle>
              <a:lvl1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dirty="0" smtClean="0">
                  <a:solidFill>
                    <a:srgbClr val="FFFFFF"/>
                  </a:solidFill>
                  <a:ea typeface="宋体" panose="02010600030101010101" pitchFamily="2" charset="-122"/>
                </a:rPr>
                <a:t>5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705100" y="1598905"/>
            <a:ext cx="495299" cy="459414"/>
            <a:chOff x="1519238" y="4910138"/>
            <a:chExt cx="300037" cy="300037"/>
          </a:xfrm>
        </p:grpSpPr>
        <p:sp>
          <p:nvSpPr>
            <p:cNvPr id="13" name="Oval 5"/>
            <p:cNvSpPr>
              <a:spLocks noChangeArrowheads="1"/>
            </p:cNvSpPr>
            <p:nvPr/>
          </p:nvSpPr>
          <p:spPr bwMode="auto">
            <a:xfrm>
              <a:off x="1519238" y="4910138"/>
              <a:ext cx="300037" cy="300037"/>
            </a:xfrm>
            <a:prstGeom prst="ellipse">
              <a:avLst/>
            </a:prstGeom>
            <a:solidFill>
              <a:srgbClr val="000000"/>
            </a:solidFill>
            <a:ln w="9525" algn="ctr">
              <a:solidFill>
                <a:srgbClr val="0183B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82124" tIns="41061" rIns="82124" bIns="41061" anchor="ctr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</a:endParaRPr>
            </a:p>
          </p:txBody>
        </p:sp>
        <p:sp>
          <p:nvSpPr>
            <p:cNvPr id="14" name="Text Box 6"/>
            <p:cNvSpPr txBox="1">
              <a:spLocks noChangeArrowheads="1"/>
            </p:cNvSpPr>
            <p:nvPr/>
          </p:nvSpPr>
          <p:spPr bwMode="auto">
            <a:xfrm>
              <a:off x="1544535" y="4954200"/>
              <a:ext cx="241506" cy="2199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2124" tIns="41061" rIns="82124" bIns="41061">
              <a:spAutoFit/>
            </a:bodyPr>
            <a:lstStyle>
              <a:lvl1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dirty="0" smtClean="0">
                  <a:solidFill>
                    <a:srgbClr val="FFFFFF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</p:grp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1895475" y="160339"/>
            <a:ext cx="10058400" cy="858837"/>
          </a:xfrm>
        </p:spPr>
        <p:txBody>
          <a:bodyPr/>
          <a:lstStyle/>
          <a:p>
            <a:pPr algn="ctr"/>
            <a:r>
              <a:rPr lang="zh-CN" altLang="en-US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以太网 </a:t>
            </a:r>
            <a:r>
              <a:rPr lang="en-US" altLang="zh-CN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 </a:t>
            </a:r>
            <a:r>
              <a:rPr lang="zh-CN" altLang="en-US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交换机</a:t>
            </a:r>
            <a:endParaRPr lang="en-US" altLang="zh-CN" dirty="0" smtClean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7380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283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20902"/>
            <a:ext cx="5968266" cy="3679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0284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4741" y="2120901"/>
            <a:ext cx="6047259" cy="3613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" name="组合 8"/>
          <p:cNvGrpSpPr/>
          <p:nvPr/>
        </p:nvGrpSpPr>
        <p:grpSpPr>
          <a:xfrm>
            <a:off x="9067801" y="1503442"/>
            <a:ext cx="495299" cy="459414"/>
            <a:chOff x="1519238" y="4910138"/>
            <a:chExt cx="300037" cy="300037"/>
          </a:xfrm>
        </p:grpSpPr>
        <p:sp>
          <p:nvSpPr>
            <p:cNvPr id="10" name="Oval 5"/>
            <p:cNvSpPr>
              <a:spLocks noChangeArrowheads="1"/>
            </p:cNvSpPr>
            <p:nvPr/>
          </p:nvSpPr>
          <p:spPr bwMode="auto">
            <a:xfrm>
              <a:off x="1519238" y="4910138"/>
              <a:ext cx="300037" cy="300037"/>
            </a:xfrm>
            <a:prstGeom prst="ellipse">
              <a:avLst/>
            </a:prstGeom>
            <a:solidFill>
              <a:srgbClr val="000000"/>
            </a:solidFill>
            <a:ln w="9525" algn="ctr">
              <a:solidFill>
                <a:srgbClr val="0183B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82124" tIns="41061" rIns="82124" bIns="41061" anchor="ctr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</a:endParaRPr>
            </a:p>
          </p:txBody>
        </p:sp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>
              <a:off x="1544535" y="4954200"/>
              <a:ext cx="241506" cy="2199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2124" tIns="41061" rIns="82124" bIns="41061">
              <a:spAutoFit/>
            </a:bodyPr>
            <a:lstStyle>
              <a:lvl1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dirty="0" smtClean="0">
                  <a:solidFill>
                    <a:srgbClr val="FFFFFF"/>
                  </a:solidFill>
                  <a:ea typeface="宋体" panose="02010600030101010101" pitchFamily="2" charset="-122"/>
                </a:rPr>
                <a:t>7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499520" y="1501064"/>
            <a:ext cx="495299" cy="459414"/>
            <a:chOff x="1519238" y="4910138"/>
            <a:chExt cx="300037" cy="300037"/>
          </a:xfrm>
        </p:grpSpPr>
        <p:sp>
          <p:nvSpPr>
            <p:cNvPr id="13" name="Oval 5"/>
            <p:cNvSpPr>
              <a:spLocks noChangeArrowheads="1"/>
            </p:cNvSpPr>
            <p:nvPr/>
          </p:nvSpPr>
          <p:spPr bwMode="auto">
            <a:xfrm>
              <a:off x="1519238" y="4910138"/>
              <a:ext cx="300037" cy="300037"/>
            </a:xfrm>
            <a:prstGeom prst="ellipse">
              <a:avLst/>
            </a:prstGeom>
            <a:solidFill>
              <a:srgbClr val="000000"/>
            </a:solidFill>
            <a:ln w="9525" algn="ctr">
              <a:solidFill>
                <a:srgbClr val="0183B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82124" tIns="41061" rIns="82124" bIns="41061" anchor="ctr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</a:endParaRPr>
            </a:p>
          </p:txBody>
        </p:sp>
        <p:sp>
          <p:nvSpPr>
            <p:cNvPr id="14" name="Text Box 6"/>
            <p:cNvSpPr txBox="1">
              <a:spLocks noChangeArrowheads="1"/>
            </p:cNvSpPr>
            <p:nvPr/>
          </p:nvSpPr>
          <p:spPr bwMode="auto">
            <a:xfrm>
              <a:off x="1544535" y="4954200"/>
              <a:ext cx="241506" cy="2199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2124" tIns="41061" rIns="82124" bIns="41061">
              <a:spAutoFit/>
            </a:bodyPr>
            <a:lstStyle>
              <a:lvl1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defTabSz="814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ctr" defTabSz="814388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dirty="0" smtClean="0">
                  <a:solidFill>
                    <a:srgbClr val="FFFFFF"/>
                  </a:solidFill>
                  <a:ea typeface="宋体" panose="02010600030101010101" pitchFamily="2" charset="-122"/>
                </a:rPr>
                <a:t>6</a:t>
              </a:r>
            </a:p>
          </p:txBody>
        </p:sp>
      </p:grp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1895475" y="160339"/>
            <a:ext cx="10058400" cy="858837"/>
          </a:xfrm>
        </p:spPr>
        <p:txBody>
          <a:bodyPr/>
          <a:lstStyle/>
          <a:p>
            <a:pPr algn="ctr"/>
            <a:r>
              <a:rPr lang="zh-CN" altLang="en-US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以太网 </a:t>
            </a:r>
            <a:r>
              <a:rPr lang="en-US" altLang="zh-CN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 </a:t>
            </a:r>
            <a:r>
              <a:rPr lang="zh-CN" altLang="en-US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交换机</a:t>
            </a:r>
            <a:endParaRPr lang="en-US" altLang="zh-CN" dirty="0" smtClean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5005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631882" y="1852652"/>
            <a:ext cx="6623436" cy="2282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>
            <a:lvl1pPr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zh-CN" altLang="en-US" dirty="0" smtClean="0"/>
              <a:t>局域网中的线缆</a:t>
            </a:r>
            <a:endParaRPr lang="en-US" altLang="zh-CN" dirty="0" smtClean="0"/>
          </a:p>
          <a:p>
            <a:endParaRPr lang="en-US" altLang="zh-CN" sz="1200" dirty="0" smtClean="0"/>
          </a:p>
          <a:p>
            <a:r>
              <a:rPr lang="zh-CN" altLang="zh-CN" dirty="0"/>
              <a:t>非屏蔽双绞线缆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UTP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314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线缆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70344" y="1468148"/>
            <a:ext cx="3219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线缆</a:t>
            </a:r>
            <a:endParaRPr lang="en-US" altLang="zh-CN" sz="10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938" y="2017789"/>
            <a:ext cx="9215930" cy="4840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4131958" y="1556124"/>
            <a:ext cx="3219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以太网线缆</a:t>
            </a:r>
            <a:endParaRPr lang="en-US" altLang="zh-CN" sz="10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944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70344" y="1468148"/>
            <a:ext cx="3219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线缆</a:t>
            </a: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光纤</a:t>
            </a:r>
            <a:endParaRPr lang="en-US" altLang="zh-CN" sz="10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48" y="2513824"/>
            <a:ext cx="5453105" cy="2719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655638" y="1476375"/>
            <a:ext cx="7940675" cy="3876675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32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SzPct val="70000"/>
              <a:buFont typeface="Wingdings" panose="05000000000000000000" pitchFamily="2" charset="2"/>
              <a:buChar char="l"/>
              <a:defRPr sz="28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Pct val="70000"/>
              <a:buFont typeface="Wingdings" panose="05000000000000000000" pitchFamily="2" charset="2"/>
              <a:buChar char="u"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80000"/>
              <a:buFont typeface="Wingdings" panose="05000000000000000000" pitchFamily="2" charset="2"/>
              <a:buChar char="Ø"/>
              <a:defRPr sz="20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800" y="3414712"/>
            <a:ext cx="6372417" cy="1225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5929448" y="2835500"/>
            <a:ext cx="58625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光纤提供全双工通信，每个方向使用一根专用</a:t>
            </a:r>
            <a:r>
              <a:rPr lang="zh-CN" altLang="en-US" sz="2000" b="1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光缆</a:t>
            </a:r>
            <a:endParaRPr lang="en-US" altLang="zh-CN" sz="2000" b="1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733550" y="169864"/>
            <a:ext cx="10058400" cy="858837"/>
          </a:xfrm>
        </p:spPr>
        <p:txBody>
          <a:bodyPr/>
          <a:lstStyle/>
          <a:p>
            <a:r>
              <a:rPr lang="zh-CN" altLang="en-US" dirty="0"/>
              <a:t>线缆</a:t>
            </a:r>
          </a:p>
        </p:txBody>
      </p:sp>
    </p:spTree>
    <p:extLst>
      <p:ext uri="{BB962C8B-B14F-4D97-AF65-F5344CB8AC3E}">
        <p14:creationId xmlns:p14="http://schemas.microsoft.com/office/powerpoint/2010/main" val="4097314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9863" y="1301840"/>
            <a:ext cx="721753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线缆</a:t>
            </a: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光纤</a:t>
            </a:r>
            <a:endParaRPr lang="en-US" altLang="zh-CN" sz="24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10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光缆通常可分为两种类型：单模和多模。</a:t>
            </a:r>
            <a:endParaRPr lang="en-US" altLang="zh-CN" sz="24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n"/>
            </a:pPr>
            <a:endParaRPr lang="en-US" altLang="zh-CN" sz="10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655638" y="1476375"/>
            <a:ext cx="7940675" cy="3876675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32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SzPct val="70000"/>
              <a:buFont typeface="Wingdings" panose="05000000000000000000" pitchFamily="2" charset="2"/>
              <a:buChar char="l"/>
              <a:defRPr sz="28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Pct val="70000"/>
              <a:buFont typeface="Wingdings" panose="05000000000000000000" pitchFamily="2" charset="2"/>
              <a:buChar char="u"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80000"/>
              <a:buFont typeface="Wingdings" panose="05000000000000000000" pitchFamily="2" charset="2"/>
              <a:buChar char="Ø"/>
              <a:defRPr sz="20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9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24317"/>
            <a:ext cx="7417263" cy="3761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 descr="showim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7877" y="2624372"/>
            <a:ext cx="4635091" cy="3365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8677910" y="2224262"/>
            <a:ext cx="2255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光纤连接器</a:t>
            </a:r>
            <a:endParaRPr lang="zh-CN" altLang="en-US" sz="2000" b="1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Rectangle 55"/>
          <p:cNvSpPr>
            <a:spLocks noChangeArrowheads="1"/>
          </p:cNvSpPr>
          <p:nvPr/>
        </p:nvSpPr>
        <p:spPr bwMode="auto">
          <a:xfrm>
            <a:off x="4249640" y="6277089"/>
            <a:ext cx="2882679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sz="2000" b="1" dirty="0">
                <a:solidFill>
                  <a:srgbClr val="00206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波长 </a:t>
            </a:r>
            <a:r>
              <a:rPr lang="en-US" altLang="zh-CN" sz="2000" b="1" dirty="0">
                <a:solidFill>
                  <a:srgbClr val="00206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sz="2000" b="1" dirty="0" smtClean="0">
                <a:solidFill>
                  <a:srgbClr val="00206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850</a:t>
            </a:r>
            <a:r>
              <a:rPr lang="zh-CN" altLang="en-US" sz="2000" b="1" dirty="0" smtClean="0">
                <a:solidFill>
                  <a:srgbClr val="00206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000" b="1" dirty="0" smtClean="0">
                <a:solidFill>
                  <a:srgbClr val="00206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1300 </a:t>
            </a:r>
            <a:r>
              <a:rPr lang="en-US" altLang="zh-CN" sz="2000" b="1" dirty="0">
                <a:solidFill>
                  <a:srgbClr val="00206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nm</a:t>
            </a:r>
          </a:p>
        </p:txBody>
      </p:sp>
      <p:sp>
        <p:nvSpPr>
          <p:cNvPr id="14" name="Rectangle 48"/>
          <p:cNvSpPr>
            <a:spLocks noChangeArrowheads="1"/>
          </p:cNvSpPr>
          <p:nvPr/>
        </p:nvSpPr>
        <p:spPr bwMode="auto">
          <a:xfrm>
            <a:off x="402987" y="6277089"/>
            <a:ext cx="2864999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defTabSz="762000" eaLnBrk="0" hangingPunct="0"/>
            <a:r>
              <a:rPr kumimoji="1"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波长</a:t>
            </a:r>
            <a:r>
              <a:rPr kumimoji="1"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kumimoji="1" lang="en-US" altLang="zh-CN" sz="2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1300</a:t>
            </a:r>
            <a:r>
              <a:rPr kumimoji="1" lang="zh-CN" alt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kumimoji="1" lang="en-US" altLang="zh-CN" sz="2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1550 </a:t>
            </a:r>
            <a:r>
              <a:rPr kumimoji="1"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nm</a:t>
            </a: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1733550" y="169864"/>
            <a:ext cx="10058400" cy="858837"/>
          </a:xfrm>
        </p:spPr>
        <p:txBody>
          <a:bodyPr/>
          <a:lstStyle/>
          <a:p>
            <a:r>
              <a:rPr lang="zh-CN" altLang="en-US" dirty="0"/>
              <a:t>线缆</a:t>
            </a:r>
          </a:p>
        </p:txBody>
      </p:sp>
    </p:spTree>
    <p:extLst>
      <p:ext uri="{BB962C8B-B14F-4D97-AF65-F5344CB8AC3E}">
        <p14:creationId xmlns:p14="http://schemas.microsoft.com/office/powerpoint/2010/main" val="36247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9863" y="1301840"/>
            <a:ext cx="721753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线缆</a:t>
            </a: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光纤</a:t>
            </a:r>
            <a:endParaRPr lang="en-US" altLang="zh-CN" sz="24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n"/>
            </a:pPr>
            <a:endParaRPr lang="en-US" altLang="zh-CN" sz="10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655638" y="1476375"/>
            <a:ext cx="7940675" cy="3876675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32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SzPct val="70000"/>
              <a:buFont typeface="Wingdings" panose="05000000000000000000" pitchFamily="2" charset="2"/>
              <a:buChar char="l"/>
              <a:defRPr sz="28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Pct val="70000"/>
              <a:buFont typeface="Wingdings" panose="05000000000000000000" pitchFamily="2" charset="2"/>
              <a:buChar char="u"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80000"/>
              <a:buFont typeface="Wingdings" panose="05000000000000000000" pitchFamily="2" charset="2"/>
              <a:buChar char="Ø"/>
              <a:defRPr sz="20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22351" y="3414712"/>
            <a:ext cx="2687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常用的光纤连接器</a:t>
            </a:r>
            <a:endParaRPr lang="zh-CN" altLang="en-US" sz="2400" b="1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7903" y="1301840"/>
            <a:ext cx="7435242" cy="547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1733550" y="169864"/>
            <a:ext cx="10058400" cy="858837"/>
          </a:xfrm>
        </p:spPr>
        <p:txBody>
          <a:bodyPr/>
          <a:lstStyle/>
          <a:p>
            <a:r>
              <a:rPr lang="zh-CN" altLang="en-US" dirty="0"/>
              <a:t>线缆</a:t>
            </a:r>
          </a:p>
        </p:txBody>
      </p:sp>
    </p:spTree>
    <p:extLst>
      <p:ext uri="{BB962C8B-B14F-4D97-AF65-F5344CB8AC3E}">
        <p14:creationId xmlns:p14="http://schemas.microsoft.com/office/powerpoint/2010/main" val="2216645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3717" y="1291004"/>
            <a:ext cx="1150109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线缆</a:t>
            </a: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非屏蔽双绞线</a:t>
            </a:r>
            <a:endParaRPr lang="en-US" altLang="zh-CN" sz="24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10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Unscreened 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Twisted  Pairs cable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，简称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UTP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电缆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4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10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具有重量轻、体积小、弹性好和价格便宜等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优点</a:t>
            </a: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10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抗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外界电磁干扰的性能较差，不能满足电磁兼容（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EMC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）规定的要求。同时这种电缆在传输信息时易向外辐射泄漏，安全性较差，在党政军和金融等重要部门的工程中不宜采用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4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10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solidFill>
                  <a:srgbClr val="002060"/>
                </a:solidFill>
                <a:latin typeface="Times New Roman"/>
                <a:ea typeface="宋体"/>
              </a:rPr>
              <a:t>类别：</a:t>
            </a:r>
            <a:r>
              <a:rPr kumimoji="1" lang="en-US" altLang="zh-CN" sz="2400" b="1" dirty="0">
                <a:solidFill>
                  <a:srgbClr val="002060"/>
                </a:solidFill>
                <a:latin typeface="Times New Roman"/>
                <a:ea typeface="宋体"/>
              </a:rPr>
              <a:t>3</a:t>
            </a:r>
            <a:r>
              <a:rPr kumimoji="1" lang="zh-CN" altLang="en-US" sz="2400" b="1" dirty="0">
                <a:solidFill>
                  <a:srgbClr val="002060"/>
                </a:solidFill>
                <a:latin typeface="Times New Roman"/>
                <a:ea typeface="宋体"/>
              </a:rPr>
              <a:t>、</a:t>
            </a:r>
            <a:r>
              <a:rPr kumimoji="1" lang="en-US" altLang="zh-CN" sz="2400" b="1" dirty="0">
                <a:solidFill>
                  <a:srgbClr val="002060"/>
                </a:solidFill>
                <a:latin typeface="Times New Roman"/>
                <a:ea typeface="宋体"/>
              </a:rPr>
              <a:t>4</a:t>
            </a:r>
            <a:r>
              <a:rPr kumimoji="1" lang="zh-CN" altLang="en-US" sz="2400" b="1" dirty="0">
                <a:solidFill>
                  <a:srgbClr val="002060"/>
                </a:solidFill>
                <a:latin typeface="Times New Roman"/>
                <a:ea typeface="宋体"/>
              </a:rPr>
              <a:t>、</a:t>
            </a:r>
            <a:r>
              <a:rPr kumimoji="1" lang="en-US" altLang="zh-CN" sz="2400" b="1" dirty="0">
                <a:solidFill>
                  <a:srgbClr val="002060"/>
                </a:solidFill>
                <a:latin typeface="Times New Roman"/>
                <a:ea typeface="宋体"/>
              </a:rPr>
              <a:t>5</a:t>
            </a:r>
            <a:r>
              <a:rPr kumimoji="1" lang="zh-CN" altLang="en-US" sz="2400" b="1" dirty="0">
                <a:solidFill>
                  <a:srgbClr val="002060"/>
                </a:solidFill>
                <a:latin typeface="Times New Roman"/>
                <a:ea typeface="宋体"/>
              </a:rPr>
              <a:t>、</a:t>
            </a:r>
            <a:r>
              <a:rPr kumimoji="1" lang="en-US" altLang="zh-CN" sz="2400" b="1" dirty="0">
                <a:solidFill>
                  <a:srgbClr val="002060"/>
                </a:solidFill>
                <a:latin typeface="Times New Roman"/>
                <a:ea typeface="宋体"/>
              </a:rPr>
              <a:t>5e</a:t>
            </a:r>
            <a:r>
              <a:rPr kumimoji="1" lang="zh-CN" altLang="en-US" sz="2400" b="1" dirty="0">
                <a:solidFill>
                  <a:srgbClr val="002060"/>
                </a:solidFill>
                <a:latin typeface="Times New Roman"/>
                <a:ea typeface="宋体"/>
              </a:rPr>
              <a:t>、</a:t>
            </a:r>
            <a:r>
              <a:rPr kumimoji="1" lang="en-US" altLang="zh-CN" sz="2400" b="1" dirty="0">
                <a:solidFill>
                  <a:srgbClr val="002060"/>
                </a:solidFill>
                <a:latin typeface="Times New Roman"/>
                <a:ea typeface="宋体"/>
              </a:rPr>
              <a:t>6</a:t>
            </a:r>
            <a:r>
              <a:rPr kumimoji="1" lang="zh-CN" altLang="en-US" sz="2400" b="1" dirty="0">
                <a:solidFill>
                  <a:srgbClr val="002060"/>
                </a:solidFill>
                <a:latin typeface="Times New Roman"/>
                <a:ea typeface="宋体"/>
              </a:rPr>
              <a:t>。</a:t>
            </a:r>
            <a:endParaRPr lang="en-US" altLang="zh-CN" sz="24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655638" y="1476375"/>
            <a:ext cx="7940675" cy="3876675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32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SzPct val="70000"/>
              <a:buFont typeface="Wingdings" panose="05000000000000000000" pitchFamily="2" charset="2"/>
              <a:buChar char="l"/>
              <a:defRPr sz="28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Pct val="70000"/>
              <a:buFont typeface="Wingdings" panose="05000000000000000000" pitchFamily="2" charset="2"/>
              <a:buChar char="u"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80000"/>
              <a:buFont typeface="Wingdings" panose="05000000000000000000" pitchFamily="2" charset="2"/>
              <a:buChar char="Ø"/>
              <a:defRPr sz="20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1877" y="3837769"/>
            <a:ext cx="7319652" cy="2765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733550" y="169864"/>
            <a:ext cx="10058400" cy="858837"/>
          </a:xfrm>
        </p:spPr>
        <p:txBody>
          <a:bodyPr/>
          <a:lstStyle/>
          <a:p>
            <a:r>
              <a:rPr lang="zh-CN" altLang="en-US" dirty="0"/>
              <a:t>线缆</a:t>
            </a:r>
          </a:p>
        </p:txBody>
      </p:sp>
    </p:spTree>
    <p:extLst>
      <p:ext uri="{BB962C8B-B14F-4D97-AF65-F5344CB8AC3E}">
        <p14:creationId xmlns:p14="http://schemas.microsoft.com/office/powerpoint/2010/main" val="112096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9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1395" y="1679233"/>
            <a:ext cx="5955742" cy="4347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9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254" y="1473288"/>
            <a:ext cx="5498757" cy="3782452"/>
          </a:xfrm>
        </p:spPr>
        <p:txBody>
          <a:bodyPr/>
          <a:lstStyle/>
          <a:p>
            <a:pPr>
              <a:lnSpc>
                <a:spcPct val="75000"/>
              </a:lnSpc>
              <a:buClr>
                <a:srgbClr val="002060"/>
              </a:buClr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在规划安装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布线时，需考虑四个物理区域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75000"/>
              </a:lnSpc>
              <a:buClr>
                <a:srgbClr val="002060"/>
              </a:buClr>
            </a:pP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75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工作区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75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设备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机房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，也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称设备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间</a:t>
            </a:r>
          </a:p>
          <a:p>
            <a:pPr lvl="1">
              <a:lnSpc>
                <a:spcPct val="75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水平布线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75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主干布线，也称垂直布线</a:t>
            </a:r>
          </a:p>
          <a:p>
            <a:pPr lvl="1">
              <a:lnSpc>
                <a:spcPct val="75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75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UTP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布线时，计算机到交换机之间的线缆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100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米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733550" y="169864"/>
            <a:ext cx="10058400" cy="85883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线缆</a:t>
            </a:r>
          </a:p>
        </p:txBody>
      </p:sp>
    </p:spTree>
    <p:extLst>
      <p:ext uri="{BB962C8B-B14F-4D97-AF65-F5344CB8AC3E}">
        <p14:creationId xmlns:p14="http://schemas.microsoft.com/office/powerpoint/2010/main" val="522528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190830" y="1326081"/>
            <a:ext cx="11879249" cy="1159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25392" bIns="25392">
            <a:spAutoFit/>
          </a:bodyPr>
          <a:lstStyle>
            <a:lvl1pPr indent="2555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buFont typeface="Wingdings" panose="05000000000000000000" pitchFamily="2" charset="2"/>
              <a:buChar char="n"/>
            </a:pPr>
            <a:r>
              <a:rPr kumimoji="1"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信息插座</a:t>
            </a:r>
            <a:r>
              <a:rPr kumimoji="1"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与计算机的</a:t>
            </a:r>
            <a:r>
              <a:rPr kumimoji="1"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kumimoji="1"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形式</a:t>
            </a:r>
            <a:endParaRPr kumimoji="1" lang="en-US" altLang="zh-CN" sz="24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每个工作区至少要配置一个插座盒。</a:t>
            </a:r>
            <a:endParaRPr kumimoji="1" lang="en-US" altLang="zh-CN" sz="24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信息</a:t>
            </a:r>
            <a:r>
              <a:rPr kumimoji="1"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插座是终端</a:t>
            </a:r>
            <a:r>
              <a:rPr kumimoji="1"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计算机</a:t>
            </a:r>
            <a:r>
              <a:rPr kumimoji="1"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kumimoji="1"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水平布线子系统</a:t>
            </a:r>
            <a:r>
              <a:rPr kumimoji="1"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连接的接口。其中最常用</a:t>
            </a:r>
            <a:r>
              <a:rPr kumimoji="1"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RJ45</a:t>
            </a:r>
            <a:r>
              <a:rPr kumimoji="1"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连接器</a:t>
            </a:r>
            <a:r>
              <a:rPr kumimoji="1"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1" lang="zh-CN" altLang="en-US" sz="24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66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214550"/>
              </p:ext>
            </p:extLst>
          </p:nvPr>
        </p:nvGraphicFramePr>
        <p:xfrm>
          <a:off x="69498" y="2485356"/>
          <a:ext cx="4671542" cy="219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5" r:id="rId3" imgW="2933333" imgH="1200318" progId="PBrush">
                  <p:embed/>
                </p:oleObj>
              </mc:Choice>
              <mc:Fallback>
                <p:oleObj r:id="rId3" imgW="2933333" imgH="1200318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98" y="2485356"/>
                        <a:ext cx="4671542" cy="219311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1592" y="2468469"/>
            <a:ext cx="3563184" cy="3172239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3334" y="5480697"/>
            <a:ext cx="3579035" cy="1377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DSC0004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4776" y="2653040"/>
            <a:ext cx="3664565" cy="2748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标题 1"/>
          <p:cNvSpPr txBox="1">
            <a:spLocks/>
          </p:cNvSpPr>
          <p:nvPr/>
        </p:nvSpPr>
        <p:spPr>
          <a:xfrm>
            <a:off x="1733550" y="169864"/>
            <a:ext cx="100584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algn="ctr"/>
            <a:r>
              <a:rPr lang="zh-CN" altLang="en-US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线缆</a:t>
            </a:r>
            <a:endParaRPr lang="zh-CN" altLang="en-US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6893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22" y="1317742"/>
            <a:ext cx="11501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线缆</a:t>
            </a: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非屏蔽双绞线</a:t>
            </a:r>
            <a:endParaRPr lang="en-US" altLang="zh-CN" sz="10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655638" y="1476375"/>
            <a:ext cx="7940675" cy="3876675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32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SzPct val="70000"/>
              <a:buFont typeface="Wingdings" panose="05000000000000000000" pitchFamily="2" charset="2"/>
              <a:buChar char="l"/>
              <a:defRPr sz="28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Pct val="70000"/>
              <a:buFont typeface="Wingdings" panose="05000000000000000000" pitchFamily="2" charset="2"/>
              <a:buChar char="u"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80000"/>
              <a:buFont typeface="Wingdings" panose="05000000000000000000" pitchFamily="2" charset="2"/>
              <a:buChar char="Ø"/>
              <a:defRPr sz="20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51" y="2316903"/>
            <a:ext cx="7583488" cy="4475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5610419"/>
              </p:ext>
            </p:extLst>
          </p:nvPr>
        </p:nvGraphicFramePr>
        <p:xfrm>
          <a:off x="6031756" y="1314512"/>
          <a:ext cx="5533942" cy="2052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2" name="位图图像" r:id="rId4" imgW="6628571" imgH="2390476" progId="Paint.Picture">
                  <p:embed/>
                </p:oleObj>
              </mc:Choice>
              <mc:Fallback>
                <p:oleObj name="位图图像" r:id="rId4" imgW="6628571" imgH="2390476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1756" y="1314512"/>
                        <a:ext cx="5533942" cy="20524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5887825" y="5280850"/>
            <a:ext cx="67441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</a:rPr>
              <a:t> </a:t>
            </a:r>
            <a:r>
              <a:rPr lang="zh-CN" altLang="en-US" sz="24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线对颜色编码依次为蓝色、橙色、绿色和棕色</a:t>
            </a:r>
            <a:r>
              <a:rPr lang="zh-CN" altLang="en-US" sz="2400" dirty="0"/>
              <a:t>。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1733550" y="169864"/>
            <a:ext cx="10058400" cy="85883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线缆</a:t>
            </a:r>
          </a:p>
        </p:txBody>
      </p:sp>
    </p:spTree>
    <p:extLst>
      <p:ext uri="{BB962C8B-B14F-4D97-AF65-F5344CB8AC3E}">
        <p14:creationId xmlns:p14="http://schemas.microsoft.com/office/powerpoint/2010/main" val="1061047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22" y="1317742"/>
            <a:ext cx="3549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线缆</a:t>
            </a: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非屏蔽双绞线</a:t>
            </a:r>
            <a:endParaRPr lang="en-US" altLang="zh-CN" sz="10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655638" y="1476375"/>
            <a:ext cx="7940675" cy="3876675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32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SzPct val="70000"/>
              <a:buFont typeface="Wingdings" panose="05000000000000000000" pitchFamily="2" charset="2"/>
              <a:buChar char="l"/>
              <a:defRPr sz="28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Pct val="70000"/>
              <a:buFont typeface="Wingdings" panose="05000000000000000000" pitchFamily="2" charset="2"/>
              <a:buChar char="u"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80000"/>
              <a:buFont typeface="Wingdings" panose="05000000000000000000" pitchFamily="2" charset="2"/>
              <a:buChar char="Ø"/>
              <a:defRPr sz="20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971" y="2227081"/>
            <a:ext cx="7715250" cy="460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625975" y="1556839"/>
            <a:ext cx="5376035" cy="67621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32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SzPct val="70000"/>
              <a:buFont typeface="Wingdings" panose="05000000000000000000" pitchFamily="2" charset="2"/>
              <a:buChar char="l"/>
              <a:defRPr sz="28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Pct val="70000"/>
              <a:buFont typeface="Wingdings" panose="05000000000000000000" pitchFamily="2" charset="2"/>
              <a:buChar char="u"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80000"/>
              <a:buFont typeface="Wingdings" panose="05000000000000000000" pitchFamily="2" charset="2"/>
              <a:buChar char="Ø"/>
              <a:defRPr sz="20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 smtClean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常见的双绞线</a:t>
            </a:r>
            <a:r>
              <a:rPr lang="en-US" altLang="zh-CN" sz="2400" dirty="0" err="1" smtClean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连接器</a:t>
            </a:r>
            <a:endParaRPr lang="zh-CN" altLang="en-US" sz="2400" dirty="0">
              <a:solidFill>
                <a:srgbClr val="00206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1733550" y="169864"/>
            <a:ext cx="10058400" cy="85883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线缆</a:t>
            </a:r>
          </a:p>
        </p:txBody>
      </p:sp>
    </p:spTree>
    <p:extLst>
      <p:ext uri="{BB962C8B-B14F-4D97-AF65-F5344CB8AC3E}">
        <p14:creationId xmlns:p14="http://schemas.microsoft.com/office/powerpoint/2010/main" val="1773249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318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744" y="2682875"/>
            <a:ext cx="6601640" cy="4107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7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3952" y="1501195"/>
            <a:ext cx="11523133" cy="1181680"/>
          </a:xfrm>
        </p:spPr>
        <p:txBody>
          <a:bodyPr/>
          <a:lstStyle/>
          <a:p>
            <a:pPr>
              <a:buClr>
                <a:srgbClr val="002060"/>
              </a:buClr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RJ45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接头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—正确的连接器端接</a:t>
            </a:r>
          </a:p>
          <a:p>
            <a:pPr>
              <a:buClr>
                <a:srgbClr val="002060"/>
              </a:buClr>
            </a:pP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确保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当前和将来网络技术的最佳性能，必须要保证所有铜介质端接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品质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733550" y="169864"/>
            <a:ext cx="10058400" cy="85883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线缆</a:t>
            </a:r>
          </a:p>
        </p:txBody>
      </p:sp>
    </p:spTree>
    <p:extLst>
      <p:ext uri="{BB962C8B-B14F-4D97-AF65-F5344CB8AC3E}">
        <p14:creationId xmlns:p14="http://schemas.microsoft.com/office/powerpoint/2010/main" val="3844338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894" y="1377895"/>
            <a:ext cx="3999027" cy="3742745"/>
          </a:xfrm>
        </p:spPr>
        <p:txBody>
          <a:bodyPr/>
          <a:lstStyle/>
          <a:p>
            <a:pPr>
              <a:buClr>
                <a:srgbClr val="002060"/>
              </a:buClr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RJ45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接头的制作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rgbClr val="002060"/>
              </a:buClr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线序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标准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T568A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T568B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以太网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直通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电缆</a:t>
            </a:r>
            <a:r>
              <a:rPr lang="zh-CN" altLang="zh-CN" dirty="0"/>
              <a:t>（</a:t>
            </a:r>
            <a:r>
              <a:rPr lang="en-US" altLang="zh-CN" dirty="0"/>
              <a:t>straight-through</a:t>
            </a:r>
            <a:r>
              <a:rPr lang="zh-CN" altLang="zh-CN" dirty="0"/>
              <a:t>）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以太网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交叉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电缆</a:t>
            </a:r>
            <a:r>
              <a:rPr lang="zh-CN" altLang="zh-CN" dirty="0"/>
              <a:t>（</a:t>
            </a:r>
            <a:r>
              <a:rPr lang="en-US" altLang="zh-CN" dirty="0"/>
              <a:t>cross-over</a:t>
            </a:r>
            <a:r>
              <a:rPr lang="zh-CN" altLang="zh-CN" dirty="0"/>
              <a:t>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6295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0785" y="1297512"/>
            <a:ext cx="5643963" cy="2750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6295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8605" y="4160940"/>
            <a:ext cx="8329947" cy="2617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733550" y="169864"/>
            <a:ext cx="10058400" cy="85883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线缆</a:t>
            </a:r>
          </a:p>
        </p:txBody>
      </p:sp>
    </p:spTree>
    <p:extLst>
      <p:ext uri="{BB962C8B-B14F-4D97-AF65-F5344CB8AC3E}">
        <p14:creationId xmlns:p14="http://schemas.microsoft.com/office/powerpoint/2010/main" val="644899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5024438" y="2738437"/>
            <a:ext cx="2949789" cy="383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pic>
        <p:nvPicPr>
          <p:cNvPr id="34820" name="Picture 4" descr="开绞长度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371" y="1284338"/>
            <a:ext cx="3593038" cy="2316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41168" y="1377895"/>
            <a:ext cx="4118296" cy="4625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692150" indent="-347663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SzPct val="70000"/>
              <a:buFont typeface="Wingdings" panose="05000000000000000000" pitchFamily="2" charset="2"/>
              <a:buChar char="l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987425" indent="-293688" algn="l" rtl="0" fontAlgn="base"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Pct val="70000"/>
              <a:buFont typeface="Wingdings" panose="05000000000000000000" pitchFamily="2" charset="2"/>
              <a:buChar char="u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281113" indent="-2921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1598613" indent="-315913" algn="l" rtl="0" fontAlgn="base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80000"/>
              <a:buFont typeface="Wingdings" panose="05000000000000000000" pitchFamily="2" charset="2"/>
              <a:buChar char="Ø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2060"/>
              </a:buClr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RJ45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接头的制作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2060"/>
              </a:buClr>
            </a:pPr>
            <a:endParaRPr lang="en-US" altLang="zh-CN" sz="1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终端和连接顺序的施工要规范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操作。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线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缆剥除外护套长度够端接用即可，最大暴露双绞线长度为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40-50mm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终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接在连接硬件上的线对应尽量保持扭绞状态，非扭绞长度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类线必须小于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13mm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 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6965342" y="3412007"/>
            <a:ext cx="4919207" cy="3285418"/>
            <a:chOff x="762000" y="762000"/>
            <a:chExt cx="7734300" cy="3763963"/>
          </a:xfrm>
        </p:grpSpPr>
        <p:pic>
          <p:nvPicPr>
            <p:cNvPr id="17" name="Picture 3" descr="免打模块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762000"/>
              <a:ext cx="2400300" cy="1828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6600" y="762000"/>
              <a:ext cx="2628900" cy="18256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9" name="Picture 5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9800" y="762000"/>
              <a:ext cx="2438400" cy="1782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0" name="Picture 6"/>
            <p:cNvPicPr>
              <a:picLocks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2743200"/>
              <a:ext cx="2362200" cy="1782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1" name="Picture 7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2800" y="2743200"/>
              <a:ext cx="2590800" cy="17589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2" name="Picture 8"/>
            <p:cNvPicPr>
              <a:picLocks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9800" y="2743200"/>
              <a:ext cx="2476500" cy="1752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1733550" y="169864"/>
            <a:ext cx="10058400" cy="85883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线缆</a:t>
            </a:r>
          </a:p>
        </p:txBody>
      </p:sp>
    </p:spTree>
    <p:extLst>
      <p:ext uri="{BB962C8B-B14F-4D97-AF65-F5344CB8AC3E}">
        <p14:creationId xmlns:p14="http://schemas.microsoft.com/office/powerpoint/2010/main" val="34171033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631882" y="1852652"/>
            <a:ext cx="6623436" cy="2282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>
            <a:lvl1pPr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zh-CN" altLang="en-US" dirty="0" smtClean="0"/>
              <a:t>主机的编址</a:t>
            </a:r>
            <a:endParaRPr lang="en-US" altLang="zh-CN" dirty="0" smtClean="0"/>
          </a:p>
          <a:p>
            <a:endParaRPr lang="en-US" altLang="zh-CN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地址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714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34890" y="63610"/>
            <a:ext cx="7080101" cy="1143000"/>
          </a:xfrm>
        </p:spPr>
        <p:txBody>
          <a:bodyPr/>
          <a:lstStyle/>
          <a:p>
            <a:r>
              <a:rPr lang="zh-CN" altLang="en-US" dirty="0" smtClean="0"/>
              <a:t>编址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3910" y="1399310"/>
            <a:ext cx="6303818" cy="5029199"/>
          </a:xfrm>
        </p:spPr>
        <p:txBody>
          <a:bodyPr/>
          <a:lstStyle/>
          <a:p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编址</a:t>
            </a:r>
            <a:endParaRPr lang="en-US" altLang="zh-CN" sz="2400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网卡地址（</a:t>
            </a:r>
            <a:r>
              <a:rPr lang="en-US" altLang="zh-CN" sz="20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MAC</a:t>
            </a:r>
            <a:r>
              <a:rPr lang="zh-CN" altLang="en-US" sz="20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地址）</a:t>
            </a:r>
            <a:endParaRPr lang="en-US" altLang="zh-CN" sz="2000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分配给网卡或其它以太网设备的所有 </a:t>
            </a:r>
            <a:r>
              <a:rPr lang="en-US" altLang="zh-CN" sz="20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MAC </a:t>
            </a:r>
            <a:r>
              <a:rPr lang="zh-CN" alt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地址都必须使用厂商分配的 </a:t>
            </a:r>
            <a:r>
              <a:rPr lang="en-US" altLang="zh-CN" sz="20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OUI </a:t>
            </a:r>
            <a:r>
              <a:rPr lang="zh-CN" alt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作为前 </a:t>
            </a:r>
            <a:r>
              <a:rPr lang="en-US" altLang="zh-CN" sz="20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 </a:t>
            </a:r>
            <a:r>
              <a:rPr lang="zh-CN" alt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zh-CN" altLang="en-US" sz="20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字节；</a:t>
            </a:r>
            <a:endParaRPr lang="zh-CN" altLang="en-US" sz="2000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OUI </a:t>
            </a:r>
            <a:r>
              <a:rPr lang="zh-CN" alt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相同的所有 </a:t>
            </a:r>
            <a:r>
              <a:rPr lang="en-US" altLang="zh-CN" sz="20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MAC </a:t>
            </a:r>
            <a:r>
              <a:rPr lang="zh-CN" alt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地址的最后 </a:t>
            </a:r>
            <a:r>
              <a:rPr lang="en-US" altLang="zh-CN" sz="20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 </a:t>
            </a:r>
            <a:r>
              <a:rPr lang="zh-CN" alt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个字节必须是唯一的值（厂商代码或序列号</a:t>
            </a:r>
            <a:r>
              <a:rPr lang="zh-CN" altLang="en-US" sz="20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）；</a:t>
            </a:r>
            <a:endParaRPr lang="zh-CN" altLang="en-US" sz="2000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MAC </a:t>
            </a:r>
            <a:r>
              <a:rPr lang="en-US" altLang="zh-CN" sz="2000" dirty="0" err="1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地址通常称为烧录地址</a:t>
            </a:r>
            <a:r>
              <a:rPr lang="en-US" altLang="zh-CN" sz="20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(BIA)，</a:t>
            </a:r>
            <a:r>
              <a:rPr lang="en-US" altLang="zh-CN" sz="2000" dirty="0" err="1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因为它被烧录到网卡的</a:t>
            </a:r>
            <a:r>
              <a:rPr lang="en-US" altLang="zh-CN" sz="20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ROM（只读存储器）</a:t>
            </a:r>
            <a:r>
              <a:rPr lang="en-US" altLang="zh-CN" sz="2000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zh-CN" alt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endParaRPr lang="en-US" altLang="zh-CN" sz="2000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层次结构，无法寻址。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endParaRPr lang="zh-CN" altLang="en-US" dirty="0"/>
          </a:p>
        </p:txBody>
      </p:sp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728" y="1600201"/>
            <a:ext cx="5572606" cy="3953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1220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318053" y="1311423"/>
            <a:ext cx="11873947" cy="3119649"/>
          </a:xfrm>
        </p:spPr>
        <p:txBody>
          <a:bodyPr/>
          <a:lstStyle/>
          <a:p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编址</a:t>
            </a:r>
            <a:endParaRPr lang="en-US" altLang="zh-CN" sz="2400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</a:t>
            </a:r>
            <a:r>
              <a:rPr lang="zh-CN" altLang="en-US" sz="2400" dirty="0"/>
              <a:t>，</a:t>
            </a:r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专门设计的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层次化</a:t>
            </a:r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</a:t>
            </a:r>
            <a:endParaRPr lang="en-US" altLang="zh-CN" sz="2400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给每个连接在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Internet</a:t>
            </a: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</a:t>
            </a:r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主机分配</a:t>
            </a: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</a:t>
            </a:r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个全世界</a:t>
            </a: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唯一的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32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位（二进制位）</a:t>
            </a:r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标识符</a:t>
            </a: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由因特网名字与号码指派公司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ICANN</a:t>
            </a: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分配</a:t>
            </a:r>
            <a:endParaRPr lang="en-US" altLang="zh-CN" sz="2400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二级：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 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:= { &lt;</a:t>
            </a: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网络号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&gt;, &lt;</a:t>
            </a: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主机号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 }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1724274" y="5872007"/>
            <a:ext cx="7413141" cy="960438"/>
            <a:chOff x="2292853" y="5148499"/>
            <a:chExt cx="7413141" cy="960438"/>
          </a:xfrm>
        </p:grpSpPr>
        <p:sp>
          <p:nvSpPr>
            <p:cNvPr id="13" name="Text Box 1108"/>
            <p:cNvSpPr txBox="1">
              <a:spLocks noChangeArrowheads="1"/>
            </p:cNvSpPr>
            <p:nvPr/>
          </p:nvSpPr>
          <p:spPr bwMode="auto">
            <a:xfrm>
              <a:off x="2800571" y="5529499"/>
              <a:ext cx="6386946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     </a:t>
              </a:r>
              <a:r>
                <a:rPr lang="en-US" altLang="zh-CN" sz="32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202  .  112  .   0   .  38</a:t>
              </a:r>
              <a:endParaRPr lang="en-US" altLang="zh-CN" sz="3200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" name="Rectangle 1110" descr="40%"/>
            <p:cNvSpPr>
              <a:spLocks noChangeArrowheads="1"/>
            </p:cNvSpPr>
            <p:nvPr/>
          </p:nvSpPr>
          <p:spPr bwMode="auto">
            <a:xfrm>
              <a:off x="2292853" y="5148499"/>
              <a:ext cx="7413141" cy="406400"/>
            </a:xfrm>
            <a:prstGeom prst="rect">
              <a:avLst/>
            </a:prstGeom>
            <a:pattFill prst="pct40">
              <a:fgClr>
                <a:srgbClr val="99CCFF"/>
              </a:fgClr>
              <a:bgClr>
                <a:srgbClr val="FFFFFF"/>
              </a:bgClr>
            </a:patt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 11001010      01110000      00000000      00100110</a:t>
              </a:r>
            </a:p>
          </p:txBody>
        </p:sp>
        <p:sp>
          <p:nvSpPr>
            <p:cNvPr id="15" name="Line 1111"/>
            <p:cNvSpPr>
              <a:spLocks noChangeShapeType="1"/>
            </p:cNvSpPr>
            <p:nvPr/>
          </p:nvSpPr>
          <p:spPr bwMode="auto">
            <a:xfrm>
              <a:off x="5994044" y="5148499"/>
              <a:ext cx="0" cy="3810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Line 1112"/>
            <p:cNvSpPr>
              <a:spLocks noChangeShapeType="1"/>
            </p:cNvSpPr>
            <p:nvPr/>
          </p:nvSpPr>
          <p:spPr bwMode="auto">
            <a:xfrm>
              <a:off x="4272560" y="5148499"/>
              <a:ext cx="0" cy="3810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Line 1113"/>
            <p:cNvSpPr>
              <a:spLocks noChangeShapeType="1"/>
            </p:cNvSpPr>
            <p:nvPr/>
          </p:nvSpPr>
          <p:spPr bwMode="auto">
            <a:xfrm>
              <a:off x="7887676" y="5148499"/>
              <a:ext cx="0" cy="3810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3503085" y="0"/>
            <a:ext cx="8477249" cy="1143000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编址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—IP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地址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208613" y="4299147"/>
            <a:ext cx="6410325" cy="936603"/>
            <a:chOff x="2209282" y="4525787"/>
            <a:chExt cx="6410325" cy="936603"/>
          </a:xfrm>
        </p:grpSpPr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223569" y="4903590"/>
              <a:ext cx="2508250" cy="503238"/>
            </a:xfrm>
            <a:prstGeom prst="rect">
              <a:avLst/>
            </a:prstGeom>
            <a:solidFill>
              <a:srgbClr val="FFE59B"/>
            </a:solidFill>
            <a:ln w="28575">
              <a:solidFill>
                <a:schemeClr val="bg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endParaRPr lang="zh-CN" altLang="zh-CN">
                <a:effectLst/>
              </a:endParaRP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2641082" y="4903590"/>
              <a:ext cx="1701800" cy="558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50" tIns="26988" rIns="19050" bIns="26988" anchor="ctr" anchorCtr="1"/>
            <a:lstStyle>
              <a:lvl1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2700"/>
                </a:lnSpc>
              </a:pPr>
              <a:r>
                <a:rPr kumimoji="1" lang="zh-CN" altLang="en-US" sz="2800" b="1" dirty="0" smtClean="0">
                  <a:solidFill>
                    <a:srgbClr val="002060"/>
                  </a:solidFill>
                  <a:latin typeface="Franklin Gothic Medium" panose="020B0603020102020204" pitchFamily="34" charset="0"/>
                  <a:ea typeface="楷体_GB2312" pitchFamily="49" charset="-122"/>
                </a:rPr>
                <a:t>网络号</a:t>
              </a:r>
              <a:endParaRPr kumimoji="1" lang="en-US" altLang="zh-CN" sz="2800" b="1" dirty="0">
                <a:solidFill>
                  <a:srgbClr val="002060"/>
                </a:solidFill>
                <a:effectLst/>
                <a:latin typeface="Franklin Gothic Medium" panose="020B0603020102020204" pitchFamily="34" charset="0"/>
                <a:ea typeface="楷体_GB2312" pitchFamily="49" charset="-122"/>
              </a:endParaRPr>
            </a:p>
          </p:txBody>
        </p:sp>
        <p:sp>
          <p:nvSpPr>
            <p:cNvPr id="12" name="Rectangle 0"/>
            <p:cNvSpPr>
              <a:spLocks noChangeArrowheads="1"/>
            </p:cNvSpPr>
            <p:nvPr/>
          </p:nvSpPr>
          <p:spPr bwMode="auto">
            <a:xfrm>
              <a:off x="4731819" y="4902003"/>
              <a:ext cx="3887788" cy="503237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endParaRPr lang="zh-CN" altLang="zh-CN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9" name="Rectangle 7"/>
            <p:cNvSpPr>
              <a:spLocks noChangeArrowheads="1"/>
            </p:cNvSpPr>
            <p:nvPr/>
          </p:nvSpPr>
          <p:spPr bwMode="auto">
            <a:xfrm>
              <a:off x="4657207" y="4525787"/>
              <a:ext cx="1295400" cy="3238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26988" rIns="19050" bIns="26988" anchor="ctr" anchorCtr="1">
              <a:spAutoFit/>
            </a:bodyPr>
            <a:lstStyle>
              <a:lvl1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ts val="2100"/>
                </a:lnSpc>
              </a:pPr>
              <a:r>
                <a:rPr kumimoji="1" lang="en-US" altLang="zh-CN" dirty="0">
                  <a:latin typeface="Franklin Gothic Medium" panose="020B0603020102020204" pitchFamily="34" charset="0"/>
                  <a:ea typeface="楷体_GB2312" pitchFamily="49" charset="-122"/>
                </a:rPr>
                <a:t>32</a:t>
              </a:r>
              <a:r>
                <a:rPr kumimoji="1"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Franklin Gothic Medium" panose="020B0603020102020204" pitchFamily="34" charset="0"/>
                  <a:ea typeface="楷体_GB2312" pitchFamily="49" charset="-122"/>
                </a:rPr>
                <a:t> </a:t>
              </a:r>
              <a:r>
                <a:rPr kumimoji="1" lang="en-US" altLang="zh-CN" dirty="0">
                  <a:latin typeface="Franklin Gothic Medium" panose="020B0603020102020204" pitchFamily="34" charset="0"/>
                  <a:ea typeface="楷体_GB2312" pitchFamily="49" charset="-122"/>
                </a:rPr>
                <a:t>bits</a:t>
              </a:r>
            </a:p>
          </p:txBody>
        </p:sp>
        <p:sp>
          <p:nvSpPr>
            <p:cNvPr id="21" name="Line 8"/>
            <p:cNvSpPr>
              <a:spLocks noChangeShapeType="1"/>
            </p:cNvSpPr>
            <p:nvPr/>
          </p:nvSpPr>
          <p:spPr bwMode="auto">
            <a:xfrm>
              <a:off x="5055669" y="4582915"/>
              <a:ext cx="0" cy="77470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Rectangle 10"/>
            <p:cNvSpPr>
              <a:spLocks noChangeArrowheads="1"/>
            </p:cNvSpPr>
            <p:nvPr/>
          </p:nvSpPr>
          <p:spPr bwMode="auto">
            <a:xfrm>
              <a:off x="6117707" y="4903590"/>
              <a:ext cx="1181100" cy="558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50" tIns="26988" rIns="19050" bIns="26988" anchor="ctr" anchorCtr="1"/>
            <a:lstStyle>
              <a:lvl1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2700"/>
                </a:lnSpc>
              </a:pPr>
              <a:r>
                <a:rPr kumimoji="1" lang="zh-CN" altLang="en-US" sz="2800" b="1" dirty="0" smtClean="0">
                  <a:solidFill>
                    <a:srgbClr val="002060"/>
                  </a:solidFill>
                  <a:effectLst/>
                  <a:latin typeface="Franklin Gothic Medium" panose="020B0603020102020204" pitchFamily="34" charset="0"/>
                  <a:ea typeface="楷体_GB2312" pitchFamily="49" charset="-122"/>
                </a:rPr>
                <a:t>主机号</a:t>
              </a:r>
              <a:endParaRPr kumimoji="1" lang="en-US" altLang="zh-CN" sz="2800" b="1" dirty="0">
                <a:solidFill>
                  <a:srgbClr val="002060"/>
                </a:solidFill>
                <a:effectLst/>
                <a:latin typeface="Franklin Gothic Medium" panose="020B0603020102020204" pitchFamily="34" charset="0"/>
                <a:ea typeface="楷体_GB2312" pitchFamily="49" charset="-122"/>
              </a:endParaRPr>
            </a:p>
          </p:txBody>
        </p:sp>
        <p:sp>
          <p:nvSpPr>
            <p:cNvPr id="23" name="Line 11"/>
            <p:cNvSpPr>
              <a:spLocks noChangeShapeType="1"/>
            </p:cNvSpPr>
            <p:nvPr/>
          </p:nvSpPr>
          <p:spPr bwMode="auto">
            <a:xfrm>
              <a:off x="6025632" y="4700390"/>
              <a:ext cx="25939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2"/>
            <p:cNvSpPr>
              <a:spLocks noChangeShapeType="1"/>
            </p:cNvSpPr>
            <p:nvPr/>
          </p:nvSpPr>
          <p:spPr bwMode="auto">
            <a:xfrm flipH="1" flipV="1">
              <a:off x="2209282" y="4700390"/>
              <a:ext cx="24479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797280" y="5831674"/>
            <a:ext cx="1447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示例</a:t>
            </a:r>
            <a:endParaRPr lang="zh-CN" altLang="en-US" sz="24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260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82786" y="1307089"/>
            <a:ext cx="7841673" cy="5610226"/>
            <a:chOff x="3997036" y="1098549"/>
            <a:chExt cx="7841673" cy="5610226"/>
          </a:xfrm>
        </p:grpSpPr>
        <p:sp>
          <p:nvSpPr>
            <p:cNvPr id="42027" name="Text Box 43"/>
            <p:cNvSpPr txBox="1">
              <a:spLocks noChangeArrowheads="1"/>
            </p:cNvSpPr>
            <p:nvPr/>
          </p:nvSpPr>
          <p:spPr bwMode="auto">
            <a:xfrm>
              <a:off x="3997036" y="5351463"/>
              <a:ext cx="7841673" cy="1357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914400" indent="-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371600" indent="-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828800" indent="-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indent="-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20000"/>
                </a:spcBef>
                <a:buClr>
                  <a:schemeClr val="hlink"/>
                </a:buClr>
                <a:buSzPct val="65000"/>
                <a:buFont typeface="Monotype Sorts" charset="2"/>
                <a:buNone/>
              </a:pPr>
              <a:r>
                <a:rPr lang="en-US" altLang="zh-CN" sz="1800" b="1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	</a:t>
              </a:r>
              <a:r>
                <a:rPr lang="en-US" altLang="zh-CN" sz="1800" b="1" dirty="0">
                  <a:solidFill>
                    <a:srgbClr val="002060"/>
                  </a:solidFill>
                  <a:sym typeface="Monotype Sorts" charset="2"/>
                </a:rPr>
                <a:t>—</a:t>
              </a:r>
              <a:r>
                <a:rPr lang="en-US" altLang="zh-CN" sz="1800" b="1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	</a:t>
              </a:r>
              <a:r>
                <a:rPr lang="zh-CN" altLang="en-US" sz="1800" b="1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国际网络信息中心组织</a:t>
              </a:r>
              <a:r>
                <a:rPr lang="en-US" altLang="zh-CN" sz="1800" b="1" dirty="0" err="1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InterNIC</a:t>
              </a:r>
              <a:r>
                <a:rPr lang="zh-CN" altLang="en-US" sz="1800" b="1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可以分配的</a:t>
              </a:r>
              <a:r>
                <a:rPr lang="en-US" altLang="zh-CN" sz="1800" b="1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IP</a:t>
              </a:r>
              <a:r>
                <a:rPr lang="zh-CN" altLang="en-US" sz="1800" b="1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地址为</a:t>
              </a:r>
              <a:r>
                <a:rPr lang="en-US" altLang="zh-CN" sz="1800" b="1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A</a:t>
              </a:r>
              <a:r>
                <a:rPr lang="zh-CN" altLang="en-US" sz="1800" b="1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、</a:t>
              </a:r>
              <a:r>
                <a:rPr lang="en-US" altLang="zh-CN" sz="1800" b="1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B</a:t>
              </a:r>
              <a:r>
                <a:rPr lang="zh-CN" altLang="en-US" sz="1800" b="1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、</a:t>
              </a:r>
              <a:r>
                <a:rPr lang="en-US" altLang="zh-CN" sz="1800" b="1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C 3</a:t>
              </a:r>
              <a:r>
                <a:rPr lang="zh-CN" altLang="en-US" sz="1800" b="1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类</a:t>
              </a:r>
            </a:p>
            <a:p>
              <a:pPr>
                <a:spcBef>
                  <a:spcPct val="20000"/>
                </a:spcBef>
                <a:buClr>
                  <a:schemeClr val="hlink"/>
                </a:buClr>
                <a:buSzPct val="65000"/>
                <a:buFont typeface="Monotype Sorts" charset="2"/>
                <a:buNone/>
              </a:pPr>
              <a:r>
                <a:rPr lang="zh-CN" altLang="en-US" sz="1800" b="1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    </a:t>
              </a:r>
              <a:r>
                <a:rPr lang="en-US" altLang="zh-CN" sz="1800" b="1" dirty="0">
                  <a:solidFill>
                    <a:srgbClr val="002060"/>
                  </a:solidFill>
                  <a:sym typeface="Monotype Sorts" charset="2"/>
                </a:rPr>
                <a:t>—</a:t>
              </a:r>
              <a:r>
                <a:rPr lang="en-US" altLang="zh-CN" sz="1800" b="1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  A</a:t>
              </a:r>
              <a:r>
                <a:rPr lang="zh-CN" altLang="en-US" sz="1800" b="1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类地址适用于大型网络，网络中主机数可达</a:t>
              </a:r>
              <a:r>
                <a:rPr lang="en-US" altLang="zh-CN" sz="1800" b="1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2</a:t>
              </a:r>
              <a:r>
                <a:rPr lang="en-US" altLang="zh-CN" sz="1800" b="1" baseline="30000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24</a:t>
              </a:r>
              <a:r>
                <a:rPr lang="zh-CN" altLang="en-US" sz="1800" b="1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台；</a:t>
              </a:r>
            </a:p>
            <a:p>
              <a:pPr>
                <a:spcBef>
                  <a:spcPct val="20000"/>
                </a:spcBef>
                <a:buClr>
                  <a:schemeClr val="hlink"/>
                </a:buClr>
                <a:buSzPct val="65000"/>
                <a:buFont typeface="Monotype Sorts" charset="2"/>
                <a:buNone/>
              </a:pPr>
              <a:r>
                <a:rPr lang="zh-CN" altLang="en-US" sz="1800" b="1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    </a:t>
              </a:r>
              <a:r>
                <a:rPr lang="en-US" altLang="zh-CN" sz="1800" b="1" dirty="0">
                  <a:solidFill>
                    <a:srgbClr val="002060"/>
                  </a:solidFill>
                  <a:sym typeface="Monotype Sorts" charset="2"/>
                </a:rPr>
                <a:t>—</a:t>
              </a:r>
              <a:r>
                <a:rPr lang="en-US" altLang="zh-CN" sz="1800" b="1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  B</a:t>
              </a:r>
              <a:r>
                <a:rPr lang="zh-CN" altLang="en-US" sz="1800" b="1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类地址适用于中型网络，网络中主机数可达</a:t>
              </a:r>
              <a:r>
                <a:rPr lang="en-US" altLang="zh-CN" sz="1800" b="1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2</a:t>
              </a:r>
              <a:r>
                <a:rPr lang="en-US" altLang="zh-CN" sz="1800" b="1" baseline="30000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16</a:t>
              </a:r>
              <a:r>
                <a:rPr lang="zh-CN" altLang="en-US" sz="1800" b="1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台；</a:t>
              </a:r>
            </a:p>
            <a:p>
              <a:pPr>
                <a:spcBef>
                  <a:spcPct val="20000"/>
                </a:spcBef>
                <a:buClr>
                  <a:schemeClr val="hlink"/>
                </a:buClr>
                <a:buSzPct val="65000"/>
                <a:buFont typeface="Monotype Sorts" charset="2"/>
                <a:buNone/>
              </a:pPr>
              <a:r>
                <a:rPr lang="zh-CN" altLang="en-US" sz="1800" b="1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    </a:t>
              </a:r>
              <a:r>
                <a:rPr lang="en-US" altLang="zh-CN" sz="1800" b="1" dirty="0">
                  <a:solidFill>
                    <a:srgbClr val="002060"/>
                  </a:solidFill>
                  <a:sym typeface="Monotype Sorts" charset="2"/>
                </a:rPr>
                <a:t>—</a:t>
              </a:r>
              <a:r>
                <a:rPr lang="en-US" altLang="zh-CN" sz="1800" b="1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  C</a:t>
              </a:r>
              <a:r>
                <a:rPr lang="zh-CN" altLang="en-US" sz="1800" b="1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类地址适用于小型网络，网络中主机数可达</a:t>
              </a:r>
              <a:r>
                <a:rPr lang="en-US" altLang="zh-CN" sz="1800" b="1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2</a:t>
              </a:r>
              <a:r>
                <a:rPr lang="en-US" altLang="zh-CN" sz="1800" b="1" baseline="30000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8</a:t>
              </a:r>
              <a:r>
                <a:rPr lang="zh-CN" altLang="en-US" sz="1800" b="1" dirty="0">
                  <a:solidFill>
                    <a:srgbClr val="002060"/>
                  </a:solidFill>
                  <a:latin typeface="宋体" panose="02010600030101010101" pitchFamily="2" charset="-122"/>
                  <a:sym typeface="Monotype Sorts" charset="2"/>
                </a:rPr>
                <a:t>台；</a:t>
              </a:r>
            </a:p>
          </p:txBody>
        </p:sp>
        <p:sp>
          <p:nvSpPr>
            <p:cNvPr id="42028" name="Rectangle 44"/>
            <p:cNvSpPr>
              <a:spLocks noChangeArrowheads="1"/>
            </p:cNvSpPr>
            <p:nvPr/>
          </p:nvSpPr>
          <p:spPr bwMode="auto">
            <a:xfrm>
              <a:off x="4066309" y="2165349"/>
              <a:ext cx="66675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500" b="1">
                  <a:solidFill>
                    <a:srgbClr val="002060"/>
                  </a:solidFill>
                  <a:latin typeface="宋体" panose="02010600030101010101" pitchFamily="2" charset="-122"/>
                </a:rPr>
                <a:t>A</a:t>
              </a:r>
              <a:r>
                <a:rPr lang="zh-CN" altLang="en-US" sz="1500" b="1">
                  <a:solidFill>
                    <a:srgbClr val="002060"/>
                  </a:solidFill>
                  <a:latin typeface="宋体" panose="02010600030101010101" pitchFamily="2" charset="-122"/>
                </a:rPr>
                <a:t>类地址</a:t>
              </a:r>
              <a:endParaRPr lang="zh-CN" altLang="en-US" sz="1800" b="1">
                <a:solidFill>
                  <a:srgbClr val="00206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029" name="Rectangle 45"/>
            <p:cNvSpPr>
              <a:spLocks noChangeArrowheads="1"/>
            </p:cNvSpPr>
            <p:nvPr/>
          </p:nvSpPr>
          <p:spPr bwMode="auto">
            <a:xfrm>
              <a:off x="4066309" y="4832349"/>
              <a:ext cx="66675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500" b="1">
                  <a:solidFill>
                    <a:srgbClr val="002060"/>
                  </a:solidFill>
                  <a:latin typeface="宋体" panose="02010600030101010101" pitchFamily="2" charset="-122"/>
                </a:rPr>
                <a:t>E</a:t>
              </a:r>
              <a:r>
                <a:rPr lang="zh-CN" altLang="en-US" sz="1500" b="1">
                  <a:solidFill>
                    <a:srgbClr val="002060"/>
                  </a:solidFill>
                  <a:latin typeface="宋体" panose="02010600030101010101" pitchFamily="2" charset="-122"/>
                </a:rPr>
                <a:t>类地址</a:t>
              </a:r>
              <a:endParaRPr lang="zh-CN" altLang="en-US" sz="1800" b="1">
                <a:solidFill>
                  <a:srgbClr val="00206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030" name="Rectangle 46"/>
            <p:cNvSpPr>
              <a:spLocks noChangeArrowheads="1"/>
            </p:cNvSpPr>
            <p:nvPr/>
          </p:nvSpPr>
          <p:spPr bwMode="auto">
            <a:xfrm>
              <a:off x="4066309" y="4222749"/>
              <a:ext cx="66675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500" b="1" dirty="0">
                  <a:solidFill>
                    <a:srgbClr val="002060"/>
                  </a:solidFill>
                  <a:latin typeface="宋体" panose="02010600030101010101" pitchFamily="2" charset="-122"/>
                </a:rPr>
                <a:t>D</a:t>
              </a:r>
              <a:r>
                <a:rPr lang="zh-CN" altLang="en-US" sz="1500" b="1" dirty="0">
                  <a:solidFill>
                    <a:srgbClr val="002060"/>
                  </a:solidFill>
                  <a:latin typeface="宋体" panose="02010600030101010101" pitchFamily="2" charset="-122"/>
                </a:rPr>
                <a:t>类地址</a:t>
              </a:r>
              <a:endParaRPr lang="zh-CN" altLang="en-US" sz="1800" b="1" dirty="0">
                <a:solidFill>
                  <a:srgbClr val="00206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031" name="Rectangle 47"/>
            <p:cNvSpPr>
              <a:spLocks noChangeArrowheads="1"/>
            </p:cNvSpPr>
            <p:nvPr/>
          </p:nvSpPr>
          <p:spPr bwMode="auto">
            <a:xfrm>
              <a:off x="4066309" y="3536949"/>
              <a:ext cx="66675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500" b="1">
                  <a:solidFill>
                    <a:srgbClr val="002060"/>
                  </a:solidFill>
                  <a:latin typeface="宋体" panose="02010600030101010101" pitchFamily="2" charset="-122"/>
                </a:rPr>
                <a:t>C</a:t>
              </a:r>
              <a:r>
                <a:rPr lang="zh-CN" altLang="en-US" sz="1500" b="1">
                  <a:solidFill>
                    <a:srgbClr val="002060"/>
                  </a:solidFill>
                  <a:latin typeface="宋体" panose="02010600030101010101" pitchFamily="2" charset="-122"/>
                </a:rPr>
                <a:t>类地址</a:t>
              </a:r>
              <a:endParaRPr lang="zh-CN" altLang="en-US" sz="1800" b="1">
                <a:solidFill>
                  <a:srgbClr val="00206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032" name="Rectangle 48"/>
            <p:cNvSpPr>
              <a:spLocks noChangeArrowheads="1"/>
            </p:cNvSpPr>
            <p:nvPr/>
          </p:nvSpPr>
          <p:spPr bwMode="auto">
            <a:xfrm>
              <a:off x="5163272" y="1098549"/>
              <a:ext cx="9525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500">
                  <a:solidFill>
                    <a:srgbClr val="002060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800">
                <a:solidFill>
                  <a:srgbClr val="00206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033" name="Rectangle 49"/>
            <p:cNvSpPr>
              <a:spLocks noChangeArrowheads="1"/>
            </p:cNvSpPr>
            <p:nvPr/>
          </p:nvSpPr>
          <p:spPr bwMode="auto">
            <a:xfrm>
              <a:off x="6552334" y="1098549"/>
              <a:ext cx="9525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500">
                  <a:solidFill>
                    <a:srgbClr val="002060"/>
                  </a:solidFill>
                  <a:latin typeface="宋体" panose="02010600030101010101" pitchFamily="2" charset="-122"/>
                </a:rPr>
                <a:t>7</a:t>
              </a:r>
              <a:endParaRPr lang="en-US" altLang="zh-CN" sz="1800">
                <a:solidFill>
                  <a:srgbClr val="00206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034" name="Rectangle 50"/>
            <p:cNvSpPr>
              <a:spLocks noChangeArrowheads="1"/>
            </p:cNvSpPr>
            <p:nvPr/>
          </p:nvSpPr>
          <p:spPr bwMode="auto">
            <a:xfrm>
              <a:off x="6750772" y="1098549"/>
              <a:ext cx="9525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500">
                  <a:solidFill>
                    <a:srgbClr val="002060"/>
                  </a:solidFill>
                  <a:latin typeface="宋体" panose="02010600030101010101" pitchFamily="2" charset="-122"/>
                </a:rPr>
                <a:t>8</a:t>
              </a:r>
              <a:endParaRPr lang="en-US" altLang="zh-CN" sz="1800">
                <a:solidFill>
                  <a:srgbClr val="00206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035" name="Rectangle 51"/>
            <p:cNvSpPr>
              <a:spLocks noChangeArrowheads="1"/>
            </p:cNvSpPr>
            <p:nvPr/>
          </p:nvSpPr>
          <p:spPr bwMode="auto">
            <a:xfrm>
              <a:off x="11165609" y="1098549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500">
                  <a:solidFill>
                    <a:srgbClr val="002060"/>
                  </a:solidFill>
                  <a:latin typeface="宋体" panose="02010600030101010101" pitchFamily="2" charset="-122"/>
                </a:rPr>
                <a:t>31</a:t>
              </a:r>
              <a:endParaRPr lang="en-US" altLang="zh-CN" sz="1800">
                <a:solidFill>
                  <a:srgbClr val="00206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036" name="Rectangle 52"/>
            <p:cNvSpPr>
              <a:spLocks noChangeArrowheads="1"/>
            </p:cNvSpPr>
            <p:nvPr/>
          </p:nvSpPr>
          <p:spPr bwMode="auto">
            <a:xfrm>
              <a:off x="7995372" y="1098549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500">
                  <a:solidFill>
                    <a:srgbClr val="002060"/>
                  </a:solidFill>
                  <a:latin typeface="宋体" panose="02010600030101010101" pitchFamily="2" charset="-122"/>
                </a:rPr>
                <a:t>15</a:t>
              </a:r>
              <a:endParaRPr lang="en-US" altLang="zh-CN" sz="1800">
                <a:solidFill>
                  <a:srgbClr val="00206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037" name="Rectangle 53"/>
            <p:cNvSpPr>
              <a:spLocks noChangeArrowheads="1"/>
            </p:cNvSpPr>
            <p:nvPr/>
          </p:nvSpPr>
          <p:spPr bwMode="auto">
            <a:xfrm>
              <a:off x="8390659" y="1098549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500">
                  <a:solidFill>
                    <a:srgbClr val="002060"/>
                  </a:solidFill>
                  <a:latin typeface="宋体" panose="02010600030101010101" pitchFamily="2" charset="-122"/>
                </a:rPr>
                <a:t>16</a:t>
              </a:r>
              <a:endParaRPr lang="en-US" altLang="zh-CN" sz="1800">
                <a:solidFill>
                  <a:srgbClr val="00206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038" name="Rectangle 54"/>
            <p:cNvSpPr>
              <a:spLocks noChangeArrowheads="1"/>
            </p:cNvSpPr>
            <p:nvPr/>
          </p:nvSpPr>
          <p:spPr bwMode="auto">
            <a:xfrm>
              <a:off x="9582872" y="1098549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500">
                  <a:solidFill>
                    <a:srgbClr val="002060"/>
                  </a:solidFill>
                  <a:latin typeface="宋体" panose="02010600030101010101" pitchFamily="2" charset="-122"/>
                </a:rPr>
                <a:t>23</a:t>
              </a:r>
              <a:endParaRPr lang="en-US" altLang="zh-CN" sz="1800">
                <a:solidFill>
                  <a:srgbClr val="00206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039" name="Rectangle 55"/>
            <p:cNvSpPr>
              <a:spLocks noChangeArrowheads="1"/>
            </p:cNvSpPr>
            <p:nvPr/>
          </p:nvSpPr>
          <p:spPr bwMode="auto">
            <a:xfrm>
              <a:off x="9978159" y="1098549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500">
                  <a:solidFill>
                    <a:srgbClr val="002060"/>
                  </a:solidFill>
                  <a:latin typeface="宋体" panose="02010600030101010101" pitchFamily="2" charset="-122"/>
                </a:rPr>
                <a:t>24</a:t>
              </a:r>
              <a:endParaRPr lang="en-US" altLang="zh-CN" sz="1800">
                <a:solidFill>
                  <a:srgbClr val="00206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040" name="Rectangle 56"/>
            <p:cNvSpPr>
              <a:spLocks noChangeArrowheads="1"/>
            </p:cNvSpPr>
            <p:nvPr/>
          </p:nvSpPr>
          <p:spPr bwMode="auto">
            <a:xfrm>
              <a:off x="5179148" y="4070349"/>
              <a:ext cx="198437" cy="4587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zh-CN">
                <a:solidFill>
                  <a:srgbClr val="002060"/>
                </a:solidFill>
              </a:endParaRPr>
            </a:p>
          </p:txBody>
        </p:sp>
        <p:sp>
          <p:nvSpPr>
            <p:cNvPr id="42041" name="Rectangle 57"/>
            <p:cNvSpPr>
              <a:spLocks noChangeArrowheads="1"/>
            </p:cNvSpPr>
            <p:nvPr/>
          </p:nvSpPr>
          <p:spPr bwMode="auto">
            <a:xfrm>
              <a:off x="5236297" y="4189412"/>
              <a:ext cx="9525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500" dirty="0">
                  <a:solidFill>
                    <a:srgbClr val="002060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1800" dirty="0">
                <a:solidFill>
                  <a:srgbClr val="00206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042" name="Rectangle 58"/>
            <p:cNvSpPr>
              <a:spLocks noChangeArrowheads="1"/>
            </p:cNvSpPr>
            <p:nvPr/>
          </p:nvSpPr>
          <p:spPr bwMode="auto">
            <a:xfrm>
              <a:off x="5377584" y="4070349"/>
              <a:ext cx="198438" cy="4587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zh-CN">
                <a:solidFill>
                  <a:srgbClr val="002060"/>
                </a:solidFill>
              </a:endParaRPr>
            </a:p>
          </p:txBody>
        </p:sp>
        <p:sp>
          <p:nvSpPr>
            <p:cNvPr id="42043" name="Rectangle 59"/>
            <p:cNvSpPr>
              <a:spLocks noChangeArrowheads="1"/>
            </p:cNvSpPr>
            <p:nvPr/>
          </p:nvSpPr>
          <p:spPr bwMode="auto">
            <a:xfrm>
              <a:off x="5434734" y="4189412"/>
              <a:ext cx="9525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500" dirty="0">
                  <a:solidFill>
                    <a:srgbClr val="002060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1800" dirty="0">
                <a:solidFill>
                  <a:srgbClr val="00206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044" name="Rectangle 60"/>
            <p:cNvSpPr>
              <a:spLocks noChangeArrowheads="1"/>
            </p:cNvSpPr>
            <p:nvPr/>
          </p:nvSpPr>
          <p:spPr bwMode="auto">
            <a:xfrm>
              <a:off x="5772873" y="4070349"/>
              <a:ext cx="198437" cy="4587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zh-CN">
                <a:solidFill>
                  <a:srgbClr val="002060"/>
                </a:solidFill>
              </a:endParaRPr>
            </a:p>
          </p:txBody>
        </p:sp>
        <p:sp>
          <p:nvSpPr>
            <p:cNvPr id="42045" name="Rectangle 61"/>
            <p:cNvSpPr>
              <a:spLocks noChangeArrowheads="1"/>
            </p:cNvSpPr>
            <p:nvPr/>
          </p:nvSpPr>
          <p:spPr bwMode="auto">
            <a:xfrm>
              <a:off x="5834784" y="4189412"/>
              <a:ext cx="9525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500" dirty="0">
                  <a:solidFill>
                    <a:srgbClr val="002060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800" dirty="0">
                <a:solidFill>
                  <a:srgbClr val="00206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046" name="Rectangle 62"/>
            <p:cNvSpPr>
              <a:spLocks noChangeArrowheads="1"/>
            </p:cNvSpPr>
            <p:nvPr/>
          </p:nvSpPr>
          <p:spPr bwMode="auto">
            <a:xfrm>
              <a:off x="5576022" y="4070349"/>
              <a:ext cx="196850" cy="4587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47" name="Rectangle 63"/>
            <p:cNvSpPr>
              <a:spLocks noChangeArrowheads="1"/>
            </p:cNvSpPr>
            <p:nvPr/>
          </p:nvSpPr>
          <p:spPr bwMode="auto">
            <a:xfrm>
              <a:off x="5636347" y="4189412"/>
              <a:ext cx="9525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500" dirty="0">
                  <a:solidFill>
                    <a:srgbClr val="002060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1800" dirty="0">
                <a:solidFill>
                  <a:srgbClr val="00206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048" name="Rectangle 64"/>
            <p:cNvSpPr>
              <a:spLocks noChangeArrowheads="1"/>
            </p:cNvSpPr>
            <p:nvPr/>
          </p:nvSpPr>
          <p:spPr bwMode="auto">
            <a:xfrm>
              <a:off x="5377584" y="4759325"/>
              <a:ext cx="198438" cy="4603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49" name="Rectangle 65"/>
            <p:cNvSpPr>
              <a:spLocks noChangeArrowheads="1"/>
            </p:cNvSpPr>
            <p:nvPr/>
          </p:nvSpPr>
          <p:spPr bwMode="auto">
            <a:xfrm>
              <a:off x="5434734" y="4879974"/>
              <a:ext cx="9525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500" dirty="0">
                  <a:solidFill>
                    <a:srgbClr val="002060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1800" dirty="0">
                <a:solidFill>
                  <a:srgbClr val="00206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050" name="Rectangle 66"/>
            <p:cNvSpPr>
              <a:spLocks noChangeArrowheads="1"/>
            </p:cNvSpPr>
            <p:nvPr/>
          </p:nvSpPr>
          <p:spPr bwMode="auto">
            <a:xfrm>
              <a:off x="5576022" y="4759325"/>
              <a:ext cx="196850" cy="4603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51" name="Rectangle 67"/>
            <p:cNvSpPr>
              <a:spLocks noChangeArrowheads="1"/>
            </p:cNvSpPr>
            <p:nvPr/>
          </p:nvSpPr>
          <p:spPr bwMode="auto">
            <a:xfrm>
              <a:off x="5636347" y="4879974"/>
              <a:ext cx="9525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500" dirty="0">
                  <a:solidFill>
                    <a:srgbClr val="002060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1800" dirty="0">
                <a:solidFill>
                  <a:srgbClr val="00206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052" name="Rectangle 68"/>
            <p:cNvSpPr>
              <a:spLocks noChangeArrowheads="1"/>
            </p:cNvSpPr>
            <p:nvPr/>
          </p:nvSpPr>
          <p:spPr bwMode="auto">
            <a:xfrm>
              <a:off x="5971309" y="4759325"/>
              <a:ext cx="198438" cy="4603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53" name="Rectangle 69"/>
            <p:cNvSpPr>
              <a:spLocks noChangeArrowheads="1"/>
            </p:cNvSpPr>
            <p:nvPr/>
          </p:nvSpPr>
          <p:spPr bwMode="auto">
            <a:xfrm>
              <a:off x="6031634" y="4879974"/>
              <a:ext cx="9525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500" dirty="0">
                  <a:solidFill>
                    <a:srgbClr val="002060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800" dirty="0">
                <a:solidFill>
                  <a:srgbClr val="00206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054" name="Rectangle 70"/>
            <p:cNvSpPr>
              <a:spLocks noChangeArrowheads="1"/>
            </p:cNvSpPr>
            <p:nvPr/>
          </p:nvSpPr>
          <p:spPr bwMode="auto">
            <a:xfrm>
              <a:off x="5772873" y="4759325"/>
              <a:ext cx="198437" cy="4603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55" name="Rectangle 71"/>
            <p:cNvSpPr>
              <a:spLocks noChangeArrowheads="1"/>
            </p:cNvSpPr>
            <p:nvPr/>
          </p:nvSpPr>
          <p:spPr bwMode="auto">
            <a:xfrm>
              <a:off x="5834784" y="4879974"/>
              <a:ext cx="9525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500" dirty="0">
                  <a:solidFill>
                    <a:srgbClr val="002060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1800" dirty="0">
                <a:solidFill>
                  <a:srgbClr val="00206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056" name="Rectangle 72"/>
            <p:cNvSpPr>
              <a:spLocks noChangeArrowheads="1"/>
            </p:cNvSpPr>
            <p:nvPr/>
          </p:nvSpPr>
          <p:spPr bwMode="auto">
            <a:xfrm>
              <a:off x="5179148" y="4759325"/>
              <a:ext cx="198437" cy="4603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57" name="Rectangle 73"/>
            <p:cNvSpPr>
              <a:spLocks noChangeArrowheads="1"/>
            </p:cNvSpPr>
            <p:nvPr/>
          </p:nvSpPr>
          <p:spPr bwMode="auto">
            <a:xfrm>
              <a:off x="5236297" y="4879974"/>
              <a:ext cx="9525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500" dirty="0">
                  <a:solidFill>
                    <a:srgbClr val="002060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1800" dirty="0">
                <a:solidFill>
                  <a:srgbClr val="00206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058" name="Rectangle 74"/>
            <p:cNvSpPr>
              <a:spLocks noChangeArrowheads="1"/>
            </p:cNvSpPr>
            <p:nvPr/>
          </p:nvSpPr>
          <p:spPr bwMode="auto">
            <a:xfrm>
              <a:off x="5971309" y="4070349"/>
              <a:ext cx="5549900" cy="4587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59" name="Rectangle 75"/>
            <p:cNvSpPr>
              <a:spLocks noChangeArrowheads="1"/>
            </p:cNvSpPr>
            <p:nvPr/>
          </p:nvSpPr>
          <p:spPr bwMode="auto">
            <a:xfrm>
              <a:off x="8411297" y="4189413"/>
              <a:ext cx="91440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zh-CN" altLang="en-US" sz="1800">
                  <a:solidFill>
                    <a:srgbClr val="002060"/>
                  </a:solidFill>
                  <a:latin typeface="宋体" panose="02010600030101010101" pitchFamily="2" charset="-122"/>
                </a:rPr>
                <a:t>多播地址</a:t>
              </a:r>
            </a:p>
          </p:txBody>
        </p:sp>
        <p:sp>
          <p:nvSpPr>
            <p:cNvPr id="42060" name="Rectangle 76"/>
            <p:cNvSpPr>
              <a:spLocks noChangeArrowheads="1"/>
            </p:cNvSpPr>
            <p:nvPr/>
          </p:nvSpPr>
          <p:spPr bwMode="auto">
            <a:xfrm>
              <a:off x="6169747" y="4759325"/>
              <a:ext cx="5351462" cy="4603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61" name="Rectangle 77"/>
            <p:cNvSpPr>
              <a:spLocks noChangeArrowheads="1"/>
            </p:cNvSpPr>
            <p:nvPr/>
          </p:nvSpPr>
          <p:spPr bwMode="auto">
            <a:xfrm>
              <a:off x="8679584" y="4879974"/>
              <a:ext cx="4572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zh-CN" altLang="en-US" sz="1800">
                  <a:solidFill>
                    <a:srgbClr val="002060"/>
                  </a:solidFill>
                  <a:latin typeface="宋体" panose="02010600030101010101" pitchFamily="2" charset="-122"/>
                </a:rPr>
                <a:t>保留</a:t>
              </a:r>
            </a:p>
          </p:txBody>
        </p:sp>
        <p:sp>
          <p:nvSpPr>
            <p:cNvPr id="42062" name="Line 78"/>
            <p:cNvSpPr>
              <a:spLocks noChangeShapeType="1"/>
            </p:cNvSpPr>
            <p:nvPr/>
          </p:nvSpPr>
          <p:spPr bwMode="auto">
            <a:xfrm>
              <a:off x="8350973" y="4070350"/>
              <a:ext cx="1587" cy="238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63" name="Line 79"/>
            <p:cNvSpPr>
              <a:spLocks noChangeShapeType="1"/>
            </p:cNvSpPr>
            <p:nvPr/>
          </p:nvSpPr>
          <p:spPr bwMode="auto">
            <a:xfrm>
              <a:off x="6766648" y="4759325"/>
              <a:ext cx="1587" cy="238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64" name="Line 80"/>
            <p:cNvSpPr>
              <a:spLocks noChangeShapeType="1"/>
            </p:cNvSpPr>
            <p:nvPr/>
          </p:nvSpPr>
          <p:spPr bwMode="auto">
            <a:xfrm>
              <a:off x="9936884" y="4759325"/>
              <a:ext cx="1588" cy="238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65" name="Rectangle 81"/>
            <p:cNvSpPr>
              <a:spLocks noChangeArrowheads="1"/>
            </p:cNvSpPr>
            <p:nvPr/>
          </p:nvSpPr>
          <p:spPr bwMode="auto">
            <a:xfrm>
              <a:off x="5133110" y="1438275"/>
              <a:ext cx="1560513" cy="46037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bg2"/>
              </a:solidFill>
              <a:miter lim="800000"/>
              <a:headEnd/>
              <a:tailEnd/>
            </a:ln>
          </p:spPr>
          <p:txBody>
            <a:bodyPr/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800">
                <a:solidFill>
                  <a:srgbClr val="00206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066" name="Rectangle 82"/>
            <p:cNvSpPr>
              <a:spLocks noChangeArrowheads="1"/>
            </p:cNvSpPr>
            <p:nvPr/>
          </p:nvSpPr>
          <p:spPr bwMode="auto">
            <a:xfrm>
              <a:off x="6693622" y="1438275"/>
              <a:ext cx="4754562" cy="46037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bg2"/>
              </a:solidFill>
              <a:miter lim="800000"/>
              <a:headEnd/>
              <a:tailEnd/>
            </a:ln>
          </p:spPr>
          <p:txBody>
            <a:bodyPr/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800" b="1">
                <a:solidFill>
                  <a:srgbClr val="00206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067" name="Line 83"/>
            <p:cNvSpPr>
              <a:spLocks noChangeShapeType="1"/>
            </p:cNvSpPr>
            <p:nvPr/>
          </p:nvSpPr>
          <p:spPr bwMode="auto">
            <a:xfrm>
              <a:off x="8277948" y="1438275"/>
              <a:ext cx="1587" cy="238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68" name="Line 84"/>
            <p:cNvSpPr>
              <a:spLocks noChangeShapeType="1"/>
            </p:cNvSpPr>
            <p:nvPr/>
          </p:nvSpPr>
          <p:spPr bwMode="auto">
            <a:xfrm>
              <a:off x="8277948" y="1485900"/>
              <a:ext cx="1587" cy="222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69" name="Line 85"/>
            <p:cNvSpPr>
              <a:spLocks noChangeShapeType="1"/>
            </p:cNvSpPr>
            <p:nvPr/>
          </p:nvSpPr>
          <p:spPr bwMode="auto">
            <a:xfrm>
              <a:off x="8277948" y="1579563"/>
              <a:ext cx="1587" cy="222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70" name="Line 86"/>
            <p:cNvSpPr>
              <a:spLocks noChangeShapeType="1"/>
            </p:cNvSpPr>
            <p:nvPr/>
          </p:nvSpPr>
          <p:spPr bwMode="auto">
            <a:xfrm>
              <a:off x="8277948" y="1812925"/>
              <a:ext cx="1587" cy="238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71" name="Line 87"/>
            <p:cNvSpPr>
              <a:spLocks noChangeShapeType="1"/>
            </p:cNvSpPr>
            <p:nvPr/>
          </p:nvSpPr>
          <p:spPr bwMode="auto">
            <a:xfrm>
              <a:off x="9863859" y="1438275"/>
              <a:ext cx="1588" cy="238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72" name="Line 88"/>
            <p:cNvSpPr>
              <a:spLocks noChangeShapeType="1"/>
            </p:cNvSpPr>
            <p:nvPr/>
          </p:nvSpPr>
          <p:spPr bwMode="auto">
            <a:xfrm>
              <a:off x="9863859" y="1485900"/>
              <a:ext cx="1588" cy="222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73" name="Line 89"/>
            <p:cNvSpPr>
              <a:spLocks noChangeShapeType="1"/>
            </p:cNvSpPr>
            <p:nvPr/>
          </p:nvSpPr>
          <p:spPr bwMode="auto">
            <a:xfrm>
              <a:off x="9863859" y="1531937"/>
              <a:ext cx="1588" cy="238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74" name="Line 90"/>
            <p:cNvSpPr>
              <a:spLocks noChangeShapeType="1"/>
            </p:cNvSpPr>
            <p:nvPr/>
          </p:nvSpPr>
          <p:spPr bwMode="auto">
            <a:xfrm>
              <a:off x="9863859" y="1579563"/>
              <a:ext cx="1588" cy="222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75" name="Line 91"/>
            <p:cNvSpPr>
              <a:spLocks noChangeShapeType="1"/>
            </p:cNvSpPr>
            <p:nvPr/>
          </p:nvSpPr>
          <p:spPr bwMode="auto">
            <a:xfrm>
              <a:off x="9863859" y="1625600"/>
              <a:ext cx="1588" cy="238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76" name="Line 92"/>
            <p:cNvSpPr>
              <a:spLocks noChangeShapeType="1"/>
            </p:cNvSpPr>
            <p:nvPr/>
          </p:nvSpPr>
          <p:spPr bwMode="auto">
            <a:xfrm>
              <a:off x="9863859" y="1673225"/>
              <a:ext cx="1588" cy="222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77" name="Line 93"/>
            <p:cNvSpPr>
              <a:spLocks noChangeShapeType="1"/>
            </p:cNvSpPr>
            <p:nvPr/>
          </p:nvSpPr>
          <p:spPr bwMode="auto">
            <a:xfrm>
              <a:off x="9863859" y="1719262"/>
              <a:ext cx="1588" cy="238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78" name="Line 94"/>
            <p:cNvSpPr>
              <a:spLocks noChangeShapeType="1"/>
            </p:cNvSpPr>
            <p:nvPr/>
          </p:nvSpPr>
          <p:spPr bwMode="auto">
            <a:xfrm>
              <a:off x="9863859" y="1765300"/>
              <a:ext cx="1588" cy="238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79" name="Line 95"/>
            <p:cNvSpPr>
              <a:spLocks noChangeShapeType="1"/>
            </p:cNvSpPr>
            <p:nvPr/>
          </p:nvSpPr>
          <p:spPr bwMode="auto">
            <a:xfrm>
              <a:off x="9863859" y="1812925"/>
              <a:ext cx="1588" cy="238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80" name="Line 96"/>
            <p:cNvSpPr>
              <a:spLocks noChangeShapeType="1"/>
            </p:cNvSpPr>
            <p:nvPr/>
          </p:nvSpPr>
          <p:spPr bwMode="auto">
            <a:xfrm>
              <a:off x="9863859" y="1858962"/>
              <a:ext cx="1588" cy="238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81" name="Line 97"/>
            <p:cNvSpPr>
              <a:spLocks noChangeShapeType="1"/>
            </p:cNvSpPr>
            <p:nvPr/>
          </p:nvSpPr>
          <p:spPr bwMode="auto">
            <a:xfrm flipV="1">
              <a:off x="8257309" y="1412874"/>
              <a:ext cx="0" cy="45720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82" name="Line 98"/>
            <p:cNvSpPr>
              <a:spLocks noChangeShapeType="1"/>
            </p:cNvSpPr>
            <p:nvPr/>
          </p:nvSpPr>
          <p:spPr bwMode="auto">
            <a:xfrm flipV="1">
              <a:off x="9857509" y="1412874"/>
              <a:ext cx="0" cy="45720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83" name="Rectangle 99"/>
            <p:cNvSpPr>
              <a:spLocks noChangeArrowheads="1"/>
            </p:cNvSpPr>
            <p:nvPr/>
          </p:nvSpPr>
          <p:spPr bwMode="auto">
            <a:xfrm>
              <a:off x="5133109" y="2089149"/>
              <a:ext cx="6324600" cy="45720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42084" name="Line 100"/>
            <p:cNvSpPr>
              <a:spLocks noChangeShapeType="1"/>
            </p:cNvSpPr>
            <p:nvPr/>
          </p:nvSpPr>
          <p:spPr bwMode="auto">
            <a:xfrm>
              <a:off x="6657109" y="2089149"/>
              <a:ext cx="0" cy="457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85" name="Line 101"/>
            <p:cNvSpPr>
              <a:spLocks noChangeShapeType="1"/>
            </p:cNvSpPr>
            <p:nvPr/>
          </p:nvSpPr>
          <p:spPr bwMode="auto">
            <a:xfrm>
              <a:off x="5361709" y="2089149"/>
              <a:ext cx="0" cy="457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86" name="Text Box 102"/>
            <p:cNvSpPr txBox="1">
              <a:spLocks noChangeArrowheads="1"/>
            </p:cNvSpPr>
            <p:nvPr/>
          </p:nvSpPr>
          <p:spPr bwMode="auto">
            <a:xfrm>
              <a:off x="5133109" y="2089150"/>
              <a:ext cx="2286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lang="en-US" altLang="zh-CN" sz="18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42087" name="Text Box 103"/>
            <p:cNvSpPr txBox="1">
              <a:spLocks noChangeArrowheads="1"/>
            </p:cNvSpPr>
            <p:nvPr/>
          </p:nvSpPr>
          <p:spPr bwMode="auto">
            <a:xfrm>
              <a:off x="5437909" y="2089150"/>
              <a:ext cx="12192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ctr" defTabSz="762000" eaLnBrk="0" hangingPunct="0">
                <a:spcBef>
                  <a:spcPct val="50000"/>
                </a:spcBef>
                <a:defRPr kumimoji="1" b="1">
                  <a:solidFill>
                    <a:srgbClr val="00206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/>
                <a:t>网络号</a:t>
              </a:r>
            </a:p>
          </p:txBody>
        </p:sp>
        <p:sp>
          <p:nvSpPr>
            <p:cNvPr id="42088" name="Text Box 104"/>
            <p:cNvSpPr txBox="1">
              <a:spLocks noChangeArrowheads="1"/>
            </p:cNvSpPr>
            <p:nvPr/>
          </p:nvSpPr>
          <p:spPr bwMode="auto">
            <a:xfrm>
              <a:off x="7190509" y="2089150"/>
              <a:ext cx="37338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ctr" defTabSz="762000" eaLnBrk="0" hangingPunct="0">
                <a:spcBef>
                  <a:spcPct val="50000"/>
                </a:spcBef>
                <a:defRPr kumimoji="1" b="1">
                  <a:solidFill>
                    <a:srgbClr val="00206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/>
                <a:t>主机号</a:t>
              </a:r>
            </a:p>
          </p:txBody>
        </p:sp>
        <p:sp>
          <p:nvSpPr>
            <p:cNvPr id="42089" name="Rectangle 105"/>
            <p:cNvSpPr>
              <a:spLocks noChangeArrowheads="1"/>
            </p:cNvSpPr>
            <p:nvPr/>
          </p:nvSpPr>
          <p:spPr bwMode="auto">
            <a:xfrm>
              <a:off x="4066309" y="2774949"/>
              <a:ext cx="66675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500" b="1">
                  <a:solidFill>
                    <a:srgbClr val="002060"/>
                  </a:solidFill>
                  <a:latin typeface="宋体" panose="02010600030101010101" pitchFamily="2" charset="-122"/>
                </a:rPr>
                <a:t>B</a:t>
              </a:r>
              <a:r>
                <a:rPr lang="zh-CN" altLang="en-US" sz="1500" b="1">
                  <a:solidFill>
                    <a:srgbClr val="002060"/>
                  </a:solidFill>
                  <a:latin typeface="宋体" panose="02010600030101010101" pitchFamily="2" charset="-122"/>
                </a:rPr>
                <a:t>类地址</a:t>
              </a:r>
              <a:endParaRPr lang="zh-CN" altLang="en-US" sz="1800" b="1">
                <a:solidFill>
                  <a:srgbClr val="00206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090" name="Rectangle 106"/>
            <p:cNvSpPr>
              <a:spLocks noChangeArrowheads="1"/>
            </p:cNvSpPr>
            <p:nvPr/>
          </p:nvSpPr>
          <p:spPr bwMode="auto">
            <a:xfrm>
              <a:off x="5133109" y="2698749"/>
              <a:ext cx="6324600" cy="45720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42091" name="Line 107"/>
            <p:cNvSpPr>
              <a:spLocks noChangeShapeType="1"/>
            </p:cNvSpPr>
            <p:nvPr/>
          </p:nvSpPr>
          <p:spPr bwMode="auto">
            <a:xfrm>
              <a:off x="5361709" y="2698749"/>
              <a:ext cx="0" cy="457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92" name="Text Box 108"/>
            <p:cNvSpPr txBox="1">
              <a:spLocks noChangeArrowheads="1"/>
            </p:cNvSpPr>
            <p:nvPr/>
          </p:nvSpPr>
          <p:spPr bwMode="auto">
            <a:xfrm>
              <a:off x="5133109" y="2698750"/>
              <a:ext cx="2286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defTabSz="762000" eaLnBrk="0" hangingPunct="0">
                <a:spcBef>
                  <a:spcPct val="50000"/>
                </a:spcBef>
                <a:defRPr kumimoji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/>
                <a:t>1</a:t>
              </a:r>
            </a:p>
          </p:txBody>
        </p:sp>
        <p:sp>
          <p:nvSpPr>
            <p:cNvPr id="42093" name="Text Box 109"/>
            <p:cNvSpPr txBox="1">
              <a:spLocks noChangeArrowheads="1"/>
            </p:cNvSpPr>
            <p:nvPr/>
          </p:nvSpPr>
          <p:spPr bwMode="auto">
            <a:xfrm>
              <a:off x="6199909" y="2774950"/>
              <a:ext cx="12192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002060"/>
                  </a:solidFill>
                  <a:latin typeface="宋体" panose="02010600030101010101" pitchFamily="2" charset="-122"/>
                </a:rPr>
                <a:t>网络号</a:t>
              </a:r>
            </a:p>
          </p:txBody>
        </p:sp>
        <p:sp>
          <p:nvSpPr>
            <p:cNvPr id="42094" name="Text Box 110"/>
            <p:cNvSpPr txBox="1">
              <a:spLocks noChangeArrowheads="1"/>
            </p:cNvSpPr>
            <p:nvPr/>
          </p:nvSpPr>
          <p:spPr bwMode="auto">
            <a:xfrm>
              <a:off x="8333509" y="2698750"/>
              <a:ext cx="25908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ctr" defTabSz="762000" eaLnBrk="0" hangingPunct="0">
                <a:spcBef>
                  <a:spcPct val="50000"/>
                </a:spcBef>
                <a:defRPr kumimoji="1" b="1">
                  <a:solidFill>
                    <a:srgbClr val="00206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/>
                <a:t>主机号</a:t>
              </a:r>
            </a:p>
          </p:txBody>
        </p:sp>
        <p:sp>
          <p:nvSpPr>
            <p:cNvPr id="42095" name="Line 111"/>
            <p:cNvSpPr>
              <a:spLocks noChangeShapeType="1"/>
            </p:cNvSpPr>
            <p:nvPr/>
          </p:nvSpPr>
          <p:spPr bwMode="auto">
            <a:xfrm>
              <a:off x="8257309" y="2698749"/>
              <a:ext cx="0" cy="457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96" name="Line 112"/>
            <p:cNvSpPr>
              <a:spLocks noChangeShapeType="1"/>
            </p:cNvSpPr>
            <p:nvPr/>
          </p:nvSpPr>
          <p:spPr bwMode="auto">
            <a:xfrm flipV="1">
              <a:off x="5590309" y="2698749"/>
              <a:ext cx="0" cy="457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097" name="Text Box 113"/>
            <p:cNvSpPr txBox="1">
              <a:spLocks noChangeArrowheads="1"/>
            </p:cNvSpPr>
            <p:nvPr/>
          </p:nvSpPr>
          <p:spPr bwMode="auto">
            <a:xfrm>
              <a:off x="5361709" y="2698750"/>
              <a:ext cx="2286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lang="en-US" altLang="zh-CN" sz="1800">
                  <a:solidFill>
                    <a:srgbClr val="FF0000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42098" name="Rectangle 114"/>
            <p:cNvSpPr>
              <a:spLocks noChangeArrowheads="1"/>
            </p:cNvSpPr>
            <p:nvPr/>
          </p:nvSpPr>
          <p:spPr bwMode="auto">
            <a:xfrm>
              <a:off x="5133109" y="3384549"/>
              <a:ext cx="6324600" cy="45720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42099" name="Line 115"/>
            <p:cNvSpPr>
              <a:spLocks noChangeShapeType="1"/>
            </p:cNvSpPr>
            <p:nvPr/>
          </p:nvSpPr>
          <p:spPr bwMode="auto">
            <a:xfrm>
              <a:off x="5361709" y="3384549"/>
              <a:ext cx="0" cy="457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100" name="Text Box 116"/>
            <p:cNvSpPr txBox="1">
              <a:spLocks noChangeArrowheads="1"/>
            </p:cNvSpPr>
            <p:nvPr/>
          </p:nvSpPr>
          <p:spPr bwMode="auto">
            <a:xfrm>
              <a:off x="5133109" y="3384550"/>
              <a:ext cx="2286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defTabSz="762000" eaLnBrk="0" hangingPunct="0">
                <a:spcBef>
                  <a:spcPct val="50000"/>
                </a:spcBef>
                <a:defRPr kumimoji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/>
                <a:t>1</a:t>
              </a:r>
            </a:p>
          </p:txBody>
        </p:sp>
        <p:sp>
          <p:nvSpPr>
            <p:cNvPr id="42101" name="Text Box 117"/>
            <p:cNvSpPr txBox="1">
              <a:spLocks noChangeArrowheads="1"/>
            </p:cNvSpPr>
            <p:nvPr/>
          </p:nvSpPr>
          <p:spPr bwMode="auto">
            <a:xfrm>
              <a:off x="6199909" y="3460750"/>
              <a:ext cx="35814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ctr" defTabSz="762000" eaLnBrk="0" hangingPunct="0">
                <a:spcBef>
                  <a:spcPct val="50000"/>
                </a:spcBef>
                <a:defRPr kumimoji="1" b="1">
                  <a:solidFill>
                    <a:srgbClr val="00206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/>
                <a:t>网络号</a:t>
              </a:r>
            </a:p>
          </p:txBody>
        </p:sp>
        <p:sp>
          <p:nvSpPr>
            <p:cNvPr id="42102" name="Text Box 118"/>
            <p:cNvSpPr txBox="1">
              <a:spLocks noChangeArrowheads="1"/>
            </p:cNvSpPr>
            <p:nvPr/>
          </p:nvSpPr>
          <p:spPr bwMode="auto">
            <a:xfrm>
              <a:off x="10086109" y="3460750"/>
              <a:ext cx="12192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ctr" defTabSz="762000" eaLnBrk="0" hangingPunct="0">
                <a:spcBef>
                  <a:spcPct val="50000"/>
                </a:spcBef>
                <a:defRPr kumimoji="1" b="1">
                  <a:solidFill>
                    <a:srgbClr val="00206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/>
                <a:t>主机号</a:t>
              </a:r>
            </a:p>
          </p:txBody>
        </p:sp>
        <p:sp>
          <p:nvSpPr>
            <p:cNvPr id="42103" name="Line 119"/>
            <p:cNvSpPr>
              <a:spLocks noChangeShapeType="1"/>
            </p:cNvSpPr>
            <p:nvPr/>
          </p:nvSpPr>
          <p:spPr bwMode="auto">
            <a:xfrm flipV="1">
              <a:off x="5590309" y="3384549"/>
              <a:ext cx="0" cy="457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104" name="Text Box 120"/>
            <p:cNvSpPr txBox="1">
              <a:spLocks noChangeArrowheads="1"/>
            </p:cNvSpPr>
            <p:nvPr/>
          </p:nvSpPr>
          <p:spPr bwMode="auto">
            <a:xfrm>
              <a:off x="5361709" y="3384550"/>
              <a:ext cx="2286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defTabSz="762000" eaLnBrk="0" hangingPunct="0">
                <a:spcBef>
                  <a:spcPct val="50000"/>
                </a:spcBef>
                <a:defRPr kumimoji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/>
                <a:t>1</a:t>
              </a:r>
            </a:p>
          </p:txBody>
        </p:sp>
        <p:sp>
          <p:nvSpPr>
            <p:cNvPr id="42105" name="Line 121"/>
            <p:cNvSpPr>
              <a:spLocks noChangeShapeType="1"/>
            </p:cNvSpPr>
            <p:nvPr/>
          </p:nvSpPr>
          <p:spPr bwMode="auto">
            <a:xfrm flipV="1">
              <a:off x="5818909" y="3384549"/>
              <a:ext cx="0" cy="457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42106" name="Text Box 122"/>
            <p:cNvSpPr txBox="1">
              <a:spLocks noChangeArrowheads="1"/>
            </p:cNvSpPr>
            <p:nvPr/>
          </p:nvSpPr>
          <p:spPr bwMode="auto">
            <a:xfrm>
              <a:off x="5590309" y="3384550"/>
              <a:ext cx="2286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defTabSz="762000" eaLnBrk="0" hangingPunct="0">
                <a:spcBef>
                  <a:spcPct val="50000"/>
                </a:spcBef>
                <a:defRPr kumimoji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/>
                <a:t>0</a:t>
              </a:r>
            </a:p>
          </p:txBody>
        </p:sp>
        <p:sp>
          <p:nvSpPr>
            <p:cNvPr id="42107" name="Line 123"/>
            <p:cNvSpPr>
              <a:spLocks noChangeShapeType="1"/>
            </p:cNvSpPr>
            <p:nvPr/>
          </p:nvSpPr>
          <p:spPr bwMode="auto">
            <a:xfrm>
              <a:off x="9933709" y="3384549"/>
              <a:ext cx="0" cy="45720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7397" y="1414029"/>
            <a:ext cx="399415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分类的</a:t>
            </a: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</a:t>
            </a:r>
            <a:endParaRPr lang="en-US" altLang="zh-CN" sz="24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二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级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24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  <a:buClr>
                <a:srgbClr val="002060"/>
              </a:buClr>
            </a:pP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 </a:t>
            </a: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 &lt;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网络号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&gt;, &lt;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主机号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 </a:t>
            </a: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pPr marL="800100" lvl="1" indent="-342900" algn="just">
              <a:lnSpc>
                <a:spcPct val="150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个字段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24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Clr>
                <a:srgbClr val="002060"/>
              </a:buClr>
            </a:pP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类别</a:t>
            </a:r>
            <a:endParaRPr lang="en-US" altLang="zh-CN" sz="24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Clr>
                <a:srgbClr val="002060"/>
              </a:buClr>
            </a:pP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）网络号</a:t>
            </a: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net-id</a:t>
            </a:r>
          </a:p>
          <a:p>
            <a:pPr lvl="1" algn="just">
              <a:lnSpc>
                <a:spcPct val="150000"/>
              </a:lnSpc>
              <a:buClr>
                <a:srgbClr val="002060"/>
              </a:buClr>
            </a:pP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）机号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host-id</a:t>
            </a:r>
          </a:p>
          <a:p>
            <a:endParaRPr lang="zh-CN" altLang="en-US" dirty="0"/>
          </a:p>
        </p:txBody>
      </p:sp>
      <p:sp>
        <p:nvSpPr>
          <p:cNvPr id="87" name="标题 1"/>
          <p:cNvSpPr>
            <a:spLocks noGrp="1"/>
          </p:cNvSpPr>
          <p:nvPr>
            <p:ph type="title"/>
          </p:nvPr>
        </p:nvSpPr>
        <p:spPr>
          <a:xfrm>
            <a:off x="4074247" y="166865"/>
            <a:ext cx="7135812" cy="872333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编址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—IP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地址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7002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93" name="Text Box 1109"/>
          <p:cNvSpPr txBox="1">
            <a:spLocks noChangeArrowheads="1"/>
          </p:cNvSpPr>
          <p:nvPr/>
        </p:nvSpPr>
        <p:spPr bwMode="auto">
          <a:xfrm>
            <a:off x="876301" y="1714323"/>
            <a:ext cx="10353674" cy="3157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Clr>
                <a:srgbClr val="002060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002060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Monotype Sorts" charset="2"/>
              </a:rPr>
              <a:t>IP</a:t>
            </a:r>
            <a:r>
              <a:rPr lang="zh-CN" altLang="en-US" b="1" dirty="0">
                <a:solidFill>
                  <a:srgbClr val="002060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Monotype Sorts" charset="2"/>
              </a:rPr>
              <a:t>地址的表示</a:t>
            </a:r>
            <a:r>
              <a:rPr lang="zh-CN" altLang="en-US" b="1" dirty="0" smtClean="0">
                <a:solidFill>
                  <a:srgbClr val="002060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Monotype Sorts" charset="2"/>
              </a:rPr>
              <a:t>：</a:t>
            </a:r>
            <a:endParaRPr lang="en-US" altLang="zh-CN" b="1" dirty="0" smtClean="0">
              <a:solidFill>
                <a:srgbClr val="002060"/>
              </a:solidFill>
              <a:ea typeface="楷体" panose="02010609060101010101" pitchFamily="49" charset="-122"/>
              <a:cs typeface="Times New Roman" panose="02020603050405020304" pitchFamily="18" charset="0"/>
              <a:sym typeface="Monotype Sorts" charset="2"/>
            </a:endParaRPr>
          </a:p>
          <a:p>
            <a:pPr lvl="2">
              <a:lnSpc>
                <a:spcPct val="150000"/>
              </a:lnSpc>
              <a:spcBef>
                <a:spcPct val="20000"/>
              </a:spcBef>
              <a:buClr>
                <a:srgbClr val="002060"/>
              </a:buClr>
              <a:buSzPct val="60000"/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Monotype Sorts" charset="2"/>
              </a:rPr>
              <a:t>点</a:t>
            </a:r>
            <a:r>
              <a:rPr lang="zh-CN" altLang="en-US" b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Monotype Sorts" charset="2"/>
              </a:rPr>
              <a:t>分十进制记</a:t>
            </a:r>
            <a:r>
              <a:rPr lang="zh-CN" altLang="en-US" b="1" dirty="0" smtClean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Monotype Sorts" charset="2"/>
              </a:rPr>
              <a:t>法 </a:t>
            </a:r>
            <a:r>
              <a:rPr lang="en-US" altLang="zh-CN" b="1" dirty="0" smtClean="0">
                <a:solidFill>
                  <a:srgbClr val="002060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Monotype Sorts" charset="2"/>
              </a:rPr>
              <a:t>(</a:t>
            </a:r>
            <a:r>
              <a:rPr lang="en-US" altLang="zh-CN" b="1" dirty="0">
                <a:solidFill>
                  <a:srgbClr val="002060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Monotype Sorts" charset="2"/>
              </a:rPr>
              <a:t>dotted decimal notation)</a:t>
            </a:r>
          </a:p>
          <a:p>
            <a:pPr lvl="2">
              <a:lnSpc>
                <a:spcPct val="150000"/>
              </a:lnSpc>
              <a:spcBef>
                <a:spcPct val="20000"/>
              </a:spcBef>
              <a:buClr>
                <a:srgbClr val="002060"/>
              </a:buClr>
              <a:buSzPct val="60000"/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2060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Monotype Sorts" charset="2"/>
              </a:rPr>
              <a:t>每个字节以十进制数表示</a:t>
            </a:r>
          </a:p>
          <a:p>
            <a:pPr lvl="2">
              <a:lnSpc>
                <a:spcPct val="150000"/>
              </a:lnSpc>
              <a:spcBef>
                <a:spcPct val="20000"/>
              </a:spcBef>
              <a:buClr>
                <a:srgbClr val="002060"/>
              </a:buClr>
              <a:buSzPct val="60000"/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002060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Monotype Sorts" charset="2"/>
              </a:rPr>
              <a:t>4</a:t>
            </a:r>
            <a:r>
              <a:rPr lang="zh-CN" altLang="en-US" b="1" dirty="0">
                <a:solidFill>
                  <a:srgbClr val="002060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Monotype Sorts" charset="2"/>
              </a:rPr>
              <a:t>个十进制数之间用小数点区分</a:t>
            </a:r>
          </a:p>
          <a:p>
            <a:pPr lvl="2">
              <a:lnSpc>
                <a:spcPct val="150000"/>
              </a:lnSpc>
              <a:spcBef>
                <a:spcPct val="20000"/>
              </a:spcBef>
              <a:buClr>
                <a:srgbClr val="002060"/>
              </a:buClr>
              <a:buSzPct val="60000"/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2060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Monotype Sorts" charset="2"/>
              </a:rPr>
              <a:t>主机和路由器中存放的</a:t>
            </a:r>
            <a:r>
              <a:rPr lang="en-US" altLang="zh-CN" b="1" dirty="0">
                <a:solidFill>
                  <a:srgbClr val="002060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Monotype Sorts" charset="2"/>
              </a:rPr>
              <a:t>IP</a:t>
            </a:r>
            <a:r>
              <a:rPr lang="zh-CN" altLang="en-US" b="1" dirty="0">
                <a:solidFill>
                  <a:srgbClr val="002060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Monotype Sorts" charset="2"/>
              </a:rPr>
              <a:t>地址是</a:t>
            </a:r>
            <a:r>
              <a:rPr lang="en-US" altLang="zh-CN" b="1" dirty="0" smtClean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Monotype Sorts" charset="2"/>
              </a:rPr>
              <a:t>32 bit</a:t>
            </a:r>
            <a:r>
              <a:rPr lang="zh-CN" altLang="en-US" b="1" dirty="0" smtClean="0">
                <a:solidFill>
                  <a:srgbClr val="002060"/>
                </a:solidFill>
                <a:ea typeface="楷体" panose="02010609060101010101" pitchFamily="49" charset="-122"/>
                <a:cs typeface="Times New Roman" panose="02020603050405020304" pitchFamily="18" charset="0"/>
                <a:sym typeface="Monotype Sorts" charset="2"/>
              </a:rPr>
              <a:t>二进制代码</a:t>
            </a:r>
            <a:endParaRPr lang="zh-CN" altLang="en-US" b="1" dirty="0">
              <a:solidFill>
                <a:srgbClr val="002060"/>
              </a:solidFill>
              <a:ea typeface="楷体" panose="02010609060101010101" pitchFamily="49" charset="-122"/>
              <a:cs typeface="Times New Roman" panose="02020603050405020304" pitchFamily="18" charset="0"/>
              <a:sym typeface="Monotype Sorts" charset="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360333" y="5390953"/>
            <a:ext cx="7527348" cy="943769"/>
            <a:chOff x="2245735" y="5577990"/>
            <a:chExt cx="6672263" cy="943769"/>
          </a:xfrm>
        </p:grpSpPr>
        <p:sp>
          <p:nvSpPr>
            <p:cNvPr id="19" name="Text Box 1108"/>
            <p:cNvSpPr txBox="1">
              <a:spLocks noChangeArrowheads="1"/>
            </p:cNvSpPr>
            <p:nvPr/>
          </p:nvSpPr>
          <p:spPr bwMode="auto">
            <a:xfrm>
              <a:off x="2245735" y="5942321"/>
              <a:ext cx="6672263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     </a:t>
              </a:r>
              <a:r>
                <a:rPr lang="en-US" altLang="zh-CN" sz="32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202  .   112  .    0   .  </a:t>
              </a:r>
              <a:r>
                <a:rPr lang="en-US" altLang="zh-CN" sz="32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32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38</a:t>
              </a:r>
              <a:endParaRPr lang="en-US" altLang="zh-CN" sz="3200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0" name="Rectangle 1110" descr="40%"/>
            <p:cNvSpPr>
              <a:spLocks noChangeArrowheads="1"/>
            </p:cNvSpPr>
            <p:nvPr/>
          </p:nvSpPr>
          <p:spPr bwMode="auto">
            <a:xfrm>
              <a:off x="2245735" y="5577990"/>
              <a:ext cx="6562725" cy="406400"/>
            </a:xfrm>
            <a:prstGeom prst="rect">
              <a:avLst/>
            </a:prstGeom>
            <a:pattFill prst="pct40">
              <a:fgClr>
                <a:srgbClr val="99CCFF"/>
              </a:fgClr>
              <a:bgClr>
                <a:srgbClr val="FFFFFF"/>
              </a:bgClr>
            </a:patt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 11001010      01110000      00000000      00100110</a:t>
              </a:r>
            </a:p>
          </p:txBody>
        </p:sp>
        <p:sp>
          <p:nvSpPr>
            <p:cNvPr id="21" name="Line 1111"/>
            <p:cNvSpPr>
              <a:spLocks noChangeShapeType="1"/>
            </p:cNvSpPr>
            <p:nvPr/>
          </p:nvSpPr>
          <p:spPr bwMode="auto">
            <a:xfrm>
              <a:off x="5522335" y="5577990"/>
              <a:ext cx="0" cy="3810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Line 1112"/>
            <p:cNvSpPr>
              <a:spLocks noChangeShapeType="1"/>
            </p:cNvSpPr>
            <p:nvPr/>
          </p:nvSpPr>
          <p:spPr bwMode="auto">
            <a:xfrm>
              <a:off x="3998335" y="5577990"/>
              <a:ext cx="0" cy="3810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Line 1113"/>
            <p:cNvSpPr>
              <a:spLocks noChangeShapeType="1"/>
            </p:cNvSpPr>
            <p:nvPr/>
          </p:nvSpPr>
          <p:spPr bwMode="auto">
            <a:xfrm>
              <a:off x="7198735" y="5577990"/>
              <a:ext cx="0" cy="3810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4074247" y="166865"/>
            <a:ext cx="7135812" cy="872333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编址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—IP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地址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10357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4433" y="1285657"/>
            <a:ext cx="11523133" cy="659033"/>
          </a:xfrm>
        </p:spPr>
        <p:txBody>
          <a:bodyPr/>
          <a:lstStyle/>
          <a:p>
            <a:pPr>
              <a:buClr>
                <a:srgbClr val="002060"/>
              </a:buClr>
            </a:pPr>
            <a:r>
              <a:rPr lang="zh-CN" altLang="en-US" dirty="0"/>
              <a:t>点分</a:t>
            </a:r>
            <a:r>
              <a:rPr lang="zh-CN" altLang="en-US" dirty="0" smtClean="0"/>
              <a:t>十进制</a:t>
            </a:r>
            <a:endParaRPr lang="zh-CN" altLang="en-US" dirty="0"/>
          </a:p>
        </p:txBody>
      </p:sp>
      <p:sp>
        <p:nvSpPr>
          <p:cNvPr id="337924" name="Line 4"/>
          <p:cNvSpPr>
            <a:spLocks noChangeShapeType="1"/>
          </p:cNvSpPr>
          <p:nvPr/>
        </p:nvSpPr>
        <p:spPr bwMode="auto">
          <a:xfrm>
            <a:off x="5435600" y="2591324"/>
            <a:ext cx="0" cy="7747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002060"/>
              </a:solidFill>
            </a:endParaRPr>
          </a:p>
        </p:txBody>
      </p:sp>
      <p:sp>
        <p:nvSpPr>
          <p:cNvPr id="337925" name="Rectangle 5"/>
          <p:cNvSpPr>
            <a:spLocks noChangeArrowheads="1"/>
          </p:cNvSpPr>
          <p:nvPr/>
        </p:nvSpPr>
        <p:spPr bwMode="auto">
          <a:xfrm>
            <a:off x="2208214" y="2284937"/>
            <a:ext cx="1944687" cy="639762"/>
          </a:xfrm>
          <a:prstGeom prst="rect">
            <a:avLst/>
          </a:prstGeom>
          <a:solidFill>
            <a:srgbClr val="FFE59B"/>
          </a:solidFill>
          <a:ln w="28575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 b="1">
              <a:solidFill>
                <a:srgbClr val="002060"/>
              </a:solidFill>
            </a:endParaRPr>
          </a:p>
        </p:txBody>
      </p:sp>
      <p:sp>
        <p:nvSpPr>
          <p:cNvPr id="337926" name="Rectangle 6"/>
          <p:cNvSpPr>
            <a:spLocks noChangeArrowheads="1"/>
          </p:cNvSpPr>
          <p:nvPr/>
        </p:nvSpPr>
        <p:spPr bwMode="auto">
          <a:xfrm>
            <a:off x="4151314" y="2284937"/>
            <a:ext cx="1944687" cy="639762"/>
          </a:xfrm>
          <a:prstGeom prst="rect">
            <a:avLst/>
          </a:prstGeom>
          <a:solidFill>
            <a:srgbClr val="FFE59B"/>
          </a:solidFill>
          <a:ln w="28575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 b="1">
              <a:solidFill>
                <a:srgbClr val="002060"/>
              </a:solidFill>
            </a:endParaRPr>
          </a:p>
        </p:txBody>
      </p:sp>
      <p:sp>
        <p:nvSpPr>
          <p:cNvPr id="337927" name="Rectangle 7"/>
          <p:cNvSpPr>
            <a:spLocks noChangeArrowheads="1"/>
          </p:cNvSpPr>
          <p:nvPr/>
        </p:nvSpPr>
        <p:spPr bwMode="auto">
          <a:xfrm>
            <a:off x="6096000" y="2284937"/>
            <a:ext cx="1944688" cy="639762"/>
          </a:xfrm>
          <a:prstGeom prst="rect">
            <a:avLst/>
          </a:prstGeom>
          <a:solidFill>
            <a:srgbClr val="FFE59B"/>
          </a:solidFill>
          <a:ln w="28575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 b="1">
              <a:solidFill>
                <a:srgbClr val="002060"/>
              </a:solidFill>
            </a:endParaRPr>
          </a:p>
        </p:txBody>
      </p:sp>
      <p:sp>
        <p:nvSpPr>
          <p:cNvPr id="337928" name="Rectangle 8"/>
          <p:cNvSpPr>
            <a:spLocks noChangeArrowheads="1"/>
          </p:cNvSpPr>
          <p:nvPr/>
        </p:nvSpPr>
        <p:spPr bwMode="auto">
          <a:xfrm>
            <a:off x="8040689" y="2284937"/>
            <a:ext cx="1944687" cy="639762"/>
          </a:xfrm>
          <a:prstGeom prst="rect">
            <a:avLst/>
          </a:prstGeom>
          <a:solidFill>
            <a:srgbClr val="FFE59B"/>
          </a:solidFill>
          <a:ln w="28575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 b="1">
              <a:solidFill>
                <a:srgbClr val="002060"/>
              </a:solidFill>
            </a:endParaRPr>
          </a:p>
        </p:txBody>
      </p:sp>
      <p:sp>
        <p:nvSpPr>
          <p:cNvPr id="337929" name="Rectangle 9"/>
          <p:cNvSpPr>
            <a:spLocks noChangeArrowheads="1"/>
          </p:cNvSpPr>
          <p:nvPr/>
        </p:nvSpPr>
        <p:spPr bwMode="auto">
          <a:xfrm>
            <a:off x="2782888" y="2453212"/>
            <a:ext cx="671512" cy="25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26988" rIns="19050" bIns="26988"/>
          <a:lstStyle>
            <a:lvl1pPr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ts val="2100"/>
              </a:lnSpc>
            </a:pPr>
            <a:r>
              <a:rPr kumimoji="1" lang="en-US" altLang="zh-CN" b="1">
                <a:solidFill>
                  <a:srgbClr val="002060"/>
                </a:solidFill>
                <a:latin typeface="Franklin Gothic Medium" panose="020B0603020102020204" pitchFamily="34" charset="0"/>
                <a:ea typeface="楷体_GB2312" pitchFamily="49" charset="-122"/>
              </a:rPr>
              <a:t>8 bits</a:t>
            </a:r>
          </a:p>
        </p:txBody>
      </p:sp>
      <p:sp>
        <p:nvSpPr>
          <p:cNvPr id="337930" name="Line 10"/>
          <p:cNvSpPr>
            <a:spLocks noChangeShapeType="1"/>
          </p:cNvSpPr>
          <p:nvPr/>
        </p:nvSpPr>
        <p:spPr bwMode="auto">
          <a:xfrm flipH="1">
            <a:off x="2208213" y="2596087"/>
            <a:ext cx="4318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002060"/>
              </a:solidFill>
            </a:endParaRPr>
          </a:p>
        </p:txBody>
      </p:sp>
      <p:sp>
        <p:nvSpPr>
          <p:cNvPr id="337931" name="Line 11"/>
          <p:cNvSpPr>
            <a:spLocks noChangeShapeType="1"/>
          </p:cNvSpPr>
          <p:nvPr/>
        </p:nvSpPr>
        <p:spPr bwMode="auto">
          <a:xfrm flipH="1">
            <a:off x="3719513" y="2596087"/>
            <a:ext cx="4318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 type="stealth" w="med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002060"/>
              </a:solidFill>
            </a:endParaRPr>
          </a:p>
        </p:txBody>
      </p:sp>
      <p:sp>
        <p:nvSpPr>
          <p:cNvPr id="337932" name="Rectangle 12"/>
          <p:cNvSpPr>
            <a:spLocks noChangeArrowheads="1"/>
          </p:cNvSpPr>
          <p:nvPr/>
        </p:nvSpPr>
        <p:spPr bwMode="auto">
          <a:xfrm>
            <a:off x="2312988" y="3138661"/>
            <a:ext cx="7493000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26988" rIns="19050" bIns="26988" anchor="ctr" anchorCtr="1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lnSpc>
                <a:spcPts val="2700"/>
              </a:lnSpc>
            </a:pPr>
            <a:r>
              <a:rPr kumimoji="1" lang="en-US" altLang="zh-CN" sz="2800" b="1">
                <a:solidFill>
                  <a:srgbClr val="002060"/>
                </a:solidFill>
                <a:latin typeface="Franklin Gothic Medium" panose="020B0603020102020204" pitchFamily="34" charset="0"/>
                <a:ea typeface="楷体_GB2312" pitchFamily="49" charset="-122"/>
              </a:rPr>
              <a:t>10101100   00000110   01111010   11001100</a:t>
            </a:r>
          </a:p>
        </p:txBody>
      </p:sp>
      <p:sp>
        <p:nvSpPr>
          <p:cNvPr id="337933" name="Rectangle 13"/>
          <p:cNvSpPr>
            <a:spLocks noChangeArrowheads="1"/>
          </p:cNvSpPr>
          <p:nvPr/>
        </p:nvSpPr>
        <p:spPr bwMode="auto">
          <a:xfrm>
            <a:off x="4727576" y="2454800"/>
            <a:ext cx="671513" cy="25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26988" rIns="19050" bIns="26988"/>
          <a:lstStyle>
            <a:lvl1pPr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ts val="2100"/>
              </a:lnSpc>
            </a:pPr>
            <a:r>
              <a:rPr kumimoji="1" lang="en-US" altLang="zh-CN" b="1">
                <a:solidFill>
                  <a:srgbClr val="002060"/>
                </a:solidFill>
                <a:latin typeface="Franklin Gothic Medium" panose="020B0603020102020204" pitchFamily="34" charset="0"/>
                <a:ea typeface="楷体_GB2312" pitchFamily="49" charset="-122"/>
              </a:rPr>
              <a:t>8 bits</a:t>
            </a:r>
          </a:p>
        </p:txBody>
      </p:sp>
      <p:sp>
        <p:nvSpPr>
          <p:cNvPr id="337934" name="Line 14"/>
          <p:cNvSpPr>
            <a:spLocks noChangeShapeType="1"/>
          </p:cNvSpPr>
          <p:nvPr/>
        </p:nvSpPr>
        <p:spPr bwMode="auto">
          <a:xfrm flipH="1">
            <a:off x="4152900" y="2597674"/>
            <a:ext cx="4318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002060"/>
              </a:solidFill>
            </a:endParaRPr>
          </a:p>
        </p:txBody>
      </p:sp>
      <p:sp>
        <p:nvSpPr>
          <p:cNvPr id="337935" name="Line 15"/>
          <p:cNvSpPr>
            <a:spLocks noChangeShapeType="1"/>
          </p:cNvSpPr>
          <p:nvPr/>
        </p:nvSpPr>
        <p:spPr bwMode="auto">
          <a:xfrm flipH="1">
            <a:off x="5664200" y="2597674"/>
            <a:ext cx="4318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 type="stealth" w="med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002060"/>
              </a:solidFill>
            </a:endParaRPr>
          </a:p>
        </p:txBody>
      </p:sp>
      <p:sp>
        <p:nvSpPr>
          <p:cNvPr id="337936" name="Rectangle 16"/>
          <p:cNvSpPr>
            <a:spLocks noChangeArrowheads="1"/>
          </p:cNvSpPr>
          <p:nvPr/>
        </p:nvSpPr>
        <p:spPr bwMode="auto">
          <a:xfrm>
            <a:off x="6672263" y="2454800"/>
            <a:ext cx="671512" cy="25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26988" rIns="19050" bIns="26988"/>
          <a:lstStyle>
            <a:lvl1pPr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ts val="2100"/>
              </a:lnSpc>
            </a:pPr>
            <a:r>
              <a:rPr kumimoji="1" lang="en-US" altLang="zh-CN" b="1">
                <a:solidFill>
                  <a:srgbClr val="002060"/>
                </a:solidFill>
                <a:latin typeface="Franklin Gothic Medium" panose="020B0603020102020204" pitchFamily="34" charset="0"/>
                <a:ea typeface="楷体_GB2312" pitchFamily="49" charset="-122"/>
              </a:rPr>
              <a:t>8 bits</a:t>
            </a:r>
          </a:p>
        </p:txBody>
      </p:sp>
      <p:sp>
        <p:nvSpPr>
          <p:cNvPr id="337937" name="Line 17"/>
          <p:cNvSpPr>
            <a:spLocks noChangeShapeType="1"/>
          </p:cNvSpPr>
          <p:nvPr/>
        </p:nvSpPr>
        <p:spPr bwMode="auto">
          <a:xfrm flipH="1">
            <a:off x="6097588" y="2597674"/>
            <a:ext cx="4318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002060"/>
              </a:solidFill>
            </a:endParaRPr>
          </a:p>
        </p:txBody>
      </p:sp>
      <p:sp>
        <p:nvSpPr>
          <p:cNvPr id="337938" name="Line 18"/>
          <p:cNvSpPr>
            <a:spLocks noChangeShapeType="1"/>
          </p:cNvSpPr>
          <p:nvPr/>
        </p:nvSpPr>
        <p:spPr bwMode="auto">
          <a:xfrm flipH="1">
            <a:off x="7608888" y="2597674"/>
            <a:ext cx="4318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 type="stealth" w="med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002060"/>
              </a:solidFill>
            </a:endParaRPr>
          </a:p>
        </p:txBody>
      </p:sp>
      <p:sp>
        <p:nvSpPr>
          <p:cNvPr id="337939" name="Rectangle 19"/>
          <p:cNvSpPr>
            <a:spLocks noChangeArrowheads="1"/>
          </p:cNvSpPr>
          <p:nvPr/>
        </p:nvSpPr>
        <p:spPr bwMode="auto">
          <a:xfrm>
            <a:off x="8615363" y="2454800"/>
            <a:ext cx="671512" cy="25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50" tIns="26988" rIns="19050" bIns="26988"/>
          <a:lstStyle>
            <a:lvl1pPr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ts val="2100"/>
              </a:lnSpc>
            </a:pPr>
            <a:r>
              <a:rPr kumimoji="1" lang="en-US" altLang="zh-CN" b="1">
                <a:solidFill>
                  <a:srgbClr val="002060"/>
                </a:solidFill>
                <a:latin typeface="Franklin Gothic Medium" panose="020B0603020102020204" pitchFamily="34" charset="0"/>
                <a:ea typeface="楷体_GB2312" pitchFamily="49" charset="-122"/>
              </a:rPr>
              <a:t>8 bits</a:t>
            </a:r>
          </a:p>
        </p:txBody>
      </p:sp>
      <p:sp>
        <p:nvSpPr>
          <p:cNvPr id="337940" name="Line 20"/>
          <p:cNvSpPr>
            <a:spLocks noChangeShapeType="1"/>
          </p:cNvSpPr>
          <p:nvPr/>
        </p:nvSpPr>
        <p:spPr bwMode="auto">
          <a:xfrm flipH="1">
            <a:off x="8040688" y="2597674"/>
            <a:ext cx="4318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002060"/>
              </a:solidFill>
            </a:endParaRPr>
          </a:p>
        </p:txBody>
      </p:sp>
      <p:sp>
        <p:nvSpPr>
          <p:cNvPr id="337941" name="Line 21"/>
          <p:cNvSpPr>
            <a:spLocks noChangeShapeType="1"/>
          </p:cNvSpPr>
          <p:nvPr/>
        </p:nvSpPr>
        <p:spPr bwMode="auto">
          <a:xfrm flipH="1">
            <a:off x="9551988" y="2597674"/>
            <a:ext cx="4318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 type="stealth" w="med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002060"/>
              </a:solidFill>
            </a:endParaRPr>
          </a:p>
        </p:txBody>
      </p:sp>
      <p:grpSp>
        <p:nvGrpSpPr>
          <p:cNvPr id="337942" name="Group 22"/>
          <p:cNvGrpSpPr>
            <a:grpSpLocks/>
          </p:cNvGrpSpPr>
          <p:nvPr/>
        </p:nvGrpSpPr>
        <p:grpSpPr bwMode="auto">
          <a:xfrm>
            <a:off x="2279651" y="3069162"/>
            <a:ext cx="1800225" cy="1384300"/>
            <a:chOff x="476" y="1708"/>
            <a:chExt cx="1134" cy="872"/>
          </a:xfrm>
        </p:grpSpPr>
        <p:sp>
          <p:nvSpPr>
            <p:cNvPr id="337943" name="AutoShape 23"/>
            <p:cNvSpPr>
              <a:spLocks noChangeArrowheads="1"/>
            </p:cNvSpPr>
            <p:nvPr/>
          </p:nvSpPr>
          <p:spPr bwMode="auto">
            <a:xfrm>
              <a:off x="476" y="1708"/>
              <a:ext cx="1134" cy="544"/>
            </a:xfrm>
            <a:prstGeom prst="downArrowCallout">
              <a:avLst>
                <a:gd name="adj1" fmla="val 52114"/>
                <a:gd name="adj2" fmla="val 52114"/>
                <a:gd name="adj3" fmla="val 16667"/>
                <a:gd name="adj4" fmla="val 66667"/>
              </a:avLst>
            </a:prstGeom>
            <a:solidFill>
              <a:schemeClr val="accent1">
                <a:alpha val="20000"/>
              </a:schemeClr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2060"/>
                </a:solidFill>
              </a:endParaRPr>
            </a:p>
          </p:txBody>
        </p:sp>
        <p:sp>
          <p:nvSpPr>
            <p:cNvPr id="337944" name="Text Box 24"/>
            <p:cNvSpPr txBox="1">
              <a:spLocks noChangeArrowheads="1"/>
            </p:cNvSpPr>
            <p:nvPr/>
          </p:nvSpPr>
          <p:spPr bwMode="auto">
            <a:xfrm>
              <a:off x="793" y="2253"/>
              <a:ext cx="50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solidFill>
                    <a:srgbClr val="002060"/>
                  </a:solidFill>
                </a:rPr>
                <a:t>172</a:t>
              </a:r>
            </a:p>
          </p:txBody>
        </p:sp>
      </p:grpSp>
      <p:grpSp>
        <p:nvGrpSpPr>
          <p:cNvPr id="337945" name="Group 25"/>
          <p:cNvGrpSpPr>
            <a:grpSpLocks/>
          </p:cNvGrpSpPr>
          <p:nvPr/>
        </p:nvGrpSpPr>
        <p:grpSpPr bwMode="auto">
          <a:xfrm>
            <a:off x="4224339" y="3069162"/>
            <a:ext cx="1800225" cy="1384300"/>
            <a:chOff x="1701" y="1708"/>
            <a:chExt cx="1134" cy="872"/>
          </a:xfrm>
        </p:grpSpPr>
        <p:sp>
          <p:nvSpPr>
            <p:cNvPr id="337946" name="AutoShape 26"/>
            <p:cNvSpPr>
              <a:spLocks noChangeArrowheads="1"/>
            </p:cNvSpPr>
            <p:nvPr/>
          </p:nvSpPr>
          <p:spPr bwMode="auto">
            <a:xfrm>
              <a:off x="1701" y="1708"/>
              <a:ext cx="1134" cy="544"/>
            </a:xfrm>
            <a:prstGeom prst="downArrowCallout">
              <a:avLst>
                <a:gd name="adj1" fmla="val 52114"/>
                <a:gd name="adj2" fmla="val 52114"/>
                <a:gd name="adj3" fmla="val 16667"/>
                <a:gd name="adj4" fmla="val 66667"/>
              </a:avLst>
            </a:prstGeom>
            <a:solidFill>
              <a:schemeClr val="accent1">
                <a:alpha val="20000"/>
              </a:schemeClr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2060"/>
                </a:solidFill>
              </a:endParaRPr>
            </a:p>
          </p:txBody>
        </p:sp>
        <p:sp>
          <p:nvSpPr>
            <p:cNvPr id="337947" name="Text Box 27"/>
            <p:cNvSpPr txBox="1">
              <a:spLocks noChangeArrowheads="1"/>
            </p:cNvSpPr>
            <p:nvPr/>
          </p:nvSpPr>
          <p:spPr bwMode="auto">
            <a:xfrm>
              <a:off x="2134" y="2253"/>
              <a:ext cx="24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solidFill>
                    <a:srgbClr val="002060"/>
                  </a:solidFill>
                </a:rPr>
                <a:t>6</a:t>
              </a:r>
            </a:p>
          </p:txBody>
        </p:sp>
      </p:grpSp>
      <p:grpSp>
        <p:nvGrpSpPr>
          <p:cNvPr id="337948" name="Group 28"/>
          <p:cNvGrpSpPr>
            <a:grpSpLocks/>
          </p:cNvGrpSpPr>
          <p:nvPr/>
        </p:nvGrpSpPr>
        <p:grpSpPr bwMode="auto">
          <a:xfrm>
            <a:off x="6167439" y="3069162"/>
            <a:ext cx="1800225" cy="1384300"/>
            <a:chOff x="2925" y="1708"/>
            <a:chExt cx="1134" cy="872"/>
          </a:xfrm>
        </p:grpSpPr>
        <p:sp>
          <p:nvSpPr>
            <p:cNvPr id="337949" name="AutoShape 29"/>
            <p:cNvSpPr>
              <a:spLocks noChangeArrowheads="1"/>
            </p:cNvSpPr>
            <p:nvPr/>
          </p:nvSpPr>
          <p:spPr bwMode="auto">
            <a:xfrm>
              <a:off x="2925" y="1708"/>
              <a:ext cx="1134" cy="544"/>
            </a:xfrm>
            <a:prstGeom prst="downArrowCallout">
              <a:avLst>
                <a:gd name="adj1" fmla="val 52114"/>
                <a:gd name="adj2" fmla="val 52114"/>
                <a:gd name="adj3" fmla="val 16667"/>
                <a:gd name="adj4" fmla="val 66667"/>
              </a:avLst>
            </a:prstGeom>
            <a:solidFill>
              <a:schemeClr val="accent1">
                <a:alpha val="20000"/>
              </a:schemeClr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2060"/>
                </a:solidFill>
              </a:endParaRPr>
            </a:p>
          </p:txBody>
        </p:sp>
        <p:sp>
          <p:nvSpPr>
            <p:cNvPr id="337950" name="Text Box 30"/>
            <p:cNvSpPr txBox="1">
              <a:spLocks noChangeArrowheads="1"/>
            </p:cNvSpPr>
            <p:nvPr/>
          </p:nvSpPr>
          <p:spPr bwMode="auto">
            <a:xfrm>
              <a:off x="3233" y="2253"/>
              <a:ext cx="50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solidFill>
                    <a:srgbClr val="002060"/>
                  </a:solidFill>
                </a:rPr>
                <a:t>122</a:t>
              </a:r>
            </a:p>
          </p:txBody>
        </p:sp>
      </p:grpSp>
      <p:grpSp>
        <p:nvGrpSpPr>
          <p:cNvPr id="337951" name="Group 31"/>
          <p:cNvGrpSpPr>
            <a:grpSpLocks/>
          </p:cNvGrpSpPr>
          <p:nvPr/>
        </p:nvGrpSpPr>
        <p:grpSpPr bwMode="auto">
          <a:xfrm>
            <a:off x="8112126" y="3069163"/>
            <a:ext cx="1800225" cy="1400175"/>
            <a:chOff x="4150" y="1708"/>
            <a:chExt cx="1134" cy="882"/>
          </a:xfrm>
        </p:grpSpPr>
        <p:sp>
          <p:nvSpPr>
            <p:cNvPr id="337952" name="AutoShape 32"/>
            <p:cNvSpPr>
              <a:spLocks noChangeArrowheads="1"/>
            </p:cNvSpPr>
            <p:nvPr/>
          </p:nvSpPr>
          <p:spPr bwMode="auto">
            <a:xfrm>
              <a:off x="4150" y="1708"/>
              <a:ext cx="1134" cy="544"/>
            </a:xfrm>
            <a:prstGeom prst="downArrowCallout">
              <a:avLst>
                <a:gd name="adj1" fmla="val 52114"/>
                <a:gd name="adj2" fmla="val 52114"/>
                <a:gd name="adj3" fmla="val 16667"/>
                <a:gd name="adj4" fmla="val 66667"/>
              </a:avLst>
            </a:prstGeom>
            <a:solidFill>
              <a:schemeClr val="accent1">
                <a:alpha val="20000"/>
              </a:schemeClr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2060"/>
                </a:solidFill>
              </a:endParaRPr>
            </a:p>
          </p:txBody>
        </p:sp>
        <p:sp>
          <p:nvSpPr>
            <p:cNvPr id="337953" name="Text Box 33"/>
            <p:cNvSpPr txBox="1">
              <a:spLocks noChangeArrowheads="1"/>
            </p:cNvSpPr>
            <p:nvPr/>
          </p:nvSpPr>
          <p:spPr bwMode="auto">
            <a:xfrm>
              <a:off x="4458" y="2263"/>
              <a:ext cx="50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solidFill>
                    <a:srgbClr val="002060"/>
                  </a:solidFill>
                </a:rPr>
                <a:t>204</a:t>
              </a:r>
            </a:p>
          </p:txBody>
        </p:sp>
      </p:grpSp>
      <p:sp>
        <p:nvSpPr>
          <p:cNvPr id="337954" name="Text Box 34"/>
          <p:cNvSpPr txBox="1">
            <a:spLocks noChangeArrowheads="1"/>
          </p:cNvSpPr>
          <p:nvPr/>
        </p:nvSpPr>
        <p:spPr bwMode="auto">
          <a:xfrm>
            <a:off x="7847652" y="3802587"/>
            <a:ext cx="32733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4000" b="1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337955" name="Text Box 35"/>
          <p:cNvSpPr txBox="1">
            <a:spLocks noChangeArrowheads="1"/>
          </p:cNvSpPr>
          <p:nvPr/>
        </p:nvSpPr>
        <p:spPr bwMode="auto">
          <a:xfrm>
            <a:off x="5941065" y="3805762"/>
            <a:ext cx="32733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4000" b="1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337956" name="Text Box 36"/>
          <p:cNvSpPr txBox="1">
            <a:spLocks noChangeArrowheads="1"/>
          </p:cNvSpPr>
          <p:nvPr/>
        </p:nvSpPr>
        <p:spPr bwMode="auto">
          <a:xfrm>
            <a:off x="3997965" y="3805762"/>
            <a:ext cx="32733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4000" b="1">
                <a:solidFill>
                  <a:srgbClr val="002060"/>
                </a:solidFill>
              </a:rPr>
              <a:t>.</a:t>
            </a:r>
          </a:p>
        </p:txBody>
      </p:sp>
      <p:grpSp>
        <p:nvGrpSpPr>
          <p:cNvPr id="337957" name="Group 37"/>
          <p:cNvGrpSpPr>
            <a:grpSpLocks/>
          </p:cNvGrpSpPr>
          <p:nvPr/>
        </p:nvGrpSpPr>
        <p:grpSpPr bwMode="auto">
          <a:xfrm>
            <a:off x="2711450" y="4507437"/>
            <a:ext cx="5976938" cy="1511300"/>
            <a:chOff x="748" y="2614"/>
            <a:chExt cx="3765" cy="952"/>
          </a:xfrm>
        </p:grpSpPr>
        <p:sp>
          <p:nvSpPr>
            <p:cNvPr id="337958" name="Rectangle 38"/>
            <p:cNvSpPr>
              <a:spLocks noChangeArrowheads="1"/>
            </p:cNvSpPr>
            <p:nvPr/>
          </p:nvSpPr>
          <p:spPr bwMode="auto">
            <a:xfrm>
              <a:off x="748" y="2614"/>
              <a:ext cx="3765" cy="952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2060"/>
                </a:solidFill>
              </a:endParaRPr>
            </a:p>
          </p:txBody>
        </p:sp>
        <p:sp>
          <p:nvSpPr>
            <p:cNvPr id="337959" name="Text Box 39"/>
            <p:cNvSpPr txBox="1">
              <a:spLocks noChangeArrowheads="1"/>
            </p:cNvSpPr>
            <p:nvPr/>
          </p:nvSpPr>
          <p:spPr bwMode="auto">
            <a:xfrm>
              <a:off x="855" y="2614"/>
              <a:ext cx="363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solidFill>
                    <a:srgbClr val="002060"/>
                  </a:solidFill>
                </a:rPr>
                <a:t>1      0      1      0    </a:t>
              </a:r>
              <a:r>
                <a:rPr lang="en-US" altLang="zh-CN" sz="2800" b="1" dirty="0" smtClean="0">
                  <a:solidFill>
                    <a:srgbClr val="002060"/>
                  </a:solidFill>
                </a:rPr>
                <a:t>1      </a:t>
              </a:r>
              <a:r>
                <a:rPr lang="en-US" altLang="zh-CN" sz="2800" b="1" dirty="0">
                  <a:solidFill>
                    <a:srgbClr val="002060"/>
                  </a:solidFill>
                </a:rPr>
                <a:t>1     </a:t>
              </a:r>
              <a:r>
                <a:rPr lang="en-US" altLang="zh-CN" sz="2800" b="1" dirty="0" smtClean="0">
                  <a:solidFill>
                    <a:srgbClr val="002060"/>
                  </a:solidFill>
                </a:rPr>
                <a:t> 0     0</a:t>
              </a:r>
              <a:endParaRPr lang="en-US" altLang="zh-CN" sz="2800" b="1" dirty="0">
                <a:solidFill>
                  <a:srgbClr val="002060"/>
                </a:solidFill>
              </a:endParaRPr>
            </a:p>
          </p:txBody>
        </p:sp>
      </p:grpSp>
      <p:sp>
        <p:nvSpPr>
          <p:cNvPr id="337960" name="Text Box 40"/>
          <p:cNvSpPr txBox="1">
            <a:spLocks noChangeArrowheads="1"/>
          </p:cNvSpPr>
          <p:nvPr/>
        </p:nvSpPr>
        <p:spPr bwMode="auto">
          <a:xfrm>
            <a:off x="2798764" y="4996387"/>
            <a:ext cx="8080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2060"/>
                </a:solidFill>
              </a:rPr>
              <a:t>128</a:t>
            </a:r>
          </a:p>
        </p:txBody>
      </p:sp>
      <p:sp>
        <p:nvSpPr>
          <p:cNvPr id="337961" name="Text Box 41"/>
          <p:cNvSpPr txBox="1">
            <a:spLocks noChangeArrowheads="1"/>
          </p:cNvSpPr>
          <p:nvPr/>
        </p:nvSpPr>
        <p:spPr bwMode="auto">
          <a:xfrm>
            <a:off x="8789988" y="4507437"/>
            <a:ext cx="1107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002060"/>
                </a:solidFill>
              </a:rPr>
              <a:t>二进制数</a:t>
            </a:r>
          </a:p>
        </p:txBody>
      </p:sp>
      <p:sp>
        <p:nvSpPr>
          <p:cNvPr id="337962" name="Text Box 42"/>
          <p:cNvSpPr txBox="1">
            <a:spLocks noChangeArrowheads="1"/>
          </p:cNvSpPr>
          <p:nvPr/>
        </p:nvSpPr>
        <p:spPr bwMode="auto">
          <a:xfrm>
            <a:off x="8820151" y="4985274"/>
            <a:ext cx="6463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002060"/>
                </a:solidFill>
              </a:rPr>
              <a:t>权值</a:t>
            </a:r>
          </a:p>
        </p:txBody>
      </p:sp>
      <p:sp>
        <p:nvSpPr>
          <p:cNvPr id="337963" name="Text Box 43"/>
          <p:cNvSpPr txBox="1">
            <a:spLocks noChangeArrowheads="1"/>
          </p:cNvSpPr>
          <p:nvPr/>
        </p:nvSpPr>
        <p:spPr bwMode="auto">
          <a:xfrm>
            <a:off x="8789988" y="5515499"/>
            <a:ext cx="1107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2060"/>
                </a:solidFill>
              </a:rPr>
              <a:t>加权结果</a:t>
            </a:r>
          </a:p>
        </p:txBody>
      </p:sp>
      <p:sp>
        <p:nvSpPr>
          <p:cNvPr id="337964" name="AutoShape 44"/>
          <p:cNvSpPr>
            <a:spLocks noChangeArrowheads="1"/>
          </p:cNvSpPr>
          <p:nvPr/>
        </p:nvSpPr>
        <p:spPr bwMode="auto">
          <a:xfrm flipV="1">
            <a:off x="2711450" y="6018737"/>
            <a:ext cx="5976938" cy="431800"/>
          </a:xfrm>
          <a:prstGeom prst="triangle">
            <a:avLst>
              <a:gd name="adj" fmla="val 49986"/>
            </a:avLst>
          </a:prstGeom>
          <a:solidFill>
            <a:schemeClr val="accent1">
              <a:alpha val="3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 anchorCtr="1"/>
          <a:lstStyle/>
          <a:p>
            <a:pPr algn="ctr"/>
            <a:r>
              <a:rPr lang="en-US" altLang="zh-CN" b="1">
                <a:solidFill>
                  <a:srgbClr val="002060"/>
                </a:solidFill>
              </a:rPr>
              <a:t>+</a:t>
            </a:r>
          </a:p>
        </p:txBody>
      </p:sp>
      <p:sp>
        <p:nvSpPr>
          <p:cNvPr id="337965" name="Text Box 45"/>
          <p:cNvSpPr txBox="1">
            <a:spLocks noChangeArrowheads="1"/>
          </p:cNvSpPr>
          <p:nvPr/>
        </p:nvSpPr>
        <p:spPr bwMode="auto">
          <a:xfrm>
            <a:off x="5287964" y="6452125"/>
            <a:ext cx="808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>
                <a:solidFill>
                  <a:srgbClr val="002060"/>
                </a:solidFill>
              </a:rPr>
              <a:t>172</a:t>
            </a:r>
          </a:p>
        </p:txBody>
      </p:sp>
      <p:sp>
        <p:nvSpPr>
          <p:cNvPr id="337966" name="Text Box 46"/>
          <p:cNvSpPr txBox="1">
            <a:spLocks noChangeArrowheads="1"/>
          </p:cNvSpPr>
          <p:nvPr/>
        </p:nvSpPr>
        <p:spPr bwMode="auto">
          <a:xfrm>
            <a:off x="3621089" y="4996387"/>
            <a:ext cx="6000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800" b="1">
                <a:solidFill>
                  <a:srgbClr val="002060"/>
                </a:solidFill>
              </a:rPr>
              <a:t>64</a:t>
            </a:r>
          </a:p>
        </p:txBody>
      </p:sp>
      <p:sp>
        <p:nvSpPr>
          <p:cNvPr id="337967" name="Text Box 47"/>
          <p:cNvSpPr txBox="1">
            <a:spLocks noChangeArrowheads="1"/>
          </p:cNvSpPr>
          <p:nvPr/>
        </p:nvSpPr>
        <p:spPr bwMode="auto">
          <a:xfrm>
            <a:off x="4373564" y="4996387"/>
            <a:ext cx="6000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800" b="1">
                <a:solidFill>
                  <a:srgbClr val="002060"/>
                </a:solidFill>
              </a:rPr>
              <a:t>32</a:t>
            </a:r>
          </a:p>
        </p:txBody>
      </p:sp>
      <p:sp>
        <p:nvSpPr>
          <p:cNvPr id="337968" name="Text Box 48"/>
          <p:cNvSpPr txBox="1">
            <a:spLocks noChangeArrowheads="1"/>
          </p:cNvSpPr>
          <p:nvPr/>
        </p:nvSpPr>
        <p:spPr bwMode="auto">
          <a:xfrm>
            <a:off x="5118101" y="4996387"/>
            <a:ext cx="6000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800" b="1">
                <a:solidFill>
                  <a:srgbClr val="002060"/>
                </a:solidFill>
              </a:rPr>
              <a:t>16</a:t>
            </a:r>
          </a:p>
        </p:txBody>
      </p:sp>
      <p:sp>
        <p:nvSpPr>
          <p:cNvPr id="337969" name="Text Box 49"/>
          <p:cNvSpPr txBox="1">
            <a:spLocks noChangeArrowheads="1"/>
          </p:cNvSpPr>
          <p:nvPr/>
        </p:nvSpPr>
        <p:spPr bwMode="auto">
          <a:xfrm>
            <a:off x="5942013" y="4996387"/>
            <a:ext cx="3921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800" b="1">
                <a:solidFill>
                  <a:srgbClr val="002060"/>
                </a:solidFill>
              </a:rPr>
              <a:t>8</a:t>
            </a:r>
          </a:p>
        </p:txBody>
      </p:sp>
      <p:sp>
        <p:nvSpPr>
          <p:cNvPr id="337970" name="Text Box 50"/>
          <p:cNvSpPr txBox="1">
            <a:spLocks noChangeArrowheads="1"/>
          </p:cNvSpPr>
          <p:nvPr/>
        </p:nvSpPr>
        <p:spPr bwMode="auto">
          <a:xfrm>
            <a:off x="6702426" y="4996387"/>
            <a:ext cx="3921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800" b="1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337971" name="Text Box 51"/>
          <p:cNvSpPr txBox="1">
            <a:spLocks noChangeArrowheads="1"/>
          </p:cNvSpPr>
          <p:nvPr/>
        </p:nvSpPr>
        <p:spPr bwMode="auto">
          <a:xfrm>
            <a:off x="7462838" y="4996387"/>
            <a:ext cx="3921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800" b="1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337972" name="Text Box 52"/>
          <p:cNvSpPr txBox="1">
            <a:spLocks noChangeArrowheads="1"/>
          </p:cNvSpPr>
          <p:nvPr/>
        </p:nvSpPr>
        <p:spPr bwMode="auto">
          <a:xfrm>
            <a:off x="8181976" y="4996387"/>
            <a:ext cx="3921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800" b="1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37973" name="Text Box 53"/>
          <p:cNvSpPr txBox="1">
            <a:spLocks noChangeArrowheads="1"/>
          </p:cNvSpPr>
          <p:nvPr/>
        </p:nvSpPr>
        <p:spPr bwMode="auto">
          <a:xfrm>
            <a:off x="2798764" y="5499625"/>
            <a:ext cx="808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2060"/>
                </a:solidFill>
              </a:rPr>
              <a:t>128</a:t>
            </a:r>
          </a:p>
        </p:txBody>
      </p:sp>
      <p:sp>
        <p:nvSpPr>
          <p:cNvPr id="337974" name="Text Box 54"/>
          <p:cNvSpPr txBox="1">
            <a:spLocks noChangeArrowheads="1"/>
          </p:cNvSpPr>
          <p:nvPr/>
        </p:nvSpPr>
        <p:spPr bwMode="auto">
          <a:xfrm>
            <a:off x="3724276" y="5499625"/>
            <a:ext cx="3921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800" b="1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337975" name="Text Box 55"/>
          <p:cNvSpPr txBox="1">
            <a:spLocks noChangeArrowheads="1"/>
          </p:cNvSpPr>
          <p:nvPr/>
        </p:nvSpPr>
        <p:spPr bwMode="auto">
          <a:xfrm>
            <a:off x="4373564" y="5499625"/>
            <a:ext cx="600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800" b="1">
                <a:solidFill>
                  <a:srgbClr val="002060"/>
                </a:solidFill>
              </a:rPr>
              <a:t>32</a:t>
            </a:r>
          </a:p>
        </p:txBody>
      </p:sp>
      <p:sp>
        <p:nvSpPr>
          <p:cNvPr id="337976" name="Text Box 56"/>
          <p:cNvSpPr txBox="1">
            <a:spLocks noChangeArrowheads="1"/>
          </p:cNvSpPr>
          <p:nvPr/>
        </p:nvSpPr>
        <p:spPr bwMode="auto">
          <a:xfrm>
            <a:off x="5221288" y="5499625"/>
            <a:ext cx="3921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800" b="1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337977" name="Text Box 57"/>
          <p:cNvSpPr txBox="1">
            <a:spLocks noChangeArrowheads="1"/>
          </p:cNvSpPr>
          <p:nvPr/>
        </p:nvSpPr>
        <p:spPr bwMode="auto">
          <a:xfrm>
            <a:off x="5942013" y="5499625"/>
            <a:ext cx="3921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2060"/>
                </a:solidFill>
              </a:rPr>
              <a:t>8</a:t>
            </a:r>
          </a:p>
        </p:txBody>
      </p:sp>
      <p:sp>
        <p:nvSpPr>
          <p:cNvPr id="337978" name="Text Box 58"/>
          <p:cNvSpPr txBox="1">
            <a:spLocks noChangeArrowheads="1"/>
          </p:cNvSpPr>
          <p:nvPr/>
        </p:nvSpPr>
        <p:spPr bwMode="auto">
          <a:xfrm>
            <a:off x="6702426" y="5499625"/>
            <a:ext cx="3921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800" b="1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337979" name="Text Box 59"/>
          <p:cNvSpPr txBox="1">
            <a:spLocks noChangeArrowheads="1"/>
          </p:cNvSpPr>
          <p:nvPr/>
        </p:nvSpPr>
        <p:spPr bwMode="auto">
          <a:xfrm>
            <a:off x="7462838" y="5499625"/>
            <a:ext cx="3921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800" b="1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337980" name="Text Box 60"/>
          <p:cNvSpPr txBox="1">
            <a:spLocks noChangeArrowheads="1"/>
          </p:cNvSpPr>
          <p:nvPr/>
        </p:nvSpPr>
        <p:spPr bwMode="auto">
          <a:xfrm>
            <a:off x="8181976" y="5499625"/>
            <a:ext cx="3921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800" b="1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337981" name="Text Box 61"/>
          <p:cNvSpPr txBox="1">
            <a:spLocks noChangeArrowheads="1"/>
          </p:cNvSpPr>
          <p:nvPr/>
        </p:nvSpPr>
        <p:spPr bwMode="auto">
          <a:xfrm>
            <a:off x="2919413" y="4996387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800" b="1">
                <a:solidFill>
                  <a:srgbClr val="002060"/>
                </a:solidFill>
              </a:rPr>
              <a:t>2</a:t>
            </a:r>
            <a:r>
              <a:rPr lang="en-US" altLang="zh-CN" sz="2800" b="1" baseline="40000">
                <a:solidFill>
                  <a:srgbClr val="002060"/>
                </a:solidFill>
              </a:rPr>
              <a:t>7</a:t>
            </a:r>
          </a:p>
        </p:txBody>
      </p:sp>
      <p:sp>
        <p:nvSpPr>
          <p:cNvPr id="337982" name="Text Box 62"/>
          <p:cNvSpPr txBox="1">
            <a:spLocks noChangeArrowheads="1"/>
          </p:cNvSpPr>
          <p:nvPr/>
        </p:nvSpPr>
        <p:spPr bwMode="auto">
          <a:xfrm>
            <a:off x="3690938" y="4996387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800" b="1">
                <a:solidFill>
                  <a:srgbClr val="002060"/>
                </a:solidFill>
              </a:rPr>
              <a:t>2</a:t>
            </a:r>
            <a:r>
              <a:rPr lang="en-US" altLang="zh-CN" sz="2800" b="1" baseline="40000">
                <a:solidFill>
                  <a:srgbClr val="002060"/>
                </a:solidFill>
              </a:rPr>
              <a:t>6</a:t>
            </a:r>
          </a:p>
        </p:txBody>
      </p:sp>
      <p:sp>
        <p:nvSpPr>
          <p:cNvPr id="337983" name="Text Box 63"/>
          <p:cNvSpPr txBox="1">
            <a:spLocks noChangeArrowheads="1"/>
          </p:cNvSpPr>
          <p:nvPr/>
        </p:nvSpPr>
        <p:spPr bwMode="auto">
          <a:xfrm>
            <a:off x="4410075" y="4996387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800" b="1">
                <a:solidFill>
                  <a:srgbClr val="002060"/>
                </a:solidFill>
              </a:rPr>
              <a:t>2</a:t>
            </a:r>
            <a:r>
              <a:rPr lang="en-US" altLang="zh-CN" sz="2800" b="1" baseline="40000">
                <a:solidFill>
                  <a:srgbClr val="002060"/>
                </a:solidFill>
              </a:rPr>
              <a:t>5</a:t>
            </a:r>
          </a:p>
        </p:txBody>
      </p:sp>
      <p:sp>
        <p:nvSpPr>
          <p:cNvPr id="337984" name="Text Box 64"/>
          <p:cNvSpPr txBox="1">
            <a:spLocks noChangeArrowheads="1"/>
          </p:cNvSpPr>
          <p:nvPr/>
        </p:nvSpPr>
        <p:spPr bwMode="auto">
          <a:xfrm>
            <a:off x="5159375" y="4996387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800" b="1">
                <a:solidFill>
                  <a:srgbClr val="002060"/>
                </a:solidFill>
              </a:rPr>
              <a:t>2</a:t>
            </a:r>
            <a:r>
              <a:rPr lang="en-US" altLang="zh-CN" sz="2800" b="1" baseline="4000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337985" name="Text Box 65"/>
          <p:cNvSpPr txBox="1">
            <a:spLocks noChangeArrowheads="1"/>
          </p:cNvSpPr>
          <p:nvPr/>
        </p:nvSpPr>
        <p:spPr bwMode="auto">
          <a:xfrm>
            <a:off x="5849938" y="4996387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800" b="1">
                <a:solidFill>
                  <a:srgbClr val="002060"/>
                </a:solidFill>
              </a:rPr>
              <a:t>2</a:t>
            </a:r>
            <a:r>
              <a:rPr lang="en-US" altLang="zh-CN" sz="2800" b="1" baseline="40000">
                <a:solidFill>
                  <a:srgbClr val="002060"/>
                </a:solidFill>
              </a:rPr>
              <a:t>3</a:t>
            </a:r>
          </a:p>
        </p:txBody>
      </p:sp>
      <p:sp>
        <p:nvSpPr>
          <p:cNvPr id="337986" name="Text Box 66"/>
          <p:cNvSpPr txBox="1">
            <a:spLocks noChangeArrowheads="1"/>
          </p:cNvSpPr>
          <p:nvPr/>
        </p:nvSpPr>
        <p:spPr bwMode="auto">
          <a:xfrm>
            <a:off x="6642100" y="4996387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2060"/>
                </a:solidFill>
              </a:rPr>
              <a:t>2</a:t>
            </a:r>
            <a:r>
              <a:rPr lang="en-US" altLang="zh-CN" sz="2800" b="1" baseline="40000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337987" name="Text Box 67"/>
          <p:cNvSpPr txBox="1">
            <a:spLocks noChangeArrowheads="1"/>
          </p:cNvSpPr>
          <p:nvPr/>
        </p:nvSpPr>
        <p:spPr bwMode="auto">
          <a:xfrm>
            <a:off x="7362825" y="4996387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800" b="1">
                <a:solidFill>
                  <a:srgbClr val="002060"/>
                </a:solidFill>
              </a:rPr>
              <a:t>2</a:t>
            </a:r>
            <a:r>
              <a:rPr lang="en-US" altLang="zh-CN" sz="2800" b="1" baseline="4000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37988" name="Text Box 68"/>
          <p:cNvSpPr txBox="1">
            <a:spLocks noChangeArrowheads="1"/>
          </p:cNvSpPr>
          <p:nvPr/>
        </p:nvSpPr>
        <p:spPr bwMode="auto">
          <a:xfrm>
            <a:off x="8112125" y="4996387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800" b="1">
                <a:solidFill>
                  <a:srgbClr val="002060"/>
                </a:solidFill>
              </a:rPr>
              <a:t>2</a:t>
            </a:r>
            <a:r>
              <a:rPr lang="en-US" altLang="zh-CN" sz="2800" b="1" baseline="4000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72" name="标题 1"/>
          <p:cNvSpPr>
            <a:spLocks noGrp="1"/>
          </p:cNvSpPr>
          <p:nvPr>
            <p:ph type="title"/>
          </p:nvPr>
        </p:nvSpPr>
        <p:spPr>
          <a:xfrm>
            <a:off x="4810126" y="175943"/>
            <a:ext cx="7135812" cy="872333"/>
          </a:xfrm>
        </p:spPr>
        <p:txBody>
          <a:bodyPr/>
          <a:lstStyle/>
          <a:p>
            <a:r>
              <a:rPr lang="zh-CN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编址</a:t>
            </a:r>
            <a:r>
              <a:rPr lang="en-US" altLang="zh-CN" dirty="0" smtClean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—IP</a:t>
            </a:r>
            <a:r>
              <a:rPr lang="zh-CN" altLang="en-US" dirty="0" smtClean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地址</a:t>
            </a:r>
            <a:endParaRPr lang="zh-CN" altLang="en-US" dirty="0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570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7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37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7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37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3379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7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37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37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2" presetID="10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3379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7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37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37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43" presetID="10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/>
                                        <p:tgtEl>
                                          <p:spTgt spid="3379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7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37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37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54" presetID="10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/>
                                        <p:tgtEl>
                                          <p:spTgt spid="3379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7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37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37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10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1000"/>
                                        <p:tgtEl>
                                          <p:spTgt spid="3379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7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37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37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6500"/>
                            </p:stCondLst>
                            <p:childTnLst>
                              <p:par>
                                <p:cTn id="76" presetID="10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1000"/>
                                        <p:tgtEl>
                                          <p:spTgt spid="3379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37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85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37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9500"/>
                            </p:stCondLst>
                            <p:childTnLst>
                              <p:par>
                                <p:cTn id="87" presetID="10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1000"/>
                                        <p:tgtEl>
                                          <p:spTgt spid="3379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37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215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37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22500"/>
                            </p:stCondLst>
                            <p:childTnLst>
                              <p:par>
                                <p:cTn id="98" presetID="10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1000"/>
                                        <p:tgtEl>
                                          <p:spTgt spid="3379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7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37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37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37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337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337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337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337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337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337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337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1000"/>
                                        <p:tgtEl>
                                          <p:spTgt spid="337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1000"/>
                                        <p:tgtEl>
                                          <p:spTgt spid="337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4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337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37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337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337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337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337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337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4" grpId="0"/>
      <p:bldP spid="337955" grpId="0"/>
      <p:bldP spid="337956" grpId="0"/>
      <p:bldP spid="337960" grpId="0"/>
      <p:bldP spid="337961" grpId="0"/>
      <p:bldP spid="337962" grpId="0"/>
      <p:bldP spid="337963" grpId="0"/>
      <p:bldP spid="337964" grpId="0" animBg="1"/>
      <p:bldP spid="337965" grpId="0"/>
      <p:bldP spid="337966" grpId="0"/>
      <p:bldP spid="337967" grpId="0"/>
      <p:bldP spid="337968" grpId="0"/>
      <p:bldP spid="337969" grpId="0"/>
      <p:bldP spid="337970" grpId="0"/>
      <p:bldP spid="337971" grpId="0"/>
      <p:bldP spid="337972" grpId="0"/>
      <p:bldP spid="337973" grpId="0"/>
      <p:bldP spid="337974" grpId="0"/>
      <p:bldP spid="337975" grpId="0"/>
      <p:bldP spid="337976" grpId="0"/>
      <p:bldP spid="337977" grpId="0"/>
      <p:bldP spid="337978" grpId="0"/>
      <p:bldP spid="337979" grpId="0"/>
      <p:bldP spid="337980" grpId="0"/>
      <p:bldP spid="337981" grpId="0"/>
      <p:bldP spid="337981" grpId="1"/>
      <p:bldP spid="337982" grpId="0"/>
      <p:bldP spid="337982" grpId="1"/>
      <p:bldP spid="337983" grpId="0"/>
      <p:bldP spid="337983" grpId="1"/>
      <p:bldP spid="337984" grpId="0"/>
      <p:bldP spid="337984" grpId="1"/>
      <p:bldP spid="337985" grpId="0"/>
      <p:bldP spid="337985" grpId="1"/>
      <p:bldP spid="337986" grpId="0"/>
      <p:bldP spid="337986" grpId="1"/>
      <p:bldP spid="337987" grpId="0"/>
      <p:bldP spid="337987" grpId="1"/>
      <p:bldP spid="337988" grpId="0"/>
      <p:bldP spid="337988" grpId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33746" y="123822"/>
            <a:ext cx="8301162" cy="858837"/>
          </a:xfrm>
        </p:spPr>
        <p:txBody>
          <a:bodyPr/>
          <a:lstStyle/>
          <a:p>
            <a:r>
              <a:rPr lang="zh-CN" altLang="en-US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二进制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Binary 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 </a:t>
            </a:r>
            <a:r>
              <a:rPr lang="zh-CN" altLang="en-US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十进制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Decimal</a:t>
            </a:r>
          </a:p>
        </p:txBody>
      </p:sp>
      <p:sp>
        <p:nvSpPr>
          <p:cNvPr id="257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7404" y="1721781"/>
            <a:ext cx="11523133" cy="2994028"/>
          </a:xfrm>
        </p:spPr>
        <p:txBody>
          <a:bodyPr/>
          <a:lstStyle/>
          <a:p>
            <a:pPr>
              <a:buClr>
                <a:srgbClr val="002060"/>
              </a:buClr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二进制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十进制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buClr>
                <a:schemeClr val="accent5">
                  <a:lumMod val="10000"/>
                </a:schemeClr>
              </a:buClr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十进制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二进制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7028" name="Text Box 4"/>
          <p:cNvSpPr txBox="1">
            <a:spLocks noChangeArrowheads="1"/>
          </p:cNvSpPr>
          <p:nvPr/>
        </p:nvSpPr>
        <p:spPr bwMode="auto">
          <a:xfrm>
            <a:off x="1794286" y="2351389"/>
            <a:ext cx="159032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1001110</a:t>
            </a:r>
          </a:p>
        </p:txBody>
      </p:sp>
      <p:sp>
        <p:nvSpPr>
          <p:cNvPr id="257029" name="Text Box 5"/>
          <p:cNvSpPr txBox="1">
            <a:spLocks noChangeArrowheads="1"/>
          </p:cNvSpPr>
          <p:nvPr/>
        </p:nvSpPr>
        <p:spPr bwMode="auto">
          <a:xfrm>
            <a:off x="1769917" y="2912781"/>
            <a:ext cx="659026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40000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+  2</a:t>
            </a:r>
            <a:r>
              <a:rPr lang="en-US" altLang="zh-CN" sz="2800" baseline="40000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+  2</a:t>
            </a:r>
            <a:r>
              <a:rPr lang="en-US" altLang="zh-CN" sz="2800" baseline="40000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+  2</a:t>
            </a:r>
            <a:r>
              <a:rPr lang="en-US" altLang="zh-CN" sz="2800" baseline="40000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=  64 + 8 + 4 + 2  =  78</a:t>
            </a:r>
          </a:p>
        </p:txBody>
      </p:sp>
      <p:grpSp>
        <p:nvGrpSpPr>
          <p:cNvPr id="257063" name="Group 39"/>
          <p:cNvGrpSpPr>
            <a:grpSpLocks/>
          </p:cNvGrpSpPr>
          <p:nvPr/>
        </p:nvGrpSpPr>
        <p:grpSpPr bwMode="auto">
          <a:xfrm>
            <a:off x="1637901" y="2088437"/>
            <a:ext cx="1590329" cy="393757"/>
            <a:chOff x="793" y="1237"/>
            <a:chExt cx="961" cy="233"/>
          </a:xfrm>
        </p:grpSpPr>
        <p:sp>
          <p:nvSpPr>
            <p:cNvPr id="257030" name="Text Box 6"/>
            <p:cNvSpPr txBox="1">
              <a:spLocks noChangeArrowheads="1"/>
            </p:cNvSpPr>
            <p:nvPr/>
          </p:nvSpPr>
          <p:spPr bwMode="auto">
            <a:xfrm>
              <a:off x="793" y="1237"/>
              <a:ext cx="18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57031" name="Text Box 7"/>
            <p:cNvSpPr txBox="1">
              <a:spLocks noChangeArrowheads="1"/>
            </p:cNvSpPr>
            <p:nvPr/>
          </p:nvSpPr>
          <p:spPr bwMode="auto">
            <a:xfrm>
              <a:off x="1565" y="1237"/>
              <a:ext cx="18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cxnSp>
          <p:nvCxnSpPr>
            <p:cNvPr id="257032" name="AutoShape 8"/>
            <p:cNvCxnSpPr>
              <a:cxnSpLocks noChangeShapeType="1"/>
              <a:stCxn id="257031" idx="1"/>
              <a:endCxn id="257030" idx="3"/>
            </p:cNvCxnSpPr>
            <p:nvPr/>
          </p:nvCxnSpPr>
          <p:spPr bwMode="auto">
            <a:xfrm flipH="1">
              <a:off x="982" y="1354"/>
              <a:ext cx="583" cy="0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" name="组合 1"/>
          <p:cNvGrpSpPr/>
          <p:nvPr/>
        </p:nvGrpSpPr>
        <p:grpSpPr>
          <a:xfrm>
            <a:off x="1606260" y="4292601"/>
            <a:ext cx="7775575" cy="1800224"/>
            <a:chOff x="1606260" y="4292601"/>
            <a:chExt cx="7775575" cy="1800224"/>
          </a:xfrm>
        </p:grpSpPr>
        <p:sp>
          <p:nvSpPr>
            <p:cNvPr id="257034" name="Text Box 10"/>
            <p:cNvSpPr txBox="1">
              <a:spLocks noChangeArrowheads="1"/>
            </p:cNvSpPr>
            <p:nvPr/>
          </p:nvSpPr>
          <p:spPr bwMode="auto">
            <a:xfrm>
              <a:off x="8086436" y="4854576"/>
              <a:ext cx="54373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78</a:t>
              </a:r>
            </a:p>
          </p:txBody>
        </p:sp>
        <p:sp>
          <p:nvSpPr>
            <p:cNvPr id="257035" name="Text Box 11"/>
            <p:cNvSpPr txBox="1">
              <a:spLocks noChangeArrowheads="1"/>
            </p:cNvSpPr>
            <p:nvPr/>
          </p:nvSpPr>
          <p:spPr bwMode="auto">
            <a:xfrm>
              <a:off x="7006936" y="4854576"/>
              <a:ext cx="54373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39</a:t>
              </a:r>
            </a:p>
          </p:txBody>
        </p:sp>
        <p:sp>
          <p:nvSpPr>
            <p:cNvPr id="257036" name="Text Box 12"/>
            <p:cNvSpPr txBox="1">
              <a:spLocks noChangeArrowheads="1"/>
            </p:cNvSpPr>
            <p:nvPr/>
          </p:nvSpPr>
          <p:spPr bwMode="auto">
            <a:xfrm>
              <a:off x="5925848" y="4854576"/>
              <a:ext cx="54373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19</a:t>
              </a:r>
            </a:p>
          </p:txBody>
        </p:sp>
        <p:sp>
          <p:nvSpPr>
            <p:cNvPr id="257037" name="Text Box 13"/>
            <p:cNvSpPr txBox="1">
              <a:spLocks noChangeArrowheads="1"/>
            </p:cNvSpPr>
            <p:nvPr/>
          </p:nvSpPr>
          <p:spPr bwMode="auto">
            <a:xfrm>
              <a:off x="5062248" y="4854576"/>
              <a:ext cx="36420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257038" name="Text Box 14"/>
            <p:cNvSpPr txBox="1">
              <a:spLocks noChangeArrowheads="1"/>
            </p:cNvSpPr>
            <p:nvPr/>
          </p:nvSpPr>
          <p:spPr bwMode="auto">
            <a:xfrm>
              <a:off x="4198648" y="4854576"/>
              <a:ext cx="36420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57039" name="Text Box 15"/>
            <p:cNvSpPr txBox="1">
              <a:spLocks noChangeArrowheads="1"/>
            </p:cNvSpPr>
            <p:nvPr/>
          </p:nvSpPr>
          <p:spPr bwMode="auto">
            <a:xfrm>
              <a:off x="3333460" y="4854576"/>
              <a:ext cx="36420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57040" name="Text Box 16"/>
            <p:cNvSpPr txBox="1">
              <a:spLocks noChangeArrowheads="1"/>
            </p:cNvSpPr>
            <p:nvPr/>
          </p:nvSpPr>
          <p:spPr bwMode="auto">
            <a:xfrm>
              <a:off x="2469860" y="4854576"/>
              <a:ext cx="36420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57041" name="Text Box 17"/>
            <p:cNvSpPr txBox="1">
              <a:spLocks noChangeArrowheads="1"/>
            </p:cNvSpPr>
            <p:nvPr/>
          </p:nvSpPr>
          <p:spPr bwMode="auto">
            <a:xfrm>
              <a:off x="1606260" y="4854576"/>
              <a:ext cx="36420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cxnSp>
          <p:nvCxnSpPr>
            <p:cNvPr id="257042" name="AutoShape 18"/>
            <p:cNvCxnSpPr>
              <a:cxnSpLocks noChangeShapeType="1"/>
              <a:stCxn id="257034" idx="1"/>
              <a:endCxn id="257035" idx="3"/>
            </p:cNvCxnSpPr>
            <p:nvPr/>
          </p:nvCxnSpPr>
          <p:spPr bwMode="auto">
            <a:xfrm flipH="1">
              <a:off x="7550675" y="5116186"/>
              <a:ext cx="535761" cy="0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7043" name="AutoShape 19"/>
            <p:cNvCxnSpPr>
              <a:cxnSpLocks noChangeShapeType="1"/>
              <a:stCxn id="257035" idx="1"/>
              <a:endCxn id="257036" idx="3"/>
            </p:cNvCxnSpPr>
            <p:nvPr/>
          </p:nvCxnSpPr>
          <p:spPr bwMode="auto">
            <a:xfrm flipH="1">
              <a:off x="6469587" y="5116186"/>
              <a:ext cx="537349" cy="0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7045" name="AutoShape 21"/>
            <p:cNvCxnSpPr>
              <a:cxnSpLocks noChangeShapeType="1"/>
              <a:stCxn id="257036" idx="1"/>
              <a:endCxn id="257037" idx="3"/>
            </p:cNvCxnSpPr>
            <p:nvPr/>
          </p:nvCxnSpPr>
          <p:spPr bwMode="auto">
            <a:xfrm flipH="1">
              <a:off x="5426450" y="5116186"/>
              <a:ext cx="499398" cy="0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7046" name="AutoShape 22"/>
            <p:cNvCxnSpPr>
              <a:cxnSpLocks noChangeShapeType="1"/>
              <a:stCxn id="257037" idx="1"/>
              <a:endCxn id="257038" idx="3"/>
            </p:cNvCxnSpPr>
            <p:nvPr/>
          </p:nvCxnSpPr>
          <p:spPr bwMode="auto">
            <a:xfrm flipH="1">
              <a:off x="4562850" y="5116186"/>
              <a:ext cx="499398" cy="0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7048" name="AutoShape 24"/>
            <p:cNvCxnSpPr>
              <a:cxnSpLocks noChangeShapeType="1"/>
              <a:stCxn id="257038" idx="1"/>
              <a:endCxn id="257039" idx="3"/>
            </p:cNvCxnSpPr>
            <p:nvPr/>
          </p:nvCxnSpPr>
          <p:spPr bwMode="auto">
            <a:xfrm flipH="1">
              <a:off x="3697662" y="5116186"/>
              <a:ext cx="500986" cy="0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7049" name="AutoShape 25"/>
            <p:cNvCxnSpPr>
              <a:cxnSpLocks noChangeShapeType="1"/>
              <a:stCxn id="257039" idx="1"/>
              <a:endCxn id="257040" idx="3"/>
            </p:cNvCxnSpPr>
            <p:nvPr/>
          </p:nvCxnSpPr>
          <p:spPr bwMode="auto">
            <a:xfrm flipH="1">
              <a:off x="2834062" y="5116186"/>
              <a:ext cx="499398" cy="0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7050" name="AutoShape 26"/>
            <p:cNvCxnSpPr>
              <a:cxnSpLocks noChangeShapeType="1"/>
              <a:stCxn id="257040" idx="1"/>
              <a:endCxn id="257041" idx="3"/>
            </p:cNvCxnSpPr>
            <p:nvPr/>
          </p:nvCxnSpPr>
          <p:spPr bwMode="auto">
            <a:xfrm flipH="1">
              <a:off x="1970462" y="5116186"/>
              <a:ext cx="499398" cy="0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257061" name="Group 37"/>
            <p:cNvGrpSpPr>
              <a:grpSpLocks/>
            </p:cNvGrpSpPr>
            <p:nvPr/>
          </p:nvGrpSpPr>
          <p:grpSpPr bwMode="auto">
            <a:xfrm>
              <a:off x="1701511" y="4292601"/>
              <a:ext cx="6408737" cy="504825"/>
              <a:chOff x="793" y="2704"/>
              <a:chExt cx="4037" cy="318"/>
            </a:xfrm>
          </p:grpSpPr>
          <p:sp>
            <p:nvSpPr>
              <p:cNvPr id="257044" name="Line 20"/>
              <p:cNvSpPr>
                <a:spLocks noChangeShapeType="1"/>
              </p:cNvSpPr>
              <p:nvPr/>
            </p:nvSpPr>
            <p:spPr bwMode="auto">
              <a:xfrm flipV="1">
                <a:off x="793" y="3013"/>
                <a:ext cx="4037" cy="9"/>
              </a:xfrm>
              <a:prstGeom prst="line">
                <a:avLst/>
              </a:prstGeom>
              <a:noFill/>
              <a:ln w="57150">
                <a:solidFill>
                  <a:srgbClr val="FF66FF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7051" name="Text Box 27"/>
              <p:cNvSpPr txBox="1">
                <a:spLocks noChangeArrowheads="1"/>
              </p:cNvSpPr>
              <p:nvPr/>
            </p:nvSpPr>
            <p:spPr bwMode="auto">
              <a:xfrm>
                <a:off x="2571" y="2704"/>
                <a:ext cx="91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66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商（除以</a:t>
                </a:r>
                <a:r>
                  <a:rPr lang="en-US" altLang="zh-CN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</a:t>
                </a:r>
                <a:endParaRPr lang="zh-CN" altLang="en-US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57062" name="Group 38"/>
            <p:cNvGrpSpPr>
              <a:grpSpLocks/>
            </p:cNvGrpSpPr>
            <p:nvPr/>
          </p:nvGrpSpPr>
          <p:grpSpPr bwMode="auto">
            <a:xfrm>
              <a:off x="8759535" y="5300663"/>
              <a:ext cx="622300" cy="792162"/>
              <a:chOff x="5239" y="3385"/>
              <a:chExt cx="392" cy="499"/>
            </a:xfrm>
          </p:grpSpPr>
          <p:sp>
            <p:nvSpPr>
              <p:cNvPr id="257052" name="Line 28"/>
              <p:cNvSpPr>
                <a:spLocks noChangeShapeType="1"/>
              </p:cNvSpPr>
              <p:nvPr/>
            </p:nvSpPr>
            <p:spPr bwMode="auto">
              <a:xfrm>
                <a:off x="5239" y="3385"/>
                <a:ext cx="0" cy="499"/>
              </a:xfrm>
              <a:prstGeom prst="line">
                <a:avLst/>
              </a:prstGeom>
              <a:noFill/>
              <a:ln w="57150">
                <a:solidFill>
                  <a:srgbClr val="FF66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7053" name="Text Box 29"/>
              <p:cNvSpPr txBox="1">
                <a:spLocks noChangeArrowheads="1"/>
              </p:cNvSpPr>
              <p:nvPr/>
            </p:nvSpPr>
            <p:spPr bwMode="auto">
              <a:xfrm>
                <a:off x="5340" y="3446"/>
                <a:ext cx="291" cy="3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/>
              <a:p>
                <a:pPr algn="ctr"/>
                <a:r>
                  <a:rPr lang="zh-CN" altLang="en-US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余数</a:t>
                </a:r>
              </a:p>
            </p:txBody>
          </p:sp>
        </p:grpSp>
        <p:sp>
          <p:nvSpPr>
            <p:cNvPr id="257054" name="Text Box 30"/>
            <p:cNvSpPr txBox="1">
              <a:spLocks noChangeArrowheads="1"/>
            </p:cNvSpPr>
            <p:nvPr/>
          </p:nvSpPr>
          <p:spPr bwMode="auto">
            <a:xfrm>
              <a:off x="8183273" y="5430838"/>
              <a:ext cx="36420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57055" name="Text Box 31"/>
            <p:cNvSpPr txBox="1">
              <a:spLocks noChangeArrowheads="1"/>
            </p:cNvSpPr>
            <p:nvPr/>
          </p:nvSpPr>
          <p:spPr bwMode="auto">
            <a:xfrm>
              <a:off x="7143460" y="5445126"/>
              <a:ext cx="36420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57056" name="Text Box 32"/>
            <p:cNvSpPr txBox="1">
              <a:spLocks noChangeArrowheads="1"/>
            </p:cNvSpPr>
            <p:nvPr/>
          </p:nvSpPr>
          <p:spPr bwMode="auto">
            <a:xfrm>
              <a:off x="6062373" y="5445126"/>
              <a:ext cx="36420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57057" name="Text Box 33"/>
            <p:cNvSpPr txBox="1">
              <a:spLocks noChangeArrowheads="1"/>
            </p:cNvSpPr>
            <p:nvPr/>
          </p:nvSpPr>
          <p:spPr bwMode="auto">
            <a:xfrm>
              <a:off x="5086060" y="5445126"/>
              <a:ext cx="36420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57058" name="Text Box 34"/>
            <p:cNvSpPr txBox="1">
              <a:spLocks noChangeArrowheads="1"/>
            </p:cNvSpPr>
            <p:nvPr/>
          </p:nvSpPr>
          <p:spPr bwMode="auto">
            <a:xfrm>
              <a:off x="4151023" y="5445126"/>
              <a:ext cx="36420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57059" name="Text Box 35"/>
            <p:cNvSpPr txBox="1">
              <a:spLocks noChangeArrowheads="1"/>
            </p:cNvSpPr>
            <p:nvPr/>
          </p:nvSpPr>
          <p:spPr bwMode="auto">
            <a:xfrm>
              <a:off x="3327110" y="5445126"/>
              <a:ext cx="36420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57060" name="Text Box 36"/>
            <p:cNvSpPr txBox="1">
              <a:spLocks noChangeArrowheads="1"/>
            </p:cNvSpPr>
            <p:nvPr/>
          </p:nvSpPr>
          <p:spPr bwMode="auto">
            <a:xfrm>
              <a:off x="2461923" y="5445126"/>
              <a:ext cx="36420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57064" name="Rectangle 40"/>
            <p:cNvSpPr>
              <a:spLocks noChangeArrowheads="1"/>
            </p:cNvSpPr>
            <p:nvPr/>
          </p:nvSpPr>
          <p:spPr bwMode="auto">
            <a:xfrm>
              <a:off x="2422236" y="5372100"/>
              <a:ext cx="6192837" cy="64928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0965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7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57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57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28" grpId="0"/>
      <p:bldP spid="25702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338" y="228601"/>
            <a:ext cx="7848600" cy="519113"/>
          </a:xfrm>
        </p:spPr>
        <p:txBody>
          <a:bodyPr/>
          <a:lstStyle/>
          <a:p>
            <a:r>
              <a:rPr lang="en-US" altLang="zh-CN" sz="2800" b="1" dirty="0" smtClean="0">
                <a:solidFill>
                  <a:srgbClr val="0000CC"/>
                </a:solidFill>
              </a:rPr>
              <a:t>IP</a:t>
            </a:r>
            <a:r>
              <a:rPr lang="zh-CN" altLang="en-US" sz="2800" b="1" dirty="0" smtClean="0">
                <a:solidFill>
                  <a:srgbClr val="0000CC"/>
                </a:solidFill>
              </a:rPr>
              <a:t>地址</a:t>
            </a:r>
            <a:r>
              <a:rPr lang="zh-CN" altLang="en-US" sz="2800" b="1" dirty="0">
                <a:solidFill>
                  <a:srgbClr val="0000CC"/>
                </a:solidFill>
              </a:rPr>
              <a:t>范围</a:t>
            </a:r>
          </a:p>
        </p:txBody>
      </p:sp>
      <p:graphicFrame>
        <p:nvGraphicFramePr>
          <p:cNvPr id="6231" name="Group 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661128"/>
              </p:ext>
            </p:extLst>
          </p:nvPr>
        </p:nvGraphicFramePr>
        <p:xfrm>
          <a:off x="1905000" y="3990976"/>
          <a:ext cx="9429751" cy="2647948"/>
        </p:xfrm>
        <a:graphic>
          <a:graphicData uri="http://schemas.openxmlformats.org/drawingml/2006/table">
            <a:tbl>
              <a:tblPr/>
              <a:tblGrid>
                <a:gridCol w="793156"/>
                <a:gridCol w="1145671"/>
                <a:gridCol w="2203212"/>
                <a:gridCol w="1233800"/>
                <a:gridCol w="2026956"/>
                <a:gridCol w="2026956"/>
              </a:tblGrid>
              <a:tr h="44548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类 型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网 络 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网络号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主机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网络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主 机 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IP </a:t>
                      </a: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地 址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</a:tr>
              <a:tr h="7341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</a:t>
                      </a:r>
                      <a:r>
                        <a:rPr kumimoji="1" lang="en-US" altLang="zh-CN" sz="16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1~126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16777214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</a:t>
                      </a:r>
                      <a:r>
                        <a:rPr kumimoji="1" lang="en-US" altLang="zh-CN" sz="16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24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0.0.1~255.255.254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1.0.0.1~ 126.255.255.254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</a:tr>
              <a:tr h="7341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16384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</a:t>
                      </a:r>
                      <a:r>
                        <a:rPr kumimoji="1" lang="en-US" altLang="zh-CN" sz="16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128.0~191.255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65534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</a:t>
                      </a:r>
                      <a:r>
                        <a:rPr kumimoji="1" lang="en-US" altLang="zh-CN" sz="16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0.1~255.254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128.0.0.1~   191.255.255.254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</a:tr>
              <a:tr h="7341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2097152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</a:t>
                      </a:r>
                      <a:r>
                        <a:rPr kumimoji="1" lang="en-US" altLang="zh-CN" sz="16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192.0.0~223.225.255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254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</a:t>
                      </a:r>
                      <a:r>
                        <a:rPr kumimoji="1" lang="en-US" altLang="zh-CN" sz="16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1~254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192.0.0.1~       223.255.255.254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44"/>
          <p:cNvSpPr>
            <a:spLocks noChangeArrowheads="1"/>
          </p:cNvSpPr>
          <p:nvPr/>
        </p:nvSpPr>
        <p:spPr bwMode="auto">
          <a:xfrm>
            <a:off x="1838325" y="1966914"/>
            <a:ext cx="6667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500" b="1">
                <a:latin typeface="宋体" panose="02010600030101010101" pitchFamily="2" charset="-122"/>
              </a:rPr>
              <a:t>A</a:t>
            </a:r>
            <a:r>
              <a:rPr lang="zh-CN" altLang="en-US" sz="1500" b="1">
                <a:latin typeface="宋体" panose="02010600030101010101" pitchFamily="2" charset="-122"/>
              </a:rPr>
              <a:t>类地址</a:t>
            </a:r>
            <a:endParaRPr lang="zh-CN" altLang="en-US" sz="1800" b="1">
              <a:latin typeface="宋体" panose="02010600030101010101" pitchFamily="2" charset="-122"/>
            </a:endParaRPr>
          </a:p>
        </p:txBody>
      </p:sp>
      <p:sp>
        <p:nvSpPr>
          <p:cNvPr id="14" name="Rectangle 47"/>
          <p:cNvSpPr>
            <a:spLocks noChangeArrowheads="1"/>
          </p:cNvSpPr>
          <p:nvPr/>
        </p:nvSpPr>
        <p:spPr bwMode="auto">
          <a:xfrm>
            <a:off x="1838325" y="3338514"/>
            <a:ext cx="6667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500" b="1">
                <a:latin typeface="宋体" panose="02010600030101010101" pitchFamily="2" charset="-122"/>
              </a:rPr>
              <a:t>C</a:t>
            </a:r>
            <a:r>
              <a:rPr lang="zh-CN" altLang="en-US" sz="1500" b="1">
                <a:latin typeface="宋体" panose="02010600030101010101" pitchFamily="2" charset="-122"/>
              </a:rPr>
              <a:t>类地址</a:t>
            </a:r>
            <a:endParaRPr lang="zh-CN" altLang="en-US" sz="1800" b="1">
              <a:latin typeface="宋体" panose="02010600030101010101" pitchFamily="2" charset="-122"/>
            </a:endParaRPr>
          </a:p>
        </p:txBody>
      </p:sp>
      <p:sp>
        <p:nvSpPr>
          <p:cNvPr id="15" name="Rectangle 48"/>
          <p:cNvSpPr>
            <a:spLocks noChangeArrowheads="1"/>
          </p:cNvSpPr>
          <p:nvPr/>
        </p:nvSpPr>
        <p:spPr bwMode="auto">
          <a:xfrm>
            <a:off x="2935288" y="900114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500">
                <a:latin typeface="宋体" panose="02010600030101010101" pitchFamily="2" charset="-122"/>
              </a:rPr>
              <a:t>0</a:t>
            </a:r>
            <a:endParaRPr lang="en-US" altLang="zh-CN" sz="1800">
              <a:latin typeface="宋体" panose="02010600030101010101" pitchFamily="2" charset="-122"/>
            </a:endParaRPr>
          </a:p>
        </p:txBody>
      </p:sp>
      <p:sp>
        <p:nvSpPr>
          <p:cNvPr id="16" name="Rectangle 49"/>
          <p:cNvSpPr>
            <a:spLocks noChangeArrowheads="1"/>
          </p:cNvSpPr>
          <p:nvPr/>
        </p:nvSpPr>
        <p:spPr bwMode="auto">
          <a:xfrm>
            <a:off x="4324350" y="900114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500">
                <a:latin typeface="宋体" panose="02010600030101010101" pitchFamily="2" charset="-122"/>
              </a:rPr>
              <a:t>7</a:t>
            </a:r>
            <a:endParaRPr lang="en-US" altLang="zh-CN" sz="1800">
              <a:latin typeface="宋体" panose="02010600030101010101" pitchFamily="2" charset="-122"/>
            </a:endParaRPr>
          </a:p>
        </p:txBody>
      </p:sp>
      <p:sp>
        <p:nvSpPr>
          <p:cNvPr id="17" name="Rectangle 50"/>
          <p:cNvSpPr>
            <a:spLocks noChangeArrowheads="1"/>
          </p:cNvSpPr>
          <p:nvPr/>
        </p:nvSpPr>
        <p:spPr bwMode="auto">
          <a:xfrm>
            <a:off x="4522788" y="900114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500">
                <a:latin typeface="宋体" panose="02010600030101010101" pitchFamily="2" charset="-122"/>
              </a:rPr>
              <a:t>8</a:t>
            </a:r>
            <a:endParaRPr lang="en-US" altLang="zh-CN" sz="1800">
              <a:latin typeface="宋体" panose="02010600030101010101" pitchFamily="2" charset="-122"/>
            </a:endParaRPr>
          </a:p>
        </p:txBody>
      </p:sp>
      <p:sp>
        <p:nvSpPr>
          <p:cNvPr id="18" name="Rectangle 51"/>
          <p:cNvSpPr>
            <a:spLocks noChangeArrowheads="1"/>
          </p:cNvSpPr>
          <p:nvPr/>
        </p:nvSpPr>
        <p:spPr bwMode="auto">
          <a:xfrm>
            <a:off x="8937625" y="900114"/>
            <a:ext cx="190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500">
                <a:latin typeface="宋体" panose="02010600030101010101" pitchFamily="2" charset="-122"/>
              </a:rPr>
              <a:t>31</a:t>
            </a:r>
            <a:endParaRPr lang="en-US" altLang="zh-CN" sz="1800">
              <a:latin typeface="宋体" panose="02010600030101010101" pitchFamily="2" charset="-122"/>
            </a:endParaRPr>
          </a:p>
        </p:txBody>
      </p:sp>
      <p:sp>
        <p:nvSpPr>
          <p:cNvPr id="19" name="Rectangle 52"/>
          <p:cNvSpPr>
            <a:spLocks noChangeArrowheads="1"/>
          </p:cNvSpPr>
          <p:nvPr/>
        </p:nvSpPr>
        <p:spPr bwMode="auto">
          <a:xfrm>
            <a:off x="5767388" y="900114"/>
            <a:ext cx="190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500">
                <a:latin typeface="宋体" panose="02010600030101010101" pitchFamily="2" charset="-122"/>
              </a:rPr>
              <a:t>15</a:t>
            </a:r>
            <a:endParaRPr lang="en-US" altLang="zh-CN" sz="1800">
              <a:latin typeface="宋体" panose="02010600030101010101" pitchFamily="2" charset="-122"/>
            </a:endParaRPr>
          </a:p>
        </p:txBody>
      </p:sp>
      <p:sp>
        <p:nvSpPr>
          <p:cNvPr id="20" name="Rectangle 53"/>
          <p:cNvSpPr>
            <a:spLocks noChangeArrowheads="1"/>
          </p:cNvSpPr>
          <p:nvPr/>
        </p:nvSpPr>
        <p:spPr bwMode="auto">
          <a:xfrm>
            <a:off x="6162675" y="900114"/>
            <a:ext cx="190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500">
                <a:latin typeface="宋体" panose="02010600030101010101" pitchFamily="2" charset="-122"/>
              </a:rPr>
              <a:t>16</a:t>
            </a:r>
            <a:endParaRPr lang="en-US" altLang="zh-CN" sz="1800">
              <a:latin typeface="宋体" panose="02010600030101010101" pitchFamily="2" charset="-122"/>
            </a:endParaRPr>
          </a:p>
        </p:txBody>
      </p:sp>
      <p:sp>
        <p:nvSpPr>
          <p:cNvPr id="21" name="Rectangle 54"/>
          <p:cNvSpPr>
            <a:spLocks noChangeArrowheads="1"/>
          </p:cNvSpPr>
          <p:nvPr/>
        </p:nvSpPr>
        <p:spPr bwMode="auto">
          <a:xfrm>
            <a:off x="7354888" y="900114"/>
            <a:ext cx="190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500">
                <a:latin typeface="宋体" panose="02010600030101010101" pitchFamily="2" charset="-122"/>
              </a:rPr>
              <a:t>23</a:t>
            </a:r>
            <a:endParaRPr lang="en-US" altLang="zh-CN" sz="1800">
              <a:latin typeface="宋体" panose="02010600030101010101" pitchFamily="2" charset="-122"/>
            </a:endParaRPr>
          </a:p>
        </p:txBody>
      </p:sp>
      <p:sp>
        <p:nvSpPr>
          <p:cNvPr id="22" name="Rectangle 55"/>
          <p:cNvSpPr>
            <a:spLocks noChangeArrowheads="1"/>
          </p:cNvSpPr>
          <p:nvPr/>
        </p:nvSpPr>
        <p:spPr bwMode="auto">
          <a:xfrm>
            <a:off x="7750175" y="900114"/>
            <a:ext cx="190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500">
                <a:latin typeface="宋体" panose="02010600030101010101" pitchFamily="2" charset="-122"/>
              </a:rPr>
              <a:t>24</a:t>
            </a:r>
            <a:endParaRPr lang="en-US" altLang="zh-CN" sz="1800">
              <a:latin typeface="宋体" panose="02010600030101010101" pitchFamily="2" charset="-122"/>
            </a:endParaRPr>
          </a:p>
        </p:txBody>
      </p:sp>
      <p:sp>
        <p:nvSpPr>
          <p:cNvPr id="23" name="Rectangle 81"/>
          <p:cNvSpPr>
            <a:spLocks noChangeArrowheads="1"/>
          </p:cNvSpPr>
          <p:nvPr/>
        </p:nvSpPr>
        <p:spPr bwMode="auto">
          <a:xfrm>
            <a:off x="2905125" y="1239839"/>
            <a:ext cx="1560513" cy="460375"/>
          </a:xfrm>
          <a:prstGeom prst="rect">
            <a:avLst/>
          </a:prstGeom>
          <a:solidFill>
            <a:srgbClr val="FFFFFF"/>
          </a:solidFill>
          <a:ln w="28575">
            <a:solidFill>
              <a:schemeClr val="bg2"/>
            </a:solidFill>
            <a:miter lim="800000"/>
            <a:headEnd/>
            <a:tailEnd/>
          </a:ln>
        </p:spPr>
        <p:txBody>
          <a:bodyPr/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endParaRPr lang="zh-CN" altLang="zh-CN" sz="1800">
              <a:latin typeface="宋体" panose="02010600030101010101" pitchFamily="2" charset="-122"/>
            </a:endParaRPr>
          </a:p>
        </p:txBody>
      </p:sp>
      <p:sp>
        <p:nvSpPr>
          <p:cNvPr id="24" name="Rectangle 82"/>
          <p:cNvSpPr>
            <a:spLocks noChangeArrowheads="1"/>
          </p:cNvSpPr>
          <p:nvPr/>
        </p:nvSpPr>
        <p:spPr bwMode="auto">
          <a:xfrm>
            <a:off x="4465638" y="1239839"/>
            <a:ext cx="4754562" cy="460375"/>
          </a:xfrm>
          <a:prstGeom prst="rect">
            <a:avLst/>
          </a:prstGeom>
          <a:solidFill>
            <a:srgbClr val="FFFFFF"/>
          </a:solidFill>
          <a:ln w="28575">
            <a:solidFill>
              <a:schemeClr val="bg2"/>
            </a:solidFill>
            <a:miter lim="800000"/>
            <a:headEnd/>
            <a:tailEnd/>
          </a:ln>
        </p:spPr>
        <p:txBody>
          <a:bodyPr/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endParaRPr lang="zh-CN" altLang="zh-CN" sz="1800" b="1">
              <a:latin typeface="宋体" panose="02010600030101010101" pitchFamily="2" charset="-122"/>
            </a:endParaRPr>
          </a:p>
        </p:txBody>
      </p:sp>
      <p:sp>
        <p:nvSpPr>
          <p:cNvPr id="25" name="Line 83"/>
          <p:cNvSpPr>
            <a:spLocks noChangeShapeType="1"/>
          </p:cNvSpPr>
          <p:nvPr/>
        </p:nvSpPr>
        <p:spPr bwMode="auto">
          <a:xfrm>
            <a:off x="6049963" y="1239839"/>
            <a:ext cx="1587" cy="238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84"/>
          <p:cNvSpPr>
            <a:spLocks noChangeShapeType="1"/>
          </p:cNvSpPr>
          <p:nvPr/>
        </p:nvSpPr>
        <p:spPr bwMode="auto">
          <a:xfrm>
            <a:off x="6049963" y="1287464"/>
            <a:ext cx="1587" cy="222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85"/>
          <p:cNvSpPr>
            <a:spLocks noChangeShapeType="1"/>
          </p:cNvSpPr>
          <p:nvPr/>
        </p:nvSpPr>
        <p:spPr bwMode="auto">
          <a:xfrm>
            <a:off x="6049963" y="1381127"/>
            <a:ext cx="1587" cy="222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86"/>
          <p:cNvSpPr>
            <a:spLocks noChangeShapeType="1"/>
          </p:cNvSpPr>
          <p:nvPr/>
        </p:nvSpPr>
        <p:spPr bwMode="auto">
          <a:xfrm>
            <a:off x="6049963" y="1614489"/>
            <a:ext cx="1587" cy="238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87"/>
          <p:cNvSpPr>
            <a:spLocks noChangeShapeType="1"/>
          </p:cNvSpPr>
          <p:nvPr/>
        </p:nvSpPr>
        <p:spPr bwMode="auto">
          <a:xfrm>
            <a:off x="7635875" y="1239839"/>
            <a:ext cx="1588" cy="238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88"/>
          <p:cNvSpPr>
            <a:spLocks noChangeShapeType="1"/>
          </p:cNvSpPr>
          <p:nvPr/>
        </p:nvSpPr>
        <p:spPr bwMode="auto">
          <a:xfrm>
            <a:off x="7635875" y="1287464"/>
            <a:ext cx="1588" cy="222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89"/>
          <p:cNvSpPr>
            <a:spLocks noChangeShapeType="1"/>
          </p:cNvSpPr>
          <p:nvPr/>
        </p:nvSpPr>
        <p:spPr bwMode="auto">
          <a:xfrm>
            <a:off x="7635875" y="1333502"/>
            <a:ext cx="1588" cy="238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90"/>
          <p:cNvSpPr>
            <a:spLocks noChangeShapeType="1"/>
          </p:cNvSpPr>
          <p:nvPr/>
        </p:nvSpPr>
        <p:spPr bwMode="auto">
          <a:xfrm>
            <a:off x="7635875" y="1381127"/>
            <a:ext cx="1588" cy="222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91"/>
          <p:cNvSpPr>
            <a:spLocks noChangeShapeType="1"/>
          </p:cNvSpPr>
          <p:nvPr/>
        </p:nvSpPr>
        <p:spPr bwMode="auto">
          <a:xfrm>
            <a:off x="7635875" y="1427164"/>
            <a:ext cx="1588" cy="238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Line 92"/>
          <p:cNvSpPr>
            <a:spLocks noChangeShapeType="1"/>
          </p:cNvSpPr>
          <p:nvPr/>
        </p:nvSpPr>
        <p:spPr bwMode="auto">
          <a:xfrm>
            <a:off x="7635875" y="1474789"/>
            <a:ext cx="1588" cy="222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Line 93"/>
          <p:cNvSpPr>
            <a:spLocks noChangeShapeType="1"/>
          </p:cNvSpPr>
          <p:nvPr/>
        </p:nvSpPr>
        <p:spPr bwMode="auto">
          <a:xfrm>
            <a:off x="7635875" y="1520827"/>
            <a:ext cx="1588" cy="238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Line 94"/>
          <p:cNvSpPr>
            <a:spLocks noChangeShapeType="1"/>
          </p:cNvSpPr>
          <p:nvPr/>
        </p:nvSpPr>
        <p:spPr bwMode="auto">
          <a:xfrm>
            <a:off x="7635875" y="1566864"/>
            <a:ext cx="1588" cy="238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Line 95"/>
          <p:cNvSpPr>
            <a:spLocks noChangeShapeType="1"/>
          </p:cNvSpPr>
          <p:nvPr/>
        </p:nvSpPr>
        <p:spPr bwMode="auto">
          <a:xfrm>
            <a:off x="7635875" y="1614489"/>
            <a:ext cx="1588" cy="238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Line 96"/>
          <p:cNvSpPr>
            <a:spLocks noChangeShapeType="1"/>
          </p:cNvSpPr>
          <p:nvPr/>
        </p:nvSpPr>
        <p:spPr bwMode="auto">
          <a:xfrm>
            <a:off x="7635875" y="1660527"/>
            <a:ext cx="1588" cy="238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Line 97"/>
          <p:cNvSpPr>
            <a:spLocks noChangeShapeType="1"/>
          </p:cNvSpPr>
          <p:nvPr/>
        </p:nvSpPr>
        <p:spPr bwMode="auto">
          <a:xfrm flipV="1">
            <a:off x="6029325" y="1214439"/>
            <a:ext cx="0" cy="457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Line 98"/>
          <p:cNvSpPr>
            <a:spLocks noChangeShapeType="1"/>
          </p:cNvSpPr>
          <p:nvPr/>
        </p:nvSpPr>
        <p:spPr bwMode="auto">
          <a:xfrm flipV="1">
            <a:off x="7629525" y="1214439"/>
            <a:ext cx="0" cy="457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Rectangle 99"/>
          <p:cNvSpPr>
            <a:spLocks noChangeArrowheads="1"/>
          </p:cNvSpPr>
          <p:nvPr/>
        </p:nvSpPr>
        <p:spPr bwMode="auto">
          <a:xfrm>
            <a:off x="2905125" y="1890714"/>
            <a:ext cx="63246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Line 100"/>
          <p:cNvSpPr>
            <a:spLocks noChangeShapeType="1"/>
          </p:cNvSpPr>
          <p:nvPr/>
        </p:nvSpPr>
        <p:spPr bwMode="auto">
          <a:xfrm>
            <a:off x="4429125" y="1890714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Line 101"/>
          <p:cNvSpPr>
            <a:spLocks noChangeShapeType="1"/>
          </p:cNvSpPr>
          <p:nvPr/>
        </p:nvSpPr>
        <p:spPr bwMode="auto">
          <a:xfrm>
            <a:off x="3133725" y="1890714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Text Box 102"/>
          <p:cNvSpPr txBox="1">
            <a:spLocks noChangeArrowheads="1"/>
          </p:cNvSpPr>
          <p:nvPr/>
        </p:nvSpPr>
        <p:spPr bwMode="auto">
          <a:xfrm>
            <a:off x="2905125" y="1890714"/>
            <a:ext cx="228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en-US" altLang="zh-CN" sz="1800">
                <a:solidFill>
                  <a:srgbClr val="FF0000"/>
                </a:solidFill>
                <a:latin typeface="宋体" panose="02010600030101010101" pitchFamily="2" charset="-122"/>
              </a:rPr>
              <a:t>0</a:t>
            </a:r>
          </a:p>
        </p:txBody>
      </p:sp>
      <p:sp>
        <p:nvSpPr>
          <p:cNvPr id="45" name="Text Box 103"/>
          <p:cNvSpPr txBox="1">
            <a:spLocks noChangeArrowheads="1"/>
          </p:cNvSpPr>
          <p:nvPr/>
        </p:nvSpPr>
        <p:spPr bwMode="auto">
          <a:xfrm>
            <a:off x="3209925" y="1890714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zh-CN" altLang="en-US" sz="1800">
                <a:latin typeface="宋体" panose="02010600030101010101" pitchFamily="2" charset="-122"/>
              </a:rPr>
              <a:t>网络号</a:t>
            </a:r>
          </a:p>
        </p:txBody>
      </p:sp>
      <p:sp>
        <p:nvSpPr>
          <p:cNvPr id="46" name="Text Box 104"/>
          <p:cNvSpPr txBox="1">
            <a:spLocks noChangeArrowheads="1"/>
          </p:cNvSpPr>
          <p:nvPr/>
        </p:nvSpPr>
        <p:spPr bwMode="auto">
          <a:xfrm>
            <a:off x="4962525" y="1890714"/>
            <a:ext cx="3733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zh-CN" altLang="en-US" sz="1800">
                <a:latin typeface="宋体" panose="02010600030101010101" pitchFamily="2" charset="-122"/>
              </a:rPr>
              <a:t>主机号</a:t>
            </a:r>
          </a:p>
        </p:txBody>
      </p:sp>
      <p:sp>
        <p:nvSpPr>
          <p:cNvPr id="47" name="Rectangle 105"/>
          <p:cNvSpPr>
            <a:spLocks noChangeArrowheads="1"/>
          </p:cNvSpPr>
          <p:nvPr/>
        </p:nvSpPr>
        <p:spPr bwMode="auto">
          <a:xfrm>
            <a:off x="1838325" y="2576514"/>
            <a:ext cx="6667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500" b="1">
                <a:latin typeface="宋体" panose="02010600030101010101" pitchFamily="2" charset="-122"/>
              </a:rPr>
              <a:t>B</a:t>
            </a:r>
            <a:r>
              <a:rPr lang="zh-CN" altLang="en-US" sz="1500" b="1">
                <a:latin typeface="宋体" panose="02010600030101010101" pitchFamily="2" charset="-122"/>
              </a:rPr>
              <a:t>类地址</a:t>
            </a:r>
            <a:endParaRPr lang="zh-CN" altLang="en-US" sz="1800" b="1">
              <a:latin typeface="宋体" panose="02010600030101010101" pitchFamily="2" charset="-122"/>
            </a:endParaRPr>
          </a:p>
        </p:txBody>
      </p:sp>
      <p:sp>
        <p:nvSpPr>
          <p:cNvPr id="48" name="Rectangle 106"/>
          <p:cNvSpPr>
            <a:spLocks noChangeArrowheads="1"/>
          </p:cNvSpPr>
          <p:nvPr/>
        </p:nvSpPr>
        <p:spPr bwMode="auto">
          <a:xfrm>
            <a:off x="2905125" y="2500314"/>
            <a:ext cx="63246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Line 107"/>
          <p:cNvSpPr>
            <a:spLocks noChangeShapeType="1"/>
          </p:cNvSpPr>
          <p:nvPr/>
        </p:nvSpPr>
        <p:spPr bwMode="auto">
          <a:xfrm>
            <a:off x="3133725" y="2500314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Text Box 108"/>
          <p:cNvSpPr txBox="1">
            <a:spLocks noChangeArrowheads="1"/>
          </p:cNvSpPr>
          <p:nvPr/>
        </p:nvSpPr>
        <p:spPr bwMode="auto">
          <a:xfrm>
            <a:off x="2905125" y="2500314"/>
            <a:ext cx="228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en-US" altLang="zh-CN" sz="1800">
                <a:solidFill>
                  <a:srgbClr val="FF0000"/>
                </a:solidFill>
                <a:latin typeface="宋体" panose="02010600030101010101" pitchFamily="2" charset="-122"/>
              </a:rPr>
              <a:t>1</a:t>
            </a:r>
          </a:p>
        </p:txBody>
      </p:sp>
      <p:sp>
        <p:nvSpPr>
          <p:cNvPr id="51" name="Text Box 109"/>
          <p:cNvSpPr txBox="1">
            <a:spLocks noChangeArrowheads="1"/>
          </p:cNvSpPr>
          <p:nvPr/>
        </p:nvSpPr>
        <p:spPr bwMode="auto">
          <a:xfrm>
            <a:off x="3971925" y="2576514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zh-CN" altLang="en-US" sz="1800">
                <a:latin typeface="宋体" panose="02010600030101010101" pitchFamily="2" charset="-122"/>
              </a:rPr>
              <a:t>网络号</a:t>
            </a:r>
          </a:p>
        </p:txBody>
      </p:sp>
      <p:sp>
        <p:nvSpPr>
          <p:cNvPr id="52" name="Text Box 110"/>
          <p:cNvSpPr txBox="1">
            <a:spLocks noChangeArrowheads="1"/>
          </p:cNvSpPr>
          <p:nvPr/>
        </p:nvSpPr>
        <p:spPr bwMode="auto">
          <a:xfrm>
            <a:off x="6105525" y="2500314"/>
            <a:ext cx="2590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zh-CN" altLang="en-US" sz="1800">
                <a:latin typeface="宋体" panose="02010600030101010101" pitchFamily="2" charset="-122"/>
              </a:rPr>
              <a:t>主机号</a:t>
            </a:r>
          </a:p>
        </p:txBody>
      </p:sp>
      <p:sp>
        <p:nvSpPr>
          <p:cNvPr id="53" name="Line 111"/>
          <p:cNvSpPr>
            <a:spLocks noChangeShapeType="1"/>
          </p:cNvSpPr>
          <p:nvPr/>
        </p:nvSpPr>
        <p:spPr bwMode="auto">
          <a:xfrm>
            <a:off x="6029325" y="2500314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Line 112"/>
          <p:cNvSpPr>
            <a:spLocks noChangeShapeType="1"/>
          </p:cNvSpPr>
          <p:nvPr/>
        </p:nvSpPr>
        <p:spPr bwMode="auto">
          <a:xfrm flipV="1">
            <a:off x="3362325" y="2500314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Text Box 113"/>
          <p:cNvSpPr txBox="1">
            <a:spLocks noChangeArrowheads="1"/>
          </p:cNvSpPr>
          <p:nvPr/>
        </p:nvSpPr>
        <p:spPr bwMode="auto">
          <a:xfrm>
            <a:off x="3133725" y="2500314"/>
            <a:ext cx="228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en-US" altLang="zh-CN" sz="1800">
                <a:solidFill>
                  <a:srgbClr val="FF0000"/>
                </a:solidFill>
                <a:latin typeface="宋体" panose="02010600030101010101" pitchFamily="2" charset="-122"/>
              </a:rPr>
              <a:t>0</a:t>
            </a:r>
          </a:p>
        </p:txBody>
      </p:sp>
      <p:sp>
        <p:nvSpPr>
          <p:cNvPr id="56" name="Rectangle 114"/>
          <p:cNvSpPr>
            <a:spLocks noChangeArrowheads="1"/>
          </p:cNvSpPr>
          <p:nvPr/>
        </p:nvSpPr>
        <p:spPr bwMode="auto">
          <a:xfrm>
            <a:off x="2905125" y="3186114"/>
            <a:ext cx="6324600" cy="4572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Line 115"/>
          <p:cNvSpPr>
            <a:spLocks noChangeShapeType="1"/>
          </p:cNvSpPr>
          <p:nvPr/>
        </p:nvSpPr>
        <p:spPr bwMode="auto">
          <a:xfrm>
            <a:off x="3133725" y="3186114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Text Box 116"/>
          <p:cNvSpPr txBox="1">
            <a:spLocks noChangeArrowheads="1"/>
          </p:cNvSpPr>
          <p:nvPr/>
        </p:nvSpPr>
        <p:spPr bwMode="auto">
          <a:xfrm>
            <a:off x="2905125" y="3186114"/>
            <a:ext cx="228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en-US" altLang="zh-CN" sz="1800">
                <a:solidFill>
                  <a:srgbClr val="FF0000"/>
                </a:solidFill>
                <a:latin typeface="宋体" panose="02010600030101010101" pitchFamily="2" charset="-122"/>
              </a:rPr>
              <a:t>1</a:t>
            </a:r>
          </a:p>
        </p:txBody>
      </p:sp>
      <p:sp>
        <p:nvSpPr>
          <p:cNvPr id="59" name="Text Box 117"/>
          <p:cNvSpPr txBox="1">
            <a:spLocks noChangeArrowheads="1"/>
          </p:cNvSpPr>
          <p:nvPr/>
        </p:nvSpPr>
        <p:spPr bwMode="auto">
          <a:xfrm>
            <a:off x="3971925" y="3262314"/>
            <a:ext cx="3581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zh-CN" altLang="en-US" sz="1800">
                <a:latin typeface="宋体" panose="02010600030101010101" pitchFamily="2" charset="-122"/>
              </a:rPr>
              <a:t>网络号</a:t>
            </a:r>
          </a:p>
        </p:txBody>
      </p:sp>
      <p:sp>
        <p:nvSpPr>
          <p:cNvPr id="60" name="Text Box 118"/>
          <p:cNvSpPr txBox="1">
            <a:spLocks noChangeArrowheads="1"/>
          </p:cNvSpPr>
          <p:nvPr/>
        </p:nvSpPr>
        <p:spPr bwMode="auto">
          <a:xfrm>
            <a:off x="7858125" y="3262314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zh-CN" altLang="en-US" sz="1800">
                <a:latin typeface="宋体" panose="02010600030101010101" pitchFamily="2" charset="-122"/>
              </a:rPr>
              <a:t>主机号</a:t>
            </a:r>
          </a:p>
        </p:txBody>
      </p:sp>
      <p:sp>
        <p:nvSpPr>
          <p:cNvPr id="61" name="Line 119"/>
          <p:cNvSpPr>
            <a:spLocks noChangeShapeType="1"/>
          </p:cNvSpPr>
          <p:nvPr/>
        </p:nvSpPr>
        <p:spPr bwMode="auto">
          <a:xfrm flipV="1">
            <a:off x="3362325" y="3186114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" name="Text Box 120"/>
          <p:cNvSpPr txBox="1">
            <a:spLocks noChangeArrowheads="1"/>
          </p:cNvSpPr>
          <p:nvPr/>
        </p:nvSpPr>
        <p:spPr bwMode="auto">
          <a:xfrm>
            <a:off x="3133725" y="3186114"/>
            <a:ext cx="228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en-US" altLang="zh-CN" sz="1800">
                <a:solidFill>
                  <a:srgbClr val="FF0000"/>
                </a:solidFill>
                <a:latin typeface="宋体" panose="02010600030101010101" pitchFamily="2" charset="-122"/>
              </a:rPr>
              <a:t>1</a:t>
            </a:r>
          </a:p>
        </p:txBody>
      </p:sp>
      <p:sp>
        <p:nvSpPr>
          <p:cNvPr id="63" name="Line 121"/>
          <p:cNvSpPr>
            <a:spLocks noChangeShapeType="1"/>
          </p:cNvSpPr>
          <p:nvPr/>
        </p:nvSpPr>
        <p:spPr bwMode="auto">
          <a:xfrm flipV="1">
            <a:off x="3590925" y="3186114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Text Box 122"/>
          <p:cNvSpPr txBox="1">
            <a:spLocks noChangeArrowheads="1"/>
          </p:cNvSpPr>
          <p:nvPr/>
        </p:nvSpPr>
        <p:spPr bwMode="auto">
          <a:xfrm>
            <a:off x="3362325" y="3186114"/>
            <a:ext cx="228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en-US" altLang="zh-CN" sz="1800">
                <a:solidFill>
                  <a:srgbClr val="FF0000"/>
                </a:solidFill>
                <a:latin typeface="宋体" panose="02010600030101010101" pitchFamily="2" charset="-122"/>
              </a:rPr>
              <a:t>0</a:t>
            </a:r>
          </a:p>
        </p:txBody>
      </p:sp>
      <p:sp>
        <p:nvSpPr>
          <p:cNvPr id="65" name="Line 123"/>
          <p:cNvSpPr>
            <a:spLocks noChangeShapeType="1"/>
          </p:cNvSpPr>
          <p:nvPr/>
        </p:nvSpPr>
        <p:spPr bwMode="auto">
          <a:xfrm>
            <a:off x="7705725" y="3186114"/>
            <a:ext cx="0" cy="45720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45205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52513" y="115885"/>
            <a:ext cx="10363200" cy="946151"/>
          </a:xfrm>
        </p:spPr>
        <p:txBody>
          <a:bodyPr/>
          <a:lstStyle/>
          <a:p>
            <a:r>
              <a:rPr lang="zh-CN" altLang="en-US" sz="28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网络地址</a:t>
            </a:r>
          </a:p>
        </p:txBody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31094" y="1211260"/>
            <a:ext cx="10363200" cy="633410"/>
          </a:xfrm>
        </p:spPr>
        <p:txBody>
          <a:bodyPr/>
          <a:lstStyle/>
          <a:p>
            <a:r>
              <a:rPr lang="zh-CN" altLang="en-US" dirty="0">
                <a:solidFill>
                  <a:srgbClr val="002060"/>
                </a:solidFill>
              </a:rPr>
              <a:t>网络地址</a:t>
            </a:r>
          </a:p>
        </p:txBody>
      </p:sp>
      <p:grpSp>
        <p:nvGrpSpPr>
          <p:cNvPr id="261173" name="Group 53"/>
          <p:cNvGrpSpPr>
            <a:grpSpLocks/>
          </p:cNvGrpSpPr>
          <p:nvPr/>
        </p:nvGrpSpPr>
        <p:grpSpPr bwMode="auto">
          <a:xfrm>
            <a:off x="1170353" y="1828798"/>
            <a:ext cx="3309937" cy="1042988"/>
            <a:chOff x="2835" y="663"/>
            <a:chExt cx="2085" cy="657"/>
          </a:xfrm>
        </p:grpSpPr>
        <p:sp>
          <p:nvSpPr>
            <p:cNvPr id="261127" name="Text Box 7"/>
            <p:cNvSpPr txBox="1">
              <a:spLocks noChangeArrowheads="1"/>
            </p:cNvSpPr>
            <p:nvPr/>
          </p:nvSpPr>
          <p:spPr bwMode="auto">
            <a:xfrm>
              <a:off x="2835" y="981"/>
              <a:ext cx="1042" cy="339"/>
            </a:xfrm>
            <a:prstGeom prst="rect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特定值</a:t>
              </a:r>
              <a:endParaRPr lang="en-US" altLang="zh-CN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61128" name="Text Box 8"/>
            <p:cNvSpPr txBox="1">
              <a:spLocks noChangeArrowheads="1"/>
            </p:cNvSpPr>
            <p:nvPr/>
          </p:nvSpPr>
          <p:spPr bwMode="auto">
            <a:xfrm>
              <a:off x="3878" y="981"/>
              <a:ext cx="1042" cy="339"/>
            </a:xfrm>
            <a:prstGeom prst="rect">
              <a:avLst/>
            </a:prstGeom>
            <a:solidFill>
              <a:schemeClr val="accent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全部为</a:t>
              </a:r>
              <a:r>
                <a:rPr lang="en-US" altLang="zh-CN" sz="2800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</a:t>
              </a:r>
              <a:endParaRPr lang="en-US" altLang="zh-CN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61129" name="Text Box 9"/>
            <p:cNvSpPr txBox="1">
              <a:spLocks noChangeArrowheads="1"/>
            </p:cNvSpPr>
            <p:nvPr/>
          </p:nvSpPr>
          <p:spPr bwMode="auto">
            <a:xfrm>
              <a:off x="3016" y="663"/>
              <a:ext cx="86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网络号</a:t>
              </a:r>
              <a:endParaRPr lang="en-US" altLang="zh-CN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61130" name="Text Box 10"/>
            <p:cNvSpPr txBox="1">
              <a:spLocks noChangeArrowheads="1"/>
            </p:cNvSpPr>
            <p:nvPr/>
          </p:nvSpPr>
          <p:spPr bwMode="auto">
            <a:xfrm>
              <a:off x="3949" y="663"/>
              <a:ext cx="90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主机号</a:t>
              </a:r>
              <a:r>
                <a:rPr lang="en-US" altLang="zh-CN" sz="2800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</a:t>
              </a:r>
              <a:endParaRPr lang="en-US" altLang="zh-CN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grpSp>
        <p:nvGrpSpPr>
          <p:cNvPr id="261204" name="Group 84"/>
          <p:cNvGrpSpPr>
            <a:grpSpLocks/>
          </p:cNvGrpSpPr>
          <p:nvPr/>
        </p:nvGrpSpPr>
        <p:grpSpPr bwMode="auto">
          <a:xfrm>
            <a:off x="6412315" y="1589142"/>
            <a:ext cx="5256213" cy="2103438"/>
            <a:chOff x="2358" y="981"/>
            <a:chExt cx="3311" cy="1325"/>
          </a:xfrm>
        </p:grpSpPr>
        <p:sp>
          <p:nvSpPr>
            <p:cNvPr id="261132" name="Text Box 12"/>
            <p:cNvSpPr txBox="1">
              <a:spLocks noChangeArrowheads="1"/>
            </p:cNvSpPr>
            <p:nvPr/>
          </p:nvSpPr>
          <p:spPr bwMode="auto">
            <a:xfrm>
              <a:off x="2654" y="1282"/>
              <a:ext cx="133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123.50.16.90</a:t>
              </a:r>
            </a:p>
          </p:txBody>
        </p:sp>
        <p:sp>
          <p:nvSpPr>
            <p:cNvPr id="261134" name="Oval 14"/>
            <p:cNvSpPr>
              <a:spLocks noChangeArrowheads="1"/>
            </p:cNvSpPr>
            <p:nvPr/>
          </p:nvSpPr>
          <p:spPr bwMode="auto">
            <a:xfrm>
              <a:off x="3283" y="1976"/>
              <a:ext cx="1361" cy="3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261135" name="Text Box 15"/>
            <p:cNvSpPr txBox="1">
              <a:spLocks noChangeArrowheads="1"/>
            </p:cNvSpPr>
            <p:nvPr/>
          </p:nvSpPr>
          <p:spPr bwMode="auto">
            <a:xfrm>
              <a:off x="3334" y="1979"/>
              <a:ext cx="127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 i="1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123.0.0.0</a:t>
              </a:r>
            </a:p>
          </p:txBody>
        </p:sp>
        <p:cxnSp>
          <p:nvCxnSpPr>
            <p:cNvPr id="261137" name="AutoShape 17"/>
            <p:cNvCxnSpPr>
              <a:cxnSpLocks noChangeShapeType="1"/>
              <a:stCxn id="261174" idx="1"/>
              <a:endCxn id="261134" idx="1"/>
            </p:cNvCxnSpPr>
            <p:nvPr/>
          </p:nvCxnSpPr>
          <p:spPr bwMode="auto">
            <a:xfrm>
              <a:off x="3353" y="1842"/>
              <a:ext cx="129" cy="182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1139" name="AutoShape 19"/>
            <p:cNvCxnSpPr>
              <a:cxnSpLocks noChangeShapeType="1"/>
              <a:stCxn id="261175" idx="1"/>
              <a:endCxn id="261134" idx="0"/>
            </p:cNvCxnSpPr>
            <p:nvPr/>
          </p:nvCxnSpPr>
          <p:spPr bwMode="auto">
            <a:xfrm flipH="1">
              <a:off x="3964" y="1525"/>
              <a:ext cx="303" cy="451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1141" name="AutoShape 21"/>
            <p:cNvCxnSpPr>
              <a:cxnSpLocks noChangeShapeType="1"/>
              <a:stCxn id="261176" idx="4"/>
              <a:endCxn id="261134" idx="6"/>
            </p:cNvCxnSpPr>
            <p:nvPr/>
          </p:nvCxnSpPr>
          <p:spPr bwMode="auto">
            <a:xfrm flipH="1">
              <a:off x="4644" y="2125"/>
              <a:ext cx="325" cy="14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61142" name="Text Box 22"/>
            <p:cNvSpPr txBox="1">
              <a:spLocks noChangeArrowheads="1"/>
            </p:cNvSpPr>
            <p:nvPr/>
          </p:nvSpPr>
          <p:spPr bwMode="auto">
            <a:xfrm>
              <a:off x="3674" y="981"/>
              <a:ext cx="117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123.65.7.34</a:t>
              </a:r>
            </a:p>
          </p:txBody>
        </p:sp>
        <p:sp>
          <p:nvSpPr>
            <p:cNvPr id="261143" name="Text Box 23"/>
            <p:cNvSpPr txBox="1">
              <a:spLocks noChangeArrowheads="1"/>
            </p:cNvSpPr>
            <p:nvPr/>
          </p:nvSpPr>
          <p:spPr bwMode="auto">
            <a:xfrm>
              <a:off x="4377" y="1706"/>
              <a:ext cx="129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123.90.123.4</a:t>
              </a:r>
            </a:p>
          </p:txBody>
        </p:sp>
        <p:sp>
          <p:nvSpPr>
            <p:cNvPr id="261144" name="Text Box 24"/>
            <p:cNvSpPr txBox="1">
              <a:spLocks noChangeArrowheads="1"/>
            </p:cNvSpPr>
            <p:nvPr/>
          </p:nvSpPr>
          <p:spPr bwMode="auto">
            <a:xfrm>
              <a:off x="2358" y="1969"/>
              <a:ext cx="93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</a:rPr>
                <a:t>Class A</a:t>
              </a:r>
            </a:p>
          </p:txBody>
        </p:sp>
        <p:sp>
          <p:nvSpPr>
            <p:cNvPr id="261174" name="computr2"/>
            <p:cNvSpPr>
              <a:spLocks noChangeAspect="1" noEditPoints="1" noChangeArrowheads="1"/>
            </p:cNvSpPr>
            <p:nvPr/>
          </p:nvSpPr>
          <p:spPr bwMode="auto">
            <a:xfrm>
              <a:off x="3175" y="1570"/>
              <a:ext cx="356" cy="272"/>
            </a:xfrm>
            <a:custGeom>
              <a:avLst/>
              <a:gdLst>
                <a:gd name="T0" fmla="*/ 10800 w 21600"/>
                <a:gd name="T1" fmla="*/ 0 h 21600"/>
                <a:gd name="T2" fmla="*/ 10800 w 21600"/>
                <a:gd name="T3" fmla="*/ 21600 h 21600"/>
                <a:gd name="T4" fmla="*/ 17326 w 21600"/>
                <a:gd name="T5" fmla="*/ 0 h 21600"/>
                <a:gd name="T6" fmla="*/ 4274 w 21600"/>
                <a:gd name="T7" fmla="*/ 0 h 21600"/>
                <a:gd name="T8" fmla="*/ 4274 w 21600"/>
                <a:gd name="T9" fmla="*/ 11631 h 21600"/>
                <a:gd name="T10" fmla="*/ 17326 w 21600"/>
                <a:gd name="T11" fmla="*/ 11631 h 21600"/>
                <a:gd name="T12" fmla="*/ 4274 w 21600"/>
                <a:gd name="T13" fmla="*/ 5816 h 21600"/>
                <a:gd name="T14" fmla="*/ 17326 w 21600"/>
                <a:gd name="T15" fmla="*/ 5816 h 21600"/>
                <a:gd name="T16" fmla="*/ 18828 w 21600"/>
                <a:gd name="T17" fmla="*/ 15785 h 21600"/>
                <a:gd name="T18" fmla="*/ 2772 w 21600"/>
                <a:gd name="T19" fmla="*/ 15785 h 21600"/>
                <a:gd name="T20" fmla="*/ 6194 w 21600"/>
                <a:gd name="T21" fmla="*/ 1913 h 21600"/>
                <a:gd name="T22" fmla="*/ 15565 w 21600"/>
                <a:gd name="T23" fmla="*/ 974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 extrusionOk="0">
                  <a:moveTo>
                    <a:pt x="21022" y="20295"/>
                  </a:moveTo>
                  <a:lnTo>
                    <a:pt x="18828" y="18396"/>
                  </a:lnTo>
                  <a:lnTo>
                    <a:pt x="18828" y="13174"/>
                  </a:lnTo>
                  <a:lnTo>
                    <a:pt x="15478" y="13174"/>
                  </a:lnTo>
                  <a:lnTo>
                    <a:pt x="15478" y="11631"/>
                  </a:lnTo>
                  <a:lnTo>
                    <a:pt x="17326" y="11631"/>
                  </a:lnTo>
                  <a:lnTo>
                    <a:pt x="17326" y="11156"/>
                  </a:lnTo>
                  <a:lnTo>
                    <a:pt x="17326" y="0"/>
                  </a:lnTo>
                  <a:lnTo>
                    <a:pt x="10858" y="0"/>
                  </a:lnTo>
                  <a:lnTo>
                    <a:pt x="4274" y="0"/>
                  </a:lnTo>
                  <a:lnTo>
                    <a:pt x="4274" y="11037"/>
                  </a:lnTo>
                  <a:lnTo>
                    <a:pt x="4274" y="11631"/>
                  </a:lnTo>
                  <a:lnTo>
                    <a:pt x="6122" y="11631"/>
                  </a:lnTo>
                  <a:lnTo>
                    <a:pt x="6122" y="13174"/>
                  </a:lnTo>
                  <a:lnTo>
                    <a:pt x="2772" y="13174"/>
                  </a:lnTo>
                  <a:lnTo>
                    <a:pt x="2772" y="18514"/>
                  </a:lnTo>
                  <a:lnTo>
                    <a:pt x="693" y="20295"/>
                  </a:lnTo>
                  <a:lnTo>
                    <a:pt x="462" y="20413"/>
                  </a:lnTo>
                  <a:lnTo>
                    <a:pt x="231" y="20651"/>
                  </a:lnTo>
                  <a:lnTo>
                    <a:pt x="116" y="20888"/>
                  </a:lnTo>
                  <a:lnTo>
                    <a:pt x="0" y="21125"/>
                  </a:lnTo>
                  <a:lnTo>
                    <a:pt x="0" y="21244"/>
                  </a:lnTo>
                  <a:lnTo>
                    <a:pt x="116" y="21363"/>
                  </a:lnTo>
                  <a:lnTo>
                    <a:pt x="116" y="21481"/>
                  </a:lnTo>
                  <a:lnTo>
                    <a:pt x="231" y="21481"/>
                  </a:lnTo>
                  <a:lnTo>
                    <a:pt x="347" y="21600"/>
                  </a:lnTo>
                  <a:lnTo>
                    <a:pt x="578" y="21600"/>
                  </a:lnTo>
                  <a:lnTo>
                    <a:pt x="693" y="21600"/>
                  </a:lnTo>
                  <a:lnTo>
                    <a:pt x="10858" y="21600"/>
                  </a:lnTo>
                  <a:lnTo>
                    <a:pt x="20907" y="21600"/>
                  </a:lnTo>
                  <a:lnTo>
                    <a:pt x="21138" y="21600"/>
                  </a:lnTo>
                  <a:lnTo>
                    <a:pt x="21253" y="21600"/>
                  </a:lnTo>
                  <a:lnTo>
                    <a:pt x="21369" y="21481"/>
                  </a:lnTo>
                  <a:lnTo>
                    <a:pt x="21484" y="21481"/>
                  </a:lnTo>
                  <a:lnTo>
                    <a:pt x="21600" y="21363"/>
                  </a:lnTo>
                  <a:lnTo>
                    <a:pt x="21600" y="21244"/>
                  </a:lnTo>
                  <a:lnTo>
                    <a:pt x="21600" y="21125"/>
                  </a:lnTo>
                  <a:lnTo>
                    <a:pt x="21484" y="20888"/>
                  </a:lnTo>
                  <a:lnTo>
                    <a:pt x="21369" y="20651"/>
                  </a:lnTo>
                  <a:lnTo>
                    <a:pt x="21253" y="20413"/>
                  </a:lnTo>
                  <a:lnTo>
                    <a:pt x="21022" y="20295"/>
                  </a:lnTo>
                  <a:close/>
                </a:path>
                <a:path w="21600" h="21600" extrusionOk="0">
                  <a:moveTo>
                    <a:pt x="18019" y="18514"/>
                  </a:moveTo>
                  <a:lnTo>
                    <a:pt x="17326" y="17921"/>
                  </a:lnTo>
                  <a:lnTo>
                    <a:pt x="4389" y="17921"/>
                  </a:lnTo>
                  <a:lnTo>
                    <a:pt x="3696" y="18514"/>
                  </a:lnTo>
                  <a:lnTo>
                    <a:pt x="18019" y="18514"/>
                  </a:lnTo>
                  <a:close/>
                </a:path>
                <a:path w="21600" h="21600" extrusionOk="0">
                  <a:moveTo>
                    <a:pt x="19174" y="19701"/>
                  </a:moveTo>
                  <a:lnTo>
                    <a:pt x="18481" y="19108"/>
                  </a:lnTo>
                  <a:lnTo>
                    <a:pt x="3119" y="19108"/>
                  </a:lnTo>
                  <a:lnTo>
                    <a:pt x="2426" y="19701"/>
                  </a:lnTo>
                  <a:lnTo>
                    <a:pt x="19174" y="19701"/>
                  </a:lnTo>
                  <a:close/>
                </a:path>
                <a:path w="21600" h="21600" extrusionOk="0">
                  <a:moveTo>
                    <a:pt x="20560" y="20769"/>
                  </a:moveTo>
                  <a:lnTo>
                    <a:pt x="19867" y="20176"/>
                  </a:lnTo>
                  <a:lnTo>
                    <a:pt x="1848" y="20176"/>
                  </a:lnTo>
                  <a:lnTo>
                    <a:pt x="1155" y="20769"/>
                  </a:lnTo>
                  <a:lnTo>
                    <a:pt x="20560" y="20769"/>
                  </a:lnTo>
                  <a:close/>
                </a:path>
                <a:path w="21600" h="21600" extrusionOk="0">
                  <a:moveTo>
                    <a:pt x="18828" y="18396"/>
                  </a:moveTo>
                  <a:lnTo>
                    <a:pt x="17442" y="17209"/>
                  </a:lnTo>
                  <a:lnTo>
                    <a:pt x="4158" y="17209"/>
                  </a:lnTo>
                  <a:lnTo>
                    <a:pt x="2772" y="18514"/>
                  </a:lnTo>
                  <a:moveTo>
                    <a:pt x="13168" y="14123"/>
                  </a:moveTo>
                  <a:lnTo>
                    <a:pt x="13168" y="14716"/>
                  </a:lnTo>
                  <a:lnTo>
                    <a:pt x="17788" y="14716"/>
                  </a:lnTo>
                  <a:lnTo>
                    <a:pt x="17788" y="14123"/>
                  </a:lnTo>
                  <a:lnTo>
                    <a:pt x="13168" y="14123"/>
                  </a:lnTo>
                  <a:close/>
                </a:path>
                <a:path w="21600" h="21600" extrusionOk="0">
                  <a:moveTo>
                    <a:pt x="6122" y="1899"/>
                  </a:moveTo>
                  <a:lnTo>
                    <a:pt x="6122" y="9732"/>
                  </a:lnTo>
                  <a:lnTo>
                    <a:pt x="15478" y="9732"/>
                  </a:lnTo>
                  <a:lnTo>
                    <a:pt x="15478" y="1899"/>
                  </a:lnTo>
                  <a:lnTo>
                    <a:pt x="6122" y="1899"/>
                  </a:lnTo>
                  <a:moveTo>
                    <a:pt x="6122" y="11631"/>
                  </a:moveTo>
                  <a:lnTo>
                    <a:pt x="15478" y="11631"/>
                  </a:lnTo>
                  <a:lnTo>
                    <a:pt x="15478" y="13174"/>
                  </a:lnTo>
                  <a:lnTo>
                    <a:pt x="6122" y="13174"/>
                  </a:lnTo>
                  <a:lnTo>
                    <a:pt x="6122" y="11631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261175" name="computr2"/>
            <p:cNvSpPr>
              <a:spLocks noChangeAspect="1" noEditPoints="1" noChangeArrowheads="1"/>
            </p:cNvSpPr>
            <p:nvPr/>
          </p:nvSpPr>
          <p:spPr bwMode="auto">
            <a:xfrm>
              <a:off x="4089" y="1253"/>
              <a:ext cx="356" cy="272"/>
            </a:xfrm>
            <a:custGeom>
              <a:avLst/>
              <a:gdLst>
                <a:gd name="T0" fmla="*/ 10800 w 21600"/>
                <a:gd name="T1" fmla="*/ 0 h 21600"/>
                <a:gd name="T2" fmla="*/ 10800 w 21600"/>
                <a:gd name="T3" fmla="*/ 21600 h 21600"/>
                <a:gd name="T4" fmla="*/ 17326 w 21600"/>
                <a:gd name="T5" fmla="*/ 0 h 21600"/>
                <a:gd name="T6" fmla="*/ 4274 w 21600"/>
                <a:gd name="T7" fmla="*/ 0 h 21600"/>
                <a:gd name="T8" fmla="*/ 4274 w 21600"/>
                <a:gd name="T9" fmla="*/ 11631 h 21600"/>
                <a:gd name="T10" fmla="*/ 17326 w 21600"/>
                <a:gd name="T11" fmla="*/ 11631 h 21600"/>
                <a:gd name="T12" fmla="*/ 4274 w 21600"/>
                <a:gd name="T13" fmla="*/ 5816 h 21600"/>
                <a:gd name="T14" fmla="*/ 17326 w 21600"/>
                <a:gd name="T15" fmla="*/ 5816 h 21600"/>
                <a:gd name="T16" fmla="*/ 18828 w 21600"/>
                <a:gd name="T17" fmla="*/ 15785 h 21600"/>
                <a:gd name="T18" fmla="*/ 2772 w 21600"/>
                <a:gd name="T19" fmla="*/ 15785 h 21600"/>
                <a:gd name="T20" fmla="*/ 6194 w 21600"/>
                <a:gd name="T21" fmla="*/ 1913 h 21600"/>
                <a:gd name="T22" fmla="*/ 15565 w 21600"/>
                <a:gd name="T23" fmla="*/ 974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 extrusionOk="0">
                  <a:moveTo>
                    <a:pt x="21022" y="20295"/>
                  </a:moveTo>
                  <a:lnTo>
                    <a:pt x="18828" y="18396"/>
                  </a:lnTo>
                  <a:lnTo>
                    <a:pt x="18828" y="13174"/>
                  </a:lnTo>
                  <a:lnTo>
                    <a:pt x="15478" y="13174"/>
                  </a:lnTo>
                  <a:lnTo>
                    <a:pt x="15478" y="11631"/>
                  </a:lnTo>
                  <a:lnTo>
                    <a:pt x="17326" y="11631"/>
                  </a:lnTo>
                  <a:lnTo>
                    <a:pt x="17326" y="11156"/>
                  </a:lnTo>
                  <a:lnTo>
                    <a:pt x="17326" y="0"/>
                  </a:lnTo>
                  <a:lnTo>
                    <a:pt x="10858" y="0"/>
                  </a:lnTo>
                  <a:lnTo>
                    <a:pt x="4274" y="0"/>
                  </a:lnTo>
                  <a:lnTo>
                    <a:pt x="4274" y="11037"/>
                  </a:lnTo>
                  <a:lnTo>
                    <a:pt x="4274" y="11631"/>
                  </a:lnTo>
                  <a:lnTo>
                    <a:pt x="6122" y="11631"/>
                  </a:lnTo>
                  <a:lnTo>
                    <a:pt x="6122" y="13174"/>
                  </a:lnTo>
                  <a:lnTo>
                    <a:pt x="2772" y="13174"/>
                  </a:lnTo>
                  <a:lnTo>
                    <a:pt x="2772" y="18514"/>
                  </a:lnTo>
                  <a:lnTo>
                    <a:pt x="693" y="20295"/>
                  </a:lnTo>
                  <a:lnTo>
                    <a:pt x="462" y="20413"/>
                  </a:lnTo>
                  <a:lnTo>
                    <a:pt x="231" y="20651"/>
                  </a:lnTo>
                  <a:lnTo>
                    <a:pt x="116" y="20888"/>
                  </a:lnTo>
                  <a:lnTo>
                    <a:pt x="0" y="21125"/>
                  </a:lnTo>
                  <a:lnTo>
                    <a:pt x="0" y="21244"/>
                  </a:lnTo>
                  <a:lnTo>
                    <a:pt x="116" y="21363"/>
                  </a:lnTo>
                  <a:lnTo>
                    <a:pt x="116" y="21481"/>
                  </a:lnTo>
                  <a:lnTo>
                    <a:pt x="231" y="21481"/>
                  </a:lnTo>
                  <a:lnTo>
                    <a:pt x="347" y="21600"/>
                  </a:lnTo>
                  <a:lnTo>
                    <a:pt x="578" y="21600"/>
                  </a:lnTo>
                  <a:lnTo>
                    <a:pt x="693" y="21600"/>
                  </a:lnTo>
                  <a:lnTo>
                    <a:pt x="10858" y="21600"/>
                  </a:lnTo>
                  <a:lnTo>
                    <a:pt x="20907" y="21600"/>
                  </a:lnTo>
                  <a:lnTo>
                    <a:pt x="21138" y="21600"/>
                  </a:lnTo>
                  <a:lnTo>
                    <a:pt x="21253" y="21600"/>
                  </a:lnTo>
                  <a:lnTo>
                    <a:pt x="21369" y="21481"/>
                  </a:lnTo>
                  <a:lnTo>
                    <a:pt x="21484" y="21481"/>
                  </a:lnTo>
                  <a:lnTo>
                    <a:pt x="21600" y="21363"/>
                  </a:lnTo>
                  <a:lnTo>
                    <a:pt x="21600" y="21244"/>
                  </a:lnTo>
                  <a:lnTo>
                    <a:pt x="21600" y="21125"/>
                  </a:lnTo>
                  <a:lnTo>
                    <a:pt x="21484" y="20888"/>
                  </a:lnTo>
                  <a:lnTo>
                    <a:pt x="21369" y="20651"/>
                  </a:lnTo>
                  <a:lnTo>
                    <a:pt x="21253" y="20413"/>
                  </a:lnTo>
                  <a:lnTo>
                    <a:pt x="21022" y="20295"/>
                  </a:lnTo>
                  <a:close/>
                </a:path>
                <a:path w="21600" h="21600" extrusionOk="0">
                  <a:moveTo>
                    <a:pt x="18019" y="18514"/>
                  </a:moveTo>
                  <a:lnTo>
                    <a:pt x="17326" y="17921"/>
                  </a:lnTo>
                  <a:lnTo>
                    <a:pt x="4389" y="17921"/>
                  </a:lnTo>
                  <a:lnTo>
                    <a:pt x="3696" y="18514"/>
                  </a:lnTo>
                  <a:lnTo>
                    <a:pt x="18019" y="18514"/>
                  </a:lnTo>
                  <a:close/>
                </a:path>
                <a:path w="21600" h="21600" extrusionOk="0">
                  <a:moveTo>
                    <a:pt x="19174" y="19701"/>
                  </a:moveTo>
                  <a:lnTo>
                    <a:pt x="18481" y="19108"/>
                  </a:lnTo>
                  <a:lnTo>
                    <a:pt x="3119" y="19108"/>
                  </a:lnTo>
                  <a:lnTo>
                    <a:pt x="2426" y="19701"/>
                  </a:lnTo>
                  <a:lnTo>
                    <a:pt x="19174" y="19701"/>
                  </a:lnTo>
                  <a:close/>
                </a:path>
                <a:path w="21600" h="21600" extrusionOk="0">
                  <a:moveTo>
                    <a:pt x="20560" y="20769"/>
                  </a:moveTo>
                  <a:lnTo>
                    <a:pt x="19867" y="20176"/>
                  </a:lnTo>
                  <a:lnTo>
                    <a:pt x="1848" y="20176"/>
                  </a:lnTo>
                  <a:lnTo>
                    <a:pt x="1155" y="20769"/>
                  </a:lnTo>
                  <a:lnTo>
                    <a:pt x="20560" y="20769"/>
                  </a:lnTo>
                  <a:close/>
                </a:path>
                <a:path w="21600" h="21600" extrusionOk="0">
                  <a:moveTo>
                    <a:pt x="18828" y="18396"/>
                  </a:moveTo>
                  <a:lnTo>
                    <a:pt x="17442" y="17209"/>
                  </a:lnTo>
                  <a:lnTo>
                    <a:pt x="4158" y="17209"/>
                  </a:lnTo>
                  <a:lnTo>
                    <a:pt x="2772" y="18514"/>
                  </a:lnTo>
                  <a:moveTo>
                    <a:pt x="13168" y="14123"/>
                  </a:moveTo>
                  <a:lnTo>
                    <a:pt x="13168" y="14716"/>
                  </a:lnTo>
                  <a:lnTo>
                    <a:pt x="17788" y="14716"/>
                  </a:lnTo>
                  <a:lnTo>
                    <a:pt x="17788" y="14123"/>
                  </a:lnTo>
                  <a:lnTo>
                    <a:pt x="13168" y="14123"/>
                  </a:lnTo>
                  <a:close/>
                </a:path>
                <a:path w="21600" h="21600" extrusionOk="0">
                  <a:moveTo>
                    <a:pt x="6122" y="1899"/>
                  </a:moveTo>
                  <a:lnTo>
                    <a:pt x="6122" y="9732"/>
                  </a:lnTo>
                  <a:lnTo>
                    <a:pt x="15478" y="9732"/>
                  </a:lnTo>
                  <a:lnTo>
                    <a:pt x="15478" y="1899"/>
                  </a:lnTo>
                  <a:lnTo>
                    <a:pt x="6122" y="1899"/>
                  </a:lnTo>
                  <a:moveTo>
                    <a:pt x="6122" y="11631"/>
                  </a:moveTo>
                  <a:lnTo>
                    <a:pt x="15478" y="11631"/>
                  </a:lnTo>
                  <a:lnTo>
                    <a:pt x="15478" y="13174"/>
                  </a:lnTo>
                  <a:lnTo>
                    <a:pt x="6122" y="13174"/>
                  </a:lnTo>
                  <a:lnTo>
                    <a:pt x="6122" y="11631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261176" name="computr2"/>
            <p:cNvSpPr>
              <a:spLocks noChangeAspect="1" noEditPoints="1" noChangeArrowheads="1"/>
            </p:cNvSpPr>
            <p:nvPr/>
          </p:nvSpPr>
          <p:spPr bwMode="auto">
            <a:xfrm>
              <a:off x="4899" y="1979"/>
              <a:ext cx="356" cy="272"/>
            </a:xfrm>
            <a:custGeom>
              <a:avLst/>
              <a:gdLst>
                <a:gd name="T0" fmla="*/ 10800 w 21600"/>
                <a:gd name="T1" fmla="*/ 0 h 21600"/>
                <a:gd name="T2" fmla="*/ 10800 w 21600"/>
                <a:gd name="T3" fmla="*/ 21600 h 21600"/>
                <a:gd name="T4" fmla="*/ 17326 w 21600"/>
                <a:gd name="T5" fmla="*/ 0 h 21600"/>
                <a:gd name="T6" fmla="*/ 4274 w 21600"/>
                <a:gd name="T7" fmla="*/ 0 h 21600"/>
                <a:gd name="T8" fmla="*/ 4274 w 21600"/>
                <a:gd name="T9" fmla="*/ 11631 h 21600"/>
                <a:gd name="T10" fmla="*/ 17326 w 21600"/>
                <a:gd name="T11" fmla="*/ 11631 h 21600"/>
                <a:gd name="T12" fmla="*/ 4274 w 21600"/>
                <a:gd name="T13" fmla="*/ 5816 h 21600"/>
                <a:gd name="T14" fmla="*/ 17326 w 21600"/>
                <a:gd name="T15" fmla="*/ 5816 h 21600"/>
                <a:gd name="T16" fmla="*/ 18828 w 21600"/>
                <a:gd name="T17" fmla="*/ 15785 h 21600"/>
                <a:gd name="T18" fmla="*/ 2772 w 21600"/>
                <a:gd name="T19" fmla="*/ 15785 h 21600"/>
                <a:gd name="T20" fmla="*/ 6194 w 21600"/>
                <a:gd name="T21" fmla="*/ 1913 h 21600"/>
                <a:gd name="T22" fmla="*/ 15565 w 21600"/>
                <a:gd name="T23" fmla="*/ 974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 extrusionOk="0">
                  <a:moveTo>
                    <a:pt x="21022" y="20295"/>
                  </a:moveTo>
                  <a:lnTo>
                    <a:pt x="18828" y="18396"/>
                  </a:lnTo>
                  <a:lnTo>
                    <a:pt x="18828" y="13174"/>
                  </a:lnTo>
                  <a:lnTo>
                    <a:pt x="15478" y="13174"/>
                  </a:lnTo>
                  <a:lnTo>
                    <a:pt x="15478" y="11631"/>
                  </a:lnTo>
                  <a:lnTo>
                    <a:pt x="17326" y="11631"/>
                  </a:lnTo>
                  <a:lnTo>
                    <a:pt x="17326" y="11156"/>
                  </a:lnTo>
                  <a:lnTo>
                    <a:pt x="17326" y="0"/>
                  </a:lnTo>
                  <a:lnTo>
                    <a:pt x="10858" y="0"/>
                  </a:lnTo>
                  <a:lnTo>
                    <a:pt x="4274" y="0"/>
                  </a:lnTo>
                  <a:lnTo>
                    <a:pt x="4274" y="11037"/>
                  </a:lnTo>
                  <a:lnTo>
                    <a:pt x="4274" y="11631"/>
                  </a:lnTo>
                  <a:lnTo>
                    <a:pt x="6122" y="11631"/>
                  </a:lnTo>
                  <a:lnTo>
                    <a:pt x="6122" y="13174"/>
                  </a:lnTo>
                  <a:lnTo>
                    <a:pt x="2772" y="13174"/>
                  </a:lnTo>
                  <a:lnTo>
                    <a:pt x="2772" y="18514"/>
                  </a:lnTo>
                  <a:lnTo>
                    <a:pt x="693" y="20295"/>
                  </a:lnTo>
                  <a:lnTo>
                    <a:pt x="462" y="20413"/>
                  </a:lnTo>
                  <a:lnTo>
                    <a:pt x="231" y="20651"/>
                  </a:lnTo>
                  <a:lnTo>
                    <a:pt x="116" y="20888"/>
                  </a:lnTo>
                  <a:lnTo>
                    <a:pt x="0" y="21125"/>
                  </a:lnTo>
                  <a:lnTo>
                    <a:pt x="0" y="21244"/>
                  </a:lnTo>
                  <a:lnTo>
                    <a:pt x="116" y="21363"/>
                  </a:lnTo>
                  <a:lnTo>
                    <a:pt x="116" y="21481"/>
                  </a:lnTo>
                  <a:lnTo>
                    <a:pt x="231" y="21481"/>
                  </a:lnTo>
                  <a:lnTo>
                    <a:pt x="347" y="21600"/>
                  </a:lnTo>
                  <a:lnTo>
                    <a:pt x="578" y="21600"/>
                  </a:lnTo>
                  <a:lnTo>
                    <a:pt x="693" y="21600"/>
                  </a:lnTo>
                  <a:lnTo>
                    <a:pt x="10858" y="21600"/>
                  </a:lnTo>
                  <a:lnTo>
                    <a:pt x="20907" y="21600"/>
                  </a:lnTo>
                  <a:lnTo>
                    <a:pt x="21138" y="21600"/>
                  </a:lnTo>
                  <a:lnTo>
                    <a:pt x="21253" y="21600"/>
                  </a:lnTo>
                  <a:lnTo>
                    <a:pt x="21369" y="21481"/>
                  </a:lnTo>
                  <a:lnTo>
                    <a:pt x="21484" y="21481"/>
                  </a:lnTo>
                  <a:lnTo>
                    <a:pt x="21600" y="21363"/>
                  </a:lnTo>
                  <a:lnTo>
                    <a:pt x="21600" y="21244"/>
                  </a:lnTo>
                  <a:lnTo>
                    <a:pt x="21600" y="21125"/>
                  </a:lnTo>
                  <a:lnTo>
                    <a:pt x="21484" y="20888"/>
                  </a:lnTo>
                  <a:lnTo>
                    <a:pt x="21369" y="20651"/>
                  </a:lnTo>
                  <a:lnTo>
                    <a:pt x="21253" y="20413"/>
                  </a:lnTo>
                  <a:lnTo>
                    <a:pt x="21022" y="20295"/>
                  </a:lnTo>
                  <a:close/>
                </a:path>
                <a:path w="21600" h="21600" extrusionOk="0">
                  <a:moveTo>
                    <a:pt x="18019" y="18514"/>
                  </a:moveTo>
                  <a:lnTo>
                    <a:pt x="17326" y="17921"/>
                  </a:lnTo>
                  <a:lnTo>
                    <a:pt x="4389" y="17921"/>
                  </a:lnTo>
                  <a:lnTo>
                    <a:pt x="3696" y="18514"/>
                  </a:lnTo>
                  <a:lnTo>
                    <a:pt x="18019" y="18514"/>
                  </a:lnTo>
                  <a:close/>
                </a:path>
                <a:path w="21600" h="21600" extrusionOk="0">
                  <a:moveTo>
                    <a:pt x="19174" y="19701"/>
                  </a:moveTo>
                  <a:lnTo>
                    <a:pt x="18481" y="19108"/>
                  </a:lnTo>
                  <a:lnTo>
                    <a:pt x="3119" y="19108"/>
                  </a:lnTo>
                  <a:lnTo>
                    <a:pt x="2426" y="19701"/>
                  </a:lnTo>
                  <a:lnTo>
                    <a:pt x="19174" y="19701"/>
                  </a:lnTo>
                  <a:close/>
                </a:path>
                <a:path w="21600" h="21600" extrusionOk="0">
                  <a:moveTo>
                    <a:pt x="20560" y="20769"/>
                  </a:moveTo>
                  <a:lnTo>
                    <a:pt x="19867" y="20176"/>
                  </a:lnTo>
                  <a:lnTo>
                    <a:pt x="1848" y="20176"/>
                  </a:lnTo>
                  <a:lnTo>
                    <a:pt x="1155" y="20769"/>
                  </a:lnTo>
                  <a:lnTo>
                    <a:pt x="20560" y="20769"/>
                  </a:lnTo>
                  <a:close/>
                </a:path>
                <a:path w="21600" h="21600" extrusionOk="0">
                  <a:moveTo>
                    <a:pt x="18828" y="18396"/>
                  </a:moveTo>
                  <a:lnTo>
                    <a:pt x="17442" y="17209"/>
                  </a:lnTo>
                  <a:lnTo>
                    <a:pt x="4158" y="17209"/>
                  </a:lnTo>
                  <a:lnTo>
                    <a:pt x="2772" y="18514"/>
                  </a:lnTo>
                  <a:moveTo>
                    <a:pt x="13168" y="14123"/>
                  </a:moveTo>
                  <a:lnTo>
                    <a:pt x="13168" y="14716"/>
                  </a:lnTo>
                  <a:lnTo>
                    <a:pt x="17788" y="14716"/>
                  </a:lnTo>
                  <a:lnTo>
                    <a:pt x="17788" y="14123"/>
                  </a:lnTo>
                  <a:lnTo>
                    <a:pt x="13168" y="14123"/>
                  </a:lnTo>
                  <a:close/>
                </a:path>
                <a:path w="21600" h="21600" extrusionOk="0">
                  <a:moveTo>
                    <a:pt x="6122" y="1899"/>
                  </a:moveTo>
                  <a:lnTo>
                    <a:pt x="6122" y="9732"/>
                  </a:lnTo>
                  <a:lnTo>
                    <a:pt x="15478" y="9732"/>
                  </a:lnTo>
                  <a:lnTo>
                    <a:pt x="15478" y="1899"/>
                  </a:lnTo>
                  <a:lnTo>
                    <a:pt x="6122" y="1899"/>
                  </a:lnTo>
                  <a:moveTo>
                    <a:pt x="6122" y="11631"/>
                  </a:moveTo>
                  <a:lnTo>
                    <a:pt x="15478" y="11631"/>
                  </a:lnTo>
                  <a:lnTo>
                    <a:pt x="15478" y="13174"/>
                  </a:lnTo>
                  <a:lnTo>
                    <a:pt x="6122" y="13174"/>
                  </a:lnTo>
                  <a:lnTo>
                    <a:pt x="6122" y="11631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</p:grpSp>
      <p:grpSp>
        <p:nvGrpSpPr>
          <p:cNvPr id="261205" name="Group 85"/>
          <p:cNvGrpSpPr>
            <a:grpSpLocks/>
          </p:cNvGrpSpPr>
          <p:nvPr/>
        </p:nvGrpSpPr>
        <p:grpSpPr bwMode="auto">
          <a:xfrm>
            <a:off x="1456897" y="3443566"/>
            <a:ext cx="4105275" cy="3106738"/>
            <a:chOff x="113" y="2069"/>
            <a:chExt cx="2586" cy="1957"/>
          </a:xfrm>
        </p:grpSpPr>
        <p:sp>
          <p:nvSpPr>
            <p:cNvPr id="261178" name="Oval 58"/>
            <p:cNvSpPr>
              <a:spLocks noChangeArrowheads="1"/>
            </p:cNvSpPr>
            <p:nvPr/>
          </p:nvSpPr>
          <p:spPr bwMode="auto">
            <a:xfrm>
              <a:off x="1038" y="2775"/>
              <a:ext cx="1361" cy="3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261179" name="Text Box 59"/>
            <p:cNvSpPr txBox="1">
              <a:spLocks noChangeArrowheads="1"/>
            </p:cNvSpPr>
            <p:nvPr/>
          </p:nvSpPr>
          <p:spPr bwMode="auto">
            <a:xfrm>
              <a:off x="975" y="2786"/>
              <a:ext cx="14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216.45.7.0</a:t>
              </a:r>
            </a:p>
          </p:txBody>
        </p:sp>
        <p:cxnSp>
          <p:nvCxnSpPr>
            <p:cNvPr id="261180" name="AutoShape 60"/>
            <p:cNvCxnSpPr>
              <a:cxnSpLocks noChangeShapeType="1"/>
              <a:stCxn id="261186" idx="1"/>
              <a:endCxn id="261178" idx="0"/>
            </p:cNvCxnSpPr>
            <p:nvPr/>
          </p:nvCxnSpPr>
          <p:spPr bwMode="auto">
            <a:xfrm>
              <a:off x="1470" y="2613"/>
              <a:ext cx="249" cy="162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1181" name="AutoShape 61"/>
            <p:cNvCxnSpPr>
              <a:cxnSpLocks noChangeShapeType="1"/>
              <a:stCxn id="261187" idx="0"/>
              <a:endCxn id="261178" idx="3"/>
            </p:cNvCxnSpPr>
            <p:nvPr/>
          </p:nvCxnSpPr>
          <p:spPr bwMode="auto">
            <a:xfrm flipV="1">
              <a:off x="842" y="3054"/>
              <a:ext cx="395" cy="285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1182" name="AutoShape 62"/>
            <p:cNvCxnSpPr>
              <a:cxnSpLocks noChangeShapeType="1"/>
              <a:stCxn id="261188" idx="0"/>
              <a:endCxn id="261178" idx="4"/>
            </p:cNvCxnSpPr>
            <p:nvPr/>
          </p:nvCxnSpPr>
          <p:spPr bwMode="auto">
            <a:xfrm flipH="1" flipV="1">
              <a:off x="1719" y="3102"/>
              <a:ext cx="296" cy="464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61183" name="Text Box 63"/>
            <p:cNvSpPr txBox="1">
              <a:spLocks noChangeArrowheads="1"/>
            </p:cNvSpPr>
            <p:nvPr/>
          </p:nvSpPr>
          <p:spPr bwMode="auto">
            <a:xfrm>
              <a:off x="249" y="3596"/>
              <a:ext cx="117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216.45.7.64</a:t>
              </a:r>
            </a:p>
          </p:txBody>
        </p:sp>
        <p:sp>
          <p:nvSpPr>
            <p:cNvPr id="261185" name="Text Box 65"/>
            <p:cNvSpPr txBox="1">
              <a:spLocks noChangeArrowheads="1"/>
            </p:cNvSpPr>
            <p:nvPr/>
          </p:nvSpPr>
          <p:spPr bwMode="auto">
            <a:xfrm>
              <a:off x="113" y="2786"/>
              <a:ext cx="93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</a:rPr>
                <a:t>Class C</a:t>
              </a:r>
            </a:p>
          </p:txBody>
        </p:sp>
        <p:sp>
          <p:nvSpPr>
            <p:cNvPr id="261186" name="computr2"/>
            <p:cNvSpPr>
              <a:spLocks noChangeAspect="1" noEditPoints="1" noChangeArrowheads="1"/>
            </p:cNvSpPr>
            <p:nvPr/>
          </p:nvSpPr>
          <p:spPr bwMode="auto">
            <a:xfrm>
              <a:off x="1292" y="2341"/>
              <a:ext cx="356" cy="272"/>
            </a:xfrm>
            <a:custGeom>
              <a:avLst/>
              <a:gdLst>
                <a:gd name="T0" fmla="*/ 10800 w 21600"/>
                <a:gd name="T1" fmla="*/ 0 h 21600"/>
                <a:gd name="T2" fmla="*/ 10800 w 21600"/>
                <a:gd name="T3" fmla="*/ 21600 h 21600"/>
                <a:gd name="T4" fmla="*/ 17326 w 21600"/>
                <a:gd name="T5" fmla="*/ 0 h 21600"/>
                <a:gd name="T6" fmla="*/ 4274 w 21600"/>
                <a:gd name="T7" fmla="*/ 0 h 21600"/>
                <a:gd name="T8" fmla="*/ 4274 w 21600"/>
                <a:gd name="T9" fmla="*/ 11631 h 21600"/>
                <a:gd name="T10" fmla="*/ 17326 w 21600"/>
                <a:gd name="T11" fmla="*/ 11631 h 21600"/>
                <a:gd name="T12" fmla="*/ 4274 w 21600"/>
                <a:gd name="T13" fmla="*/ 5816 h 21600"/>
                <a:gd name="T14" fmla="*/ 17326 w 21600"/>
                <a:gd name="T15" fmla="*/ 5816 h 21600"/>
                <a:gd name="T16" fmla="*/ 18828 w 21600"/>
                <a:gd name="T17" fmla="*/ 15785 h 21600"/>
                <a:gd name="T18" fmla="*/ 2772 w 21600"/>
                <a:gd name="T19" fmla="*/ 15785 h 21600"/>
                <a:gd name="T20" fmla="*/ 6194 w 21600"/>
                <a:gd name="T21" fmla="*/ 1913 h 21600"/>
                <a:gd name="T22" fmla="*/ 15565 w 21600"/>
                <a:gd name="T23" fmla="*/ 974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 extrusionOk="0">
                  <a:moveTo>
                    <a:pt x="21022" y="20295"/>
                  </a:moveTo>
                  <a:lnTo>
                    <a:pt x="18828" y="18396"/>
                  </a:lnTo>
                  <a:lnTo>
                    <a:pt x="18828" y="13174"/>
                  </a:lnTo>
                  <a:lnTo>
                    <a:pt x="15478" y="13174"/>
                  </a:lnTo>
                  <a:lnTo>
                    <a:pt x="15478" y="11631"/>
                  </a:lnTo>
                  <a:lnTo>
                    <a:pt x="17326" y="11631"/>
                  </a:lnTo>
                  <a:lnTo>
                    <a:pt x="17326" y="11156"/>
                  </a:lnTo>
                  <a:lnTo>
                    <a:pt x="17326" y="0"/>
                  </a:lnTo>
                  <a:lnTo>
                    <a:pt x="10858" y="0"/>
                  </a:lnTo>
                  <a:lnTo>
                    <a:pt x="4274" y="0"/>
                  </a:lnTo>
                  <a:lnTo>
                    <a:pt x="4274" y="11037"/>
                  </a:lnTo>
                  <a:lnTo>
                    <a:pt x="4274" y="11631"/>
                  </a:lnTo>
                  <a:lnTo>
                    <a:pt x="6122" y="11631"/>
                  </a:lnTo>
                  <a:lnTo>
                    <a:pt x="6122" y="13174"/>
                  </a:lnTo>
                  <a:lnTo>
                    <a:pt x="2772" y="13174"/>
                  </a:lnTo>
                  <a:lnTo>
                    <a:pt x="2772" y="18514"/>
                  </a:lnTo>
                  <a:lnTo>
                    <a:pt x="693" y="20295"/>
                  </a:lnTo>
                  <a:lnTo>
                    <a:pt x="462" y="20413"/>
                  </a:lnTo>
                  <a:lnTo>
                    <a:pt x="231" y="20651"/>
                  </a:lnTo>
                  <a:lnTo>
                    <a:pt x="116" y="20888"/>
                  </a:lnTo>
                  <a:lnTo>
                    <a:pt x="0" y="21125"/>
                  </a:lnTo>
                  <a:lnTo>
                    <a:pt x="0" y="21244"/>
                  </a:lnTo>
                  <a:lnTo>
                    <a:pt x="116" y="21363"/>
                  </a:lnTo>
                  <a:lnTo>
                    <a:pt x="116" y="21481"/>
                  </a:lnTo>
                  <a:lnTo>
                    <a:pt x="231" y="21481"/>
                  </a:lnTo>
                  <a:lnTo>
                    <a:pt x="347" y="21600"/>
                  </a:lnTo>
                  <a:lnTo>
                    <a:pt x="578" y="21600"/>
                  </a:lnTo>
                  <a:lnTo>
                    <a:pt x="693" y="21600"/>
                  </a:lnTo>
                  <a:lnTo>
                    <a:pt x="10858" y="21600"/>
                  </a:lnTo>
                  <a:lnTo>
                    <a:pt x="20907" y="21600"/>
                  </a:lnTo>
                  <a:lnTo>
                    <a:pt x="21138" y="21600"/>
                  </a:lnTo>
                  <a:lnTo>
                    <a:pt x="21253" y="21600"/>
                  </a:lnTo>
                  <a:lnTo>
                    <a:pt x="21369" y="21481"/>
                  </a:lnTo>
                  <a:lnTo>
                    <a:pt x="21484" y="21481"/>
                  </a:lnTo>
                  <a:lnTo>
                    <a:pt x="21600" y="21363"/>
                  </a:lnTo>
                  <a:lnTo>
                    <a:pt x="21600" y="21244"/>
                  </a:lnTo>
                  <a:lnTo>
                    <a:pt x="21600" y="21125"/>
                  </a:lnTo>
                  <a:lnTo>
                    <a:pt x="21484" y="20888"/>
                  </a:lnTo>
                  <a:lnTo>
                    <a:pt x="21369" y="20651"/>
                  </a:lnTo>
                  <a:lnTo>
                    <a:pt x="21253" y="20413"/>
                  </a:lnTo>
                  <a:lnTo>
                    <a:pt x="21022" y="20295"/>
                  </a:lnTo>
                  <a:close/>
                </a:path>
                <a:path w="21600" h="21600" extrusionOk="0">
                  <a:moveTo>
                    <a:pt x="18019" y="18514"/>
                  </a:moveTo>
                  <a:lnTo>
                    <a:pt x="17326" y="17921"/>
                  </a:lnTo>
                  <a:lnTo>
                    <a:pt x="4389" y="17921"/>
                  </a:lnTo>
                  <a:lnTo>
                    <a:pt x="3696" y="18514"/>
                  </a:lnTo>
                  <a:lnTo>
                    <a:pt x="18019" y="18514"/>
                  </a:lnTo>
                  <a:close/>
                </a:path>
                <a:path w="21600" h="21600" extrusionOk="0">
                  <a:moveTo>
                    <a:pt x="19174" y="19701"/>
                  </a:moveTo>
                  <a:lnTo>
                    <a:pt x="18481" y="19108"/>
                  </a:lnTo>
                  <a:lnTo>
                    <a:pt x="3119" y="19108"/>
                  </a:lnTo>
                  <a:lnTo>
                    <a:pt x="2426" y="19701"/>
                  </a:lnTo>
                  <a:lnTo>
                    <a:pt x="19174" y="19701"/>
                  </a:lnTo>
                  <a:close/>
                </a:path>
                <a:path w="21600" h="21600" extrusionOk="0">
                  <a:moveTo>
                    <a:pt x="20560" y="20769"/>
                  </a:moveTo>
                  <a:lnTo>
                    <a:pt x="19867" y="20176"/>
                  </a:lnTo>
                  <a:lnTo>
                    <a:pt x="1848" y="20176"/>
                  </a:lnTo>
                  <a:lnTo>
                    <a:pt x="1155" y="20769"/>
                  </a:lnTo>
                  <a:lnTo>
                    <a:pt x="20560" y="20769"/>
                  </a:lnTo>
                  <a:close/>
                </a:path>
                <a:path w="21600" h="21600" extrusionOk="0">
                  <a:moveTo>
                    <a:pt x="18828" y="18396"/>
                  </a:moveTo>
                  <a:lnTo>
                    <a:pt x="17442" y="17209"/>
                  </a:lnTo>
                  <a:lnTo>
                    <a:pt x="4158" y="17209"/>
                  </a:lnTo>
                  <a:lnTo>
                    <a:pt x="2772" y="18514"/>
                  </a:lnTo>
                  <a:moveTo>
                    <a:pt x="13168" y="14123"/>
                  </a:moveTo>
                  <a:lnTo>
                    <a:pt x="13168" y="14716"/>
                  </a:lnTo>
                  <a:lnTo>
                    <a:pt x="17788" y="14716"/>
                  </a:lnTo>
                  <a:lnTo>
                    <a:pt x="17788" y="14123"/>
                  </a:lnTo>
                  <a:lnTo>
                    <a:pt x="13168" y="14123"/>
                  </a:lnTo>
                  <a:close/>
                </a:path>
                <a:path w="21600" h="21600" extrusionOk="0">
                  <a:moveTo>
                    <a:pt x="6122" y="1899"/>
                  </a:moveTo>
                  <a:lnTo>
                    <a:pt x="6122" y="9732"/>
                  </a:lnTo>
                  <a:lnTo>
                    <a:pt x="15478" y="9732"/>
                  </a:lnTo>
                  <a:lnTo>
                    <a:pt x="15478" y="1899"/>
                  </a:lnTo>
                  <a:lnTo>
                    <a:pt x="6122" y="1899"/>
                  </a:lnTo>
                  <a:moveTo>
                    <a:pt x="6122" y="11631"/>
                  </a:moveTo>
                  <a:lnTo>
                    <a:pt x="15478" y="11631"/>
                  </a:lnTo>
                  <a:lnTo>
                    <a:pt x="15478" y="13174"/>
                  </a:lnTo>
                  <a:lnTo>
                    <a:pt x="6122" y="13174"/>
                  </a:lnTo>
                  <a:lnTo>
                    <a:pt x="6122" y="11631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261187" name="computr2"/>
            <p:cNvSpPr>
              <a:spLocks noChangeAspect="1" noEditPoints="1" noChangeArrowheads="1"/>
            </p:cNvSpPr>
            <p:nvPr/>
          </p:nvSpPr>
          <p:spPr bwMode="auto">
            <a:xfrm>
              <a:off x="664" y="3339"/>
              <a:ext cx="356" cy="272"/>
            </a:xfrm>
            <a:custGeom>
              <a:avLst/>
              <a:gdLst>
                <a:gd name="T0" fmla="*/ 10800 w 21600"/>
                <a:gd name="T1" fmla="*/ 0 h 21600"/>
                <a:gd name="T2" fmla="*/ 10800 w 21600"/>
                <a:gd name="T3" fmla="*/ 21600 h 21600"/>
                <a:gd name="T4" fmla="*/ 17326 w 21600"/>
                <a:gd name="T5" fmla="*/ 0 h 21600"/>
                <a:gd name="T6" fmla="*/ 4274 w 21600"/>
                <a:gd name="T7" fmla="*/ 0 h 21600"/>
                <a:gd name="T8" fmla="*/ 4274 w 21600"/>
                <a:gd name="T9" fmla="*/ 11631 h 21600"/>
                <a:gd name="T10" fmla="*/ 17326 w 21600"/>
                <a:gd name="T11" fmla="*/ 11631 h 21600"/>
                <a:gd name="T12" fmla="*/ 4274 w 21600"/>
                <a:gd name="T13" fmla="*/ 5816 h 21600"/>
                <a:gd name="T14" fmla="*/ 17326 w 21600"/>
                <a:gd name="T15" fmla="*/ 5816 h 21600"/>
                <a:gd name="T16" fmla="*/ 18828 w 21600"/>
                <a:gd name="T17" fmla="*/ 15785 h 21600"/>
                <a:gd name="T18" fmla="*/ 2772 w 21600"/>
                <a:gd name="T19" fmla="*/ 15785 h 21600"/>
                <a:gd name="T20" fmla="*/ 6194 w 21600"/>
                <a:gd name="T21" fmla="*/ 1913 h 21600"/>
                <a:gd name="T22" fmla="*/ 15565 w 21600"/>
                <a:gd name="T23" fmla="*/ 974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 extrusionOk="0">
                  <a:moveTo>
                    <a:pt x="21022" y="20295"/>
                  </a:moveTo>
                  <a:lnTo>
                    <a:pt x="18828" y="18396"/>
                  </a:lnTo>
                  <a:lnTo>
                    <a:pt x="18828" y="13174"/>
                  </a:lnTo>
                  <a:lnTo>
                    <a:pt x="15478" y="13174"/>
                  </a:lnTo>
                  <a:lnTo>
                    <a:pt x="15478" y="11631"/>
                  </a:lnTo>
                  <a:lnTo>
                    <a:pt x="17326" y="11631"/>
                  </a:lnTo>
                  <a:lnTo>
                    <a:pt x="17326" y="11156"/>
                  </a:lnTo>
                  <a:lnTo>
                    <a:pt x="17326" y="0"/>
                  </a:lnTo>
                  <a:lnTo>
                    <a:pt x="10858" y="0"/>
                  </a:lnTo>
                  <a:lnTo>
                    <a:pt x="4274" y="0"/>
                  </a:lnTo>
                  <a:lnTo>
                    <a:pt x="4274" y="11037"/>
                  </a:lnTo>
                  <a:lnTo>
                    <a:pt x="4274" y="11631"/>
                  </a:lnTo>
                  <a:lnTo>
                    <a:pt x="6122" y="11631"/>
                  </a:lnTo>
                  <a:lnTo>
                    <a:pt x="6122" y="13174"/>
                  </a:lnTo>
                  <a:lnTo>
                    <a:pt x="2772" y="13174"/>
                  </a:lnTo>
                  <a:lnTo>
                    <a:pt x="2772" y="18514"/>
                  </a:lnTo>
                  <a:lnTo>
                    <a:pt x="693" y="20295"/>
                  </a:lnTo>
                  <a:lnTo>
                    <a:pt x="462" y="20413"/>
                  </a:lnTo>
                  <a:lnTo>
                    <a:pt x="231" y="20651"/>
                  </a:lnTo>
                  <a:lnTo>
                    <a:pt x="116" y="20888"/>
                  </a:lnTo>
                  <a:lnTo>
                    <a:pt x="0" y="21125"/>
                  </a:lnTo>
                  <a:lnTo>
                    <a:pt x="0" y="21244"/>
                  </a:lnTo>
                  <a:lnTo>
                    <a:pt x="116" y="21363"/>
                  </a:lnTo>
                  <a:lnTo>
                    <a:pt x="116" y="21481"/>
                  </a:lnTo>
                  <a:lnTo>
                    <a:pt x="231" y="21481"/>
                  </a:lnTo>
                  <a:lnTo>
                    <a:pt x="347" y="21600"/>
                  </a:lnTo>
                  <a:lnTo>
                    <a:pt x="578" y="21600"/>
                  </a:lnTo>
                  <a:lnTo>
                    <a:pt x="693" y="21600"/>
                  </a:lnTo>
                  <a:lnTo>
                    <a:pt x="10858" y="21600"/>
                  </a:lnTo>
                  <a:lnTo>
                    <a:pt x="20907" y="21600"/>
                  </a:lnTo>
                  <a:lnTo>
                    <a:pt x="21138" y="21600"/>
                  </a:lnTo>
                  <a:lnTo>
                    <a:pt x="21253" y="21600"/>
                  </a:lnTo>
                  <a:lnTo>
                    <a:pt x="21369" y="21481"/>
                  </a:lnTo>
                  <a:lnTo>
                    <a:pt x="21484" y="21481"/>
                  </a:lnTo>
                  <a:lnTo>
                    <a:pt x="21600" y="21363"/>
                  </a:lnTo>
                  <a:lnTo>
                    <a:pt x="21600" y="21244"/>
                  </a:lnTo>
                  <a:lnTo>
                    <a:pt x="21600" y="21125"/>
                  </a:lnTo>
                  <a:lnTo>
                    <a:pt x="21484" y="20888"/>
                  </a:lnTo>
                  <a:lnTo>
                    <a:pt x="21369" y="20651"/>
                  </a:lnTo>
                  <a:lnTo>
                    <a:pt x="21253" y="20413"/>
                  </a:lnTo>
                  <a:lnTo>
                    <a:pt x="21022" y="20295"/>
                  </a:lnTo>
                  <a:close/>
                </a:path>
                <a:path w="21600" h="21600" extrusionOk="0">
                  <a:moveTo>
                    <a:pt x="18019" y="18514"/>
                  </a:moveTo>
                  <a:lnTo>
                    <a:pt x="17326" y="17921"/>
                  </a:lnTo>
                  <a:lnTo>
                    <a:pt x="4389" y="17921"/>
                  </a:lnTo>
                  <a:lnTo>
                    <a:pt x="3696" y="18514"/>
                  </a:lnTo>
                  <a:lnTo>
                    <a:pt x="18019" y="18514"/>
                  </a:lnTo>
                  <a:close/>
                </a:path>
                <a:path w="21600" h="21600" extrusionOk="0">
                  <a:moveTo>
                    <a:pt x="19174" y="19701"/>
                  </a:moveTo>
                  <a:lnTo>
                    <a:pt x="18481" y="19108"/>
                  </a:lnTo>
                  <a:lnTo>
                    <a:pt x="3119" y="19108"/>
                  </a:lnTo>
                  <a:lnTo>
                    <a:pt x="2426" y="19701"/>
                  </a:lnTo>
                  <a:lnTo>
                    <a:pt x="19174" y="19701"/>
                  </a:lnTo>
                  <a:close/>
                </a:path>
                <a:path w="21600" h="21600" extrusionOk="0">
                  <a:moveTo>
                    <a:pt x="20560" y="20769"/>
                  </a:moveTo>
                  <a:lnTo>
                    <a:pt x="19867" y="20176"/>
                  </a:lnTo>
                  <a:lnTo>
                    <a:pt x="1848" y="20176"/>
                  </a:lnTo>
                  <a:lnTo>
                    <a:pt x="1155" y="20769"/>
                  </a:lnTo>
                  <a:lnTo>
                    <a:pt x="20560" y="20769"/>
                  </a:lnTo>
                  <a:close/>
                </a:path>
                <a:path w="21600" h="21600" extrusionOk="0">
                  <a:moveTo>
                    <a:pt x="18828" y="18396"/>
                  </a:moveTo>
                  <a:lnTo>
                    <a:pt x="17442" y="17209"/>
                  </a:lnTo>
                  <a:lnTo>
                    <a:pt x="4158" y="17209"/>
                  </a:lnTo>
                  <a:lnTo>
                    <a:pt x="2772" y="18514"/>
                  </a:lnTo>
                  <a:moveTo>
                    <a:pt x="13168" y="14123"/>
                  </a:moveTo>
                  <a:lnTo>
                    <a:pt x="13168" y="14716"/>
                  </a:lnTo>
                  <a:lnTo>
                    <a:pt x="17788" y="14716"/>
                  </a:lnTo>
                  <a:lnTo>
                    <a:pt x="17788" y="14123"/>
                  </a:lnTo>
                  <a:lnTo>
                    <a:pt x="13168" y="14123"/>
                  </a:lnTo>
                  <a:close/>
                </a:path>
                <a:path w="21600" h="21600" extrusionOk="0">
                  <a:moveTo>
                    <a:pt x="6122" y="1899"/>
                  </a:moveTo>
                  <a:lnTo>
                    <a:pt x="6122" y="9732"/>
                  </a:lnTo>
                  <a:lnTo>
                    <a:pt x="15478" y="9732"/>
                  </a:lnTo>
                  <a:lnTo>
                    <a:pt x="15478" y="1899"/>
                  </a:lnTo>
                  <a:lnTo>
                    <a:pt x="6122" y="1899"/>
                  </a:lnTo>
                  <a:moveTo>
                    <a:pt x="6122" y="11631"/>
                  </a:moveTo>
                  <a:lnTo>
                    <a:pt x="15478" y="11631"/>
                  </a:lnTo>
                  <a:lnTo>
                    <a:pt x="15478" y="13174"/>
                  </a:lnTo>
                  <a:lnTo>
                    <a:pt x="6122" y="13174"/>
                  </a:lnTo>
                  <a:lnTo>
                    <a:pt x="6122" y="11631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261188" name="computr2"/>
            <p:cNvSpPr>
              <a:spLocks noChangeAspect="1" noEditPoints="1" noChangeArrowheads="1"/>
            </p:cNvSpPr>
            <p:nvPr/>
          </p:nvSpPr>
          <p:spPr bwMode="auto">
            <a:xfrm>
              <a:off x="1837" y="3566"/>
              <a:ext cx="356" cy="272"/>
            </a:xfrm>
            <a:custGeom>
              <a:avLst/>
              <a:gdLst>
                <a:gd name="T0" fmla="*/ 10800 w 21600"/>
                <a:gd name="T1" fmla="*/ 0 h 21600"/>
                <a:gd name="T2" fmla="*/ 10800 w 21600"/>
                <a:gd name="T3" fmla="*/ 21600 h 21600"/>
                <a:gd name="T4" fmla="*/ 17326 w 21600"/>
                <a:gd name="T5" fmla="*/ 0 h 21600"/>
                <a:gd name="T6" fmla="*/ 4274 w 21600"/>
                <a:gd name="T7" fmla="*/ 0 h 21600"/>
                <a:gd name="T8" fmla="*/ 4274 w 21600"/>
                <a:gd name="T9" fmla="*/ 11631 h 21600"/>
                <a:gd name="T10" fmla="*/ 17326 w 21600"/>
                <a:gd name="T11" fmla="*/ 11631 h 21600"/>
                <a:gd name="T12" fmla="*/ 4274 w 21600"/>
                <a:gd name="T13" fmla="*/ 5816 h 21600"/>
                <a:gd name="T14" fmla="*/ 17326 w 21600"/>
                <a:gd name="T15" fmla="*/ 5816 h 21600"/>
                <a:gd name="T16" fmla="*/ 18828 w 21600"/>
                <a:gd name="T17" fmla="*/ 15785 h 21600"/>
                <a:gd name="T18" fmla="*/ 2772 w 21600"/>
                <a:gd name="T19" fmla="*/ 15785 h 21600"/>
                <a:gd name="T20" fmla="*/ 6194 w 21600"/>
                <a:gd name="T21" fmla="*/ 1913 h 21600"/>
                <a:gd name="T22" fmla="*/ 15565 w 21600"/>
                <a:gd name="T23" fmla="*/ 974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 extrusionOk="0">
                  <a:moveTo>
                    <a:pt x="21022" y="20295"/>
                  </a:moveTo>
                  <a:lnTo>
                    <a:pt x="18828" y="18396"/>
                  </a:lnTo>
                  <a:lnTo>
                    <a:pt x="18828" y="13174"/>
                  </a:lnTo>
                  <a:lnTo>
                    <a:pt x="15478" y="13174"/>
                  </a:lnTo>
                  <a:lnTo>
                    <a:pt x="15478" y="11631"/>
                  </a:lnTo>
                  <a:lnTo>
                    <a:pt x="17326" y="11631"/>
                  </a:lnTo>
                  <a:lnTo>
                    <a:pt x="17326" y="11156"/>
                  </a:lnTo>
                  <a:lnTo>
                    <a:pt x="17326" y="0"/>
                  </a:lnTo>
                  <a:lnTo>
                    <a:pt x="10858" y="0"/>
                  </a:lnTo>
                  <a:lnTo>
                    <a:pt x="4274" y="0"/>
                  </a:lnTo>
                  <a:lnTo>
                    <a:pt x="4274" y="11037"/>
                  </a:lnTo>
                  <a:lnTo>
                    <a:pt x="4274" y="11631"/>
                  </a:lnTo>
                  <a:lnTo>
                    <a:pt x="6122" y="11631"/>
                  </a:lnTo>
                  <a:lnTo>
                    <a:pt x="6122" y="13174"/>
                  </a:lnTo>
                  <a:lnTo>
                    <a:pt x="2772" y="13174"/>
                  </a:lnTo>
                  <a:lnTo>
                    <a:pt x="2772" y="18514"/>
                  </a:lnTo>
                  <a:lnTo>
                    <a:pt x="693" y="20295"/>
                  </a:lnTo>
                  <a:lnTo>
                    <a:pt x="462" y="20413"/>
                  </a:lnTo>
                  <a:lnTo>
                    <a:pt x="231" y="20651"/>
                  </a:lnTo>
                  <a:lnTo>
                    <a:pt x="116" y="20888"/>
                  </a:lnTo>
                  <a:lnTo>
                    <a:pt x="0" y="21125"/>
                  </a:lnTo>
                  <a:lnTo>
                    <a:pt x="0" y="21244"/>
                  </a:lnTo>
                  <a:lnTo>
                    <a:pt x="116" y="21363"/>
                  </a:lnTo>
                  <a:lnTo>
                    <a:pt x="116" y="21481"/>
                  </a:lnTo>
                  <a:lnTo>
                    <a:pt x="231" y="21481"/>
                  </a:lnTo>
                  <a:lnTo>
                    <a:pt x="347" y="21600"/>
                  </a:lnTo>
                  <a:lnTo>
                    <a:pt x="578" y="21600"/>
                  </a:lnTo>
                  <a:lnTo>
                    <a:pt x="693" y="21600"/>
                  </a:lnTo>
                  <a:lnTo>
                    <a:pt x="10858" y="21600"/>
                  </a:lnTo>
                  <a:lnTo>
                    <a:pt x="20907" y="21600"/>
                  </a:lnTo>
                  <a:lnTo>
                    <a:pt x="21138" y="21600"/>
                  </a:lnTo>
                  <a:lnTo>
                    <a:pt x="21253" y="21600"/>
                  </a:lnTo>
                  <a:lnTo>
                    <a:pt x="21369" y="21481"/>
                  </a:lnTo>
                  <a:lnTo>
                    <a:pt x="21484" y="21481"/>
                  </a:lnTo>
                  <a:lnTo>
                    <a:pt x="21600" y="21363"/>
                  </a:lnTo>
                  <a:lnTo>
                    <a:pt x="21600" y="21244"/>
                  </a:lnTo>
                  <a:lnTo>
                    <a:pt x="21600" y="21125"/>
                  </a:lnTo>
                  <a:lnTo>
                    <a:pt x="21484" y="20888"/>
                  </a:lnTo>
                  <a:lnTo>
                    <a:pt x="21369" y="20651"/>
                  </a:lnTo>
                  <a:lnTo>
                    <a:pt x="21253" y="20413"/>
                  </a:lnTo>
                  <a:lnTo>
                    <a:pt x="21022" y="20295"/>
                  </a:lnTo>
                  <a:close/>
                </a:path>
                <a:path w="21600" h="21600" extrusionOk="0">
                  <a:moveTo>
                    <a:pt x="18019" y="18514"/>
                  </a:moveTo>
                  <a:lnTo>
                    <a:pt x="17326" y="17921"/>
                  </a:lnTo>
                  <a:lnTo>
                    <a:pt x="4389" y="17921"/>
                  </a:lnTo>
                  <a:lnTo>
                    <a:pt x="3696" y="18514"/>
                  </a:lnTo>
                  <a:lnTo>
                    <a:pt x="18019" y="18514"/>
                  </a:lnTo>
                  <a:close/>
                </a:path>
                <a:path w="21600" h="21600" extrusionOk="0">
                  <a:moveTo>
                    <a:pt x="19174" y="19701"/>
                  </a:moveTo>
                  <a:lnTo>
                    <a:pt x="18481" y="19108"/>
                  </a:lnTo>
                  <a:lnTo>
                    <a:pt x="3119" y="19108"/>
                  </a:lnTo>
                  <a:lnTo>
                    <a:pt x="2426" y="19701"/>
                  </a:lnTo>
                  <a:lnTo>
                    <a:pt x="19174" y="19701"/>
                  </a:lnTo>
                  <a:close/>
                </a:path>
                <a:path w="21600" h="21600" extrusionOk="0">
                  <a:moveTo>
                    <a:pt x="20560" y="20769"/>
                  </a:moveTo>
                  <a:lnTo>
                    <a:pt x="19867" y="20176"/>
                  </a:lnTo>
                  <a:lnTo>
                    <a:pt x="1848" y="20176"/>
                  </a:lnTo>
                  <a:lnTo>
                    <a:pt x="1155" y="20769"/>
                  </a:lnTo>
                  <a:lnTo>
                    <a:pt x="20560" y="20769"/>
                  </a:lnTo>
                  <a:close/>
                </a:path>
                <a:path w="21600" h="21600" extrusionOk="0">
                  <a:moveTo>
                    <a:pt x="18828" y="18396"/>
                  </a:moveTo>
                  <a:lnTo>
                    <a:pt x="17442" y="17209"/>
                  </a:lnTo>
                  <a:lnTo>
                    <a:pt x="4158" y="17209"/>
                  </a:lnTo>
                  <a:lnTo>
                    <a:pt x="2772" y="18514"/>
                  </a:lnTo>
                  <a:moveTo>
                    <a:pt x="13168" y="14123"/>
                  </a:moveTo>
                  <a:lnTo>
                    <a:pt x="13168" y="14716"/>
                  </a:lnTo>
                  <a:lnTo>
                    <a:pt x="17788" y="14716"/>
                  </a:lnTo>
                  <a:lnTo>
                    <a:pt x="17788" y="14123"/>
                  </a:lnTo>
                  <a:lnTo>
                    <a:pt x="13168" y="14123"/>
                  </a:lnTo>
                  <a:close/>
                </a:path>
                <a:path w="21600" h="21600" extrusionOk="0">
                  <a:moveTo>
                    <a:pt x="6122" y="1899"/>
                  </a:moveTo>
                  <a:lnTo>
                    <a:pt x="6122" y="9732"/>
                  </a:lnTo>
                  <a:lnTo>
                    <a:pt x="15478" y="9732"/>
                  </a:lnTo>
                  <a:lnTo>
                    <a:pt x="15478" y="1899"/>
                  </a:lnTo>
                  <a:lnTo>
                    <a:pt x="6122" y="1899"/>
                  </a:lnTo>
                  <a:moveTo>
                    <a:pt x="6122" y="11631"/>
                  </a:moveTo>
                  <a:lnTo>
                    <a:pt x="15478" y="11631"/>
                  </a:lnTo>
                  <a:lnTo>
                    <a:pt x="15478" y="13174"/>
                  </a:lnTo>
                  <a:lnTo>
                    <a:pt x="6122" y="13174"/>
                  </a:lnTo>
                  <a:lnTo>
                    <a:pt x="6122" y="11631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261189" name="Text Box 69"/>
            <p:cNvSpPr txBox="1">
              <a:spLocks noChangeArrowheads="1"/>
            </p:cNvSpPr>
            <p:nvPr/>
          </p:nvSpPr>
          <p:spPr bwMode="auto">
            <a:xfrm>
              <a:off x="884" y="2069"/>
              <a:ext cx="117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216.45.7.20</a:t>
              </a:r>
            </a:p>
          </p:txBody>
        </p:sp>
        <p:sp>
          <p:nvSpPr>
            <p:cNvPr id="261190" name="Text Box 70"/>
            <p:cNvSpPr txBox="1">
              <a:spLocks noChangeArrowheads="1"/>
            </p:cNvSpPr>
            <p:nvPr/>
          </p:nvSpPr>
          <p:spPr bwMode="auto">
            <a:xfrm>
              <a:off x="1338" y="3793"/>
              <a:ext cx="136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216.45.7.126</a:t>
              </a:r>
            </a:p>
          </p:txBody>
        </p:sp>
      </p:grpSp>
      <p:grpSp>
        <p:nvGrpSpPr>
          <p:cNvPr id="261206" name="Group 86"/>
          <p:cNvGrpSpPr>
            <a:grpSpLocks/>
          </p:cNvGrpSpPr>
          <p:nvPr/>
        </p:nvGrpSpPr>
        <p:grpSpPr bwMode="auto">
          <a:xfrm>
            <a:off x="6386679" y="4405315"/>
            <a:ext cx="5111750" cy="1985963"/>
            <a:chOff x="2427" y="2775"/>
            <a:chExt cx="3220" cy="1251"/>
          </a:xfrm>
        </p:grpSpPr>
        <p:sp>
          <p:nvSpPr>
            <p:cNvPr id="261202" name="Line 82"/>
            <p:cNvSpPr>
              <a:spLocks noChangeShapeType="1"/>
            </p:cNvSpPr>
            <p:nvPr/>
          </p:nvSpPr>
          <p:spPr bwMode="auto">
            <a:xfrm flipV="1">
              <a:off x="3061" y="3022"/>
              <a:ext cx="318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261191" name="Oval 71"/>
            <p:cNvSpPr>
              <a:spLocks noChangeArrowheads="1"/>
            </p:cNvSpPr>
            <p:nvPr/>
          </p:nvSpPr>
          <p:spPr bwMode="auto">
            <a:xfrm>
              <a:off x="3306" y="2775"/>
              <a:ext cx="1361" cy="3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261192" name="Text Box 72"/>
            <p:cNvSpPr txBox="1">
              <a:spLocks noChangeArrowheads="1"/>
            </p:cNvSpPr>
            <p:nvPr/>
          </p:nvSpPr>
          <p:spPr bwMode="auto">
            <a:xfrm>
              <a:off x="3243" y="2786"/>
              <a:ext cx="14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149.14.0.0</a:t>
              </a:r>
            </a:p>
          </p:txBody>
        </p:sp>
        <p:cxnSp>
          <p:nvCxnSpPr>
            <p:cNvPr id="261193" name="AutoShape 73"/>
            <p:cNvCxnSpPr>
              <a:cxnSpLocks noChangeShapeType="1"/>
              <a:stCxn id="261198" idx="0"/>
              <a:endCxn id="261191" idx="5"/>
            </p:cNvCxnSpPr>
            <p:nvPr/>
          </p:nvCxnSpPr>
          <p:spPr bwMode="auto">
            <a:xfrm flipH="1" flipV="1">
              <a:off x="4468" y="3054"/>
              <a:ext cx="540" cy="24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1195" name="AutoShape 75"/>
            <p:cNvCxnSpPr>
              <a:cxnSpLocks noChangeShapeType="1"/>
              <a:stCxn id="261200" idx="0"/>
              <a:endCxn id="261191" idx="4"/>
            </p:cNvCxnSpPr>
            <p:nvPr/>
          </p:nvCxnSpPr>
          <p:spPr bwMode="auto">
            <a:xfrm flipV="1">
              <a:off x="3965" y="3102"/>
              <a:ext cx="22" cy="464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61196" name="Text Box 76"/>
            <p:cNvSpPr txBox="1">
              <a:spLocks noChangeArrowheads="1"/>
            </p:cNvSpPr>
            <p:nvPr/>
          </p:nvSpPr>
          <p:spPr bwMode="auto">
            <a:xfrm>
              <a:off x="2427" y="3339"/>
              <a:ext cx="117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149.14.27.8</a:t>
              </a:r>
            </a:p>
          </p:txBody>
        </p:sp>
        <p:sp>
          <p:nvSpPr>
            <p:cNvPr id="261197" name="Text Box 77"/>
            <p:cNvSpPr txBox="1">
              <a:spLocks noChangeArrowheads="1"/>
            </p:cNvSpPr>
            <p:nvPr/>
          </p:nvSpPr>
          <p:spPr bwMode="auto">
            <a:xfrm>
              <a:off x="4717" y="2786"/>
              <a:ext cx="93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</a:rPr>
                <a:t>Class B</a:t>
              </a:r>
            </a:p>
          </p:txBody>
        </p:sp>
        <p:sp>
          <p:nvSpPr>
            <p:cNvPr id="261198" name="computr2"/>
            <p:cNvSpPr>
              <a:spLocks noChangeAspect="1" noEditPoints="1" noChangeArrowheads="1"/>
            </p:cNvSpPr>
            <p:nvPr/>
          </p:nvSpPr>
          <p:spPr bwMode="auto">
            <a:xfrm>
              <a:off x="4830" y="3294"/>
              <a:ext cx="356" cy="272"/>
            </a:xfrm>
            <a:custGeom>
              <a:avLst/>
              <a:gdLst>
                <a:gd name="T0" fmla="*/ 10800 w 21600"/>
                <a:gd name="T1" fmla="*/ 0 h 21600"/>
                <a:gd name="T2" fmla="*/ 10800 w 21600"/>
                <a:gd name="T3" fmla="*/ 21600 h 21600"/>
                <a:gd name="T4" fmla="*/ 17326 w 21600"/>
                <a:gd name="T5" fmla="*/ 0 h 21600"/>
                <a:gd name="T6" fmla="*/ 4274 w 21600"/>
                <a:gd name="T7" fmla="*/ 0 h 21600"/>
                <a:gd name="T8" fmla="*/ 4274 w 21600"/>
                <a:gd name="T9" fmla="*/ 11631 h 21600"/>
                <a:gd name="T10" fmla="*/ 17326 w 21600"/>
                <a:gd name="T11" fmla="*/ 11631 h 21600"/>
                <a:gd name="T12" fmla="*/ 4274 w 21600"/>
                <a:gd name="T13" fmla="*/ 5816 h 21600"/>
                <a:gd name="T14" fmla="*/ 17326 w 21600"/>
                <a:gd name="T15" fmla="*/ 5816 h 21600"/>
                <a:gd name="T16" fmla="*/ 18828 w 21600"/>
                <a:gd name="T17" fmla="*/ 15785 h 21600"/>
                <a:gd name="T18" fmla="*/ 2772 w 21600"/>
                <a:gd name="T19" fmla="*/ 15785 h 21600"/>
                <a:gd name="T20" fmla="*/ 6194 w 21600"/>
                <a:gd name="T21" fmla="*/ 1913 h 21600"/>
                <a:gd name="T22" fmla="*/ 15565 w 21600"/>
                <a:gd name="T23" fmla="*/ 974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 extrusionOk="0">
                  <a:moveTo>
                    <a:pt x="21022" y="20295"/>
                  </a:moveTo>
                  <a:lnTo>
                    <a:pt x="18828" y="18396"/>
                  </a:lnTo>
                  <a:lnTo>
                    <a:pt x="18828" y="13174"/>
                  </a:lnTo>
                  <a:lnTo>
                    <a:pt x="15478" y="13174"/>
                  </a:lnTo>
                  <a:lnTo>
                    <a:pt x="15478" y="11631"/>
                  </a:lnTo>
                  <a:lnTo>
                    <a:pt x="17326" y="11631"/>
                  </a:lnTo>
                  <a:lnTo>
                    <a:pt x="17326" y="11156"/>
                  </a:lnTo>
                  <a:lnTo>
                    <a:pt x="17326" y="0"/>
                  </a:lnTo>
                  <a:lnTo>
                    <a:pt x="10858" y="0"/>
                  </a:lnTo>
                  <a:lnTo>
                    <a:pt x="4274" y="0"/>
                  </a:lnTo>
                  <a:lnTo>
                    <a:pt x="4274" y="11037"/>
                  </a:lnTo>
                  <a:lnTo>
                    <a:pt x="4274" y="11631"/>
                  </a:lnTo>
                  <a:lnTo>
                    <a:pt x="6122" y="11631"/>
                  </a:lnTo>
                  <a:lnTo>
                    <a:pt x="6122" y="13174"/>
                  </a:lnTo>
                  <a:lnTo>
                    <a:pt x="2772" y="13174"/>
                  </a:lnTo>
                  <a:lnTo>
                    <a:pt x="2772" y="18514"/>
                  </a:lnTo>
                  <a:lnTo>
                    <a:pt x="693" y="20295"/>
                  </a:lnTo>
                  <a:lnTo>
                    <a:pt x="462" y="20413"/>
                  </a:lnTo>
                  <a:lnTo>
                    <a:pt x="231" y="20651"/>
                  </a:lnTo>
                  <a:lnTo>
                    <a:pt x="116" y="20888"/>
                  </a:lnTo>
                  <a:lnTo>
                    <a:pt x="0" y="21125"/>
                  </a:lnTo>
                  <a:lnTo>
                    <a:pt x="0" y="21244"/>
                  </a:lnTo>
                  <a:lnTo>
                    <a:pt x="116" y="21363"/>
                  </a:lnTo>
                  <a:lnTo>
                    <a:pt x="116" y="21481"/>
                  </a:lnTo>
                  <a:lnTo>
                    <a:pt x="231" y="21481"/>
                  </a:lnTo>
                  <a:lnTo>
                    <a:pt x="347" y="21600"/>
                  </a:lnTo>
                  <a:lnTo>
                    <a:pt x="578" y="21600"/>
                  </a:lnTo>
                  <a:lnTo>
                    <a:pt x="693" y="21600"/>
                  </a:lnTo>
                  <a:lnTo>
                    <a:pt x="10858" y="21600"/>
                  </a:lnTo>
                  <a:lnTo>
                    <a:pt x="20907" y="21600"/>
                  </a:lnTo>
                  <a:lnTo>
                    <a:pt x="21138" y="21600"/>
                  </a:lnTo>
                  <a:lnTo>
                    <a:pt x="21253" y="21600"/>
                  </a:lnTo>
                  <a:lnTo>
                    <a:pt x="21369" y="21481"/>
                  </a:lnTo>
                  <a:lnTo>
                    <a:pt x="21484" y="21481"/>
                  </a:lnTo>
                  <a:lnTo>
                    <a:pt x="21600" y="21363"/>
                  </a:lnTo>
                  <a:lnTo>
                    <a:pt x="21600" y="21244"/>
                  </a:lnTo>
                  <a:lnTo>
                    <a:pt x="21600" y="21125"/>
                  </a:lnTo>
                  <a:lnTo>
                    <a:pt x="21484" y="20888"/>
                  </a:lnTo>
                  <a:lnTo>
                    <a:pt x="21369" y="20651"/>
                  </a:lnTo>
                  <a:lnTo>
                    <a:pt x="21253" y="20413"/>
                  </a:lnTo>
                  <a:lnTo>
                    <a:pt x="21022" y="20295"/>
                  </a:lnTo>
                  <a:close/>
                </a:path>
                <a:path w="21600" h="21600" extrusionOk="0">
                  <a:moveTo>
                    <a:pt x="18019" y="18514"/>
                  </a:moveTo>
                  <a:lnTo>
                    <a:pt x="17326" y="17921"/>
                  </a:lnTo>
                  <a:lnTo>
                    <a:pt x="4389" y="17921"/>
                  </a:lnTo>
                  <a:lnTo>
                    <a:pt x="3696" y="18514"/>
                  </a:lnTo>
                  <a:lnTo>
                    <a:pt x="18019" y="18514"/>
                  </a:lnTo>
                  <a:close/>
                </a:path>
                <a:path w="21600" h="21600" extrusionOk="0">
                  <a:moveTo>
                    <a:pt x="19174" y="19701"/>
                  </a:moveTo>
                  <a:lnTo>
                    <a:pt x="18481" y="19108"/>
                  </a:lnTo>
                  <a:lnTo>
                    <a:pt x="3119" y="19108"/>
                  </a:lnTo>
                  <a:lnTo>
                    <a:pt x="2426" y="19701"/>
                  </a:lnTo>
                  <a:lnTo>
                    <a:pt x="19174" y="19701"/>
                  </a:lnTo>
                  <a:close/>
                </a:path>
                <a:path w="21600" h="21600" extrusionOk="0">
                  <a:moveTo>
                    <a:pt x="20560" y="20769"/>
                  </a:moveTo>
                  <a:lnTo>
                    <a:pt x="19867" y="20176"/>
                  </a:lnTo>
                  <a:lnTo>
                    <a:pt x="1848" y="20176"/>
                  </a:lnTo>
                  <a:lnTo>
                    <a:pt x="1155" y="20769"/>
                  </a:lnTo>
                  <a:lnTo>
                    <a:pt x="20560" y="20769"/>
                  </a:lnTo>
                  <a:close/>
                </a:path>
                <a:path w="21600" h="21600" extrusionOk="0">
                  <a:moveTo>
                    <a:pt x="18828" y="18396"/>
                  </a:moveTo>
                  <a:lnTo>
                    <a:pt x="17442" y="17209"/>
                  </a:lnTo>
                  <a:lnTo>
                    <a:pt x="4158" y="17209"/>
                  </a:lnTo>
                  <a:lnTo>
                    <a:pt x="2772" y="18514"/>
                  </a:lnTo>
                  <a:moveTo>
                    <a:pt x="13168" y="14123"/>
                  </a:moveTo>
                  <a:lnTo>
                    <a:pt x="13168" y="14716"/>
                  </a:lnTo>
                  <a:lnTo>
                    <a:pt x="17788" y="14716"/>
                  </a:lnTo>
                  <a:lnTo>
                    <a:pt x="17788" y="14123"/>
                  </a:lnTo>
                  <a:lnTo>
                    <a:pt x="13168" y="14123"/>
                  </a:lnTo>
                  <a:close/>
                </a:path>
                <a:path w="21600" h="21600" extrusionOk="0">
                  <a:moveTo>
                    <a:pt x="6122" y="1899"/>
                  </a:moveTo>
                  <a:lnTo>
                    <a:pt x="6122" y="9732"/>
                  </a:lnTo>
                  <a:lnTo>
                    <a:pt x="15478" y="9732"/>
                  </a:lnTo>
                  <a:lnTo>
                    <a:pt x="15478" y="1899"/>
                  </a:lnTo>
                  <a:lnTo>
                    <a:pt x="6122" y="1899"/>
                  </a:lnTo>
                  <a:moveTo>
                    <a:pt x="6122" y="11631"/>
                  </a:moveTo>
                  <a:lnTo>
                    <a:pt x="15478" y="11631"/>
                  </a:lnTo>
                  <a:lnTo>
                    <a:pt x="15478" y="13174"/>
                  </a:lnTo>
                  <a:lnTo>
                    <a:pt x="6122" y="13174"/>
                  </a:lnTo>
                  <a:lnTo>
                    <a:pt x="6122" y="11631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261199" name="computr2"/>
            <p:cNvSpPr>
              <a:spLocks noChangeAspect="1" noEditPoints="1" noChangeArrowheads="1"/>
            </p:cNvSpPr>
            <p:nvPr/>
          </p:nvSpPr>
          <p:spPr bwMode="auto">
            <a:xfrm>
              <a:off x="2789" y="3113"/>
              <a:ext cx="356" cy="272"/>
            </a:xfrm>
            <a:custGeom>
              <a:avLst/>
              <a:gdLst>
                <a:gd name="T0" fmla="*/ 10800 w 21600"/>
                <a:gd name="T1" fmla="*/ 0 h 21600"/>
                <a:gd name="T2" fmla="*/ 10800 w 21600"/>
                <a:gd name="T3" fmla="*/ 21600 h 21600"/>
                <a:gd name="T4" fmla="*/ 17326 w 21600"/>
                <a:gd name="T5" fmla="*/ 0 h 21600"/>
                <a:gd name="T6" fmla="*/ 4274 w 21600"/>
                <a:gd name="T7" fmla="*/ 0 h 21600"/>
                <a:gd name="T8" fmla="*/ 4274 w 21600"/>
                <a:gd name="T9" fmla="*/ 11631 h 21600"/>
                <a:gd name="T10" fmla="*/ 17326 w 21600"/>
                <a:gd name="T11" fmla="*/ 11631 h 21600"/>
                <a:gd name="T12" fmla="*/ 4274 w 21600"/>
                <a:gd name="T13" fmla="*/ 5816 h 21600"/>
                <a:gd name="T14" fmla="*/ 17326 w 21600"/>
                <a:gd name="T15" fmla="*/ 5816 h 21600"/>
                <a:gd name="T16" fmla="*/ 18828 w 21600"/>
                <a:gd name="T17" fmla="*/ 15785 h 21600"/>
                <a:gd name="T18" fmla="*/ 2772 w 21600"/>
                <a:gd name="T19" fmla="*/ 15785 h 21600"/>
                <a:gd name="T20" fmla="*/ 6194 w 21600"/>
                <a:gd name="T21" fmla="*/ 1913 h 21600"/>
                <a:gd name="T22" fmla="*/ 15565 w 21600"/>
                <a:gd name="T23" fmla="*/ 974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 extrusionOk="0">
                  <a:moveTo>
                    <a:pt x="21022" y="20295"/>
                  </a:moveTo>
                  <a:lnTo>
                    <a:pt x="18828" y="18396"/>
                  </a:lnTo>
                  <a:lnTo>
                    <a:pt x="18828" y="13174"/>
                  </a:lnTo>
                  <a:lnTo>
                    <a:pt x="15478" y="13174"/>
                  </a:lnTo>
                  <a:lnTo>
                    <a:pt x="15478" y="11631"/>
                  </a:lnTo>
                  <a:lnTo>
                    <a:pt x="17326" y="11631"/>
                  </a:lnTo>
                  <a:lnTo>
                    <a:pt x="17326" y="11156"/>
                  </a:lnTo>
                  <a:lnTo>
                    <a:pt x="17326" y="0"/>
                  </a:lnTo>
                  <a:lnTo>
                    <a:pt x="10858" y="0"/>
                  </a:lnTo>
                  <a:lnTo>
                    <a:pt x="4274" y="0"/>
                  </a:lnTo>
                  <a:lnTo>
                    <a:pt x="4274" y="11037"/>
                  </a:lnTo>
                  <a:lnTo>
                    <a:pt x="4274" y="11631"/>
                  </a:lnTo>
                  <a:lnTo>
                    <a:pt x="6122" y="11631"/>
                  </a:lnTo>
                  <a:lnTo>
                    <a:pt x="6122" y="13174"/>
                  </a:lnTo>
                  <a:lnTo>
                    <a:pt x="2772" y="13174"/>
                  </a:lnTo>
                  <a:lnTo>
                    <a:pt x="2772" y="18514"/>
                  </a:lnTo>
                  <a:lnTo>
                    <a:pt x="693" y="20295"/>
                  </a:lnTo>
                  <a:lnTo>
                    <a:pt x="462" y="20413"/>
                  </a:lnTo>
                  <a:lnTo>
                    <a:pt x="231" y="20651"/>
                  </a:lnTo>
                  <a:lnTo>
                    <a:pt x="116" y="20888"/>
                  </a:lnTo>
                  <a:lnTo>
                    <a:pt x="0" y="21125"/>
                  </a:lnTo>
                  <a:lnTo>
                    <a:pt x="0" y="21244"/>
                  </a:lnTo>
                  <a:lnTo>
                    <a:pt x="116" y="21363"/>
                  </a:lnTo>
                  <a:lnTo>
                    <a:pt x="116" y="21481"/>
                  </a:lnTo>
                  <a:lnTo>
                    <a:pt x="231" y="21481"/>
                  </a:lnTo>
                  <a:lnTo>
                    <a:pt x="347" y="21600"/>
                  </a:lnTo>
                  <a:lnTo>
                    <a:pt x="578" y="21600"/>
                  </a:lnTo>
                  <a:lnTo>
                    <a:pt x="693" y="21600"/>
                  </a:lnTo>
                  <a:lnTo>
                    <a:pt x="10858" y="21600"/>
                  </a:lnTo>
                  <a:lnTo>
                    <a:pt x="20907" y="21600"/>
                  </a:lnTo>
                  <a:lnTo>
                    <a:pt x="21138" y="21600"/>
                  </a:lnTo>
                  <a:lnTo>
                    <a:pt x="21253" y="21600"/>
                  </a:lnTo>
                  <a:lnTo>
                    <a:pt x="21369" y="21481"/>
                  </a:lnTo>
                  <a:lnTo>
                    <a:pt x="21484" y="21481"/>
                  </a:lnTo>
                  <a:lnTo>
                    <a:pt x="21600" y="21363"/>
                  </a:lnTo>
                  <a:lnTo>
                    <a:pt x="21600" y="21244"/>
                  </a:lnTo>
                  <a:lnTo>
                    <a:pt x="21600" y="21125"/>
                  </a:lnTo>
                  <a:lnTo>
                    <a:pt x="21484" y="20888"/>
                  </a:lnTo>
                  <a:lnTo>
                    <a:pt x="21369" y="20651"/>
                  </a:lnTo>
                  <a:lnTo>
                    <a:pt x="21253" y="20413"/>
                  </a:lnTo>
                  <a:lnTo>
                    <a:pt x="21022" y="20295"/>
                  </a:lnTo>
                  <a:close/>
                </a:path>
                <a:path w="21600" h="21600" extrusionOk="0">
                  <a:moveTo>
                    <a:pt x="18019" y="18514"/>
                  </a:moveTo>
                  <a:lnTo>
                    <a:pt x="17326" y="17921"/>
                  </a:lnTo>
                  <a:lnTo>
                    <a:pt x="4389" y="17921"/>
                  </a:lnTo>
                  <a:lnTo>
                    <a:pt x="3696" y="18514"/>
                  </a:lnTo>
                  <a:lnTo>
                    <a:pt x="18019" y="18514"/>
                  </a:lnTo>
                  <a:close/>
                </a:path>
                <a:path w="21600" h="21600" extrusionOk="0">
                  <a:moveTo>
                    <a:pt x="19174" y="19701"/>
                  </a:moveTo>
                  <a:lnTo>
                    <a:pt x="18481" y="19108"/>
                  </a:lnTo>
                  <a:lnTo>
                    <a:pt x="3119" y="19108"/>
                  </a:lnTo>
                  <a:lnTo>
                    <a:pt x="2426" y="19701"/>
                  </a:lnTo>
                  <a:lnTo>
                    <a:pt x="19174" y="19701"/>
                  </a:lnTo>
                  <a:close/>
                </a:path>
                <a:path w="21600" h="21600" extrusionOk="0">
                  <a:moveTo>
                    <a:pt x="20560" y="20769"/>
                  </a:moveTo>
                  <a:lnTo>
                    <a:pt x="19867" y="20176"/>
                  </a:lnTo>
                  <a:lnTo>
                    <a:pt x="1848" y="20176"/>
                  </a:lnTo>
                  <a:lnTo>
                    <a:pt x="1155" y="20769"/>
                  </a:lnTo>
                  <a:lnTo>
                    <a:pt x="20560" y="20769"/>
                  </a:lnTo>
                  <a:close/>
                </a:path>
                <a:path w="21600" h="21600" extrusionOk="0">
                  <a:moveTo>
                    <a:pt x="18828" y="18396"/>
                  </a:moveTo>
                  <a:lnTo>
                    <a:pt x="17442" y="17209"/>
                  </a:lnTo>
                  <a:lnTo>
                    <a:pt x="4158" y="17209"/>
                  </a:lnTo>
                  <a:lnTo>
                    <a:pt x="2772" y="18514"/>
                  </a:lnTo>
                  <a:moveTo>
                    <a:pt x="13168" y="14123"/>
                  </a:moveTo>
                  <a:lnTo>
                    <a:pt x="13168" y="14716"/>
                  </a:lnTo>
                  <a:lnTo>
                    <a:pt x="17788" y="14716"/>
                  </a:lnTo>
                  <a:lnTo>
                    <a:pt x="17788" y="14123"/>
                  </a:lnTo>
                  <a:lnTo>
                    <a:pt x="13168" y="14123"/>
                  </a:lnTo>
                  <a:close/>
                </a:path>
                <a:path w="21600" h="21600" extrusionOk="0">
                  <a:moveTo>
                    <a:pt x="6122" y="1899"/>
                  </a:moveTo>
                  <a:lnTo>
                    <a:pt x="6122" y="9732"/>
                  </a:lnTo>
                  <a:lnTo>
                    <a:pt x="15478" y="9732"/>
                  </a:lnTo>
                  <a:lnTo>
                    <a:pt x="15478" y="1899"/>
                  </a:lnTo>
                  <a:lnTo>
                    <a:pt x="6122" y="1899"/>
                  </a:lnTo>
                  <a:moveTo>
                    <a:pt x="6122" y="11631"/>
                  </a:moveTo>
                  <a:lnTo>
                    <a:pt x="15478" y="11631"/>
                  </a:lnTo>
                  <a:lnTo>
                    <a:pt x="15478" y="13174"/>
                  </a:lnTo>
                  <a:lnTo>
                    <a:pt x="6122" y="13174"/>
                  </a:lnTo>
                  <a:lnTo>
                    <a:pt x="6122" y="11631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261200" name="computr2"/>
            <p:cNvSpPr>
              <a:spLocks noChangeAspect="1" noEditPoints="1" noChangeArrowheads="1"/>
            </p:cNvSpPr>
            <p:nvPr/>
          </p:nvSpPr>
          <p:spPr bwMode="auto">
            <a:xfrm>
              <a:off x="3787" y="3566"/>
              <a:ext cx="356" cy="272"/>
            </a:xfrm>
            <a:custGeom>
              <a:avLst/>
              <a:gdLst>
                <a:gd name="T0" fmla="*/ 10800 w 21600"/>
                <a:gd name="T1" fmla="*/ 0 h 21600"/>
                <a:gd name="T2" fmla="*/ 10800 w 21600"/>
                <a:gd name="T3" fmla="*/ 21600 h 21600"/>
                <a:gd name="T4" fmla="*/ 17326 w 21600"/>
                <a:gd name="T5" fmla="*/ 0 h 21600"/>
                <a:gd name="T6" fmla="*/ 4274 w 21600"/>
                <a:gd name="T7" fmla="*/ 0 h 21600"/>
                <a:gd name="T8" fmla="*/ 4274 w 21600"/>
                <a:gd name="T9" fmla="*/ 11631 h 21600"/>
                <a:gd name="T10" fmla="*/ 17326 w 21600"/>
                <a:gd name="T11" fmla="*/ 11631 h 21600"/>
                <a:gd name="T12" fmla="*/ 4274 w 21600"/>
                <a:gd name="T13" fmla="*/ 5816 h 21600"/>
                <a:gd name="T14" fmla="*/ 17326 w 21600"/>
                <a:gd name="T15" fmla="*/ 5816 h 21600"/>
                <a:gd name="T16" fmla="*/ 18828 w 21600"/>
                <a:gd name="T17" fmla="*/ 15785 h 21600"/>
                <a:gd name="T18" fmla="*/ 2772 w 21600"/>
                <a:gd name="T19" fmla="*/ 15785 h 21600"/>
                <a:gd name="T20" fmla="*/ 6194 w 21600"/>
                <a:gd name="T21" fmla="*/ 1913 h 21600"/>
                <a:gd name="T22" fmla="*/ 15565 w 21600"/>
                <a:gd name="T23" fmla="*/ 974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 extrusionOk="0">
                  <a:moveTo>
                    <a:pt x="21022" y="20295"/>
                  </a:moveTo>
                  <a:lnTo>
                    <a:pt x="18828" y="18396"/>
                  </a:lnTo>
                  <a:lnTo>
                    <a:pt x="18828" y="13174"/>
                  </a:lnTo>
                  <a:lnTo>
                    <a:pt x="15478" y="13174"/>
                  </a:lnTo>
                  <a:lnTo>
                    <a:pt x="15478" y="11631"/>
                  </a:lnTo>
                  <a:lnTo>
                    <a:pt x="17326" y="11631"/>
                  </a:lnTo>
                  <a:lnTo>
                    <a:pt x="17326" y="11156"/>
                  </a:lnTo>
                  <a:lnTo>
                    <a:pt x="17326" y="0"/>
                  </a:lnTo>
                  <a:lnTo>
                    <a:pt x="10858" y="0"/>
                  </a:lnTo>
                  <a:lnTo>
                    <a:pt x="4274" y="0"/>
                  </a:lnTo>
                  <a:lnTo>
                    <a:pt x="4274" y="11037"/>
                  </a:lnTo>
                  <a:lnTo>
                    <a:pt x="4274" y="11631"/>
                  </a:lnTo>
                  <a:lnTo>
                    <a:pt x="6122" y="11631"/>
                  </a:lnTo>
                  <a:lnTo>
                    <a:pt x="6122" y="13174"/>
                  </a:lnTo>
                  <a:lnTo>
                    <a:pt x="2772" y="13174"/>
                  </a:lnTo>
                  <a:lnTo>
                    <a:pt x="2772" y="18514"/>
                  </a:lnTo>
                  <a:lnTo>
                    <a:pt x="693" y="20295"/>
                  </a:lnTo>
                  <a:lnTo>
                    <a:pt x="462" y="20413"/>
                  </a:lnTo>
                  <a:lnTo>
                    <a:pt x="231" y="20651"/>
                  </a:lnTo>
                  <a:lnTo>
                    <a:pt x="116" y="20888"/>
                  </a:lnTo>
                  <a:lnTo>
                    <a:pt x="0" y="21125"/>
                  </a:lnTo>
                  <a:lnTo>
                    <a:pt x="0" y="21244"/>
                  </a:lnTo>
                  <a:lnTo>
                    <a:pt x="116" y="21363"/>
                  </a:lnTo>
                  <a:lnTo>
                    <a:pt x="116" y="21481"/>
                  </a:lnTo>
                  <a:lnTo>
                    <a:pt x="231" y="21481"/>
                  </a:lnTo>
                  <a:lnTo>
                    <a:pt x="347" y="21600"/>
                  </a:lnTo>
                  <a:lnTo>
                    <a:pt x="578" y="21600"/>
                  </a:lnTo>
                  <a:lnTo>
                    <a:pt x="693" y="21600"/>
                  </a:lnTo>
                  <a:lnTo>
                    <a:pt x="10858" y="21600"/>
                  </a:lnTo>
                  <a:lnTo>
                    <a:pt x="20907" y="21600"/>
                  </a:lnTo>
                  <a:lnTo>
                    <a:pt x="21138" y="21600"/>
                  </a:lnTo>
                  <a:lnTo>
                    <a:pt x="21253" y="21600"/>
                  </a:lnTo>
                  <a:lnTo>
                    <a:pt x="21369" y="21481"/>
                  </a:lnTo>
                  <a:lnTo>
                    <a:pt x="21484" y="21481"/>
                  </a:lnTo>
                  <a:lnTo>
                    <a:pt x="21600" y="21363"/>
                  </a:lnTo>
                  <a:lnTo>
                    <a:pt x="21600" y="21244"/>
                  </a:lnTo>
                  <a:lnTo>
                    <a:pt x="21600" y="21125"/>
                  </a:lnTo>
                  <a:lnTo>
                    <a:pt x="21484" y="20888"/>
                  </a:lnTo>
                  <a:lnTo>
                    <a:pt x="21369" y="20651"/>
                  </a:lnTo>
                  <a:lnTo>
                    <a:pt x="21253" y="20413"/>
                  </a:lnTo>
                  <a:lnTo>
                    <a:pt x="21022" y="20295"/>
                  </a:lnTo>
                  <a:close/>
                </a:path>
                <a:path w="21600" h="21600" extrusionOk="0">
                  <a:moveTo>
                    <a:pt x="18019" y="18514"/>
                  </a:moveTo>
                  <a:lnTo>
                    <a:pt x="17326" y="17921"/>
                  </a:lnTo>
                  <a:lnTo>
                    <a:pt x="4389" y="17921"/>
                  </a:lnTo>
                  <a:lnTo>
                    <a:pt x="3696" y="18514"/>
                  </a:lnTo>
                  <a:lnTo>
                    <a:pt x="18019" y="18514"/>
                  </a:lnTo>
                  <a:close/>
                </a:path>
                <a:path w="21600" h="21600" extrusionOk="0">
                  <a:moveTo>
                    <a:pt x="19174" y="19701"/>
                  </a:moveTo>
                  <a:lnTo>
                    <a:pt x="18481" y="19108"/>
                  </a:lnTo>
                  <a:lnTo>
                    <a:pt x="3119" y="19108"/>
                  </a:lnTo>
                  <a:lnTo>
                    <a:pt x="2426" y="19701"/>
                  </a:lnTo>
                  <a:lnTo>
                    <a:pt x="19174" y="19701"/>
                  </a:lnTo>
                  <a:close/>
                </a:path>
                <a:path w="21600" h="21600" extrusionOk="0">
                  <a:moveTo>
                    <a:pt x="20560" y="20769"/>
                  </a:moveTo>
                  <a:lnTo>
                    <a:pt x="19867" y="20176"/>
                  </a:lnTo>
                  <a:lnTo>
                    <a:pt x="1848" y="20176"/>
                  </a:lnTo>
                  <a:lnTo>
                    <a:pt x="1155" y="20769"/>
                  </a:lnTo>
                  <a:lnTo>
                    <a:pt x="20560" y="20769"/>
                  </a:lnTo>
                  <a:close/>
                </a:path>
                <a:path w="21600" h="21600" extrusionOk="0">
                  <a:moveTo>
                    <a:pt x="18828" y="18396"/>
                  </a:moveTo>
                  <a:lnTo>
                    <a:pt x="17442" y="17209"/>
                  </a:lnTo>
                  <a:lnTo>
                    <a:pt x="4158" y="17209"/>
                  </a:lnTo>
                  <a:lnTo>
                    <a:pt x="2772" y="18514"/>
                  </a:lnTo>
                  <a:moveTo>
                    <a:pt x="13168" y="14123"/>
                  </a:moveTo>
                  <a:lnTo>
                    <a:pt x="13168" y="14716"/>
                  </a:lnTo>
                  <a:lnTo>
                    <a:pt x="17788" y="14716"/>
                  </a:lnTo>
                  <a:lnTo>
                    <a:pt x="17788" y="14123"/>
                  </a:lnTo>
                  <a:lnTo>
                    <a:pt x="13168" y="14123"/>
                  </a:lnTo>
                  <a:close/>
                </a:path>
                <a:path w="21600" h="21600" extrusionOk="0">
                  <a:moveTo>
                    <a:pt x="6122" y="1899"/>
                  </a:moveTo>
                  <a:lnTo>
                    <a:pt x="6122" y="9732"/>
                  </a:lnTo>
                  <a:lnTo>
                    <a:pt x="15478" y="9732"/>
                  </a:lnTo>
                  <a:lnTo>
                    <a:pt x="15478" y="1899"/>
                  </a:lnTo>
                  <a:lnTo>
                    <a:pt x="6122" y="1899"/>
                  </a:lnTo>
                  <a:moveTo>
                    <a:pt x="6122" y="11631"/>
                  </a:moveTo>
                  <a:lnTo>
                    <a:pt x="15478" y="11631"/>
                  </a:lnTo>
                  <a:lnTo>
                    <a:pt x="15478" y="13174"/>
                  </a:lnTo>
                  <a:lnTo>
                    <a:pt x="6122" y="13174"/>
                  </a:lnTo>
                  <a:lnTo>
                    <a:pt x="6122" y="11631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261201" name="Text Box 81"/>
            <p:cNvSpPr txBox="1">
              <a:spLocks noChangeArrowheads="1"/>
            </p:cNvSpPr>
            <p:nvPr/>
          </p:nvSpPr>
          <p:spPr bwMode="auto">
            <a:xfrm>
              <a:off x="3288" y="3793"/>
              <a:ext cx="136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149.14.45.9</a:t>
              </a:r>
            </a:p>
          </p:txBody>
        </p:sp>
        <p:sp>
          <p:nvSpPr>
            <p:cNvPr id="261203" name="Text Box 83"/>
            <p:cNvSpPr txBox="1">
              <a:spLocks noChangeArrowheads="1"/>
            </p:cNvSpPr>
            <p:nvPr/>
          </p:nvSpPr>
          <p:spPr bwMode="auto">
            <a:xfrm>
              <a:off x="4286" y="3550"/>
              <a:ext cx="136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>
                  <a:solidFill>
                    <a:srgbClr val="00206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149.14.67.64</a:t>
              </a:r>
            </a:p>
          </p:txBody>
        </p:sp>
      </p:grpSp>
      <p:sp>
        <p:nvSpPr>
          <p:cNvPr id="261120" name="Text Box 0"/>
          <p:cNvSpPr txBox="1">
            <a:spLocks noChangeArrowheads="1"/>
          </p:cNvSpPr>
          <p:nvPr/>
        </p:nvSpPr>
        <p:spPr bwMode="auto">
          <a:xfrm>
            <a:off x="4972051" y="1082124"/>
            <a:ext cx="1844675" cy="608012"/>
          </a:xfrm>
          <a:prstGeom prst="rect">
            <a:avLst/>
          </a:prstGeom>
          <a:solidFill>
            <a:srgbClr val="FF99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标识网络</a:t>
            </a:r>
          </a:p>
        </p:txBody>
      </p:sp>
    </p:spTree>
    <p:extLst>
      <p:ext uri="{BB962C8B-B14F-4D97-AF65-F5344CB8AC3E}">
        <p14:creationId xmlns:p14="http://schemas.microsoft.com/office/powerpoint/2010/main" val="2979810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261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6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261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6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6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6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51792"/>
            <a:ext cx="10363200" cy="654657"/>
          </a:xfrm>
        </p:spPr>
        <p:txBody>
          <a:bodyPr/>
          <a:lstStyle/>
          <a:p>
            <a:r>
              <a:rPr lang="zh-CN" altLang="en-US" sz="2800" b="1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术语</a:t>
            </a:r>
            <a:endParaRPr lang="zh-CN" altLang="en-US" sz="2800" b="1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47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399" y="1456413"/>
            <a:ext cx="10734261" cy="3576763"/>
          </a:xfrm>
        </p:spPr>
        <p:txBody>
          <a:bodyPr/>
          <a:lstStyle/>
          <a:p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网络号 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vs. 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网络地址</a:t>
            </a:r>
          </a:p>
          <a:p>
            <a:pPr lvl="1"/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网络号（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Net id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）：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地址的一个组成部分</a:t>
            </a:r>
          </a:p>
          <a:p>
            <a:pPr lvl="1"/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网络地址（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Net address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）：一个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地址，代表一群计算机所在的网络</a:t>
            </a:r>
            <a:endParaRPr lang="en-US" altLang="zh-CN" sz="24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endParaRPr lang="zh-CN" altLang="en-US" sz="24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主机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号 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vs. 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主机地址</a:t>
            </a:r>
          </a:p>
          <a:p>
            <a:pPr lvl="1"/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主机号（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Host id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）：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地址的一个组成部分</a:t>
            </a:r>
          </a:p>
          <a:p>
            <a:pPr lvl="1"/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主机地址（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Host address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）：一个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地址，分配给计算机的地址</a:t>
            </a:r>
            <a:endParaRPr lang="zh-CN" altLang="en-US" sz="24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566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981200" y="-18862"/>
            <a:ext cx="8534399" cy="1517525"/>
          </a:xfrm>
        </p:spPr>
        <p:txBody>
          <a:bodyPr/>
          <a:lstStyle/>
          <a:p>
            <a:r>
              <a:rPr lang="en-US" altLang="zh-CN" sz="2800" b="1" dirty="0" smtClean="0">
                <a:solidFill>
                  <a:srgbClr val="0000CC"/>
                </a:solidFill>
              </a:rPr>
              <a:t> </a:t>
            </a:r>
            <a:r>
              <a:rPr lang="zh-CN" altLang="en-US" sz="2800" b="1" dirty="0" smtClean="0">
                <a:solidFill>
                  <a:srgbClr val="0000CC"/>
                </a:solidFill>
              </a:rPr>
              <a:t>路由表</a:t>
            </a:r>
            <a:r>
              <a:rPr lang="en-US" altLang="zh-CN" sz="2800" b="1" dirty="0" smtClean="0">
                <a:solidFill>
                  <a:srgbClr val="0000CC"/>
                </a:solidFill>
              </a:rPr>
              <a:t/>
            </a:r>
            <a:br>
              <a:rPr lang="en-US" altLang="zh-CN" sz="2800" b="1" dirty="0" smtClean="0">
                <a:solidFill>
                  <a:srgbClr val="0000CC"/>
                </a:solidFill>
              </a:rPr>
            </a:br>
            <a:r>
              <a:rPr lang="zh-CN" altLang="en-US" sz="2800" b="1" dirty="0">
                <a:solidFill>
                  <a:srgbClr val="0000CC"/>
                </a:solidFill>
              </a:rPr>
              <a:t>不同物理网络，根据网络号字段判别。</a:t>
            </a:r>
          </a:p>
        </p:txBody>
      </p:sp>
      <p:sp>
        <p:nvSpPr>
          <p:cNvPr id="44113" name="Rectangle 1105"/>
          <p:cNvSpPr>
            <a:spLocks noChangeArrowheads="1"/>
          </p:cNvSpPr>
          <p:nvPr/>
        </p:nvSpPr>
        <p:spPr bwMode="auto">
          <a:xfrm>
            <a:off x="2495550" y="1744663"/>
            <a:ext cx="1658938" cy="34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1431" tIns="30362" rIns="21431" bIns="30362"/>
          <a:lstStyle>
            <a:lvl1pPr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143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287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430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0" hangingPunct="0">
              <a:lnSpc>
                <a:spcPts val="2363"/>
              </a:lnSpc>
            </a:pPr>
            <a:r>
              <a:rPr kumimoji="0" lang="en-US" altLang="zh-CN" sz="2000" b="1">
                <a:solidFill>
                  <a:srgbClr val="000000"/>
                </a:solidFill>
                <a:latin typeface="Helvetica" panose="020B0604020202020204" pitchFamily="34" charset="0"/>
              </a:rPr>
              <a:t>172.16.2.1</a:t>
            </a:r>
          </a:p>
        </p:txBody>
      </p:sp>
      <p:sp>
        <p:nvSpPr>
          <p:cNvPr id="44114" name="Rectangle 1106"/>
          <p:cNvSpPr>
            <a:spLocks noChangeArrowheads="1"/>
          </p:cNvSpPr>
          <p:nvPr/>
        </p:nvSpPr>
        <p:spPr bwMode="auto">
          <a:xfrm>
            <a:off x="2282826" y="2644776"/>
            <a:ext cx="1871663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1431" tIns="30362" rIns="21431" bIns="30362"/>
          <a:lstStyle>
            <a:lvl1pPr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143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287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430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0" hangingPunct="0">
              <a:lnSpc>
                <a:spcPts val="2363"/>
              </a:lnSpc>
            </a:pPr>
            <a:r>
              <a:rPr kumimoji="0" lang="en-US" altLang="zh-CN" sz="2000" b="1">
                <a:solidFill>
                  <a:srgbClr val="000000"/>
                </a:solidFill>
                <a:latin typeface="Helvetica" panose="020B0604020202020204" pitchFamily="34" charset="0"/>
              </a:rPr>
              <a:t>172.16.3.10</a:t>
            </a:r>
          </a:p>
        </p:txBody>
      </p:sp>
      <p:sp>
        <p:nvSpPr>
          <p:cNvPr id="44115" name="Rectangle 1107"/>
          <p:cNvSpPr>
            <a:spLocks noChangeArrowheads="1"/>
          </p:cNvSpPr>
          <p:nvPr/>
        </p:nvSpPr>
        <p:spPr bwMode="auto">
          <a:xfrm>
            <a:off x="2495550" y="3559176"/>
            <a:ext cx="1658938" cy="32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1431" tIns="30362" rIns="21431" bIns="30362"/>
          <a:lstStyle>
            <a:lvl1pPr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143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287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430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0" hangingPunct="0">
              <a:lnSpc>
                <a:spcPts val="2363"/>
              </a:lnSpc>
            </a:pPr>
            <a:r>
              <a:rPr kumimoji="0" lang="en-US" altLang="zh-CN" sz="2000" b="1">
                <a:solidFill>
                  <a:srgbClr val="000000"/>
                </a:solidFill>
                <a:latin typeface="Helvetica" panose="020B0604020202020204" pitchFamily="34" charset="0"/>
              </a:rPr>
              <a:t>172.16.12.12</a:t>
            </a:r>
          </a:p>
        </p:txBody>
      </p:sp>
      <p:sp>
        <p:nvSpPr>
          <p:cNvPr id="44116" name="Rectangle 1108"/>
          <p:cNvSpPr>
            <a:spLocks noChangeArrowheads="1"/>
          </p:cNvSpPr>
          <p:nvPr/>
        </p:nvSpPr>
        <p:spPr bwMode="auto">
          <a:xfrm>
            <a:off x="8212138" y="1744663"/>
            <a:ext cx="1314450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1431" tIns="30362" rIns="21431" bIns="30362"/>
          <a:lstStyle>
            <a:lvl1pPr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143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287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430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ts val="2363"/>
              </a:lnSpc>
            </a:pPr>
            <a:r>
              <a:rPr kumimoji="0" lang="en-US" altLang="zh-CN" sz="2000" b="1">
                <a:solidFill>
                  <a:srgbClr val="000000"/>
                </a:solidFill>
                <a:latin typeface="Helvetica" panose="020B0604020202020204" pitchFamily="34" charset="0"/>
              </a:rPr>
              <a:t>10.1.1.1</a:t>
            </a:r>
          </a:p>
        </p:txBody>
      </p:sp>
      <p:sp>
        <p:nvSpPr>
          <p:cNvPr id="44117" name="Rectangle 1109"/>
          <p:cNvSpPr>
            <a:spLocks noChangeArrowheads="1"/>
          </p:cNvSpPr>
          <p:nvPr/>
        </p:nvSpPr>
        <p:spPr bwMode="auto">
          <a:xfrm>
            <a:off x="8212139" y="2644776"/>
            <a:ext cx="1728787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1431" tIns="30362" rIns="21431" bIns="30362"/>
          <a:lstStyle>
            <a:lvl1pPr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143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287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430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ts val="2363"/>
              </a:lnSpc>
            </a:pPr>
            <a:r>
              <a:rPr kumimoji="0" lang="en-US" altLang="zh-CN" sz="2000" b="1">
                <a:solidFill>
                  <a:srgbClr val="000000"/>
                </a:solidFill>
                <a:latin typeface="Helvetica" panose="020B0604020202020204" pitchFamily="34" charset="0"/>
              </a:rPr>
              <a:t>10.250.8.11</a:t>
            </a:r>
          </a:p>
        </p:txBody>
      </p:sp>
      <p:sp>
        <p:nvSpPr>
          <p:cNvPr id="44118" name="Rectangle 1110"/>
          <p:cNvSpPr>
            <a:spLocks noChangeArrowheads="1"/>
          </p:cNvSpPr>
          <p:nvPr/>
        </p:nvSpPr>
        <p:spPr bwMode="auto">
          <a:xfrm>
            <a:off x="8212139" y="3559176"/>
            <a:ext cx="2014537" cy="32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1431" tIns="30362" rIns="21431" bIns="30362"/>
          <a:lstStyle>
            <a:lvl1pPr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143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287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430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ts val="2363"/>
              </a:lnSpc>
            </a:pPr>
            <a:r>
              <a:rPr kumimoji="0" lang="en-US" altLang="zh-CN" sz="2000" b="1">
                <a:solidFill>
                  <a:srgbClr val="000000"/>
                </a:solidFill>
                <a:latin typeface="Helvetica" panose="020B0604020202020204" pitchFamily="34" charset="0"/>
              </a:rPr>
              <a:t>10.180.30.118</a:t>
            </a:r>
          </a:p>
        </p:txBody>
      </p:sp>
      <p:sp>
        <p:nvSpPr>
          <p:cNvPr id="44119" name="Line 1111"/>
          <p:cNvSpPr>
            <a:spLocks noChangeShapeType="1"/>
          </p:cNvSpPr>
          <p:nvPr/>
        </p:nvSpPr>
        <p:spPr bwMode="auto">
          <a:xfrm>
            <a:off x="4681538" y="2143125"/>
            <a:ext cx="285750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20" name="Line 1112"/>
          <p:cNvSpPr>
            <a:spLocks noChangeShapeType="1"/>
          </p:cNvSpPr>
          <p:nvPr/>
        </p:nvSpPr>
        <p:spPr bwMode="auto">
          <a:xfrm>
            <a:off x="4667250" y="3057525"/>
            <a:ext cx="300038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21" name="Line 1113"/>
          <p:cNvSpPr>
            <a:spLocks noChangeShapeType="1"/>
          </p:cNvSpPr>
          <p:nvPr/>
        </p:nvSpPr>
        <p:spPr bwMode="auto">
          <a:xfrm>
            <a:off x="4652963" y="4014788"/>
            <a:ext cx="328612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22" name="Line 1114"/>
          <p:cNvSpPr>
            <a:spLocks noChangeShapeType="1"/>
          </p:cNvSpPr>
          <p:nvPr/>
        </p:nvSpPr>
        <p:spPr bwMode="auto">
          <a:xfrm>
            <a:off x="7367589" y="3986213"/>
            <a:ext cx="528637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23" name="Line 1115"/>
          <p:cNvSpPr>
            <a:spLocks noChangeShapeType="1"/>
          </p:cNvSpPr>
          <p:nvPr/>
        </p:nvSpPr>
        <p:spPr bwMode="auto">
          <a:xfrm>
            <a:off x="7367589" y="3143250"/>
            <a:ext cx="314325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24" name="Line 1116"/>
          <p:cNvSpPr>
            <a:spLocks noChangeShapeType="1"/>
          </p:cNvSpPr>
          <p:nvPr/>
        </p:nvSpPr>
        <p:spPr bwMode="auto">
          <a:xfrm>
            <a:off x="7381875" y="2157413"/>
            <a:ext cx="514350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25" name="Line 1117"/>
          <p:cNvSpPr>
            <a:spLocks noChangeShapeType="1"/>
          </p:cNvSpPr>
          <p:nvPr/>
        </p:nvSpPr>
        <p:spPr bwMode="auto">
          <a:xfrm>
            <a:off x="4981576" y="2614613"/>
            <a:ext cx="2386013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26" name="Rectangle 1118"/>
          <p:cNvSpPr>
            <a:spLocks noChangeArrowheads="1"/>
          </p:cNvSpPr>
          <p:nvPr/>
        </p:nvSpPr>
        <p:spPr bwMode="auto">
          <a:xfrm>
            <a:off x="6611939" y="2290764"/>
            <a:ext cx="600075" cy="52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1431" tIns="30362" rIns="21431" bIns="30362"/>
          <a:lstStyle>
            <a:lvl1pPr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143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287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430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ts val="2363"/>
              </a:lnSpc>
            </a:pPr>
            <a:r>
              <a:rPr kumimoji="0" lang="en-US" altLang="zh-CN" sz="2000" b="1">
                <a:solidFill>
                  <a:srgbClr val="000000"/>
                </a:solidFill>
                <a:latin typeface="Helvetica" panose="020B0604020202020204" pitchFamily="34" charset="0"/>
              </a:rPr>
              <a:t>E1</a:t>
            </a:r>
          </a:p>
        </p:txBody>
      </p:sp>
      <p:sp>
        <p:nvSpPr>
          <p:cNvPr id="44127" name="Rectangle 1119"/>
          <p:cNvSpPr>
            <a:spLocks noChangeArrowheads="1"/>
          </p:cNvSpPr>
          <p:nvPr/>
        </p:nvSpPr>
        <p:spPr bwMode="auto">
          <a:xfrm>
            <a:off x="2082801" y="5430839"/>
            <a:ext cx="1457325" cy="52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1431" tIns="30362" rIns="21431" bIns="30362"/>
          <a:lstStyle>
            <a:lvl1pPr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143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287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430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ts val="2363"/>
              </a:lnSpc>
            </a:pPr>
            <a:r>
              <a:rPr kumimoji="0" lang="en-US" altLang="zh-CN" sz="2000" b="1">
                <a:solidFill>
                  <a:srgbClr val="000000"/>
                </a:solidFill>
                <a:latin typeface="Helvetica" panose="020B0604020202020204" pitchFamily="34" charset="0"/>
              </a:rPr>
              <a:t>172.16</a:t>
            </a:r>
          </a:p>
        </p:txBody>
      </p:sp>
      <p:sp>
        <p:nvSpPr>
          <p:cNvPr id="44128" name="Rectangle 1120"/>
          <p:cNvSpPr>
            <a:spLocks noChangeArrowheads="1"/>
          </p:cNvSpPr>
          <p:nvPr/>
        </p:nvSpPr>
        <p:spPr bwMode="auto">
          <a:xfrm>
            <a:off x="3697288" y="5430839"/>
            <a:ext cx="785812" cy="52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1431" tIns="30362" rIns="21431" bIns="30362"/>
          <a:lstStyle>
            <a:lvl1pPr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143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287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430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ts val="2363"/>
              </a:lnSpc>
            </a:pPr>
            <a:r>
              <a:rPr kumimoji="0" lang="en-US" altLang="zh-CN" sz="2000" b="1">
                <a:solidFill>
                  <a:srgbClr val="000000"/>
                </a:solidFill>
                <a:latin typeface="Helvetica" panose="020B0604020202020204" pitchFamily="34" charset="0"/>
              </a:rPr>
              <a:t>12</a:t>
            </a:r>
          </a:p>
        </p:txBody>
      </p:sp>
      <p:sp>
        <p:nvSpPr>
          <p:cNvPr id="44129" name="Rectangle 1121"/>
          <p:cNvSpPr>
            <a:spLocks noChangeArrowheads="1"/>
          </p:cNvSpPr>
          <p:nvPr/>
        </p:nvSpPr>
        <p:spPr bwMode="auto">
          <a:xfrm>
            <a:off x="4411663" y="5430839"/>
            <a:ext cx="628650" cy="52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1431" tIns="30362" rIns="21431" bIns="30362"/>
          <a:lstStyle>
            <a:lvl1pPr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143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287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430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ts val="2363"/>
              </a:lnSpc>
            </a:pPr>
            <a:r>
              <a:rPr kumimoji="0" lang="en-US" altLang="zh-CN" sz="2000" b="1">
                <a:solidFill>
                  <a:srgbClr val="000000"/>
                </a:solidFill>
                <a:latin typeface="Helvetica" panose="020B0604020202020204" pitchFamily="34" charset="0"/>
              </a:rPr>
              <a:t>12</a:t>
            </a:r>
          </a:p>
        </p:txBody>
      </p:sp>
      <p:sp>
        <p:nvSpPr>
          <p:cNvPr id="44130" name="Rectangle 1122"/>
          <p:cNvSpPr>
            <a:spLocks noChangeArrowheads="1"/>
          </p:cNvSpPr>
          <p:nvPr/>
        </p:nvSpPr>
        <p:spPr bwMode="auto">
          <a:xfrm>
            <a:off x="1968500" y="5816600"/>
            <a:ext cx="1371600" cy="528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1431" tIns="30362" rIns="21431" bIns="30362"/>
          <a:lstStyle>
            <a:lvl1pPr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143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287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430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ts val="2363"/>
              </a:lnSpc>
            </a:pPr>
            <a:r>
              <a:rPr kumimoji="0" lang="zh-CN" altLang="en-US" sz="2000" b="1" dirty="0">
                <a:solidFill>
                  <a:srgbClr val="000000"/>
                </a:solidFill>
                <a:latin typeface="Helvetica" panose="020B0604020202020204" pitchFamily="34" charset="0"/>
              </a:rPr>
              <a:t>网络</a:t>
            </a:r>
          </a:p>
        </p:txBody>
      </p:sp>
      <p:sp>
        <p:nvSpPr>
          <p:cNvPr id="44131" name="Rectangle 1123"/>
          <p:cNvSpPr>
            <a:spLocks noChangeArrowheads="1"/>
          </p:cNvSpPr>
          <p:nvPr/>
        </p:nvSpPr>
        <p:spPr bwMode="auto">
          <a:xfrm>
            <a:off x="3797300" y="5816600"/>
            <a:ext cx="857250" cy="528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1431" tIns="30362" rIns="21431" bIns="30362"/>
          <a:lstStyle>
            <a:lvl1pPr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143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287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430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ts val="2363"/>
              </a:lnSpc>
            </a:pPr>
            <a:r>
              <a:rPr kumimoji="0" lang="zh-CN" altLang="en-US" sz="2000" b="1" dirty="0">
                <a:solidFill>
                  <a:srgbClr val="000000"/>
                </a:solidFill>
                <a:latin typeface="Helvetica" panose="020B0604020202020204" pitchFamily="34" charset="0"/>
              </a:rPr>
              <a:t>主机</a:t>
            </a:r>
          </a:p>
        </p:txBody>
      </p:sp>
      <p:sp>
        <p:nvSpPr>
          <p:cNvPr id="44132" name="Rectangle 1124"/>
          <p:cNvSpPr>
            <a:spLocks noChangeArrowheads="1"/>
          </p:cNvSpPr>
          <p:nvPr/>
        </p:nvSpPr>
        <p:spPr bwMode="auto">
          <a:xfrm>
            <a:off x="3340100" y="5430839"/>
            <a:ext cx="184150" cy="52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1431" tIns="30362" rIns="21431" bIns="30362"/>
          <a:lstStyle>
            <a:lvl1pPr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143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287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430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ts val="2363"/>
              </a:lnSpc>
            </a:pPr>
            <a:r>
              <a:rPr kumimoji="0" lang="en-US" altLang="zh-CN" sz="2000" b="1">
                <a:solidFill>
                  <a:srgbClr val="000000"/>
                </a:solidFill>
                <a:latin typeface="Helvetica" panose="020B0604020202020204" pitchFamily="34" charset="0"/>
              </a:rPr>
              <a:t>.</a:t>
            </a:r>
          </a:p>
        </p:txBody>
      </p:sp>
      <p:sp>
        <p:nvSpPr>
          <p:cNvPr id="44133" name="Rectangle 1125"/>
          <p:cNvSpPr>
            <a:spLocks noChangeArrowheads="1"/>
          </p:cNvSpPr>
          <p:nvPr/>
        </p:nvSpPr>
        <p:spPr bwMode="auto">
          <a:xfrm>
            <a:off x="4197350" y="5430839"/>
            <a:ext cx="228600" cy="52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1431" tIns="30362" rIns="21431" bIns="30362"/>
          <a:lstStyle>
            <a:lvl1pPr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143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287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430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ts val="2363"/>
              </a:lnSpc>
            </a:pPr>
            <a:r>
              <a:rPr kumimoji="0" lang="en-US" altLang="zh-CN" sz="2000" b="1">
                <a:solidFill>
                  <a:srgbClr val="000000"/>
                </a:solidFill>
                <a:latin typeface="Helvetica" panose="020B0604020202020204" pitchFamily="34" charset="0"/>
              </a:rPr>
              <a:t>.</a:t>
            </a:r>
          </a:p>
        </p:txBody>
      </p:sp>
      <p:sp>
        <p:nvSpPr>
          <p:cNvPr id="44134" name="Line 1126"/>
          <p:cNvSpPr>
            <a:spLocks noChangeShapeType="1"/>
          </p:cNvSpPr>
          <p:nvPr/>
        </p:nvSpPr>
        <p:spPr bwMode="auto">
          <a:xfrm>
            <a:off x="2809875" y="3914776"/>
            <a:ext cx="0" cy="1471613"/>
          </a:xfrm>
          <a:prstGeom prst="line">
            <a:avLst/>
          </a:prstGeom>
          <a:noFill/>
          <a:ln w="50800">
            <a:solidFill>
              <a:srgbClr val="8955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4135" name="Picture 1127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013" y="1857375"/>
            <a:ext cx="646112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136" name="Picture 1128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013" y="2800350"/>
            <a:ext cx="646112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137" name="Picture 1129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013" y="3743325"/>
            <a:ext cx="646112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138" name="Picture 1130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3013" y="1857375"/>
            <a:ext cx="646112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139" name="Picture 1131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3013" y="2800350"/>
            <a:ext cx="646112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140" name="Picture 1132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3013" y="3743325"/>
            <a:ext cx="646112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141" name="Picture 113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8814" y="2387600"/>
            <a:ext cx="80962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142" name="Freeform 1134"/>
          <p:cNvSpPr>
            <a:spLocks/>
          </p:cNvSpPr>
          <p:nvPr/>
        </p:nvSpPr>
        <p:spPr bwMode="auto">
          <a:xfrm>
            <a:off x="1981200" y="5514976"/>
            <a:ext cx="1201738" cy="258763"/>
          </a:xfrm>
          <a:custGeom>
            <a:avLst/>
            <a:gdLst>
              <a:gd name="T0" fmla="*/ 0 w 673"/>
              <a:gd name="T1" fmla="*/ 0 h 145"/>
              <a:gd name="T2" fmla="*/ 0 w 673"/>
              <a:gd name="T3" fmla="*/ 144 h 145"/>
              <a:gd name="T4" fmla="*/ 672 w 673"/>
              <a:gd name="T5" fmla="*/ 144 h 145"/>
              <a:gd name="T6" fmla="*/ 672 w 673"/>
              <a:gd name="T7" fmla="*/ 0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73" h="145">
                <a:moveTo>
                  <a:pt x="0" y="0"/>
                </a:moveTo>
                <a:lnTo>
                  <a:pt x="0" y="144"/>
                </a:lnTo>
                <a:lnTo>
                  <a:pt x="672" y="144"/>
                </a:lnTo>
                <a:lnTo>
                  <a:pt x="672" y="0"/>
                </a:lnTo>
              </a:path>
            </a:pathLst>
          </a:custGeom>
          <a:noFill/>
          <a:ln w="50800" cap="rnd" cmpd="sng">
            <a:solidFill>
              <a:srgbClr val="8955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143" name="Freeform 1135"/>
          <p:cNvSpPr>
            <a:spLocks/>
          </p:cNvSpPr>
          <p:nvPr/>
        </p:nvSpPr>
        <p:spPr bwMode="auto">
          <a:xfrm>
            <a:off x="3609975" y="5514976"/>
            <a:ext cx="1201738" cy="258763"/>
          </a:xfrm>
          <a:custGeom>
            <a:avLst/>
            <a:gdLst>
              <a:gd name="T0" fmla="*/ 0 w 673"/>
              <a:gd name="T1" fmla="*/ 0 h 145"/>
              <a:gd name="T2" fmla="*/ 0 w 673"/>
              <a:gd name="T3" fmla="*/ 144 h 145"/>
              <a:gd name="T4" fmla="*/ 672 w 673"/>
              <a:gd name="T5" fmla="*/ 144 h 145"/>
              <a:gd name="T6" fmla="*/ 672 w 673"/>
              <a:gd name="T7" fmla="*/ 0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73" h="145">
                <a:moveTo>
                  <a:pt x="0" y="0"/>
                </a:moveTo>
                <a:lnTo>
                  <a:pt x="0" y="144"/>
                </a:lnTo>
                <a:lnTo>
                  <a:pt x="672" y="144"/>
                </a:lnTo>
                <a:lnTo>
                  <a:pt x="672" y="0"/>
                </a:lnTo>
              </a:path>
            </a:pathLst>
          </a:custGeom>
          <a:noFill/>
          <a:ln w="50800" cap="rnd" cmpd="sng">
            <a:solidFill>
              <a:srgbClr val="8955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5248276" y="4514850"/>
            <a:ext cx="3119437" cy="1663701"/>
            <a:chOff x="5248276" y="4514850"/>
            <a:chExt cx="3119437" cy="1663701"/>
          </a:xfrm>
        </p:grpSpPr>
        <p:sp>
          <p:nvSpPr>
            <p:cNvPr id="44110" name="Rectangle 1102"/>
            <p:cNvSpPr>
              <a:spLocks noChangeArrowheads="1"/>
            </p:cNvSpPr>
            <p:nvPr/>
          </p:nvSpPr>
          <p:spPr bwMode="auto">
            <a:xfrm>
              <a:off x="5287963" y="4694239"/>
              <a:ext cx="2900362" cy="1443037"/>
            </a:xfrm>
            <a:prstGeom prst="rect">
              <a:avLst/>
            </a:prstGeom>
            <a:solidFill>
              <a:srgbClr val="FFEFC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11" name="Rectangle 1103"/>
            <p:cNvSpPr>
              <a:spLocks noChangeArrowheads="1"/>
            </p:cNvSpPr>
            <p:nvPr/>
          </p:nvSpPr>
          <p:spPr bwMode="auto">
            <a:xfrm>
              <a:off x="5287963" y="4679951"/>
              <a:ext cx="2900362" cy="671513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44" name="Freeform 1136"/>
            <p:cNvSpPr>
              <a:spLocks/>
            </p:cNvSpPr>
            <p:nvPr/>
          </p:nvSpPr>
          <p:spPr bwMode="auto">
            <a:xfrm>
              <a:off x="8194675" y="4514851"/>
              <a:ext cx="173038" cy="1630363"/>
            </a:xfrm>
            <a:custGeom>
              <a:avLst/>
              <a:gdLst>
                <a:gd name="T0" fmla="*/ 96 w 97"/>
                <a:gd name="T1" fmla="*/ 0 h 913"/>
                <a:gd name="T2" fmla="*/ 96 w 97"/>
                <a:gd name="T3" fmla="*/ 0 h 913"/>
                <a:gd name="T4" fmla="*/ 0 w 97"/>
                <a:gd name="T5" fmla="*/ 96 h 913"/>
                <a:gd name="T6" fmla="*/ 0 w 97"/>
                <a:gd name="T7" fmla="*/ 912 h 913"/>
                <a:gd name="T8" fmla="*/ 96 w 97"/>
                <a:gd name="T9" fmla="*/ 816 h 913"/>
                <a:gd name="T10" fmla="*/ 96 w 97"/>
                <a:gd name="T1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" h="913">
                  <a:moveTo>
                    <a:pt x="96" y="0"/>
                  </a:moveTo>
                  <a:lnTo>
                    <a:pt x="96" y="0"/>
                  </a:lnTo>
                  <a:lnTo>
                    <a:pt x="0" y="96"/>
                  </a:lnTo>
                  <a:lnTo>
                    <a:pt x="0" y="912"/>
                  </a:lnTo>
                  <a:lnTo>
                    <a:pt x="96" y="816"/>
                  </a:lnTo>
                  <a:lnTo>
                    <a:pt x="96" y="0"/>
                  </a:lnTo>
                </a:path>
              </a:pathLst>
            </a:custGeom>
            <a:solidFill>
              <a:srgbClr val="FFDA74"/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45" name="Freeform 1137"/>
            <p:cNvSpPr>
              <a:spLocks/>
            </p:cNvSpPr>
            <p:nvPr/>
          </p:nvSpPr>
          <p:spPr bwMode="auto">
            <a:xfrm>
              <a:off x="5280025" y="4514850"/>
              <a:ext cx="3087688" cy="173038"/>
            </a:xfrm>
            <a:custGeom>
              <a:avLst/>
              <a:gdLst>
                <a:gd name="T0" fmla="*/ 0 w 1729"/>
                <a:gd name="T1" fmla="*/ 96 h 97"/>
                <a:gd name="T2" fmla="*/ 96 w 1729"/>
                <a:gd name="T3" fmla="*/ 0 h 97"/>
                <a:gd name="T4" fmla="*/ 1728 w 1729"/>
                <a:gd name="T5" fmla="*/ 0 h 97"/>
                <a:gd name="T6" fmla="*/ 1632 w 1729"/>
                <a:gd name="T7" fmla="*/ 96 h 97"/>
                <a:gd name="T8" fmla="*/ 0 w 1729"/>
                <a:gd name="T9" fmla="*/ 96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9" h="97">
                  <a:moveTo>
                    <a:pt x="0" y="96"/>
                  </a:moveTo>
                  <a:lnTo>
                    <a:pt x="96" y="0"/>
                  </a:lnTo>
                  <a:lnTo>
                    <a:pt x="1728" y="0"/>
                  </a:lnTo>
                  <a:lnTo>
                    <a:pt x="1632" y="96"/>
                  </a:lnTo>
                  <a:lnTo>
                    <a:pt x="0" y="96"/>
                  </a:lnTo>
                </a:path>
              </a:pathLst>
            </a:custGeom>
            <a:solidFill>
              <a:srgbClr val="FFDA74"/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46" name="Rectangle 1138"/>
            <p:cNvSpPr>
              <a:spLocks noChangeArrowheads="1"/>
            </p:cNvSpPr>
            <p:nvPr/>
          </p:nvSpPr>
          <p:spPr bwMode="auto">
            <a:xfrm>
              <a:off x="5248276" y="4986339"/>
              <a:ext cx="1457325" cy="365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03584" tIns="51793" rIns="103584" bIns="51793">
              <a:spAutoFit/>
            </a:bodyPr>
            <a:lstStyle>
              <a:lvl1pPr defTabSz="10287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14350" defTabSz="10287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028700" defTabSz="10287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543050" defTabSz="10287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defTabSz="10287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defTabSz="10287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defTabSz="10287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defTabSz="10287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defTabSz="10287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5000"/>
                </a:lnSpc>
                <a:spcBef>
                  <a:spcPct val="50000"/>
                </a:spcBef>
              </a:pPr>
              <a:r>
                <a:rPr kumimoji="0" lang="zh-CN" altLang="en-US" sz="1800" b="1" dirty="0">
                  <a:solidFill>
                    <a:srgbClr val="002060"/>
                  </a:solidFill>
                  <a:latin typeface="Helvetica" panose="020B0604020202020204" pitchFamily="34" charset="0"/>
                </a:rPr>
                <a:t>网络</a:t>
              </a:r>
            </a:p>
          </p:txBody>
        </p:sp>
        <p:sp>
          <p:nvSpPr>
            <p:cNvPr id="44147" name="Rectangle 1139"/>
            <p:cNvSpPr>
              <a:spLocks noChangeArrowheads="1"/>
            </p:cNvSpPr>
            <p:nvPr/>
          </p:nvSpPr>
          <p:spPr bwMode="auto">
            <a:xfrm>
              <a:off x="6908801" y="4986339"/>
              <a:ext cx="1285875" cy="365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03584" tIns="51793" rIns="103584" bIns="51793">
              <a:spAutoFit/>
            </a:bodyPr>
            <a:lstStyle>
              <a:lvl1pPr defTabSz="10287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14350" defTabSz="10287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028700" defTabSz="10287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543050" defTabSz="10287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defTabSz="10287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defTabSz="10287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defTabSz="10287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defTabSz="10287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defTabSz="10287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5000"/>
                </a:lnSpc>
                <a:spcBef>
                  <a:spcPct val="50000"/>
                </a:spcBef>
              </a:pPr>
              <a:r>
                <a:rPr kumimoji="0" lang="zh-CN" altLang="en-US" sz="1800" b="1" dirty="0">
                  <a:solidFill>
                    <a:srgbClr val="002060"/>
                  </a:solidFill>
                  <a:latin typeface="Helvetica" panose="020B0604020202020204" pitchFamily="34" charset="0"/>
                </a:rPr>
                <a:t>端口</a:t>
              </a:r>
            </a:p>
          </p:txBody>
        </p:sp>
        <p:sp>
          <p:nvSpPr>
            <p:cNvPr id="44148" name="Rectangle 1140"/>
            <p:cNvSpPr>
              <a:spLocks noChangeArrowheads="1"/>
            </p:cNvSpPr>
            <p:nvPr/>
          </p:nvSpPr>
          <p:spPr bwMode="auto">
            <a:xfrm>
              <a:off x="5419726" y="5414964"/>
              <a:ext cx="1457325" cy="7635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03584" tIns="51793" rIns="103584" bIns="51793">
              <a:spAutoFit/>
            </a:bodyPr>
            <a:lstStyle>
              <a:lvl1pPr defTabSz="10287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14350" defTabSz="10287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028700" defTabSz="10287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543050" defTabSz="10287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defTabSz="10287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defTabSz="10287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defTabSz="10287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defTabSz="10287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defTabSz="10287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5000"/>
                </a:lnSpc>
                <a:spcBef>
                  <a:spcPct val="50000"/>
                </a:spcBef>
              </a:pPr>
              <a:r>
                <a:rPr kumimoji="0" lang="en-US" altLang="zh-CN" sz="1800" b="1">
                  <a:latin typeface="Helvetica" panose="020B0604020202020204" pitchFamily="34" charset="0"/>
                </a:rPr>
                <a:t>172.16.0.0</a:t>
              </a:r>
            </a:p>
            <a:p>
              <a:pPr eaLnBrk="0" hangingPunct="0">
                <a:lnSpc>
                  <a:spcPct val="95000"/>
                </a:lnSpc>
                <a:spcBef>
                  <a:spcPct val="50000"/>
                </a:spcBef>
              </a:pPr>
              <a:r>
                <a:rPr kumimoji="0" lang="en-US" altLang="zh-CN" sz="1800" b="1">
                  <a:latin typeface="Helvetica" panose="020B0604020202020204" pitchFamily="34" charset="0"/>
                </a:rPr>
                <a:t>10.0.0.0</a:t>
              </a:r>
            </a:p>
          </p:txBody>
        </p:sp>
        <p:sp>
          <p:nvSpPr>
            <p:cNvPr id="44149" name="Rectangle 1141"/>
            <p:cNvSpPr>
              <a:spLocks noChangeArrowheads="1"/>
            </p:cNvSpPr>
            <p:nvPr/>
          </p:nvSpPr>
          <p:spPr bwMode="auto">
            <a:xfrm>
              <a:off x="6765926" y="5414964"/>
              <a:ext cx="1457325" cy="7635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03584" tIns="51793" rIns="103584" bIns="51793">
              <a:spAutoFit/>
            </a:bodyPr>
            <a:lstStyle>
              <a:lvl1pPr defTabSz="10287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14350" defTabSz="10287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028700" defTabSz="10287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543050" defTabSz="10287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defTabSz="10287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defTabSz="10287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defTabSz="10287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defTabSz="10287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defTabSz="10287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5000"/>
                </a:lnSpc>
                <a:spcBef>
                  <a:spcPct val="50000"/>
                </a:spcBef>
              </a:pPr>
              <a:r>
                <a:rPr kumimoji="0" lang="en-US" altLang="zh-CN" sz="1800" b="1" dirty="0">
                  <a:latin typeface="Helvetica" panose="020B0604020202020204" pitchFamily="34" charset="0"/>
                </a:rPr>
                <a:t>E0</a:t>
              </a:r>
            </a:p>
            <a:p>
              <a:pPr algn="ctr" eaLnBrk="0" hangingPunct="0">
                <a:lnSpc>
                  <a:spcPct val="95000"/>
                </a:lnSpc>
                <a:spcBef>
                  <a:spcPct val="50000"/>
                </a:spcBef>
              </a:pPr>
              <a:r>
                <a:rPr kumimoji="0" lang="en-US" altLang="zh-CN" sz="1800" b="1" dirty="0">
                  <a:latin typeface="Helvetica" panose="020B0604020202020204" pitchFamily="34" charset="0"/>
                </a:rPr>
                <a:t>E1</a:t>
              </a:r>
            </a:p>
          </p:txBody>
        </p:sp>
        <p:sp>
          <p:nvSpPr>
            <p:cNvPr id="44150" name="Rectangle 1142"/>
            <p:cNvSpPr>
              <a:spLocks noChangeArrowheads="1"/>
            </p:cNvSpPr>
            <p:nvPr/>
          </p:nvSpPr>
          <p:spPr bwMode="auto">
            <a:xfrm>
              <a:off x="5451475" y="4729164"/>
              <a:ext cx="2400300" cy="365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03584" tIns="51793" rIns="103584" bIns="51793">
              <a:spAutoFit/>
            </a:bodyPr>
            <a:lstStyle>
              <a:lvl1pPr defTabSz="10287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14350" defTabSz="10287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028700" defTabSz="10287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543050" defTabSz="10287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defTabSz="10287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defTabSz="10287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defTabSz="10287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defTabSz="10287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defTabSz="10287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5000"/>
                </a:lnSpc>
                <a:spcBef>
                  <a:spcPct val="50000"/>
                </a:spcBef>
              </a:pPr>
              <a:r>
                <a:rPr kumimoji="0" lang="zh-CN" altLang="en-US" sz="1800" b="1" dirty="0">
                  <a:solidFill>
                    <a:srgbClr val="002060"/>
                  </a:solidFill>
                  <a:latin typeface="Helvetica" panose="020B0604020202020204" pitchFamily="34" charset="0"/>
                </a:rPr>
                <a:t>路由表</a:t>
              </a:r>
            </a:p>
          </p:txBody>
        </p:sp>
      </p:grpSp>
      <p:sp>
        <p:nvSpPr>
          <p:cNvPr id="44151" name="Rectangle 1143"/>
          <p:cNvSpPr>
            <a:spLocks noChangeArrowheads="1"/>
          </p:cNvSpPr>
          <p:nvPr/>
        </p:nvSpPr>
        <p:spPr bwMode="auto">
          <a:xfrm>
            <a:off x="5053014" y="2900364"/>
            <a:ext cx="2185987" cy="52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1431" tIns="30362" rIns="21431" bIns="30362"/>
          <a:lstStyle>
            <a:lvl1pPr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143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287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430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ts val="2363"/>
              </a:lnSpc>
            </a:pPr>
            <a:r>
              <a:rPr kumimoji="0" lang="en-US" altLang="zh-CN" sz="2000" b="1">
                <a:solidFill>
                  <a:srgbClr val="000000"/>
                </a:solidFill>
                <a:latin typeface="Helvetica" panose="020B0604020202020204" pitchFamily="34" charset="0"/>
              </a:rPr>
              <a:t>172.16.2.1</a:t>
            </a:r>
          </a:p>
        </p:txBody>
      </p:sp>
      <p:sp>
        <p:nvSpPr>
          <p:cNvPr id="44152" name="Rectangle 1144"/>
          <p:cNvSpPr>
            <a:spLocks noChangeArrowheads="1"/>
          </p:cNvSpPr>
          <p:nvPr/>
        </p:nvSpPr>
        <p:spPr bwMode="auto">
          <a:xfrm>
            <a:off x="6253164" y="1985964"/>
            <a:ext cx="1900237" cy="52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1431" tIns="30362" rIns="21431" bIns="30362"/>
          <a:lstStyle>
            <a:lvl1pPr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143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287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430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ts val="2363"/>
              </a:lnSpc>
            </a:pPr>
            <a:r>
              <a:rPr kumimoji="0" lang="en-US" altLang="zh-CN" sz="2000" b="1">
                <a:solidFill>
                  <a:srgbClr val="000000"/>
                </a:solidFill>
                <a:latin typeface="Helvetica" panose="020B0604020202020204" pitchFamily="34" charset="0"/>
              </a:rPr>
              <a:t>10.6.24.2</a:t>
            </a:r>
          </a:p>
        </p:txBody>
      </p:sp>
      <p:sp>
        <p:nvSpPr>
          <p:cNvPr id="44153" name="Rectangle 1145"/>
          <p:cNvSpPr>
            <a:spLocks noChangeArrowheads="1"/>
          </p:cNvSpPr>
          <p:nvPr/>
        </p:nvSpPr>
        <p:spPr bwMode="auto">
          <a:xfrm>
            <a:off x="5357814" y="2620964"/>
            <a:ext cx="585787" cy="52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1431" tIns="30362" rIns="21431" bIns="30362"/>
          <a:lstStyle>
            <a:lvl1pPr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143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287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430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ts val="2363"/>
              </a:lnSpc>
            </a:pPr>
            <a:r>
              <a:rPr kumimoji="0" lang="en-US" altLang="zh-CN" sz="2000" b="1">
                <a:solidFill>
                  <a:srgbClr val="000000"/>
                </a:solidFill>
                <a:latin typeface="Helvetica" panose="020B0604020202020204" pitchFamily="34" charset="0"/>
              </a:rPr>
              <a:t>E0</a:t>
            </a:r>
          </a:p>
        </p:txBody>
      </p:sp>
      <p:sp>
        <p:nvSpPr>
          <p:cNvPr id="44154" name="Line 1146"/>
          <p:cNvSpPr>
            <a:spLocks noChangeShapeType="1"/>
          </p:cNvSpPr>
          <p:nvPr/>
        </p:nvSpPr>
        <p:spPr bwMode="auto">
          <a:xfrm>
            <a:off x="7367588" y="1614489"/>
            <a:ext cx="0" cy="2657475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55" name="Line 1147"/>
          <p:cNvSpPr>
            <a:spLocks noChangeShapeType="1"/>
          </p:cNvSpPr>
          <p:nvPr/>
        </p:nvSpPr>
        <p:spPr bwMode="auto">
          <a:xfrm>
            <a:off x="4981575" y="1600201"/>
            <a:ext cx="0" cy="2657475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Line 1126"/>
          <p:cNvSpPr>
            <a:spLocks noChangeShapeType="1"/>
          </p:cNvSpPr>
          <p:nvPr/>
        </p:nvSpPr>
        <p:spPr bwMode="auto">
          <a:xfrm>
            <a:off x="9601201" y="3914776"/>
            <a:ext cx="0" cy="1471613"/>
          </a:xfrm>
          <a:prstGeom prst="line">
            <a:avLst/>
          </a:prstGeom>
          <a:noFill/>
          <a:ln w="50800">
            <a:solidFill>
              <a:srgbClr val="8955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8782050" y="5426871"/>
            <a:ext cx="3059113" cy="528637"/>
            <a:chOff x="8820151" y="5503802"/>
            <a:chExt cx="3059113" cy="528637"/>
          </a:xfrm>
        </p:grpSpPr>
        <p:sp>
          <p:nvSpPr>
            <p:cNvPr id="51" name="Rectangle 1119"/>
            <p:cNvSpPr>
              <a:spLocks noChangeArrowheads="1"/>
            </p:cNvSpPr>
            <p:nvPr/>
          </p:nvSpPr>
          <p:spPr bwMode="auto">
            <a:xfrm>
              <a:off x="8921752" y="5503802"/>
              <a:ext cx="1457325" cy="528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1431" tIns="30362" rIns="21431" bIns="30362"/>
            <a:lstStyle>
              <a:lvl1pPr defTabSz="1028700"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14350" defTabSz="1028700"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028700" defTabSz="1028700"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543050" defTabSz="1028700"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defTabSz="1028700"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defTabSz="1028700" fontAlgn="base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defTabSz="1028700" fontAlgn="base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defTabSz="1028700" fontAlgn="base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defTabSz="1028700" fontAlgn="base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2363"/>
                </a:lnSpc>
              </a:pPr>
              <a:r>
                <a:rPr kumimoji="0" lang="en-US" altLang="zh-CN" sz="2000" b="1" dirty="0" smtClean="0">
                  <a:solidFill>
                    <a:srgbClr val="000000"/>
                  </a:solidFill>
                  <a:latin typeface="Helvetica" panose="020B0604020202020204" pitchFamily="34" charset="0"/>
                </a:rPr>
                <a:t> 10.       0</a:t>
              </a:r>
              <a:endParaRPr kumimoji="0" lang="en-US" altLang="zh-CN" sz="2000" b="1" dirty="0">
                <a:solidFill>
                  <a:srgbClr val="000000"/>
                </a:solidFill>
                <a:latin typeface="Helvetica" panose="020B0604020202020204" pitchFamily="34" charset="0"/>
              </a:endParaRPr>
            </a:p>
          </p:txBody>
        </p:sp>
        <p:sp>
          <p:nvSpPr>
            <p:cNvPr id="52" name="Rectangle 1120"/>
            <p:cNvSpPr>
              <a:spLocks noChangeArrowheads="1"/>
            </p:cNvSpPr>
            <p:nvPr/>
          </p:nvSpPr>
          <p:spPr bwMode="auto">
            <a:xfrm>
              <a:off x="10536239" y="5503802"/>
              <a:ext cx="785812" cy="528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1431" tIns="30362" rIns="21431" bIns="30362"/>
            <a:lstStyle>
              <a:lvl1pPr defTabSz="1028700"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14350" defTabSz="1028700"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028700" defTabSz="1028700"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543050" defTabSz="1028700"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defTabSz="1028700"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defTabSz="1028700" fontAlgn="base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defTabSz="1028700" fontAlgn="base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defTabSz="1028700" fontAlgn="base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defTabSz="1028700" fontAlgn="base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2363"/>
                </a:lnSpc>
              </a:pPr>
              <a:r>
                <a:rPr kumimoji="0" lang="en-US" altLang="zh-CN" sz="2000" b="1" dirty="0" smtClean="0">
                  <a:solidFill>
                    <a:srgbClr val="000000"/>
                  </a:solidFill>
                  <a:latin typeface="Helvetica" panose="020B0604020202020204" pitchFamily="34" charset="0"/>
                </a:rPr>
                <a:t> 0</a:t>
              </a:r>
              <a:endParaRPr kumimoji="0" lang="en-US" altLang="zh-CN" sz="2000" b="1" dirty="0">
                <a:solidFill>
                  <a:srgbClr val="000000"/>
                </a:solidFill>
                <a:latin typeface="Helvetica" panose="020B0604020202020204" pitchFamily="34" charset="0"/>
              </a:endParaRPr>
            </a:p>
          </p:txBody>
        </p:sp>
        <p:sp>
          <p:nvSpPr>
            <p:cNvPr id="53" name="Rectangle 1121"/>
            <p:cNvSpPr>
              <a:spLocks noChangeArrowheads="1"/>
            </p:cNvSpPr>
            <p:nvPr/>
          </p:nvSpPr>
          <p:spPr bwMode="auto">
            <a:xfrm>
              <a:off x="11250614" y="5503802"/>
              <a:ext cx="628650" cy="528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1431" tIns="30362" rIns="21431" bIns="30362"/>
            <a:lstStyle>
              <a:lvl1pPr defTabSz="1028700"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14350" defTabSz="1028700"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028700" defTabSz="1028700"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543050" defTabSz="1028700"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defTabSz="1028700"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defTabSz="1028700" fontAlgn="base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defTabSz="1028700" fontAlgn="base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defTabSz="1028700" fontAlgn="base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defTabSz="1028700" fontAlgn="base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2363"/>
                </a:lnSpc>
              </a:pPr>
              <a:r>
                <a:rPr kumimoji="0" lang="en-US" altLang="zh-CN" sz="2000" b="1" dirty="0">
                  <a:solidFill>
                    <a:srgbClr val="000000"/>
                  </a:solidFill>
                  <a:latin typeface="Helvetica" panose="020B0604020202020204" pitchFamily="34" charset="0"/>
                </a:rPr>
                <a:t>0</a:t>
              </a:r>
            </a:p>
          </p:txBody>
        </p:sp>
        <p:sp>
          <p:nvSpPr>
            <p:cNvPr id="54" name="Rectangle 1124"/>
            <p:cNvSpPr>
              <a:spLocks noChangeArrowheads="1"/>
            </p:cNvSpPr>
            <p:nvPr/>
          </p:nvSpPr>
          <p:spPr bwMode="auto">
            <a:xfrm>
              <a:off x="10179051" y="5503802"/>
              <a:ext cx="184150" cy="528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1431" tIns="30362" rIns="21431" bIns="30362"/>
            <a:lstStyle>
              <a:lvl1pPr defTabSz="1028700"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14350" defTabSz="1028700"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028700" defTabSz="1028700"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543050" defTabSz="1028700"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defTabSz="1028700"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defTabSz="1028700" fontAlgn="base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defTabSz="1028700" fontAlgn="base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defTabSz="1028700" fontAlgn="base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defTabSz="1028700" fontAlgn="base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2363"/>
                </a:lnSpc>
              </a:pPr>
              <a:r>
                <a:rPr kumimoji="0" lang="en-US" altLang="zh-CN" sz="2000" b="1">
                  <a:solidFill>
                    <a:srgbClr val="000000"/>
                  </a:solidFill>
                  <a:latin typeface="Helvetica" panose="020B0604020202020204" pitchFamily="34" charset="0"/>
                </a:rPr>
                <a:t>.</a:t>
              </a:r>
            </a:p>
          </p:txBody>
        </p:sp>
        <p:sp>
          <p:nvSpPr>
            <p:cNvPr id="55" name="Rectangle 1125"/>
            <p:cNvSpPr>
              <a:spLocks noChangeArrowheads="1"/>
            </p:cNvSpPr>
            <p:nvPr/>
          </p:nvSpPr>
          <p:spPr bwMode="auto">
            <a:xfrm>
              <a:off x="11036301" y="5503802"/>
              <a:ext cx="228600" cy="528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1431" tIns="30362" rIns="21431" bIns="30362"/>
            <a:lstStyle>
              <a:lvl1pPr defTabSz="1028700"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14350" defTabSz="1028700"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028700" defTabSz="1028700"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543050" defTabSz="1028700"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defTabSz="1028700"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defTabSz="1028700" fontAlgn="base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defTabSz="1028700" fontAlgn="base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defTabSz="1028700" fontAlgn="base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defTabSz="1028700" fontAlgn="base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2363"/>
                </a:lnSpc>
              </a:pPr>
              <a:r>
                <a:rPr kumimoji="0" lang="en-US" altLang="zh-CN" sz="2000" b="1">
                  <a:solidFill>
                    <a:srgbClr val="000000"/>
                  </a:solidFill>
                  <a:latin typeface="Helvetica" panose="020B0604020202020204" pitchFamily="34" charset="0"/>
                </a:rPr>
                <a:t>.</a:t>
              </a:r>
            </a:p>
          </p:txBody>
        </p:sp>
        <p:sp>
          <p:nvSpPr>
            <p:cNvPr id="57" name="Freeform 1134"/>
            <p:cNvSpPr>
              <a:spLocks/>
            </p:cNvSpPr>
            <p:nvPr/>
          </p:nvSpPr>
          <p:spPr bwMode="auto">
            <a:xfrm>
              <a:off x="8820151" y="5587939"/>
              <a:ext cx="663574" cy="258763"/>
            </a:xfrm>
            <a:custGeom>
              <a:avLst/>
              <a:gdLst>
                <a:gd name="T0" fmla="*/ 0 w 673"/>
                <a:gd name="T1" fmla="*/ 0 h 145"/>
                <a:gd name="T2" fmla="*/ 0 w 673"/>
                <a:gd name="T3" fmla="*/ 144 h 145"/>
                <a:gd name="T4" fmla="*/ 672 w 673"/>
                <a:gd name="T5" fmla="*/ 144 h 145"/>
                <a:gd name="T6" fmla="*/ 672 w 673"/>
                <a:gd name="T7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3" h="145">
                  <a:moveTo>
                    <a:pt x="0" y="0"/>
                  </a:moveTo>
                  <a:lnTo>
                    <a:pt x="0" y="144"/>
                  </a:lnTo>
                  <a:lnTo>
                    <a:pt x="672" y="144"/>
                  </a:lnTo>
                  <a:lnTo>
                    <a:pt x="672" y="0"/>
                  </a:lnTo>
                </a:path>
              </a:pathLst>
            </a:custGeom>
            <a:noFill/>
            <a:ln w="50800" cap="rnd" cmpd="sng">
              <a:solidFill>
                <a:srgbClr val="8955FF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1135"/>
            <p:cNvSpPr>
              <a:spLocks/>
            </p:cNvSpPr>
            <p:nvPr/>
          </p:nvSpPr>
          <p:spPr bwMode="auto">
            <a:xfrm>
              <a:off x="9607552" y="5587939"/>
              <a:ext cx="2043112" cy="258763"/>
            </a:xfrm>
            <a:custGeom>
              <a:avLst/>
              <a:gdLst>
                <a:gd name="T0" fmla="*/ 0 w 673"/>
                <a:gd name="T1" fmla="*/ 0 h 145"/>
                <a:gd name="T2" fmla="*/ 0 w 673"/>
                <a:gd name="T3" fmla="*/ 144 h 145"/>
                <a:gd name="T4" fmla="*/ 672 w 673"/>
                <a:gd name="T5" fmla="*/ 144 h 145"/>
                <a:gd name="T6" fmla="*/ 672 w 673"/>
                <a:gd name="T7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3" h="145">
                  <a:moveTo>
                    <a:pt x="0" y="0"/>
                  </a:moveTo>
                  <a:lnTo>
                    <a:pt x="0" y="144"/>
                  </a:lnTo>
                  <a:lnTo>
                    <a:pt x="672" y="144"/>
                  </a:lnTo>
                  <a:lnTo>
                    <a:pt x="672" y="0"/>
                  </a:lnTo>
                </a:path>
              </a:pathLst>
            </a:custGeom>
            <a:noFill/>
            <a:ln w="50800" cap="rnd" cmpd="sng">
              <a:solidFill>
                <a:srgbClr val="8955FF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1" name="Rectangle 1122"/>
          <p:cNvSpPr>
            <a:spLocks noChangeArrowheads="1"/>
          </p:cNvSpPr>
          <p:nvPr/>
        </p:nvSpPr>
        <p:spPr bwMode="auto">
          <a:xfrm>
            <a:off x="8846345" y="5853908"/>
            <a:ext cx="1371600" cy="528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1431" tIns="30362" rIns="21431" bIns="30362"/>
          <a:lstStyle>
            <a:lvl1pPr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143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287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430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ts val="2363"/>
              </a:lnSpc>
            </a:pPr>
            <a:r>
              <a:rPr kumimoji="0" lang="zh-CN" altLang="en-US" sz="2000" b="1" dirty="0">
                <a:solidFill>
                  <a:srgbClr val="000000"/>
                </a:solidFill>
                <a:latin typeface="Helvetica" panose="020B0604020202020204" pitchFamily="34" charset="0"/>
              </a:rPr>
              <a:t>网络</a:t>
            </a:r>
          </a:p>
        </p:txBody>
      </p:sp>
      <p:sp>
        <p:nvSpPr>
          <p:cNvPr id="62" name="Rectangle 1123"/>
          <p:cNvSpPr>
            <a:spLocks noChangeArrowheads="1"/>
          </p:cNvSpPr>
          <p:nvPr/>
        </p:nvSpPr>
        <p:spPr bwMode="auto">
          <a:xfrm>
            <a:off x="10189767" y="5880895"/>
            <a:ext cx="857250" cy="528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1431" tIns="30362" rIns="21431" bIns="30362"/>
          <a:lstStyle>
            <a:lvl1pPr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143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287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4305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defTabSz="1028700"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tabLst>
                <a:tab pos="514350" algn="l"/>
                <a:tab pos="1028700" algn="l"/>
                <a:tab pos="15430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ts val="2363"/>
              </a:lnSpc>
            </a:pPr>
            <a:r>
              <a:rPr kumimoji="0" lang="zh-CN" altLang="en-US" sz="2000" b="1" dirty="0">
                <a:solidFill>
                  <a:srgbClr val="000000"/>
                </a:solidFill>
                <a:latin typeface="Helvetica" panose="020B0604020202020204" pitchFamily="34" charset="0"/>
              </a:rPr>
              <a:t>主机</a:t>
            </a:r>
          </a:p>
        </p:txBody>
      </p:sp>
    </p:spTree>
    <p:extLst>
      <p:ext uri="{BB962C8B-B14F-4D97-AF65-F5344CB8AC3E}">
        <p14:creationId xmlns:p14="http://schemas.microsoft.com/office/powerpoint/2010/main" val="3955046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地址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子网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掩码</a:t>
            </a:r>
          </a:p>
        </p:txBody>
      </p:sp>
      <p:sp>
        <p:nvSpPr>
          <p:cNvPr id="3399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13678" y="1409616"/>
            <a:ext cx="9922731" cy="5111750"/>
          </a:xfrm>
        </p:spPr>
        <p:txBody>
          <a:bodyPr/>
          <a:lstStyle/>
          <a:p>
            <a:pPr>
              <a:buClr>
                <a:srgbClr val="002060"/>
              </a:buClr>
            </a:pPr>
            <a:r>
              <a:rPr lang="zh-CN" altLang="en-US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分类</a:t>
            </a:r>
            <a:r>
              <a:rPr lang="en-US" altLang="zh-CN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4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编址</a:t>
            </a:r>
          </a:p>
          <a:p>
            <a:pPr lvl="1">
              <a:spcBef>
                <a:spcPct val="30000"/>
              </a:spcBef>
              <a:buClr>
                <a:srgbClr val="002060"/>
              </a:buClr>
            </a:pPr>
            <a:r>
              <a:rPr lang="zh-CN" altLang="en-US" sz="24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三类网络具有固定大小</a:t>
            </a:r>
          </a:p>
          <a:p>
            <a:pPr lvl="2">
              <a:spcBef>
                <a:spcPct val="30000"/>
              </a:spcBef>
              <a:buClr>
                <a:srgbClr val="002060"/>
              </a:buClr>
            </a:pPr>
            <a:r>
              <a:rPr lang="en-US" altLang="zh-CN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类：少于</a:t>
            </a:r>
            <a:r>
              <a:rPr lang="en-US" altLang="zh-CN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255</a:t>
            </a:r>
            <a:r>
              <a:rPr lang="zh-CN" altLang="en-US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台主机的网络</a:t>
            </a:r>
          </a:p>
          <a:p>
            <a:pPr lvl="2">
              <a:buClr>
                <a:srgbClr val="002060"/>
              </a:buClr>
            </a:pPr>
            <a:r>
              <a:rPr lang="en-US" altLang="zh-CN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类：介于</a:t>
            </a:r>
            <a:r>
              <a:rPr lang="en-US" altLang="zh-CN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255~65535</a:t>
            </a:r>
            <a:r>
              <a:rPr lang="zh-CN" altLang="en-US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台主机的网络</a:t>
            </a:r>
          </a:p>
          <a:p>
            <a:pPr lvl="2">
              <a:buClr>
                <a:srgbClr val="002060"/>
              </a:buClr>
            </a:pPr>
            <a:r>
              <a:rPr lang="en-US" altLang="zh-CN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类：超过</a:t>
            </a:r>
            <a:r>
              <a:rPr lang="en-US" altLang="zh-CN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65535</a:t>
            </a:r>
            <a:r>
              <a:rPr lang="zh-CN" altLang="en-US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台主机的网络</a:t>
            </a:r>
          </a:p>
          <a:p>
            <a:pPr lvl="1">
              <a:spcBef>
                <a:spcPct val="30000"/>
              </a:spcBef>
              <a:buClr>
                <a:srgbClr val="002060"/>
              </a:buClr>
            </a:pPr>
            <a:r>
              <a:rPr lang="zh-CN" altLang="en-US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地址空间的巨大浪费</a:t>
            </a:r>
          </a:p>
          <a:p>
            <a:pPr lvl="2">
              <a:buClr>
                <a:srgbClr val="002060"/>
              </a:buClr>
            </a:pPr>
            <a:r>
              <a:rPr lang="zh-CN" altLang="en-US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只有两、三台主机的网络，也至少要用</a:t>
            </a:r>
            <a:r>
              <a:rPr lang="en-US" altLang="zh-CN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256</a:t>
            </a:r>
            <a:r>
              <a:rPr lang="zh-CN" altLang="en-US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</a:t>
            </a:r>
          </a:p>
          <a:p>
            <a:pPr lvl="2">
              <a:buClr>
                <a:srgbClr val="002060"/>
              </a:buClr>
            </a:pPr>
            <a:r>
              <a:rPr lang="en-US" altLang="zh-CN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类浪费严重，少有达上万台主机的大型</a:t>
            </a:r>
            <a:r>
              <a:rPr lang="en-US" altLang="zh-CN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网络</a:t>
            </a:r>
            <a:endParaRPr lang="en-US" altLang="zh-CN" dirty="0" smtClean="0">
              <a:solidFill>
                <a:srgbClr val="00206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buClr>
                <a:srgbClr val="002060"/>
              </a:buClr>
            </a:pPr>
            <a:endParaRPr lang="zh-CN" altLang="en-US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ct val="45000"/>
              </a:spcBef>
              <a:buClr>
                <a:srgbClr val="002060"/>
              </a:buClr>
            </a:pPr>
            <a:r>
              <a:rPr lang="zh-CN" altLang="en-US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解决方法：无类别</a:t>
            </a:r>
            <a:r>
              <a:rPr lang="en-US" altLang="zh-CN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4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编址</a:t>
            </a:r>
          </a:p>
          <a:p>
            <a:pPr lvl="1">
              <a:spcBef>
                <a:spcPct val="30000"/>
              </a:spcBef>
              <a:buClr>
                <a:srgbClr val="002060"/>
              </a:buClr>
            </a:pPr>
            <a:r>
              <a:rPr lang="zh-CN" altLang="en-US" sz="24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子网划分 </a:t>
            </a:r>
            <a:r>
              <a:rPr lang="en-US" altLang="zh-CN" sz="24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endParaRPr lang="en-US" altLang="zh-CN" sz="24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404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9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99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341438"/>
            <a:ext cx="11328400" cy="4967287"/>
          </a:xfrm>
        </p:spPr>
        <p:txBody>
          <a:bodyPr/>
          <a:lstStyle/>
          <a:p>
            <a:pPr>
              <a:buClr>
                <a:srgbClr val="002060"/>
              </a:buClr>
            </a:pPr>
            <a:r>
              <a:rPr lang="zh-CN" altLang="en-US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子网划分</a:t>
            </a:r>
          </a:p>
          <a:p>
            <a:pPr lvl="1">
              <a:buClr>
                <a:srgbClr val="002060"/>
              </a:buClr>
            </a:pPr>
            <a:r>
              <a:rPr lang="zh-CN" altLang="en-US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将一个给定的</a:t>
            </a:r>
            <a:r>
              <a:rPr lang="en-US" altLang="zh-CN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网络分为一组子网（</a:t>
            </a:r>
            <a:r>
              <a:rPr lang="en-US" altLang="zh-CN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subnet</a:t>
            </a:r>
            <a:r>
              <a:rPr lang="zh-CN" altLang="en-US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</a:p>
          <a:p>
            <a:pPr lvl="1">
              <a:buClr>
                <a:srgbClr val="002060"/>
              </a:buClr>
            </a:pPr>
            <a:r>
              <a:rPr lang="zh-CN" altLang="en-US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一个或多个物理网络构成一个</a:t>
            </a:r>
            <a:r>
              <a:rPr lang="en-US" altLang="zh-CN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子网</a:t>
            </a:r>
          </a:p>
          <a:p>
            <a:pPr>
              <a:buClr>
                <a:srgbClr val="002060"/>
              </a:buClr>
            </a:pPr>
            <a:r>
              <a:rPr lang="zh-CN" altLang="en-US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两级层次  三级层次</a:t>
            </a:r>
          </a:p>
        </p:txBody>
      </p:sp>
      <p:grpSp>
        <p:nvGrpSpPr>
          <p:cNvPr id="342020" name="Group 4"/>
          <p:cNvGrpSpPr>
            <a:grpSpLocks/>
          </p:cNvGrpSpPr>
          <p:nvPr/>
        </p:nvGrpSpPr>
        <p:grpSpPr bwMode="auto">
          <a:xfrm>
            <a:off x="3043239" y="3485101"/>
            <a:ext cx="6770687" cy="936626"/>
            <a:chOff x="747" y="2613"/>
            <a:chExt cx="4265" cy="590"/>
          </a:xfrm>
        </p:grpSpPr>
        <p:sp>
          <p:nvSpPr>
            <p:cNvPr id="342021" name="Rectangle 5"/>
            <p:cNvSpPr>
              <a:spLocks noChangeArrowheads="1"/>
            </p:cNvSpPr>
            <p:nvPr/>
          </p:nvSpPr>
          <p:spPr bwMode="auto">
            <a:xfrm>
              <a:off x="756" y="2840"/>
              <a:ext cx="4256" cy="328"/>
            </a:xfrm>
            <a:prstGeom prst="rect">
              <a:avLst/>
            </a:prstGeom>
            <a:solidFill>
              <a:srgbClr val="FFE59B"/>
            </a:solidFill>
            <a:ln w="28575">
              <a:solidFill>
                <a:schemeClr val="bg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2400" b="1">
                <a:solidFill>
                  <a:srgbClr val="002060"/>
                </a:solidFill>
              </a:endParaRPr>
            </a:p>
          </p:txBody>
        </p:sp>
        <p:sp>
          <p:nvSpPr>
            <p:cNvPr id="342022" name="Rectangle 6"/>
            <p:cNvSpPr>
              <a:spLocks noChangeArrowheads="1"/>
            </p:cNvSpPr>
            <p:nvPr/>
          </p:nvSpPr>
          <p:spPr bwMode="auto">
            <a:xfrm>
              <a:off x="2426" y="2613"/>
              <a:ext cx="816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9050" tIns="26988" rIns="19050" bIns="26988" anchor="ctr" anchorCtr="1">
              <a:spAutoFit/>
            </a:bodyPr>
            <a:lstStyle>
              <a:lvl1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>
                  <a:solidFill>
                    <a:srgbClr val="002060"/>
                  </a:solidFill>
                  <a:latin typeface="Franklin Gothic Medium" panose="020B0603020102020204" pitchFamily="34" charset="0"/>
                  <a:ea typeface="楷体_GB2312" pitchFamily="49" charset="-122"/>
                </a:rPr>
                <a:t>32 bits</a:t>
              </a:r>
            </a:p>
          </p:txBody>
        </p:sp>
        <p:sp>
          <p:nvSpPr>
            <p:cNvPr id="342023" name="Rectangle 7"/>
            <p:cNvSpPr>
              <a:spLocks noChangeArrowheads="1"/>
            </p:cNvSpPr>
            <p:nvPr/>
          </p:nvSpPr>
          <p:spPr bwMode="auto">
            <a:xfrm>
              <a:off x="1019" y="2851"/>
              <a:ext cx="1072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50" tIns="26988" rIns="19050" bIns="26988" anchor="ctr" anchorCtr="1"/>
            <a:lstStyle>
              <a:lvl1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lnSpc>
                  <a:spcPts val="27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 dirty="0" smtClean="0">
                  <a:solidFill>
                    <a:srgbClr val="002060"/>
                  </a:solidFill>
                  <a:latin typeface="Franklin Gothic Medium" panose="020B0603020102020204" pitchFamily="34" charset="0"/>
                  <a:ea typeface="楷体_GB2312" pitchFamily="49" charset="-122"/>
                </a:rPr>
                <a:t>网络号</a:t>
              </a:r>
              <a:endParaRPr kumimoji="1" lang="en-US" altLang="zh-CN" sz="2800" b="1" dirty="0">
                <a:solidFill>
                  <a:srgbClr val="002060"/>
                </a:solidFill>
                <a:latin typeface="Franklin Gothic Medium" panose="020B0603020102020204" pitchFamily="34" charset="0"/>
                <a:ea typeface="楷体_GB2312" pitchFamily="49" charset="-122"/>
              </a:endParaRPr>
            </a:p>
          </p:txBody>
        </p:sp>
        <p:sp>
          <p:nvSpPr>
            <p:cNvPr id="342024" name="Rectangle 8"/>
            <p:cNvSpPr>
              <a:spLocks noChangeArrowheads="1"/>
            </p:cNvSpPr>
            <p:nvPr/>
          </p:nvSpPr>
          <p:spPr bwMode="auto">
            <a:xfrm>
              <a:off x="3209" y="2851"/>
              <a:ext cx="744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50" tIns="26988" rIns="19050" bIns="26988" anchor="ctr" anchorCtr="1"/>
            <a:lstStyle>
              <a:lvl1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lnSpc>
                  <a:spcPts val="27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>
                  <a:solidFill>
                    <a:srgbClr val="002060"/>
                  </a:solidFill>
                  <a:latin typeface="Franklin Gothic Medium" panose="020B0603020102020204" pitchFamily="34" charset="0"/>
                  <a:ea typeface="楷体_GB2312" pitchFamily="49" charset="-122"/>
                </a:rPr>
                <a:t>Host id</a:t>
              </a:r>
            </a:p>
          </p:txBody>
        </p:sp>
        <p:sp>
          <p:nvSpPr>
            <p:cNvPr id="342025" name="Line 9"/>
            <p:cNvSpPr>
              <a:spLocks noChangeShapeType="1"/>
            </p:cNvSpPr>
            <p:nvPr/>
          </p:nvSpPr>
          <p:spPr bwMode="auto">
            <a:xfrm>
              <a:off x="3334" y="2723"/>
              <a:ext cx="163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2060"/>
                </a:solidFill>
              </a:endParaRPr>
            </a:p>
          </p:txBody>
        </p:sp>
        <p:sp>
          <p:nvSpPr>
            <p:cNvPr id="342026" name="Line 10"/>
            <p:cNvSpPr>
              <a:spLocks noChangeShapeType="1"/>
            </p:cNvSpPr>
            <p:nvPr/>
          </p:nvSpPr>
          <p:spPr bwMode="auto">
            <a:xfrm flipH="1" flipV="1">
              <a:off x="747" y="2723"/>
              <a:ext cx="154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2060"/>
                </a:solidFill>
              </a:endParaRPr>
            </a:p>
          </p:txBody>
        </p:sp>
        <p:sp>
          <p:nvSpPr>
            <p:cNvPr id="342027" name="Line 11"/>
            <p:cNvSpPr>
              <a:spLocks noChangeShapeType="1"/>
            </p:cNvSpPr>
            <p:nvPr/>
          </p:nvSpPr>
          <p:spPr bwMode="auto">
            <a:xfrm>
              <a:off x="2334" y="2851"/>
              <a:ext cx="0" cy="317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2060"/>
                </a:solidFill>
              </a:endParaRPr>
            </a:p>
          </p:txBody>
        </p:sp>
      </p:grpSp>
      <p:grpSp>
        <p:nvGrpSpPr>
          <p:cNvPr id="342028" name="Group 12"/>
          <p:cNvGrpSpPr>
            <a:grpSpLocks/>
          </p:cNvGrpSpPr>
          <p:nvPr/>
        </p:nvGrpSpPr>
        <p:grpSpPr bwMode="auto">
          <a:xfrm>
            <a:off x="5565775" y="3858167"/>
            <a:ext cx="4248150" cy="533401"/>
            <a:chOff x="2336" y="3338"/>
            <a:chExt cx="2676" cy="336"/>
          </a:xfrm>
        </p:grpSpPr>
        <p:sp>
          <p:nvSpPr>
            <p:cNvPr id="342029" name="Rectangle 13"/>
            <p:cNvSpPr>
              <a:spLocks noChangeArrowheads="1"/>
            </p:cNvSpPr>
            <p:nvPr/>
          </p:nvSpPr>
          <p:spPr bwMode="auto">
            <a:xfrm>
              <a:off x="2336" y="3344"/>
              <a:ext cx="2676" cy="31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2060"/>
                </a:solidFill>
              </a:endParaRPr>
            </a:p>
          </p:txBody>
        </p:sp>
        <p:sp>
          <p:nvSpPr>
            <p:cNvPr id="342030" name="Line 14"/>
            <p:cNvSpPr>
              <a:spLocks noChangeShapeType="1"/>
            </p:cNvSpPr>
            <p:nvPr/>
          </p:nvSpPr>
          <p:spPr bwMode="auto">
            <a:xfrm>
              <a:off x="3515" y="3339"/>
              <a:ext cx="0" cy="31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2060"/>
                </a:solidFill>
              </a:endParaRPr>
            </a:p>
          </p:txBody>
        </p:sp>
        <p:sp>
          <p:nvSpPr>
            <p:cNvPr id="342031" name="Text Box 15"/>
            <p:cNvSpPr txBox="1">
              <a:spLocks noChangeArrowheads="1"/>
            </p:cNvSpPr>
            <p:nvPr/>
          </p:nvSpPr>
          <p:spPr bwMode="auto">
            <a:xfrm>
              <a:off x="2505" y="3344"/>
              <a:ext cx="90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dirty="0">
                  <a:solidFill>
                    <a:srgbClr val="002060"/>
                  </a:solidFill>
                </a:rPr>
                <a:t>子网</a:t>
              </a:r>
              <a:r>
                <a:rPr lang="zh-CN" altLang="en-US" sz="2800" b="1" dirty="0" smtClean="0">
                  <a:solidFill>
                    <a:srgbClr val="002060"/>
                  </a:solidFill>
                </a:rPr>
                <a:t>号</a:t>
              </a:r>
              <a:endParaRPr lang="en-US" altLang="zh-CN" sz="2800" b="1" dirty="0">
                <a:solidFill>
                  <a:srgbClr val="002060"/>
                </a:solidFill>
              </a:endParaRPr>
            </a:p>
          </p:txBody>
        </p:sp>
        <p:sp>
          <p:nvSpPr>
            <p:cNvPr id="342032" name="Text Box 16"/>
            <p:cNvSpPr txBox="1">
              <a:spLocks noChangeArrowheads="1"/>
            </p:cNvSpPr>
            <p:nvPr/>
          </p:nvSpPr>
          <p:spPr bwMode="auto">
            <a:xfrm>
              <a:off x="3881" y="3338"/>
              <a:ext cx="79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dirty="0" smtClean="0">
                  <a:solidFill>
                    <a:srgbClr val="002060"/>
                  </a:solidFill>
                </a:rPr>
                <a:t>主机号</a:t>
              </a:r>
              <a:endParaRPr lang="en-US" altLang="zh-CN" sz="2800" b="1" dirty="0">
                <a:solidFill>
                  <a:srgbClr val="002060"/>
                </a:solidFill>
              </a:endParaRPr>
            </a:p>
          </p:txBody>
        </p:sp>
      </p:grpSp>
      <p:sp>
        <p:nvSpPr>
          <p:cNvPr id="342033" name="AutoShape 17"/>
          <p:cNvSpPr>
            <a:spLocks noChangeArrowheads="1"/>
          </p:cNvSpPr>
          <p:nvPr/>
        </p:nvSpPr>
        <p:spPr bwMode="auto">
          <a:xfrm>
            <a:off x="5562601" y="5142455"/>
            <a:ext cx="1740585" cy="461665"/>
          </a:xfrm>
          <a:prstGeom prst="wedgeRectCallout">
            <a:avLst>
              <a:gd name="adj1" fmla="val -1384"/>
              <a:gd name="adj2" fmla="val -223810"/>
            </a:avLst>
          </a:prstGeom>
          <a:gradFill rotWithShape="1">
            <a:gsLst>
              <a:gs pos="0">
                <a:srgbClr val="66FFFF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 smtClean="0">
                <a:solidFill>
                  <a:srgbClr val="002060"/>
                </a:solidFill>
              </a:rPr>
              <a:t>实际网络</a:t>
            </a:r>
            <a:endParaRPr lang="en-US" altLang="zh-CN" sz="2400" b="1" dirty="0">
              <a:solidFill>
                <a:srgbClr val="002060"/>
              </a:solidFill>
            </a:endParaRPr>
          </a:p>
        </p:txBody>
      </p:sp>
      <p:sp>
        <p:nvSpPr>
          <p:cNvPr id="342034" name="AutoShape 18"/>
          <p:cNvSpPr>
            <a:spLocks noChangeArrowheads="1"/>
          </p:cNvSpPr>
          <p:nvPr/>
        </p:nvSpPr>
        <p:spPr bwMode="auto">
          <a:xfrm>
            <a:off x="3034615" y="5090062"/>
            <a:ext cx="1422185" cy="461665"/>
          </a:xfrm>
          <a:prstGeom prst="wedgeRectCallout">
            <a:avLst>
              <a:gd name="adj1" fmla="val 27338"/>
              <a:gd name="adj2" fmla="val -221769"/>
            </a:avLst>
          </a:prstGeom>
          <a:gradFill rotWithShape="1">
            <a:gsLst>
              <a:gs pos="0">
                <a:srgbClr val="FFE59B"/>
              </a:gs>
              <a:gs pos="100000">
                <a:schemeClr val="folHlink"/>
              </a:gs>
            </a:gsLst>
            <a:lin ang="5400000" scaled="1"/>
          </a:gra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 smtClean="0">
                <a:solidFill>
                  <a:srgbClr val="002060"/>
                </a:solidFill>
              </a:rPr>
              <a:t>实际网络</a:t>
            </a:r>
            <a:endParaRPr lang="en-US" altLang="zh-CN" sz="2400" b="1" dirty="0">
              <a:solidFill>
                <a:srgbClr val="002060"/>
              </a:solidFill>
            </a:endParaRPr>
          </a:p>
        </p:txBody>
      </p:sp>
      <p:grpSp>
        <p:nvGrpSpPr>
          <p:cNvPr id="342035" name="Group 19"/>
          <p:cNvGrpSpPr>
            <a:grpSpLocks/>
          </p:cNvGrpSpPr>
          <p:nvPr/>
        </p:nvGrpSpPr>
        <p:grpSpPr bwMode="auto">
          <a:xfrm>
            <a:off x="5565776" y="4488405"/>
            <a:ext cx="1871663" cy="461963"/>
            <a:chOff x="2336" y="3245"/>
            <a:chExt cx="1179" cy="291"/>
          </a:xfrm>
        </p:grpSpPr>
        <p:sp>
          <p:nvSpPr>
            <p:cNvPr id="342036" name="Text Box 20"/>
            <p:cNvSpPr txBox="1">
              <a:spLocks noChangeArrowheads="1"/>
            </p:cNvSpPr>
            <p:nvPr/>
          </p:nvSpPr>
          <p:spPr bwMode="auto">
            <a:xfrm>
              <a:off x="2549" y="3245"/>
              <a:ext cx="70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2060"/>
                  </a:solidFill>
                </a:rPr>
                <a:t>变化值</a:t>
              </a:r>
              <a:endParaRPr lang="en-US" altLang="zh-CN" sz="2400" b="1" dirty="0">
                <a:solidFill>
                  <a:srgbClr val="002060"/>
                </a:solidFill>
              </a:endParaRPr>
            </a:p>
          </p:txBody>
        </p:sp>
        <p:sp>
          <p:nvSpPr>
            <p:cNvPr id="342037" name="Line 21"/>
            <p:cNvSpPr>
              <a:spLocks noChangeShapeType="1"/>
            </p:cNvSpPr>
            <p:nvPr/>
          </p:nvSpPr>
          <p:spPr bwMode="auto">
            <a:xfrm>
              <a:off x="2336" y="3249"/>
              <a:ext cx="0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2060"/>
                </a:solidFill>
              </a:endParaRPr>
            </a:p>
          </p:txBody>
        </p:sp>
        <p:sp>
          <p:nvSpPr>
            <p:cNvPr id="342038" name="Line 22"/>
            <p:cNvSpPr>
              <a:spLocks noChangeShapeType="1"/>
            </p:cNvSpPr>
            <p:nvPr/>
          </p:nvSpPr>
          <p:spPr bwMode="auto">
            <a:xfrm>
              <a:off x="3515" y="3249"/>
              <a:ext cx="0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2060"/>
                </a:solidFill>
              </a:endParaRPr>
            </a:p>
          </p:txBody>
        </p:sp>
        <p:sp>
          <p:nvSpPr>
            <p:cNvPr id="342039" name="Line 23"/>
            <p:cNvSpPr>
              <a:spLocks noChangeShapeType="1"/>
            </p:cNvSpPr>
            <p:nvPr/>
          </p:nvSpPr>
          <p:spPr bwMode="auto">
            <a:xfrm flipH="1">
              <a:off x="2336" y="3385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2060"/>
                </a:solidFill>
              </a:endParaRPr>
            </a:p>
          </p:txBody>
        </p:sp>
        <p:sp>
          <p:nvSpPr>
            <p:cNvPr id="342040" name="Line 24"/>
            <p:cNvSpPr>
              <a:spLocks noChangeShapeType="1"/>
            </p:cNvSpPr>
            <p:nvPr/>
          </p:nvSpPr>
          <p:spPr bwMode="auto">
            <a:xfrm>
              <a:off x="3243" y="3385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2060"/>
                </a:solidFill>
              </a:endParaRPr>
            </a:p>
          </p:txBody>
        </p:sp>
      </p:grpSp>
      <p:sp>
        <p:nvSpPr>
          <p:cNvPr id="342042" name="AutoShape 26"/>
          <p:cNvSpPr>
            <a:spLocks noChangeArrowheads="1"/>
          </p:cNvSpPr>
          <p:nvPr/>
        </p:nvSpPr>
        <p:spPr bwMode="auto">
          <a:xfrm>
            <a:off x="2558257" y="5134393"/>
            <a:ext cx="2374900" cy="461665"/>
          </a:xfrm>
          <a:prstGeom prst="wedgeRectCallout">
            <a:avLst>
              <a:gd name="adj1" fmla="val 16713"/>
              <a:gd name="adj2" fmla="val -221029"/>
            </a:avLst>
          </a:prstGeom>
          <a:gradFill rotWithShape="1">
            <a:gsLst>
              <a:gs pos="0">
                <a:srgbClr val="FFE59B"/>
              </a:gs>
              <a:gs pos="100000">
                <a:schemeClr val="folHlink"/>
              </a:gs>
            </a:gsLst>
            <a:lin ang="5400000" scaled="1"/>
          </a:gra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组织标识</a:t>
            </a:r>
            <a:endParaRPr lang="en-US" altLang="zh-CN" sz="2400" b="1" dirty="0">
              <a:solidFill>
                <a:srgbClr val="00206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31" name="Rectangle 2"/>
          <p:cNvSpPr>
            <a:spLocks noGrp="1" noChangeArrowheads="1"/>
          </p:cNvSpPr>
          <p:nvPr>
            <p:ph type="title"/>
          </p:nvPr>
        </p:nvSpPr>
        <p:spPr>
          <a:xfrm>
            <a:off x="1733550" y="169864"/>
            <a:ext cx="10058400" cy="858837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地址：子网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掩码</a:t>
            </a:r>
          </a:p>
        </p:txBody>
      </p:sp>
    </p:spTree>
    <p:extLst>
      <p:ext uri="{BB962C8B-B14F-4D97-AF65-F5344CB8AC3E}">
        <p14:creationId xmlns:p14="http://schemas.microsoft.com/office/powerpoint/2010/main" val="1675237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2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42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4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42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42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3420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42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4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4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33" grpId="0" animBg="1"/>
      <p:bldP spid="342034" grpId="0" animBg="1"/>
      <p:bldP spid="342034" grpId="1" animBg="1"/>
      <p:bldP spid="34204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276352"/>
            <a:ext cx="11328400" cy="4967287"/>
          </a:xfrm>
        </p:spPr>
        <p:txBody>
          <a:bodyPr/>
          <a:lstStyle/>
          <a:p>
            <a:pPr>
              <a:lnSpc>
                <a:spcPct val="93000"/>
              </a:lnSpc>
              <a:buClr>
                <a:srgbClr val="002060"/>
              </a:buClr>
            </a:pPr>
            <a:r>
              <a:rPr lang="zh-CN" altLang="en-US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子网划分</a:t>
            </a:r>
          </a:p>
          <a:p>
            <a:pPr lvl="1">
              <a:lnSpc>
                <a:spcPct val="93000"/>
              </a:lnSpc>
              <a:spcBef>
                <a:spcPct val="15000"/>
              </a:spcBef>
              <a:buClr>
                <a:srgbClr val="002060"/>
              </a:buClr>
            </a:pPr>
            <a:r>
              <a:rPr lang="zh-CN" altLang="en-US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更适合于物理网的实际大小</a:t>
            </a:r>
          </a:p>
          <a:p>
            <a:pPr lvl="1">
              <a:lnSpc>
                <a:spcPct val="93000"/>
              </a:lnSpc>
              <a:buClr>
                <a:srgbClr val="002060"/>
              </a:buClr>
            </a:pPr>
            <a:r>
              <a:rPr lang="zh-CN" altLang="en-US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不能再用首字节判定网络大小</a:t>
            </a:r>
          </a:p>
          <a:p>
            <a:pPr lvl="2">
              <a:lnSpc>
                <a:spcPct val="93000"/>
              </a:lnSpc>
              <a:buClr>
                <a:srgbClr val="002060"/>
              </a:buClr>
            </a:pPr>
            <a:r>
              <a:rPr lang="zh-CN" altLang="en-US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字节边界没有意义，仅用在点分十进制表示法</a:t>
            </a:r>
            <a:r>
              <a:rPr lang="zh-CN" altLang="en-US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endParaRPr lang="en-US" altLang="zh-CN" dirty="0" smtClean="0">
              <a:solidFill>
                <a:srgbClr val="00206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93000"/>
              </a:lnSpc>
              <a:buClr>
                <a:srgbClr val="002060"/>
              </a:buClr>
            </a:pPr>
            <a:endParaRPr lang="zh-CN" altLang="en-US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93000"/>
              </a:lnSpc>
              <a:spcBef>
                <a:spcPct val="25000"/>
              </a:spcBef>
              <a:buClr>
                <a:srgbClr val="002060"/>
              </a:buClr>
            </a:pPr>
            <a:r>
              <a:rPr lang="zh-CN" altLang="en-US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掩码（</a:t>
            </a:r>
            <a:r>
              <a:rPr lang="en-US" altLang="zh-CN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Mask</a:t>
            </a:r>
            <a:r>
              <a:rPr lang="zh-CN" altLang="en-US" sz="24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2400" dirty="0" smtClean="0">
              <a:solidFill>
                <a:srgbClr val="00206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93000"/>
              </a:lnSpc>
              <a:spcBef>
                <a:spcPct val="15000"/>
              </a:spcBef>
              <a:buClr>
                <a:srgbClr val="002060"/>
              </a:buClr>
            </a:pPr>
            <a:r>
              <a:rPr lang="zh-CN" altLang="en-US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确定</a:t>
            </a:r>
            <a:r>
              <a:rPr lang="en-US" altLang="zh-CN" sz="24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地址哪一部分是包含子网的网络地址段，  </a:t>
            </a:r>
            <a:r>
              <a:rPr lang="zh-CN" altLang="en-US" sz="24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哪</a:t>
            </a:r>
            <a:r>
              <a:rPr lang="zh-CN" altLang="en-US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一部分是主机地址</a:t>
            </a:r>
            <a:r>
              <a:rPr lang="zh-CN" altLang="en-US" sz="24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段。</a:t>
            </a:r>
            <a:endParaRPr lang="zh-CN" altLang="en-US" sz="24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zh-CN" altLang="en-US" sz="24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格式：</a:t>
            </a:r>
            <a:r>
              <a:rPr lang="en-US" altLang="zh-CN" sz="24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32-bit </a:t>
            </a:r>
            <a:r>
              <a:rPr lang="zh-CN" altLang="en-US" sz="24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二进制数，</a:t>
            </a:r>
            <a:r>
              <a:rPr lang="zh-CN" altLang="en-US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网络地址部分和子网地址部分全为</a:t>
            </a:r>
            <a:r>
              <a:rPr lang="en-US" altLang="zh-CN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，它的主机部分全为</a:t>
            </a:r>
            <a:r>
              <a:rPr lang="en-US" altLang="zh-CN" sz="240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endParaRPr lang="zh-CN" altLang="en-US" sz="2400" dirty="0" smtClean="0">
              <a:solidFill>
                <a:srgbClr val="00206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93000"/>
              </a:lnSpc>
              <a:buClr>
                <a:srgbClr val="002060"/>
              </a:buClr>
            </a:pPr>
            <a:r>
              <a:rPr lang="en-US" altLang="zh-CN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：网络号或</a:t>
            </a:r>
            <a:r>
              <a:rPr lang="en-US" altLang="zh-CN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网络号</a:t>
            </a:r>
            <a:r>
              <a:rPr lang="en-US" altLang="zh-CN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</a:t>
            </a:r>
            <a:r>
              <a:rPr lang="zh-CN" altLang="en-US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子网号</a:t>
            </a:r>
            <a:endParaRPr lang="zh-CN" altLang="en-US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93000"/>
              </a:lnSpc>
              <a:buClr>
                <a:srgbClr val="002060"/>
              </a:buClr>
            </a:pPr>
            <a:r>
              <a:rPr lang="en-US" altLang="zh-CN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：主机号</a:t>
            </a:r>
            <a:endParaRPr lang="zh-CN" altLang="en-US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80932" name="Text Box 4"/>
          <p:cNvSpPr txBox="1">
            <a:spLocks noChangeArrowheads="1"/>
          </p:cNvSpPr>
          <p:nvPr/>
        </p:nvSpPr>
        <p:spPr bwMode="auto">
          <a:xfrm>
            <a:off x="3935414" y="5661025"/>
            <a:ext cx="6632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11001010  01110011  00001100  00000000</a:t>
            </a:r>
          </a:p>
        </p:txBody>
      </p:sp>
      <p:sp>
        <p:nvSpPr>
          <p:cNvPr id="380933" name="Text Box 5"/>
          <p:cNvSpPr txBox="1">
            <a:spLocks noChangeArrowheads="1"/>
          </p:cNvSpPr>
          <p:nvPr/>
        </p:nvSpPr>
        <p:spPr bwMode="auto">
          <a:xfrm>
            <a:off x="1808240" y="5646738"/>
            <a:ext cx="19604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400" b="1" i="1">
                <a:solidFill>
                  <a:srgbClr val="002060"/>
                </a:solidFill>
              </a:rPr>
              <a:t>202.115.12.0</a:t>
            </a:r>
          </a:p>
        </p:txBody>
      </p:sp>
      <p:sp>
        <p:nvSpPr>
          <p:cNvPr id="380934" name="Text Box 6"/>
          <p:cNvSpPr txBox="1">
            <a:spLocks noChangeArrowheads="1"/>
          </p:cNvSpPr>
          <p:nvPr/>
        </p:nvSpPr>
        <p:spPr bwMode="auto">
          <a:xfrm>
            <a:off x="3979049" y="6021388"/>
            <a:ext cx="6632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11111111  </a:t>
            </a: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11111111   11111111   00000000</a:t>
            </a:r>
            <a:endParaRPr lang="en-US" altLang="zh-C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0935" name="Text Box 7"/>
          <p:cNvSpPr txBox="1">
            <a:spLocks noChangeArrowheads="1"/>
          </p:cNvSpPr>
          <p:nvPr/>
        </p:nvSpPr>
        <p:spPr bwMode="auto">
          <a:xfrm>
            <a:off x="3993337" y="6015039"/>
            <a:ext cx="6589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11111111  </a:t>
            </a: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11111111    11111111  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11000000</a:t>
            </a:r>
          </a:p>
        </p:txBody>
      </p:sp>
      <p:sp>
        <p:nvSpPr>
          <p:cNvPr id="380936" name="Text Box 8"/>
          <p:cNvSpPr txBox="1">
            <a:spLocks noChangeArrowheads="1"/>
          </p:cNvSpPr>
          <p:nvPr/>
        </p:nvSpPr>
        <p:spPr bwMode="auto">
          <a:xfrm>
            <a:off x="2062164" y="6021388"/>
            <a:ext cx="13747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 i="1" dirty="0">
                <a:solidFill>
                  <a:srgbClr val="002060"/>
                </a:solidFill>
              </a:rPr>
              <a:t>掩码</a:t>
            </a:r>
          </a:p>
        </p:txBody>
      </p:sp>
      <p:sp>
        <p:nvSpPr>
          <p:cNvPr id="380937" name="Rectangle 9"/>
          <p:cNvSpPr>
            <a:spLocks noChangeArrowheads="1"/>
          </p:cNvSpPr>
          <p:nvPr/>
        </p:nvSpPr>
        <p:spPr bwMode="auto">
          <a:xfrm>
            <a:off x="3979049" y="5651502"/>
            <a:ext cx="4376739" cy="442912"/>
          </a:xfrm>
          <a:prstGeom prst="rect">
            <a:avLst/>
          </a:prstGeom>
          <a:solidFill>
            <a:srgbClr val="FFB76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0938" name="Rectangle 10"/>
          <p:cNvSpPr>
            <a:spLocks noChangeArrowheads="1"/>
          </p:cNvSpPr>
          <p:nvPr/>
        </p:nvSpPr>
        <p:spPr bwMode="auto">
          <a:xfrm>
            <a:off x="8388353" y="5726114"/>
            <a:ext cx="1079500" cy="358775"/>
          </a:xfrm>
          <a:prstGeom prst="rect">
            <a:avLst/>
          </a:prstGeom>
          <a:solidFill>
            <a:schemeClr val="accent6">
              <a:lumMod val="75000"/>
              <a:alpha val="2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0939" name="Rectangle 11"/>
          <p:cNvSpPr>
            <a:spLocks noChangeArrowheads="1"/>
          </p:cNvSpPr>
          <p:nvPr/>
        </p:nvSpPr>
        <p:spPr bwMode="auto">
          <a:xfrm>
            <a:off x="4080912" y="5714704"/>
            <a:ext cx="3847066" cy="313890"/>
          </a:xfrm>
          <a:prstGeom prst="rect">
            <a:avLst/>
          </a:prstGeom>
          <a:solidFill>
            <a:srgbClr val="FFB76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0940" name="Rectangle 12"/>
          <p:cNvSpPr>
            <a:spLocks noChangeArrowheads="1"/>
          </p:cNvSpPr>
          <p:nvPr/>
        </p:nvSpPr>
        <p:spPr bwMode="auto">
          <a:xfrm>
            <a:off x="7967664" y="5711826"/>
            <a:ext cx="1584325" cy="358775"/>
          </a:xfrm>
          <a:prstGeom prst="rect">
            <a:avLst/>
          </a:prstGeom>
          <a:solidFill>
            <a:schemeClr val="accent6">
              <a:lumMod val="75000"/>
              <a:alpha val="2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80941" name="Group 13"/>
          <p:cNvGrpSpPr>
            <a:grpSpLocks/>
          </p:cNvGrpSpPr>
          <p:nvPr/>
        </p:nvGrpSpPr>
        <p:grpSpPr bwMode="auto">
          <a:xfrm>
            <a:off x="4511676" y="1341438"/>
            <a:ext cx="5616575" cy="576262"/>
            <a:chOff x="1882" y="845"/>
            <a:chExt cx="3538" cy="363"/>
          </a:xfrm>
        </p:grpSpPr>
        <p:sp>
          <p:nvSpPr>
            <p:cNvPr id="380942" name="Rectangle 14"/>
            <p:cNvSpPr>
              <a:spLocks noChangeArrowheads="1"/>
            </p:cNvSpPr>
            <p:nvPr/>
          </p:nvSpPr>
          <p:spPr bwMode="auto">
            <a:xfrm>
              <a:off x="1882" y="845"/>
              <a:ext cx="1089" cy="318"/>
            </a:xfrm>
            <a:prstGeom prst="rect">
              <a:avLst/>
            </a:prstGeom>
            <a:solidFill>
              <a:srgbClr val="FFE59B"/>
            </a:solidFill>
            <a:ln w="28575">
              <a:solidFill>
                <a:schemeClr val="bg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2400" b="1">
                <a:solidFill>
                  <a:srgbClr val="002060"/>
                </a:solidFill>
              </a:endParaRPr>
            </a:p>
          </p:txBody>
        </p:sp>
        <p:sp>
          <p:nvSpPr>
            <p:cNvPr id="380943" name="Rectangle 15"/>
            <p:cNvSpPr>
              <a:spLocks noChangeArrowheads="1"/>
            </p:cNvSpPr>
            <p:nvPr/>
          </p:nvSpPr>
          <p:spPr bwMode="auto">
            <a:xfrm>
              <a:off x="1928" y="856"/>
              <a:ext cx="1072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50" tIns="26988" rIns="19050" bIns="26988" anchor="ctr" anchorCtr="1"/>
            <a:lstStyle>
              <a:lvl1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914400" algn="l"/>
                  <a:tab pos="13716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lnSpc>
                  <a:spcPts val="27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dirty="0" smtClean="0">
                  <a:solidFill>
                    <a:srgbClr val="002060"/>
                  </a:solidFill>
                  <a:latin typeface="Franklin Gothic Medium" panose="020B0603020102020204" pitchFamily="34" charset="0"/>
                  <a:ea typeface="楷体_GB2312" pitchFamily="49" charset="-122"/>
                </a:rPr>
                <a:t>网络号</a:t>
              </a:r>
              <a:endParaRPr kumimoji="1" lang="en-US" altLang="zh-CN" sz="2400" b="1" dirty="0">
                <a:solidFill>
                  <a:srgbClr val="002060"/>
                </a:solidFill>
                <a:latin typeface="Franklin Gothic Medium" panose="020B0603020102020204" pitchFamily="34" charset="0"/>
                <a:ea typeface="楷体_GB2312" pitchFamily="49" charset="-122"/>
              </a:endParaRPr>
            </a:p>
          </p:txBody>
        </p:sp>
        <p:sp>
          <p:nvSpPr>
            <p:cNvPr id="380944" name="Rectangle 16"/>
            <p:cNvSpPr>
              <a:spLocks noChangeArrowheads="1"/>
            </p:cNvSpPr>
            <p:nvPr/>
          </p:nvSpPr>
          <p:spPr bwMode="auto">
            <a:xfrm>
              <a:off x="2971" y="845"/>
              <a:ext cx="2449" cy="318"/>
            </a:xfrm>
            <a:prstGeom prst="rect">
              <a:avLst/>
            </a:prstGeom>
            <a:solidFill>
              <a:srgbClr val="FFE59B"/>
            </a:solidFill>
            <a:ln w="28575">
              <a:solidFill>
                <a:schemeClr val="bg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2060"/>
                </a:solidFill>
              </a:endParaRPr>
            </a:p>
          </p:txBody>
        </p:sp>
        <p:sp>
          <p:nvSpPr>
            <p:cNvPr id="380945" name="Line 17"/>
            <p:cNvSpPr>
              <a:spLocks noChangeShapeType="1"/>
            </p:cNvSpPr>
            <p:nvPr/>
          </p:nvSpPr>
          <p:spPr bwMode="auto">
            <a:xfrm>
              <a:off x="4241" y="854"/>
              <a:ext cx="0" cy="31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2060"/>
                </a:solidFill>
              </a:endParaRPr>
            </a:p>
          </p:txBody>
        </p:sp>
        <p:sp>
          <p:nvSpPr>
            <p:cNvPr id="380946" name="Text Box 18"/>
            <p:cNvSpPr txBox="1">
              <a:spLocks noChangeArrowheads="1"/>
            </p:cNvSpPr>
            <p:nvPr/>
          </p:nvSpPr>
          <p:spPr bwMode="auto">
            <a:xfrm>
              <a:off x="3259" y="845"/>
              <a:ext cx="70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2060"/>
                  </a:solidFill>
                </a:rPr>
                <a:t>子网号</a:t>
              </a:r>
              <a:endParaRPr lang="en-US" altLang="zh-CN" sz="2400" b="1" dirty="0">
                <a:solidFill>
                  <a:srgbClr val="002060"/>
                </a:solidFill>
              </a:endParaRPr>
            </a:p>
          </p:txBody>
        </p:sp>
        <p:sp>
          <p:nvSpPr>
            <p:cNvPr id="380947" name="Text Box 19"/>
            <p:cNvSpPr txBox="1">
              <a:spLocks noChangeArrowheads="1"/>
            </p:cNvSpPr>
            <p:nvPr/>
          </p:nvSpPr>
          <p:spPr bwMode="auto">
            <a:xfrm>
              <a:off x="4470" y="857"/>
              <a:ext cx="70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 smtClean="0">
                  <a:solidFill>
                    <a:srgbClr val="002060"/>
                  </a:solidFill>
                </a:rPr>
                <a:t>主机号</a:t>
              </a:r>
              <a:endParaRPr lang="en-US" altLang="zh-CN" sz="2400" b="1" dirty="0">
                <a:solidFill>
                  <a:srgbClr val="002060"/>
                </a:solidFill>
              </a:endParaRPr>
            </a:p>
          </p:txBody>
        </p:sp>
      </p:grp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>
          <a:xfrm>
            <a:off x="1733550" y="169864"/>
            <a:ext cx="10058400" cy="858837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地址：子网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掩码</a:t>
            </a:r>
          </a:p>
        </p:txBody>
      </p:sp>
    </p:spTree>
    <p:extLst>
      <p:ext uri="{BB962C8B-B14F-4D97-AF65-F5344CB8AC3E}">
        <p14:creationId xmlns:p14="http://schemas.microsoft.com/office/powerpoint/2010/main" val="183918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0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80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80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80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80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80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80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380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80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80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80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380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2000"/>
                                        <p:tgtEl>
                                          <p:spTgt spid="3809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80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380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380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380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932" grpId="0"/>
      <p:bldP spid="380933" grpId="0"/>
      <p:bldP spid="380934" grpId="0"/>
      <p:bldP spid="380934" grpId="1"/>
      <p:bldP spid="380935" grpId="0"/>
      <p:bldP spid="380936" grpId="0"/>
      <p:bldP spid="380937" grpId="0" animBg="1"/>
      <p:bldP spid="380938" grpId="0" animBg="1"/>
      <p:bldP spid="380939" grpId="0" animBg="1"/>
      <p:bldP spid="380939" grpId="1" animBg="1"/>
      <p:bldP spid="380940" grpId="0" animBg="1"/>
      <p:bldP spid="380940" grpId="1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组合 73"/>
          <p:cNvGrpSpPr/>
          <p:nvPr/>
        </p:nvGrpSpPr>
        <p:grpSpPr>
          <a:xfrm>
            <a:off x="3181350" y="2646363"/>
            <a:ext cx="6495413" cy="2124075"/>
            <a:chOff x="2019300" y="2752725"/>
            <a:chExt cx="6495413" cy="2124075"/>
          </a:xfrm>
        </p:grpSpPr>
        <p:sp>
          <p:nvSpPr>
            <p:cNvPr id="38" name="Rectangle 3"/>
            <p:cNvSpPr>
              <a:spLocks noChangeArrowheads="1"/>
            </p:cNvSpPr>
            <p:nvPr/>
          </p:nvSpPr>
          <p:spPr bwMode="auto">
            <a:xfrm>
              <a:off x="3162300" y="3349625"/>
              <a:ext cx="5334000" cy="45720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" name="Line 4"/>
            <p:cNvSpPr>
              <a:spLocks noChangeShapeType="1"/>
            </p:cNvSpPr>
            <p:nvPr/>
          </p:nvSpPr>
          <p:spPr bwMode="auto">
            <a:xfrm>
              <a:off x="7048500" y="3346450"/>
              <a:ext cx="0" cy="457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" name="Text Box 5"/>
            <p:cNvSpPr txBox="1">
              <a:spLocks noChangeArrowheads="1"/>
            </p:cNvSpPr>
            <p:nvPr/>
          </p:nvSpPr>
          <p:spPr bwMode="auto">
            <a:xfrm>
              <a:off x="3390900" y="2757488"/>
              <a:ext cx="35814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1800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网络号</a:t>
              </a:r>
            </a:p>
          </p:txBody>
        </p:sp>
        <p:sp>
          <p:nvSpPr>
            <p:cNvPr id="41" name="Text Box 6"/>
            <p:cNvSpPr txBox="1">
              <a:spLocks noChangeArrowheads="1"/>
            </p:cNvSpPr>
            <p:nvPr/>
          </p:nvSpPr>
          <p:spPr bwMode="auto">
            <a:xfrm>
              <a:off x="2019300" y="3346450"/>
              <a:ext cx="12255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kumimoji="1" lang="zh-CN" altLang="en-US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类</a:t>
              </a:r>
              <a:r>
                <a:rPr kumimoji="1" lang="en-US" altLang="zh-CN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IP</a:t>
              </a:r>
              <a:r>
                <a:rPr kumimoji="1" lang="zh-CN" altLang="en-US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地址</a:t>
              </a:r>
            </a:p>
          </p:txBody>
        </p:sp>
        <p:sp>
          <p:nvSpPr>
            <p:cNvPr id="42" name="Text Box 7"/>
            <p:cNvSpPr txBox="1">
              <a:spLocks noChangeArrowheads="1"/>
            </p:cNvSpPr>
            <p:nvPr/>
          </p:nvSpPr>
          <p:spPr bwMode="auto">
            <a:xfrm>
              <a:off x="7464425" y="2757488"/>
              <a:ext cx="105028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kumimoji="1" lang="zh-CN" altLang="en-US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主机</a:t>
              </a:r>
              <a:r>
                <a:rPr kumimoji="1" lang="zh-CN" altLang="en-US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号</a:t>
              </a:r>
              <a:endParaRPr kumimoji="1"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" name="AutoShape 8"/>
            <p:cNvSpPr>
              <a:spLocks/>
            </p:cNvSpPr>
            <p:nvPr/>
          </p:nvSpPr>
          <p:spPr bwMode="auto">
            <a:xfrm rot="5400000">
              <a:off x="4989512" y="1290638"/>
              <a:ext cx="231775" cy="3886200"/>
            </a:xfrm>
            <a:prstGeom prst="leftBrace">
              <a:avLst>
                <a:gd name="adj1" fmla="val 139726"/>
                <a:gd name="adj2" fmla="val 49231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" name="AutoShape 9"/>
            <p:cNvSpPr>
              <a:spLocks/>
            </p:cNvSpPr>
            <p:nvPr/>
          </p:nvSpPr>
          <p:spPr bwMode="auto">
            <a:xfrm rot="5400000">
              <a:off x="7959725" y="2816225"/>
              <a:ext cx="234950" cy="838200"/>
            </a:xfrm>
            <a:prstGeom prst="leftBrace">
              <a:avLst>
                <a:gd name="adj1" fmla="val 29730"/>
                <a:gd name="adj2" fmla="val 49231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" name="Line 10"/>
            <p:cNvSpPr>
              <a:spLocks noChangeShapeType="1"/>
            </p:cNvSpPr>
            <p:nvPr/>
          </p:nvSpPr>
          <p:spPr bwMode="auto">
            <a:xfrm>
              <a:off x="5829300" y="3349625"/>
              <a:ext cx="0" cy="457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" name="Line 11"/>
            <p:cNvSpPr>
              <a:spLocks noChangeShapeType="1"/>
            </p:cNvSpPr>
            <p:nvPr/>
          </p:nvSpPr>
          <p:spPr bwMode="auto">
            <a:xfrm>
              <a:off x="4533900" y="3349625"/>
              <a:ext cx="0" cy="457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" name="Text Box 12"/>
            <p:cNvSpPr txBox="1">
              <a:spLocks noChangeArrowheads="1"/>
            </p:cNvSpPr>
            <p:nvPr/>
          </p:nvSpPr>
          <p:spPr bwMode="auto">
            <a:xfrm>
              <a:off x="3314700" y="3363913"/>
              <a:ext cx="10985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11001010</a:t>
              </a:r>
            </a:p>
          </p:txBody>
        </p:sp>
        <p:sp>
          <p:nvSpPr>
            <p:cNvPr id="48" name="Text Box 13"/>
            <p:cNvSpPr txBox="1">
              <a:spLocks noChangeArrowheads="1"/>
            </p:cNvSpPr>
            <p:nvPr/>
          </p:nvSpPr>
          <p:spPr bwMode="auto">
            <a:xfrm>
              <a:off x="4610100" y="3363913"/>
              <a:ext cx="10985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01111000</a:t>
              </a:r>
            </a:p>
          </p:txBody>
        </p:sp>
        <p:sp>
          <p:nvSpPr>
            <p:cNvPr id="49" name="Text Box 14"/>
            <p:cNvSpPr txBox="1">
              <a:spLocks noChangeArrowheads="1"/>
            </p:cNvSpPr>
            <p:nvPr/>
          </p:nvSpPr>
          <p:spPr bwMode="auto">
            <a:xfrm>
              <a:off x="5981700" y="3363913"/>
              <a:ext cx="10985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00000011</a:t>
              </a:r>
            </a:p>
          </p:txBody>
        </p:sp>
        <p:sp>
          <p:nvSpPr>
            <p:cNvPr id="50" name="Text Box 15"/>
            <p:cNvSpPr txBox="1">
              <a:spLocks noChangeArrowheads="1"/>
            </p:cNvSpPr>
            <p:nvPr/>
          </p:nvSpPr>
          <p:spPr bwMode="auto">
            <a:xfrm>
              <a:off x="7124700" y="3363913"/>
              <a:ext cx="13271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011    00011</a:t>
              </a:r>
            </a:p>
          </p:txBody>
        </p:sp>
        <p:sp>
          <p:nvSpPr>
            <p:cNvPr id="51" name="Rectangle 16"/>
            <p:cNvSpPr>
              <a:spLocks noChangeArrowheads="1"/>
            </p:cNvSpPr>
            <p:nvPr/>
          </p:nvSpPr>
          <p:spPr bwMode="auto">
            <a:xfrm>
              <a:off x="3162300" y="4114800"/>
              <a:ext cx="5334000" cy="45720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" name="Line 17"/>
            <p:cNvSpPr>
              <a:spLocks noChangeShapeType="1"/>
            </p:cNvSpPr>
            <p:nvPr/>
          </p:nvSpPr>
          <p:spPr bwMode="auto">
            <a:xfrm>
              <a:off x="7048500" y="4111625"/>
              <a:ext cx="0" cy="457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" name="Text Box 18"/>
            <p:cNvSpPr txBox="1">
              <a:spLocks noChangeArrowheads="1"/>
            </p:cNvSpPr>
            <p:nvPr/>
          </p:nvSpPr>
          <p:spPr bwMode="auto">
            <a:xfrm>
              <a:off x="2292350" y="4095750"/>
              <a:ext cx="6413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掩码</a:t>
              </a:r>
            </a:p>
          </p:txBody>
        </p:sp>
        <p:sp>
          <p:nvSpPr>
            <p:cNvPr id="54" name="Line 19"/>
            <p:cNvSpPr>
              <a:spLocks noChangeShapeType="1"/>
            </p:cNvSpPr>
            <p:nvPr/>
          </p:nvSpPr>
          <p:spPr bwMode="auto">
            <a:xfrm>
              <a:off x="5829300" y="4114800"/>
              <a:ext cx="0" cy="457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" name="Line 20"/>
            <p:cNvSpPr>
              <a:spLocks noChangeShapeType="1"/>
            </p:cNvSpPr>
            <p:nvPr/>
          </p:nvSpPr>
          <p:spPr bwMode="auto">
            <a:xfrm>
              <a:off x="4533900" y="4114800"/>
              <a:ext cx="0" cy="457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" name="Text Box 21"/>
            <p:cNvSpPr txBox="1">
              <a:spLocks noChangeArrowheads="1"/>
            </p:cNvSpPr>
            <p:nvPr/>
          </p:nvSpPr>
          <p:spPr bwMode="auto">
            <a:xfrm>
              <a:off x="3314700" y="4129088"/>
              <a:ext cx="10985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11111111</a:t>
              </a:r>
            </a:p>
          </p:txBody>
        </p:sp>
        <p:sp>
          <p:nvSpPr>
            <p:cNvPr id="57" name="Text Box 22"/>
            <p:cNvSpPr txBox="1">
              <a:spLocks noChangeArrowheads="1"/>
            </p:cNvSpPr>
            <p:nvPr/>
          </p:nvSpPr>
          <p:spPr bwMode="auto">
            <a:xfrm>
              <a:off x="7740650" y="4129088"/>
              <a:ext cx="7556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00000</a:t>
              </a:r>
            </a:p>
          </p:txBody>
        </p:sp>
        <p:sp>
          <p:nvSpPr>
            <p:cNvPr id="58" name="Text Box 24"/>
            <p:cNvSpPr txBox="1">
              <a:spLocks noChangeArrowheads="1"/>
            </p:cNvSpPr>
            <p:nvPr/>
          </p:nvSpPr>
          <p:spPr bwMode="auto">
            <a:xfrm>
              <a:off x="3543300" y="3733800"/>
              <a:ext cx="5270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202</a:t>
              </a:r>
            </a:p>
          </p:txBody>
        </p:sp>
        <p:sp>
          <p:nvSpPr>
            <p:cNvPr id="59" name="Text Box 25"/>
            <p:cNvSpPr txBox="1">
              <a:spLocks noChangeArrowheads="1"/>
            </p:cNvSpPr>
            <p:nvPr/>
          </p:nvSpPr>
          <p:spPr bwMode="auto">
            <a:xfrm>
              <a:off x="4921250" y="3748088"/>
              <a:ext cx="5270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120</a:t>
              </a:r>
            </a:p>
          </p:txBody>
        </p:sp>
        <p:sp>
          <p:nvSpPr>
            <p:cNvPr id="60" name="Text Box 26"/>
            <p:cNvSpPr txBox="1">
              <a:spLocks noChangeArrowheads="1"/>
            </p:cNvSpPr>
            <p:nvPr/>
          </p:nvSpPr>
          <p:spPr bwMode="auto">
            <a:xfrm>
              <a:off x="6369050" y="3748088"/>
              <a:ext cx="2984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61" name="Text Box 27"/>
            <p:cNvSpPr txBox="1">
              <a:spLocks noChangeArrowheads="1"/>
            </p:cNvSpPr>
            <p:nvPr/>
          </p:nvSpPr>
          <p:spPr bwMode="auto">
            <a:xfrm>
              <a:off x="7512050" y="3748088"/>
              <a:ext cx="4699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99</a:t>
              </a:r>
            </a:p>
          </p:txBody>
        </p:sp>
        <p:sp>
          <p:nvSpPr>
            <p:cNvPr id="62" name="Line 28"/>
            <p:cNvSpPr>
              <a:spLocks noChangeShapeType="1"/>
            </p:cNvSpPr>
            <p:nvPr/>
          </p:nvSpPr>
          <p:spPr bwMode="auto">
            <a:xfrm>
              <a:off x="7658100" y="3352800"/>
              <a:ext cx="0" cy="4572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" name="Line 29"/>
            <p:cNvSpPr>
              <a:spLocks noChangeShapeType="1"/>
            </p:cNvSpPr>
            <p:nvPr/>
          </p:nvSpPr>
          <p:spPr bwMode="auto">
            <a:xfrm>
              <a:off x="7658100" y="4114800"/>
              <a:ext cx="0" cy="4572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" name="Text Box 30"/>
            <p:cNvSpPr txBox="1">
              <a:spLocks noChangeArrowheads="1"/>
            </p:cNvSpPr>
            <p:nvPr/>
          </p:nvSpPr>
          <p:spPr bwMode="auto">
            <a:xfrm>
              <a:off x="3543300" y="4510088"/>
              <a:ext cx="5270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255</a:t>
              </a:r>
            </a:p>
          </p:txBody>
        </p:sp>
        <p:sp>
          <p:nvSpPr>
            <p:cNvPr id="65" name="Text Box 31"/>
            <p:cNvSpPr txBox="1">
              <a:spLocks noChangeArrowheads="1"/>
            </p:cNvSpPr>
            <p:nvPr/>
          </p:nvSpPr>
          <p:spPr bwMode="auto">
            <a:xfrm>
              <a:off x="4914900" y="4495800"/>
              <a:ext cx="5270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255</a:t>
              </a:r>
            </a:p>
          </p:txBody>
        </p:sp>
        <p:sp>
          <p:nvSpPr>
            <p:cNvPr id="66" name="Text Box 32"/>
            <p:cNvSpPr txBox="1">
              <a:spLocks noChangeArrowheads="1"/>
            </p:cNvSpPr>
            <p:nvPr/>
          </p:nvSpPr>
          <p:spPr bwMode="auto">
            <a:xfrm>
              <a:off x="6216650" y="4495800"/>
              <a:ext cx="5270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255</a:t>
              </a:r>
            </a:p>
          </p:txBody>
        </p:sp>
        <p:sp>
          <p:nvSpPr>
            <p:cNvPr id="67" name="Text Box 33"/>
            <p:cNvSpPr txBox="1">
              <a:spLocks noChangeArrowheads="1"/>
            </p:cNvSpPr>
            <p:nvPr/>
          </p:nvSpPr>
          <p:spPr bwMode="auto">
            <a:xfrm>
              <a:off x="7588250" y="4510088"/>
              <a:ext cx="5270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224</a:t>
              </a:r>
            </a:p>
          </p:txBody>
        </p:sp>
        <p:sp>
          <p:nvSpPr>
            <p:cNvPr id="68" name="Text Box 34"/>
            <p:cNvSpPr txBox="1">
              <a:spLocks noChangeArrowheads="1"/>
            </p:cNvSpPr>
            <p:nvPr/>
          </p:nvSpPr>
          <p:spPr bwMode="auto">
            <a:xfrm>
              <a:off x="4686300" y="4129088"/>
              <a:ext cx="10985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11111111</a:t>
              </a:r>
            </a:p>
          </p:txBody>
        </p:sp>
        <p:sp>
          <p:nvSpPr>
            <p:cNvPr id="69" name="Text Box 35"/>
            <p:cNvSpPr txBox="1">
              <a:spLocks noChangeArrowheads="1"/>
            </p:cNvSpPr>
            <p:nvPr/>
          </p:nvSpPr>
          <p:spPr bwMode="auto">
            <a:xfrm>
              <a:off x="5873750" y="4129088"/>
              <a:ext cx="10985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11111111</a:t>
              </a:r>
            </a:p>
          </p:txBody>
        </p:sp>
        <p:sp>
          <p:nvSpPr>
            <p:cNvPr id="70" name="Text Box 36"/>
            <p:cNvSpPr txBox="1">
              <a:spLocks noChangeArrowheads="1"/>
            </p:cNvSpPr>
            <p:nvPr/>
          </p:nvSpPr>
          <p:spPr bwMode="auto">
            <a:xfrm>
              <a:off x="7092950" y="4129088"/>
              <a:ext cx="5270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111</a:t>
              </a:r>
            </a:p>
          </p:txBody>
        </p:sp>
        <p:sp>
          <p:nvSpPr>
            <p:cNvPr id="71" name="AutoShape 38"/>
            <p:cNvSpPr>
              <a:spLocks/>
            </p:cNvSpPr>
            <p:nvPr/>
          </p:nvSpPr>
          <p:spPr bwMode="auto">
            <a:xfrm rot="5400000">
              <a:off x="7239000" y="2933700"/>
              <a:ext cx="228600" cy="609600"/>
            </a:xfrm>
            <a:prstGeom prst="leftBrace">
              <a:avLst>
                <a:gd name="adj1" fmla="val 22222"/>
                <a:gd name="adj2" fmla="val 49231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" name="Text Box 39"/>
            <p:cNvSpPr txBox="1">
              <a:spLocks noChangeArrowheads="1"/>
            </p:cNvSpPr>
            <p:nvPr/>
          </p:nvSpPr>
          <p:spPr bwMode="auto">
            <a:xfrm>
              <a:off x="6686550" y="2752725"/>
              <a:ext cx="105028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kumimoji="1" lang="zh-CN" altLang="en-US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子网号</a:t>
              </a:r>
            </a:p>
          </p:txBody>
        </p:sp>
      </p:grpSp>
      <p:sp>
        <p:nvSpPr>
          <p:cNvPr id="73" name="Rectangle 2"/>
          <p:cNvSpPr txBox="1">
            <a:spLocks noChangeArrowheads="1"/>
          </p:cNvSpPr>
          <p:nvPr/>
        </p:nvSpPr>
        <p:spPr bwMode="auto">
          <a:xfrm>
            <a:off x="209550" y="1264742"/>
            <a:ext cx="4752975" cy="1036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AND </a:t>
            </a:r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操作</a:t>
            </a:r>
            <a:r>
              <a:rPr lang="en-US" altLang="zh-CN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/>
            </a:r>
            <a:br>
              <a:rPr lang="en-US" altLang="zh-CN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网络地址 </a:t>
            </a:r>
            <a:r>
              <a:rPr lang="en-US" altLang="zh-CN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 IP</a:t>
            </a:r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</a:t>
            </a:r>
            <a:r>
              <a:rPr lang="en-US" altLang="zh-CN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AND</a:t>
            </a:r>
            <a:r>
              <a:rPr lang="en-US" altLang="zh-CN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掩码</a:t>
            </a:r>
            <a:endParaRPr lang="zh-CN" altLang="en-US" sz="2400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15" name="组合 114"/>
          <p:cNvGrpSpPr/>
          <p:nvPr/>
        </p:nvGrpSpPr>
        <p:grpSpPr>
          <a:xfrm>
            <a:off x="3246477" y="4695826"/>
            <a:ext cx="6554111" cy="1357312"/>
            <a:chOff x="2074902" y="4648201"/>
            <a:chExt cx="6554111" cy="1357312"/>
          </a:xfrm>
        </p:grpSpPr>
        <p:sp>
          <p:nvSpPr>
            <p:cNvPr id="95" name="Rectangle 44"/>
            <p:cNvSpPr>
              <a:spLocks noChangeArrowheads="1"/>
            </p:cNvSpPr>
            <p:nvPr/>
          </p:nvSpPr>
          <p:spPr bwMode="auto">
            <a:xfrm>
              <a:off x="3200400" y="5240338"/>
              <a:ext cx="5334000" cy="45720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6" name="Line 45"/>
            <p:cNvSpPr>
              <a:spLocks noChangeShapeType="1"/>
            </p:cNvSpPr>
            <p:nvPr/>
          </p:nvSpPr>
          <p:spPr bwMode="auto">
            <a:xfrm>
              <a:off x="7086600" y="5237163"/>
              <a:ext cx="0" cy="457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" name="Text Box 46"/>
            <p:cNvSpPr txBox="1">
              <a:spLocks noChangeArrowheads="1"/>
            </p:cNvSpPr>
            <p:nvPr/>
          </p:nvSpPr>
          <p:spPr bwMode="auto">
            <a:xfrm>
              <a:off x="3429000" y="4648201"/>
              <a:ext cx="35814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1800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网络号</a:t>
              </a:r>
            </a:p>
          </p:txBody>
        </p:sp>
        <p:sp>
          <p:nvSpPr>
            <p:cNvPr id="98" name="Text Box 47"/>
            <p:cNvSpPr txBox="1">
              <a:spLocks noChangeArrowheads="1"/>
            </p:cNvSpPr>
            <p:nvPr/>
          </p:nvSpPr>
          <p:spPr bwMode="auto">
            <a:xfrm>
              <a:off x="2074902" y="5256215"/>
              <a:ext cx="110799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网络地址</a:t>
              </a:r>
            </a:p>
          </p:txBody>
        </p:sp>
        <p:sp>
          <p:nvSpPr>
            <p:cNvPr id="99" name="Text Box 48"/>
            <p:cNvSpPr txBox="1">
              <a:spLocks noChangeArrowheads="1"/>
            </p:cNvSpPr>
            <p:nvPr/>
          </p:nvSpPr>
          <p:spPr bwMode="auto">
            <a:xfrm>
              <a:off x="7578725" y="4648201"/>
              <a:ext cx="105028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kumimoji="1" lang="zh-CN" altLang="en-US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主机号</a:t>
              </a:r>
            </a:p>
          </p:txBody>
        </p:sp>
        <p:sp>
          <p:nvSpPr>
            <p:cNvPr id="100" name="AutoShape 49"/>
            <p:cNvSpPr>
              <a:spLocks/>
            </p:cNvSpPr>
            <p:nvPr/>
          </p:nvSpPr>
          <p:spPr bwMode="auto">
            <a:xfrm rot="5400000">
              <a:off x="5027612" y="3181351"/>
              <a:ext cx="231775" cy="3886200"/>
            </a:xfrm>
            <a:prstGeom prst="leftBrace">
              <a:avLst>
                <a:gd name="adj1" fmla="val 139726"/>
                <a:gd name="adj2" fmla="val 49231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1" name="AutoShape 50"/>
            <p:cNvSpPr>
              <a:spLocks/>
            </p:cNvSpPr>
            <p:nvPr/>
          </p:nvSpPr>
          <p:spPr bwMode="auto">
            <a:xfrm rot="5400000">
              <a:off x="7997825" y="4706938"/>
              <a:ext cx="234950" cy="838200"/>
            </a:xfrm>
            <a:prstGeom prst="leftBrace">
              <a:avLst>
                <a:gd name="adj1" fmla="val 29730"/>
                <a:gd name="adj2" fmla="val 49231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" name="Line 51"/>
            <p:cNvSpPr>
              <a:spLocks noChangeShapeType="1"/>
            </p:cNvSpPr>
            <p:nvPr/>
          </p:nvSpPr>
          <p:spPr bwMode="auto">
            <a:xfrm>
              <a:off x="5867400" y="5240338"/>
              <a:ext cx="0" cy="457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" name="Line 52"/>
            <p:cNvSpPr>
              <a:spLocks noChangeShapeType="1"/>
            </p:cNvSpPr>
            <p:nvPr/>
          </p:nvSpPr>
          <p:spPr bwMode="auto">
            <a:xfrm>
              <a:off x="4572000" y="5240338"/>
              <a:ext cx="0" cy="457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4" name="Text Box 53"/>
            <p:cNvSpPr txBox="1">
              <a:spLocks noChangeArrowheads="1"/>
            </p:cNvSpPr>
            <p:nvPr/>
          </p:nvSpPr>
          <p:spPr bwMode="auto">
            <a:xfrm>
              <a:off x="3352800" y="5254626"/>
              <a:ext cx="10985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11001010</a:t>
              </a:r>
            </a:p>
          </p:txBody>
        </p:sp>
        <p:sp>
          <p:nvSpPr>
            <p:cNvPr id="105" name="Text Box 54"/>
            <p:cNvSpPr txBox="1">
              <a:spLocks noChangeArrowheads="1"/>
            </p:cNvSpPr>
            <p:nvPr/>
          </p:nvSpPr>
          <p:spPr bwMode="auto">
            <a:xfrm>
              <a:off x="4648200" y="5254626"/>
              <a:ext cx="10985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01111000</a:t>
              </a:r>
            </a:p>
          </p:txBody>
        </p:sp>
        <p:sp>
          <p:nvSpPr>
            <p:cNvPr id="106" name="Text Box 55"/>
            <p:cNvSpPr txBox="1">
              <a:spLocks noChangeArrowheads="1"/>
            </p:cNvSpPr>
            <p:nvPr/>
          </p:nvSpPr>
          <p:spPr bwMode="auto">
            <a:xfrm>
              <a:off x="6019800" y="5254626"/>
              <a:ext cx="10985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00000011</a:t>
              </a:r>
            </a:p>
          </p:txBody>
        </p:sp>
        <p:sp>
          <p:nvSpPr>
            <p:cNvPr id="107" name="Text Box 56"/>
            <p:cNvSpPr txBox="1">
              <a:spLocks noChangeArrowheads="1"/>
            </p:cNvSpPr>
            <p:nvPr/>
          </p:nvSpPr>
          <p:spPr bwMode="auto">
            <a:xfrm>
              <a:off x="7162800" y="5254626"/>
              <a:ext cx="13271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011    00000</a:t>
              </a:r>
            </a:p>
          </p:txBody>
        </p:sp>
        <p:sp>
          <p:nvSpPr>
            <p:cNvPr id="108" name="Line 57"/>
            <p:cNvSpPr>
              <a:spLocks noChangeShapeType="1"/>
            </p:cNvSpPr>
            <p:nvPr/>
          </p:nvSpPr>
          <p:spPr bwMode="auto">
            <a:xfrm>
              <a:off x="7696200" y="5243513"/>
              <a:ext cx="0" cy="4572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" name="AutoShape 58"/>
            <p:cNvSpPr>
              <a:spLocks/>
            </p:cNvSpPr>
            <p:nvPr/>
          </p:nvSpPr>
          <p:spPr bwMode="auto">
            <a:xfrm rot="5400000">
              <a:off x="7277100" y="4824413"/>
              <a:ext cx="228600" cy="609600"/>
            </a:xfrm>
            <a:prstGeom prst="leftBrace">
              <a:avLst>
                <a:gd name="adj1" fmla="val 22222"/>
                <a:gd name="adj2" fmla="val 49231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" name="Text Box 59"/>
            <p:cNvSpPr txBox="1">
              <a:spLocks noChangeArrowheads="1"/>
            </p:cNvSpPr>
            <p:nvPr/>
          </p:nvSpPr>
          <p:spPr bwMode="auto">
            <a:xfrm>
              <a:off x="6705600" y="4652963"/>
              <a:ext cx="105028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kumimoji="1" lang="zh-CN" altLang="en-US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子网号</a:t>
              </a:r>
            </a:p>
          </p:txBody>
        </p:sp>
        <p:sp>
          <p:nvSpPr>
            <p:cNvPr id="111" name="Text Box 60"/>
            <p:cNvSpPr txBox="1">
              <a:spLocks noChangeArrowheads="1"/>
            </p:cNvSpPr>
            <p:nvPr/>
          </p:nvSpPr>
          <p:spPr bwMode="auto">
            <a:xfrm>
              <a:off x="3581400" y="5624513"/>
              <a:ext cx="5270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202</a:t>
              </a:r>
            </a:p>
          </p:txBody>
        </p:sp>
        <p:sp>
          <p:nvSpPr>
            <p:cNvPr id="112" name="Text Box 61"/>
            <p:cNvSpPr txBox="1">
              <a:spLocks noChangeArrowheads="1"/>
            </p:cNvSpPr>
            <p:nvPr/>
          </p:nvSpPr>
          <p:spPr bwMode="auto">
            <a:xfrm>
              <a:off x="4959350" y="5638801"/>
              <a:ext cx="5270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120</a:t>
              </a:r>
            </a:p>
          </p:txBody>
        </p:sp>
        <p:sp>
          <p:nvSpPr>
            <p:cNvPr id="113" name="Text Box 62"/>
            <p:cNvSpPr txBox="1">
              <a:spLocks noChangeArrowheads="1"/>
            </p:cNvSpPr>
            <p:nvPr/>
          </p:nvSpPr>
          <p:spPr bwMode="auto">
            <a:xfrm>
              <a:off x="6407150" y="5638801"/>
              <a:ext cx="2984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14" name="Text Box 63"/>
            <p:cNvSpPr txBox="1">
              <a:spLocks noChangeArrowheads="1"/>
            </p:cNvSpPr>
            <p:nvPr/>
          </p:nvSpPr>
          <p:spPr bwMode="auto">
            <a:xfrm>
              <a:off x="7550150" y="5638801"/>
              <a:ext cx="4699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96</a:t>
              </a:r>
            </a:p>
          </p:txBody>
        </p:sp>
      </p:grpSp>
      <p:sp>
        <p:nvSpPr>
          <p:cNvPr id="117" name="Text Box 23"/>
          <p:cNvSpPr txBox="1">
            <a:spLocks noChangeArrowheads="1"/>
          </p:cNvSpPr>
          <p:nvPr/>
        </p:nvSpPr>
        <p:spPr bwMode="auto">
          <a:xfrm>
            <a:off x="2686050" y="2266951"/>
            <a:ext cx="83485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一个主机地址为</a:t>
            </a:r>
            <a:r>
              <a:rPr kumimoji="1"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202.120.3.99</a:t>
            </a:r>
            <a:r>
              <a:rPr kumimoji="1"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，子网地址 </a:t>
            </a:r>
            <a:r>
              <a:rPr kumimoji="1"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 011</a:t>
            </a:r>
            <a:r>
              <a:rPr kumimoji="1"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的子网掩码是</a:t>
            </a:r>
            <a:r>
              <a:rPr kumimoji="1"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</p:txBody>
      </p:sp>
      <p:sp>
        <p:nvSpPr>
          <p:cNvPr id="118" name="Rectangle 2"/>
          <p:cNvSpPr txBox="1">
            <a:spLocks noChangeArrowheads="1"/>
          </p:cNvSpPr>
          <p:nvPr/>
        </p:nvSpPr>
        <p:spPr bwMode="auto">
          <a:xfrm>
            <a:off x="1733550" y="169864"/>
            <a:ext cx="100584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en-US" altLang="zh-CN" dirty="0" smtClean="0"/>
              <a:t>IP</a:t>
            </a:r>
            <a:r>
              <a:rPr lang="zh-CN" altLang="en-US" dirty="0" smtClean="0"/>
              <a:t>地址：子网 </a:t>
            </a:r>
            <a:r>
              <a:rPr lang="en-US" altLang="zh-CN" dirty="0"/>
              <a:t>&amp; </a:t>
            </a:r>
            <a:r>
              <a:rPr lang="zh-CN" altLang="en-US" dirty="0"/>
              <a:t>掩码</a:t>
            </a:r>
          </a:p>
        </p:txBody>
      </p:sp>
      <p:sp>
        <p:nvSpPr>
          <p:cNvPr id="120" name="矩形 119"/>
          <p:cNvSpPr/>
          <p:nvPr/>
        </p:nvSpPr>
        <p:spPr>
          <a:xfrm>
            <a:off x="85725" y="6069015"/>
            <a:ext cx="119824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一个地址 </a:t>
            </a:r>
            <a:r>
              <a:rPr kumimoji="1"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 </a:t>
            </a:r>
            <a:r>
              <a:rPr kumimoji="1"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掩码的表示（</a:t>
            </a:r>
            <a:r>
              <a:rPr kumimoji="1"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202.120.3.99</a:t>
            </a:r>
            <a:r>
              <a:rPr kumimoji="1"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255.255.255.224</a:t>
            </a:r>
            <a:r>
              <a:rPr kumimoji="1"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），也可写成更</a:t>
            </a:r>
            <a:r>
              <a:rPr kumimoji="1"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简洁的</a:t>
            </a:r>
            <a:r>
              <a:rPr kumimoji="1"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形式： </a:t>
            </a:r>
            <a:r>
              <a:rPr kumimoji="1"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202.120.3.99/27</a:t>
            </a:r>
            <a:r>
              <a:rPr kumimoji="1"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，其中</a:t>
            </a:r>
            <a:r>
              <a:rPr kumimoji="1"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27</a:t>
            </a:r>
            <a:r>
              <a:rPr kumimoji="1"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表示掩码中</a:t>
            </a:r>
            <a:r>
              <a:rPr kumimoji="1"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的个数。</a:t>
            </a:r>
          </a:p>
        </p:txBody>
      </p:sp>
    </p:spTree>
    <p:extLst>
      <p:ext uri="{BB962C8B-B14F-4D97-AF65-F5344CB8AC3E}">
        <p14:creationId xmlns:p14="http://schemas.microsoft.com/office/powerpoint/2010/main" val="2756063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232" y="1304773"/>
            <a:ext cx="9812584" cy="1565647"/>
          </a:xfrm>
        </p:spPr>
        <p:txBody>
          <a:bodyPr/>
          <a:lstStyle/>
          <a:p>
            <a:pPr>
              <a:lnSpc>
                <a:spcPct val="85000"/>
              </a:lnSpc>
              <a:buClr>
                <a:srgbClr val="002060"/>
              </a:buClr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地址的分配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5000"/>
              </a:lnSpc>
              <a:buClr>
                <a:srgbClr val="002060"/>
              </a:buClr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每个路由器的不同接口，连接一个不同的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子网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，代表不同的网络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85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具有不同的网络地址；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85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重叠的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地址范围。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5000"/>
              </a:lnSpc>
            </a:pPr>
            <a:endParaRPr lang="en-US" altLang="zh-CN" dirty="0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pic>
        <p:nvPicPr>
          <p:cNvPr id="130151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74" y="2934032"/>
            <a:ext cx="6109810" cy="3538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695" y="2934031"/>
            <a:ext cx="5728112" cy="3427011"/>
          </a:xfrm>
          <a:prstGeom prst="rect">
            <a:avLst/>
          </a:prstGeom>
        </p:spPr>
      </p:pic>
      <p:pic>
        <p:nvPicPr>
          <p:cNvPr id="7" name="Picture 107"/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4961" y="3737623"/>
            <a:ext cx="924312" cy="486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099310" y="185767"/>
            <a:ext cx="9493692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en-US" altLang="zh-CN" dirty="0" smtClean="0"/>
              <a:t>IP</a:t>
            </a:r>
            <a:r>
              <a:rPr lang="zh-CN" altLang="en-US" dirty="0" smtClean="0"/>
              <a:t>地址的分配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844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631882" y="1852652"/>
            <a:ext cx="7999012" cy="2282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>
            <a:lvl1pPr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计算机的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地址配置</a:t>
            </a:r>
          </a:p>
        </p:txBody>
      </p:sp>
    </p:spTree>
    <p:extLst>
      <p:ext uri="{BB962C8B-B14F-4D97-AF65-F5344CB8AC3E}">
        <p14:creationId xmlns:p14="http://schemas.microsoft.com/office/powerpoint/2010/main" val="1623913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正确配置用户</a:t>
            </a:r>
            <a:r>
              <a:rPr lang="zh-CN" altLang="en-US" dirty="0" smtClean="0">
                <a:cs typeface="Times New Roman" panose="02020603050405020304" pitchFamily="18" charset="0"/>
              </a:rPr>
              <a:t>计算机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95416" y="1550503"/>
            <a:ext cx="5168346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正确配置用户计算机</a:t>
            </a:r>
            <a:endParaRPr lang="en-US" altLang="zh-CN" sz="24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10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地址，子网掩码，默认网关</a:t>
            </a:r>
            <a:endParaRPr lang="en-US" altLang="zh-CN" sz="24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默认网关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是连接到本地网络的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路由器接口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4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24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如果数据包目的地址的网络部分与发送主机的网络不同</a:t>
            </a:r>
            <a:r>
              <a:rPr lang="en-US" altLang="zh-CN" sz="2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，则必须将该数据包路由到发送网络以外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4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6299" y="1838995"/>
            <a:ext cx="6948595" cy="3977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9355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1539710"/>
            <a:ext cx="5168346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正确配置用户计算机</a:t>
            </a:r>
            <a:endParaRPr lang="en-US" altLang="zh-CN" sz="24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10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默认网关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是连接到本地网络的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路由器接口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4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10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如果数据包目的地址的网络部分与发送主机的网络不同</a:t>
            </a:r>
            <a:r>
              <a:rPr lang="en-US" altLang="zh-CN" sz="2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，则必须将该数据包路由到发送网络以外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4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689" y="1436344"/>
            <a:ext cx="7005099" cy="440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733550" y="169864"/>
            <a:ext cx="10058400" cy="858837"/>
          </a:xfrm>
        </p:spPr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正确配置用户</a:t>
            </a:r>
            <a:r>
              <a:rPr lang="zh-CN" altLang="en-US" dirty="0" smtClean="0">
                <a:cs typeface="Times New Roman" panose="02020603050405020304" pitchFamily="18" charset="0"/>
              </a:rPr>
              <a:t>计算机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5133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7037" y="1526705"/>
            <a:ext cx="578142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正确配置用户计算机</a:t>
            </a:r>
            <a:endParaRPr lang="en-US" altLang="zh-CN" sz="24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10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自动配置</a:t>
            </a: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—DHCP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服务器。</a:t>
            </a:r>
            <a:endParaRPr lang="en-US" altLang="zh-CN" sz="24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10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网络中的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计算机</a:t>
            </a:r>
            <a:r>
              <a:rPr lang="en-US" altLang="zh-CN" sz="2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可以从</a:t>
            </a: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DHCP </a:t>
            </a:r>
            <a:r>
              <a:rPr lang="en-US" altLang="zh-CN" sz="2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服务器中获取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IP </a:t>
            </a:r>
            <a:r>
              <a:rPr lang="en-US" altLang="zh-CN" sz="2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地址和其它信息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endParaRPr lang="en-US" altLang="zh-CN" sz="24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zh-CN" altLang="en-US" sz="10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endParaRPr lang="en-US" altLang="zh-CN" sz="1000" b="1" dirty="0" smtClean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查看计算机是否正确配置：</a:t>
            </a: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Windows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系统</a:t>
            </a: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开始</a:t>
            </a: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lang="zh-CN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运行</a:t>
            </a:r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lang="en-US" altLang="zh-CN" sz="2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cmd</a:t>
            </a:r>
            <a:endParaRPr lang="en-US" altLang="zh-CN" sz="24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ipconfig  /all</a:t>
            </a:r>
            <a:endParaRPr lang="zh-CN" altLang="en-US" sz="2400" b="1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12" name="标题 1"/>
          <p:cNvSpPr>
            <a:spLocks noGrp="1"/>
          </p:cNvSpPr>
          <p:nvPr>
            <p:ph type="title"/>
          </p:nvPr>
        </p:nvSpPr>
        <p:spPr>
          <a:xfrm>
            <a:off x="1733550" y="169864"/>
            <a:ext cx="10058400" cy="858837"/>
          </a:xfrm>
        </p:spPr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正确配置用户</a:t>
            </a:r>
            <a:r>
              <a:rPr lang="zh-CN" altLang="en-US" dirty="0" smtClean="0">
                <a:cs typeface="Times New Roman" panose="02020603050405020304" pitchFamily="18" charset="0"/>
              </a:rPr>
              <a:t>计算机</a:t>
            </a:r>
            <a:endParaRPr lang="zh-CN" altLang="en-US" dirty="0"/>
          </a:p>
        </p:txBody>
      </p:sp>
      <p:pic>
        <p:nvPicPr>
          <p:cNvPr id="31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8461" y="1526705"/>
            <a:ext cx="6118885" cy="4333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245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631882" y="1852652"/>
            <a:ext cx="7999012" cy="2282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>
            <a:lvl1pPr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网络测试工具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Ping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539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7508" y="1801091"/>
            <a:ext cx="8910099" cy="340129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002060"/>
              </a:buClr>
            </a:pP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网络测试工具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命令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zh-CN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主机</a:t>
            </a:r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网络可达性</a:t>
            </a:r>
            <a:r>
              <a:rPr lang="zh-CN" altLang="zh-CN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探测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Ping</a:t>
            </a:r>
          </a:p>
          <a:p>
            <a:pPr lvl="1">
              <a:lnSpc>
                <a:spcPct val="150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zh-CN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路由</a:t>
            </a:r>
            <a:r>
              <a:rPr lang="zh-CN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信息</a:t>
            </a:r>
            <a:r>
              <a:rPr lang="zh-CN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探测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b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Tracert</a:t>
            </a:r>
            <a:endParaRPr lang="en-US" altLang="zh-CN" sz="24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zh-CN" sz="24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3450865" y="161912"/>
            <a:ext cx="7522099" cy="858837"/>
          </a:xfrm>
        </p:spPr>
        <p:txBody>
          <a:bodyPr/>
          <a:lstStyle/>
          <a:p>
            <a:pPr algn="ctr"/>
            <a:r>
              <a:rPr lang="zh-CN" altLang="en-US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网络测试工具</a:t>
            </a:r>
            <a:endParaRPr lang="zh-CN" altLang="en-US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1640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418" y="1230843"/>
            <a:ext cx="11956473" cy="230110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Ping</a:t>
            </a:r>
          </a:p>
          <a:p>
            <a:pPr lvl="1"/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计算机操作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系统自带的命令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程序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使用ICMP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协议，源主机发送ICMP回送请求消息给目标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主机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目标主机返回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ICMP回送应答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消息给源主机。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Ping不通一台主机的IP地址，并不一定表示这个IP不存在或者主机没有连接到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网络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2451" y="3406352"/>
            <a:ext cx="6129440" cy="318841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内容占位符 2"/>
          <p:cNvSpPr txBox="1">
            <a:spLocks/>
          </p:cNvSpPr>
          <p:nvPr/>
        </p:nvSpPr>
        <p:spPr bwMode="auto">
          <a:xfrm>
            <a:off x="134054" y="3662661"/>
            <a:ext cx="5503506" cy="2473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692150" indent="-347663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SzPct val="70000"/>
              <a:buFont typeface="Wingdings" panose="05000000000000000000" pitchFamily="2" charset="2"/>
              <a:buChar char="l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987425" indent="-293688" algn="l" rtl="0" fontAlgn="base"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Pct val="70000"/>
              <a:buFont typeface="Wingdings" panose="05000000000000000000" pitchFamily="2" charset="2"/>
              <a:buChar char="u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281113" indent="-2921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1598613" indent="-315913" algn="l" rtl="0" fontAlgn="base">
              <a:spcBef>
                <a:spcPct val="20000"/>
              </a:spcBef>
              <a:spcAft>
                <a:spcPct val="0"/>
              </a:spcAft>
              <a:buClr>
                <a:srgbClr val="FFFFFF"/>
              </a:buClr>
              <a:buSzPct val="80000"/>
              <a:buFont typeface="Wingdings" panose="05000000000000000000" pitchFamily="2" charset="2"/>
              <a:buChar char="Ø"/>
              <a:defRPr sz="2400" b="1" kern="1200" baseline="0">
                <a:solidFill>
                  <a:srgbClr val="00206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en-US" altLang="zh-CN" sz="1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1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Ping 169.254.1.38</a:t>
            </a:r>
          </a:p>
          <a:p>
            <a:pPr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-t</a:t>
            </a:r>
            <a:endParaRPr lang="zh-CN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Clr>
                <a:srgbClr val="002060"/>
              </a:buClr>
              <a:buNone/>
            </a:pP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连续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ping </a:t>
            </a:r>
            <a:r>
              <a:rPr lang="zh-CN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指定的主机，直到使用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ctrl+c</a:t>
            </a:r>
            <a:r>
              <a:rPr lang="zh-CN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停止。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Clr>
                <a:srgbClr val="002060"/>
              </a:buClr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Ping  -t 169.254.1.38 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或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ping 169.254.1.38 –t</a:t>
            </a:r>
            <a:endParaRPr lang="en-US" altLang="zh-CN" sz="2000" dirty="0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3450865" y="161912"/>
            <a:ext cx="7522099" cy="858837"/>
          </a:xfrm>
        </p:spPr>
        <p:txBody>
          <a:bodyPr/>
          <a:lstStyle/>
          <a:p>
            <a:pPr algn="ctr"/>
            <a:r>
              <a:rPr lang="zh-CN" altLang="en-US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网络测试工具</a:t>
            </a:r>
            <a:endParaRPr lang="zh-CN" altLang="en-US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6541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5447" y="1203033"/>
            <a:ext cx="11620433" cy="2231930"/>
          </a:xfrm>
        </p:spPr>
        <p:txBody>
          <a:bodyPr/>
          <a:lstStyle/>
          <a:p>
            <a:pPr marL="0" lvl="1" indent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x-none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Traceroute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/ </a:t>
            </a:r>
            <a:r>
              <a:rPr lang="en-US" altLang="zh-CN" sz="2400" b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Tracert</a:t>
            </a:r>
            <a:endParaRPr lang="en-US" altLang="zh-CN" sz="10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182880" lvl="1"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</a:pPr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操作系统提供</a:t>
            </a:r>
            <a:r>
              <a:rPr lang="zh-CN" altLang="zh-CN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跟踪探测路由</a:t>
            </a:r>
            <a:r>
              <a:rPr lang="zh-CN" altLang="zh-CN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的命令程序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buClr>
                <a:srgbClr val="002060"/>
              </a:buClr>
            </a:pPr>
            <a:r>
              <a:rPr lang="zh-CN" altLang="zh-CN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跟踪</a:t>
            </a:r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并获知报文从源主机发送到互联网上的另一目的</a:t>
            </a:r>
            <a:r>
              <a:rPr lang="zh-CN" altLang="zh-CN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主机</a:t>
            </a:r>
            <a:r>
              <a:rPr lang="zh-CN" altLang="en-US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所通过的</a:t>
            </a:r>
            <a:r>
              <a:rPr lang="zh-CN" altLang="zh-CN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路径</a:t>
            </a:r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（路由），即经过了哪些中间节点（路由器）</a:t>
            </a:r>
            <a:r>
              <a:rPr lang="zh-CN" altLang="zh-CN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buClr>
                <a:srgbClr val="002060"/>
              </a:buClr>
            </a:pPr>
            <a:r>
              <a:rPr lang="en-US" altLang="zh-CN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TTL</a:t>
            </a:r>
            <a:r>
              <a:rPr lang="zh-CN" altLang="en-US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Time To Live</a:t>
            </a:r>
            <a:r>
              <a:rPr lang="zh-CN" altLang="en-US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）和</a:t>
            </a:r>
            <a:r>
              <a:rPr lang="zh-CN" altLang="zh-CN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超时</a:t>
            </a:r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「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ICMP time exceeded</a:t>
            </a:r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」报错</a:t>
            </a:r>
            <a:r>
              <a:rPr lang="zh-CN" altLang="zh-CN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消息</a:t>
            </a:r>
            <a:endParaRPr lang="en-US" altLang="zh-CN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b="1" dirty="0"/>
          </a:p>
        </p:txBody>
      </p:sp>
      <p:pic>
        <p:nvPicPr>
          <p:cNvPr id="4" name="图片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9629" y="3356662"/>
            <a:ext cx="5470499" cy="351447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3450865" y="161912"/>
            <a:ext cx="7522099" cy="858837"/>
          </a:xfrm>
        </p:spPr>
        <p:txBody>
          <a:bodyPr/>
          <a:lstStyle/>
          <a:p>
            <a:pPr algn="ctr"/>
            <a:r>
              <a:rPr lang="zh-CN" altLang="en-US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网络测试工具</a:t>
            </a:r>
            <a:endParaRPr lang="zh-CN" altLang="en-US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55447" y="3917592"/>
            <a:ext cx="6227763" cy="2590800"/>
            <a:chOff x="2971221" y="3440513"/>
            <a:chExt cx="6227763" cy="2590800"/>
          </a:xfrm>
        </p:grpSpPr>
        <p:sp>
          <p:nvSpPr>
            <p:cNvPr id="7" name="Line 2"/>
            <p:cNvSpPr>
              <a:spLocks noChangeShapeType="1"/>
            </p:cNvSpPr>
            <p:nvPr/>
          </p:nvSpPr>
          <p:spPr bwMode="auto">
            <a:xfrm>
              <a:off x="5706484" y="4032651"/>
              <a:ext cx="360362" cy="1008062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3403021" y="4391426"/>
              <a:ext cx="576263" cy="358775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 flipH="1">
              <a:off x="6138284" y="4535888"/>
              <a:ext cx="1512887" cy="792163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 flipH="1">
              <a:off x="3331584" y="4967688"/>
              <a:ext cx="647700" cy="21590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>
              <a:off x="4553959" y="4896251"/>
              <a:ext cx="1225550" cy="360362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" name="Group 9"/>
            <p:cNvGrpSpPr>
              <a:grpSpLocks/>
            </p:cNvGrpSpPr>
            <p:nvPr/>
          </p:nvGrpSpPr>
          <p:grpSpPr bwMode="auto">
            <a:xfrm>
              <a:off x="2971221" y="4967688"/>
              <a:ext cx="539750" cy="520700"/>
              <a:chOff x="3477" y="2698"/>
              <a:chExt cx="1445" cy="1307"/>
            </a:xfrm>
          </p:grpSpPr>
          <p:sp>
            <p:nvSpPr>
              <p:cNvPr id="134" name="Rectangle 10"/>
              <p:cNvSpPr>
                <a:spLocks noChangeArrowheads="1"/>
              </p:cNvSpPr>
              <p:nvPr/>
            </p:nvSpPr>
            <p:spPr bwMode="auto">
              <a:xfrm>
                <a:off x="3477" y="3574"/>
                <a:ext cx="1307" cy="241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" name="Rectangle 11"/>
              <p:cNvSpPr>
                <a:spLocks noChangeArrowheads="1"/>
              </p:cNvSpPr>
              <p:nvPr/>
            </p:nvSpPr>
            <p:spPr bwMode="auto">
              <a:xfrm>
                <a:off x="3480" y="3577"/>
                <a:ext cx="1301" cy="235"/>
              </a:xfrm>
              <a:prstGeom prst="rect">
                <a:avLst/>
              </a:prstGeom>
              <a:solidFill>
                <a:srgbClr val="B7B79D"/>
              </a:solidFill>
              <a:ln w="1111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" name="Freeform 12"/>
              <p:cNvSpPr>
                <a:spLocks/>
              </p:cNvSpPr>
              <p:nvPr/>
            </p:nvSpPr>
            <p:spPr bwMode="auto">
              <a:xfrm>
                <a:off x="3477" y="3443"/>
                <a:ext cx="1445" cy="131"/>
              </a:xfrm>
              <a:custGeom>
                <a:avLst/>
                <a:gdLst>
                  <a:gd name="T0" fmla="*/ 0 w 1445"/>
                  <a:gd name="T1" fmla="*/ 131 h 131"/>
                  <a:gd name="T2" fmla="*/ 138 w 1445"/>
                  <a:gd name="T3" fmla="*/ 0 h 131"/>
                  <a:gd name="T4" fmla="*/ 1445 w 1445"/>
                  <a:gd name="T5" fmla="*/ 0 h 131"/>
                  <a:gd name="T6" fmla="*/ 1307 w 1445"/>
                  <a:gd name="T7" fmla="*/ 131 h 131"/>
                  <a:gd name="T8" fmla="*/ 0 w 1445"/>
                  <a:gd name="T9" fmla="*/ 131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45" h="131">
                    <a:moveTo>
                      <a:pt x="0" y="131"/>
                    </a:moveTo>
                    <a:lnTo>
                      <a:pt x="138" y="0"/>
                    </a:lnTo>
                    <a:lnTo>
                      <a:pt x="1445" y="0"/>
                    </a:lnTo>
                    <a:lnTo>
                      <a:pt x="1307" y="131"/>
                    </a:lnTo>
                    <a:lnTo>
                      <a:pt x="0" y="131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7" name="Freeform 13"/>
              <p:cNvSpPr>
                <a:spLocks/>
              </p:cNvSpPr>
              <p:nvPr/>
            </p:nvSpPr>
            <p:spPr bwMode="auto">
              <a:xfrm>
                <a:off x="3477" y="3443"/>
                <a:ext cx="1445" cy="131"/>
              </a:xfrm>
              <a:custGeom>
                <a:avLst/>
                <a:gdLst>
                  <a:gd name="T0" fmla="*/ 0 w 1445"/>
                  <a:gd name="T1" fmla="*/ 131 h 131"/>
                  <a:gd name="T2" fmla="*/ 138 w 1445"/>
                  <a:gd name="T3" fmla="*/ 0 h 131"/>
                  <a:gd name="T4" fmla="*/ 1445 w 1445"/>
                  <a:gd name="T5" fmla="*/ 0 h 131"/>
                  <a:gd name="T6" fmla="*/ 1307 w 1445"/>
                  <a:gd name="T7" fmla="*/ 131 h 131"/>
                  <a:gd name="T8" fmla="*/ 0 w 1445"/>
                  <a:gd name="T9" fmla="*/ 131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45" h="131">
                    <a:moveTo>
                      <a:pt x="0" y="131"/>
                    </a:moveTo>
                    <a:lnTo>
                      <a:pt x="138" y="0"/>
                    </a:lnTo>
                    <a:lnTo>
                      <a:pt x="1445" y="0"/>
                    </a:lnTo>
                    <a:lnTo>
                      <a:pt x="1307" y="131"/>
                    </a:lnTo>
                    <a:lnTo>
                      <a:pt x="0" y="131"/>
                    </a:lnTo>
                    <a:close/>
                  </a:path>
                </a:pathLst>
              </a:custGeom>
              <a:solidFill>
                <a:srgbClr val="C9C9B6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" name="Line 14"/>
              <p:cNvSpPr>
                <a:spLocks noChangeShapeType="1"/>
              </p:cNvSpPr>
              <p:nvPr/>
            </p:nvSpPr>
            <p:spPr bwMode="auto">
              <a:xfrm flipH="1">
                <a:off x="4397" y="3684"/>
                <a:ext cx="314" cy="1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" name="Freeform 15"/>
              <p:cNvSpPr>
                <a:spLocks/>
              </p:cNvSpPr>
              <p:nvPr/>
            </p:nvSpPr>
            <p:spPr bwMode="auto">
              <a:xfrm>
                <a:off x="4784" y="3443"/>
                <a:ext cx="138" cy="372"/>
              </a:xfrm>
              <a:custGeom>
                <a:avLst/>
                <a:gdLst>
                  <a:gd name="T0" fmla="*/ 0 w 138"/>
                  <a:gd name="T1" fmla="*/ 372 h 372"/>
                  <a:gd name="T2" fmla="*/ 138 w 138"/>
                  <a:gd name="T3" fmla="*/ 234 h 372"/>
                  <a:gd name="T4" fmla="*/ 138 w 138"/>
                  <a:gd name="T5" fmla="*/ 0 h 372"/>
                  <a:gd name="T6" fmla="*/ 0 w 138"/>
                  <a:gd name="T7" fmla="*/ 131 h 372"/>
                  <a:gd name="T8" fmla="*/ 0 w 138"/>
                  <a:gd name="T9" fmla="*/ 372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" h="372">
                    <a:moveTo>
                      <a:pt x="0" y="372"/>
                    </a:moveTo>
                    <a:lnTo>
                      <a:pt x="138" y="234"/>
                    </a:lnTo>
                    <a:lnTo>
                      <a:pt x="138" y="0"/>
                    </a:lnTo>
                    <a:lnTo>
                      <a:pt x="0" y="131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0" name="Freeform 16"/>
              <p:cNvSpPr>
                <a:spLocks/>
              </p:cNvSpPr>
              <p:nvPr/>
            </p:nvSpPr>
            <p:spPr bwMode="auto">
              <a:xfrm>
                <a:off x="4784" y="3443"/>
                <a:ext cx="138" cy="372"/>
              </a:xfrm>
              <a:custGeom>
                <a:avLst/>
                <a:gdLst>
                  <a:gd name="T0" fmla="*/ 0 w 138"/>
                  <a:gd name="T1" fmla="*/ 372 h 372"/>
                  <a:gd name="T2" fmla="*/ 138 w 138"/>
                  <a:gd name="T3" fmla="*/ 234 h 372"/>
                  <a:gd name="T4" fmla="*/ 138 w 138"/>
                  <a:gd name="T5" fmla="*/ 0 h 372"/>
                  <a:gd name="T6" fmla="*/ 0 w 138"/>
                  <a:gd name="T7" fmla="*/ 131 h 372"/>
                  <a:gd name="T8" fmla="*/ 0 w 138"/>
                  <a:gd name="T9" fmla="*/ 372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" h="372">
                    <a:moveTo>
                      <a:pt x="0" y="372"/>
                    </a:moveTo>
                    <a:lnTo>
                      <a:pt x="138" y="234"/>
                    </a:lnTo>
                    <a:lnTo>
                      <a:pt x="138" y="0"/>
                    </a:lnTo>
                    <a:lnTo>
                      <a:pt x="0" y="131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7A7A5A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" name="Freeform 17"/>
              <p:cNvSpPr>
                <a:spLocks/>
              </p:cNvSpPr>
              <p:nvPr/>
            </p:nvSpPr>
            <p:spPr bwMode="auto">
              <a:xfrm>
                <a:off x="3484" y="3786"/>
                <a:ext cx="1154" cy="183"/>
              </a:xfrm>
              <a:custGeom>
                <a:avLst/>
                <a:gdLst>
                  <a:gd name="T0" fmla="*/ 0 w 1154"/>
                  <a:gd name="T1" fmla="*/ 183 h 183"/>
                  <a:gd name="T2" fmla="*/ 146 w 1154"/>
                  <a:gd name="T3" fmla="*/ 0 h 183"/>
                  <a:gd name="T4" fmla="*/ 1154 w 1154"/>
                  <a:gd name="T5" fmla="*/ 0 h 183"/>
                  <a:gd name="T6" fmla="*/ 1008 w 1154"/>
                  <a:gd name="T7" fmla="*/ 183 h 183"/>
                  <a:gd name="T8" fmla="*/ 0 w 1154"/>
                  <a:gd name="T9" fmla="*/ 183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54" h="183">
                    <a:moveTo>
                      <a:pt x="0" y="183"/>
                    </a:moveTo>
                    <a:lnTo>
                      <a:pt x="146" y="0"/>
                    </a:lnTo>
                    <a:lnTo>
                      <a:pt x="1154" y="0"/>
                    </a:lnTo>
                    <a:lnTo>
                      <a:pt x="1008" y="183"/>
                    </a:lnTo>
                    <a:lnTo>
                      <a:pt x="0" y="183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" name="Freeform 18"/>
              <p:cNvSpPr>
                <a:spLocks/>
              </p:cNvSpPr>
              <p:nvPr/>
            </p:nvSpPr>
            <p:spPr bwMode="auto">
              <a:xfrm>
                <a:off x="3484" y="3786"/>
                <a:ext cx="1154" cy="183"/>
              </a:xfrm>
              <a:custGeom>
                <a:avLst/>
                <a:gdLst>
                  <a:gd name="T0" fmla="*/ 0 w 1154"/>
                  <a:gd name="T1" fmla="*/ 183 h 183"/>
                  <a:gd name="T2" fmla="*/ 146 w 1154"/>
                  <a:gd name="T3" fmla="*/ 0 h 183"/>
                  <a:gd name="T4" fmla="*/ 1154 w 1154"/>
                  <a:gd name="T5" fmla="*/ 0 h 183"/>
                  <a:gd name="T6" fmla="*/ 1008 w 1154"/>
                  <a:gd name="T7" fmla="*/ 183 h 183"/>
                  <a:gd name="T8" fmla="*/ 0 w 1154"/>
                  <a:gd name="T9" fmla="*/ 183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54" h="183">
                    <a:moveTo>
                      <a:pt x="0" y="183"/>
                    </a:moveTo>
                    <a:lnTo>
                      <a:pt x="146" y="0"/>
                    </a:lnTo>
                    <a:lnTo>
                      <a:pt x="1154" y="0"/>
                    </a:lnTo>
                    <a:lnTo>
                      <a:pt x="1008" y="183"/>
                    </a:lnTo>
                    <a:lnTo>
                      <a:pt x="0" y="183"/>
                    </a:lnTo>
                    <a:close/>
                  </a:path>
                </a:pathLst>
              </a:custGeom>
              <a:solidFill>
                <a:srgbClr val="C9C9B6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" name="Freeform 19"/>
              <p:cNvSpPr>
                <a:spLocks/>
              </p:cNvSpPr>
              <p:nvPr/>
            </p:nvSpPr>
            <p:spPr bwMode="auto">
              <a:xfrm>
                <a:off x="4492" y="3786"/>
                <a:ext cx="146" cy="219"/>
              </a:xfrm>
              <a:custGeom>
                <a:avLst/>
                <a:gdLst>
                  <a:gd name="T0" fmla="*/ 0 w 146"/>
                  <a:gd name="T1" fmla="*/ 219 h 219"/>
                  <a:gd name="T2" fmla="*/ 146 w 146"/>
                  <a:gd name="T3" fmla="*/ 66 h 219"/>
                  <a:gd name="T4" fmla="*/ 146 w 146"/>
                  <a:gd name="T5" fmla="*/ 0 h 219"/>
                  <a:gd name="T6" fmla="*/ 0 w 146"/>
                  <a:gd name="T7" fmla="*/ 183 h 219"/>
                  <a:gd name="T8" fmla="*/ 0 w 146"/>
                  <a:gd name="T9" fmla="*/ 219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219">
                    <a:moveTo>
                      <a:pt x="0" y="219"/>
                    </a:moveTo>
                    <a:lnTo>
                      <a:pt x="146" y="66"/>
                    </a:lnTo>
                    <a:lnTo>
                      <a:pt x="146" y="0"/>
                    </a:lnTo>
                    <a:lnTo>
                      <a:pt x="0" y="183"/>
                    </a:lnTo>
                    <a:lnTo>
                      <a:pt x="0" y="219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" name="Freeform 20"/>
              <p:cNvSpPr>
                <a:spLocks/>
              </p:cNvSpPr>
              <p:nvPr/>
            </p:nvSpPr>
            <p:spPr bwMode="auto">
              <a:xfrm>
                <a:off x="4492" y="3786"/>
                <a:ext cx="146" cy="219"/>
              </a:xfrm>
              <a:custGeom>
                <a:avLst/>
                <a:gdLst>
                  <a:gd name="T0" fmla="*/ 0 w 146"/>
                  <a:gd name="T1" fmla="*/ 219 h 219"/>
                  <a:gd name="T2" fmla="*/ 146 w 146"/>
                  <a:gd name="T3" fmla="*/ 66 h 219"/>
                  <a:gd name="T4" fmla="*/ 146 w 146"/>
                  <a:gd name="T5" fmla="*/ 0 h 219"/>
                  <a:gd name="T6" fmla="*/ 0 w 146"/>
                  <a:gd name="T7" fmla="*/ 183 h 219"/>
                  <a:gd name="T8" fmla="*/ 0 w 146"/>
                  <a:gd name="T9" fmla="*/ 219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219">
                    <a:moveTo>
                      <a:pt x="0" y="219"/>
                    </a:moveTo>
                    <a:lnTo>
                      <a:pt x="146" y="66"/>
                    </a:lnTo>
                    <a:lnTo>
                      <a:pt x="146" y="0"/>
                    </a:lnTo>
                    <a:lnTo>
                      <a:pt x="0" y="183"/>
                    </a:lnTo>
                    <a:lnTo>
                      <a:pt x="0" y="219"/>
                    </a:lnTo>
                    <a:close/>
                  </a:path>
                </a:pathLst>
              </a:custGeom>
              <a:solidFill>
                <a:srgbClr val="7A7A5A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" name="Rectangle 21"/>
              <p:cNvSpPr>
                <a:spLocks noChangeArrowheads="1"/>
              </p:cNvSpPr>
              <p:nvPr/>
            </p:nvSpPr>
            <p:spPr bwMode="auto">
              <a:xfrm>
                <a:off x="3484" y="3969"/>
                <a:ext cx="1008" cy="36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6" name="Rectangle 22"/>
              <p:cNvSpPr>
                <a:spLocks noChangeArrowheads="1"/>
              </p:cNvSpPr>
              <p:nvPr/>
            </p:nvSpPr>
            <p:spPr bwMode="auto">
              <a:xfrm>
                <a:off x="3487" y="3972"/>
                <a:ext cx="1002" cy="30"/>
              </a:xfrm>
              <a:prstGeom prst="rect">
                <a:avLst/>
              </a:prstGeom>
              <a:solidFill>
                <a:srgbClr val="B7B79D"/>
              </a:solidFill>
              <a:ln w="1111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7" name="Freeform 23"/>
              <p:cNvSpPr>
                <a:spLocks/>
              </p:cNvSpPr>
              <p:nvPr/>
            </p:nvSpPr>
            <p:spPr bwMode="auto">
              <a:xfrm>
                <a:off x="3674" y="3443"/>
                <a:ext cx="1037" cy="102"/>
              </a:xfrm>
              <a:custGeom>
                <a:avLst/>
                <a:gdLst>
                  <a:gd name="T0" fmla="*/ 0 w 1037"/>
                  <a:gd name="T1" fmla="*/ 102 h 102"/>
                  <a:gd name="T2" fmla="*/ 109 w 1037"/>
                  <a:gd name="T3" fmla="*/ 0 h 102"/>
                  <a:gd name="T4" fmla="*/ 1037 w 1037"/>
                  <a:gd name="T5" fmla="*/ 0 h 102"/>
                  <a:gd name="T6" fmla="*/ 934 w 1037"/>
                  <a:gd name="T7" fmla="*/ 102 h 102"/>
                  <a:gd name="T8" fmla="*/ 0 w 1037"/>
                  <a:gd name="T9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7" h="102">
                    <a:moveTo>
                      <a:pt x="0" y="102"/>
                    </a:moveTo>
                    <a:lnTo>
                      <a:pt x="109" y="0"/>
                    </a:lnTo>
                    <a:lnTo>
                      <a:pt x="1037" y="0"/>
                    </a:lnTo>
                    <a:lnTo>
                      <a:pt x="934" y="102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" name="Freeform 24"/>
              <p:cNvSpPr>
                <a:spLocks/>
              </p:cNvSpPr>
              <p:nvPr/>
            </p:nvSpPr>
            <p:spPr bwMode="auto">
              <a:xfrm>
                <a:off x="3674" y="3443"/>
                <a:ext cx="1037" cy="102"/>
              </a:xfrm>
              <a:custGeom>
                <a:avLst/>
                <a:gdLst>
                  <a:gd name="T0" fmla="*/ 0 w 1037"/>
                  <a:gd name="T1" fmla="*/ 102 h 102"/>
                  <a:gd name="T2" fmla="*/ 109 w 1037"/>
                  <a:gd name="T3" fmla="*/ 0 h 102"/>
                  <a:gd name="T4" fmla="*/ 1037 w 1037"/>
                  <a:gd name="T5" fmla="*/ 0 h 102"/>
                  <a:gd name="T6" fmla="*/ 934 w 1037"/>
                  <a:gd name="T7" fmla="*/ 102 h 102"/>
                  <a:gd name="T8" fmla="*/ 0 w 1037"/>
                  <a:gd name="T9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7" h="102">
                    <a:moveTo>
                      <a:pt x="0" y="102"/>
                    </a:moveTo>
                    <a:lnTo>
                      <a:pt x="109" y="0"/>
                    </a:lnTo>
                    <a:lnTo>
                      <a:pt x="1037" y="0"/>
                    </a:lnTo>
                    <a:lnTo>
                      <a:pt x="934" y="102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000000"/>
              </a:solidFill>
              <a:ln w="1111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" name="Freeform 25"/>
              <p:cNvSpPr>
                <a:spLocks/>
              </p:cNvSpPr>
              <p:nvPr/>
            </p:nvSpPr>
            <p:spPr bwMode="auto">
              <a:xfrm>
                <a:off x="3666" y="2698"/>
                <a:ext cx="1030" cy="95"/>
              </a:xfrm>
              <a:custGeom>
                <a:avLst/>
                <a:gdLst>
                  <a:gd name="T0" fmla="*/ 0 w 1030"/>
                  <a:gd name="T1" fmla="*/ 95 h 95"/>
                  <a:gd name="T2" fmla="*/ 103 w 1030"/>
                  <a:gd name="T3" fmla="*/ 0 h 95"/>
                  <a:gd name="T4" fmla="*/ 1030 w 1030"/>
                  <a:gd name="T5" fmla="*/ 0 h 95"/>
                  <a:gd name="T6" fmla="*/ 928 w 1030"/>
                  <a:gd name="T7" fmla="*/ 95 h 95"/>
                  <a:gd name="T8" fmla="*/ 0 w 1030"/>
                  <a:gd name="T9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0" h="95">
                    <a:moveTo>
                      <a:pt x="0" y="95"/>
                    </a:moveTo>
                    <a:lnTo>
                      <a:pt x="103" y="0"/>
                    </a:lnTo>
                    <a:lnTo>
                      <a:pt x="1030" y="0"/>
                    </a:lnTo>
                    <a:lnTo>
                      <a:pt x="928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" name="Freeform 26"/>
              <p:cNvSpPr>
                <a:spLocks/>
              </p:cNvSpPr>
              <p:nvPr/>
            </p:nvSpPr>
            <p:spPr bwMode="auto">
              <a:xfrm>
                <a:off x="3666" y="2698"/>
                <a:ext cx="1030" cy="95"/>
              </a:xfrm>
              <a:custGeom>
                <a:avLst/>
                <a:gdLst>
                  <a:gd name="T0" fmla="*/ 0 w 1030"/>
                  <a:gd name="T1" fmla="*/ 95 h 95"/>
                  <a:gd name="T2" fmla="*/ 103 w 1030"/>
                  <a:gd name="T3" fmla="*/ 0 h 95"/>
                  <a:gd name="T4" fmla="*/ 1030 w 1030"/>
                  <a:gd name="T5" fmla="*/ 0 h 95"/>
                  <a:gd name="T6" fmla="*/ 928 w 1030"/>
                  <a:gd name="T7" fmla="*/ 95 h 95"/>
                  <a:gd name="T8" fmla="*/ 0 w 1030"/>
                  <a:gd name="T9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0" h="95">
                    <a:moveTo>
                      <a:pt x="0" y="95"/>
                    </a:moveTo>
                    <a:lnTo>
                      <a:pt x="103" y="0"/>
                    </a:lnTo>
                    <a:lnTo>
                      <a:pt x="1030" y="0"/>
                    </a:lnTo>
                    <a:lnTo>
                      <a:pt x="928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rgbClr val="C9C9B6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" name="Rectangle 27"/>
              <p:cNvSpPr>
                <a:spLocks noChangeArrowheads="1"/>
              </p:cNvSpPr>
              <p:nvPr/>
            </p:nvSpPr>
            <p:spPr bwMode="auto">
              <a:xfrm>
                <a:off x="3669" y="2796"/>
                <a:ext cx="929" cy="732"/>
              </a:xfrm>
              <a:prstGeom prst="rect">
                <a:avLst/>
              </a:prstGeom>
              <a:solidFill>
                <a:srgbClr val="B7B79D"/>
              </a:solidFill>
              <a:ln w="1111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" name="Rectangle 28"/>
              <p:cNvSpPr>
                <a:spLocks noChangeArrowheads="1"/>
              </p:cNvSpPr>
              <p:nvPr/>
            </p:nvSpPr>
            <p:spPr bwMode="auto">
              <a:xfrm>
                <a:off x="3750" y="2891"/>
                <a:ext cx="768" cy="564"/>
              </a:xfrm>
              <a:prstGeom prst="rect">
                <a:avLst/>
              </a:prstGeom>
              <a:solidFill>
                <a:srgbClr val="FFFFFF"/>
              </a:solidFill>
              <a:ln w="1111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" name="Freeform 29"/>
              <p:cNvSpPr>
                <a:spLocks/>
              </p:cNvSpPr>
              <p:nvPr/>
            </p:nvSpPr>
            <p:spPr bwMode="auto">
              <a:xfrm>
                <a:off x="4594" y="2698"/>
                <a:ext cx="102" cy="825"/>
              </a:xfrm>
              <a:custGeom>
                <a:avLst/>
                <a:gdLst>
                  <a:gd name="T0" fmla="*/ 0 w 102"/>
                  <a:gd name="T1" fmla="*/ 825 h 825"/>
                  <a:gd name="T2" fmla="*/ 102 w 102"/>
                  <a:gd name="T3" fmla="*/ 723 h 825"/>
                  <a:gd name="T4" fmla="*/ 102 w 102"/>
                  <a:gd name="T5" fmla="*/ 0 h 825"/>
                  <a:gd name="T6" fmla="*/ 0 w 102"/>
                  <a:gd name="T7" fmla="*/ 95 h 825"/>
                  <a:gd name="T8" fmla="*/ 0 w 102"/>
                  <a:gd name="T9" fmla="*/ 825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825">
                    <a:moveTo>
                      <a:pt x="0" y="825"/>
                    </a:moveTo>
                    <a:lnTo>
                      <a:pt x="102" y="723"/>
                    </a:lnTo>
                    <a:lnTo>
                      <a:pt x="102" y="0"/>
                    </a:lnTo>
                    <a:lnTo>
                      <a:pt x="0" y="95"/>
                    </a:lnTo>
                    <a:lnTo>
                      <a:pt x="0" y="825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" name="Freeform 30"/>
              <p:cNvSpPr>
                <a:spLocks/>
              </p:cNvSpPr>
              <p:nvPr/>
            </p:nvSpPr>
            <p:spPr bwMode="auto">
              <a:xfrm>
                <a:off x="4594" y="2698"/>
                <a:ext cx="102" cy="825"/>
              </a:xfrm>
              <a:custGeom>
                <a:avLst/>
                <a:gdLst>
                  <a:gd name="T0" fmla="*/ 0 w 102"/>
                  <a:gd name="T1" fmla="*/ 825 h 825"/>
                  <a:gd name="T2" fmla="*/ 102 w 102"/>
                  <a:gd name="T3" fmla="*/ 723 h 825"/>
                  <a:gd name="T4" fmla="*/ 102 w 102"/>
                  <a:gd name="T5" fmla="*/ 0 h 825"/>
                  <a:gd name="T6" fmla="*/ 0 w 102"/>
                  <a:gd name="T7" fmla="*/ 95 h 825"/>
                  <a:gd name="T8" fmla="*/ 0 w 102"/>
                  <a:gd name="T9" fmla="*/ 825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825">
                    <a:moveTo>
                      <a:pt x="0" y="825"/>
                    </a:moveTo>
                    <a:lnTo>
                      <a:pt x="102" y="723"/>
                    </a:lnTo>
                    <a:lnTo>
                      <a:pt x="102" y="0"/>
                    </a:lnTo>
                    <a:lnTo>
                      <a:pt x="0" y="95"/>
                    </a:lnTo>
                    <a:lnTo>
                      <a:pt x="0" y="825"/>
                    </a:lnTo>
                    <a:close/>
                  </a:path>
                </a:pathLst>
              </a:custGeom>
              <a:solidFill>
                <a:srgbClr val="7A7A5A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" name="Line 31"/>
            <p:cNvSpPr>
              <a:spLocks noChangeShapeType="1"/>
            </p:cNvSpPr>
            <p:nvPr/>
          </p:nvSpPr>
          <p:spPr bwMode="auto">
            <a:xfrm>
              <a:off x="6138284" y="3959626"/>
              <a:ext cx="1584325" cy="431800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32"/>
            <p:cNvSpPr>
              <a:spLocks noChangeShapeType="1"/>
            </p:cNvSpPr>
            <p:nvPr/>
          </p:nvSpPr>
          <p:spPr bwMode="auto">
            <a:xfrm flipV="1">
              <a:off x="4626984" y="3959626"/>
              <a:ext cx="863600" cy="792162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9612802"/>
                </p:ext>
              </p:extLst>
            </p:nvPr>
          </p:nvGraphicFramePr>
          <p:xfrm>
            <a:off x="3826884" y="4607326"/>
            <a:ext cx="944562" cy="593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42" name="VISIO" r:id="rId4" imgW="944280" imgH="593640" progId="Visio.Drawing.6">
                    <p:embed/>
                  </p:oleObj>
                </mc:Choice>
                <mc:Fallback>
                  <p:oleObj name="VISIO" r:id="rId4" imgW="944280" imgH="593640" progId="Visio.Drawing.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6884" y="4607326"/>
                          <a:ext cx="944562" cy="593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1291659"/>
                </p:ext>
              </p:extLst>
            </p:nvPr>
          </p:nvGraphicFramePr>
          <p:xfrm>
            <a:off x="5346121" y="3581801"/>
            <a:ext cx="944563" cy="593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43" name="VISIO" r:id="rId6" imgW="944280" imgH="593640" progId="Visio.Drawing.6">
                    <p:embed/>
                  </p:oleObj>
                </mc:Choice>
                <mc:Fallback>
                  <p:oleObj name="VISIO" r:id="rId6" imgW="944280" imgH="593640" progId="Visio.Drawing.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6121" y="3581801"/>
                          <a:ext cx="944563" cy="593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Line 35"/>
            <p:cNvSpPr>
              <a:spLocks noChangeShapeType="1"/>
            </p:cNvSpPr>
            <p:nvPr/>
          </p:nvSpPr>
          <p:spPr bwMode="auto">
            <a:xfrm flipH="1">
              <a:off x="8335384" y="3872313"/>
              <a:ext cx="144462" cy="360363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36"/>
            <p:cNvSpPr>
              <a:spLocks noChangeShapeType="1"/>
            </p:cNvSpPr>
            <p:nvPr/>
          </p:nvSpPr>
          <p:spPr bwMode="auto">
            <a:xfrm flipH="1" flipV="1">
              <a:off x="8371896" y="4446988"/>
              <a:ext cx="431800" cy="144463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" name="Group 37"/>
            <p:cNvGrpSpPr>
              <a:grpSpLocks/>
            </p:cNvGrpSpPr>
            <p:nvPr/>
          </p:nvGrpSpPr>
          <p:grpSpPr bwMode="auto">
            <a:xfrm>
              <a:off x="8298871" y="3440513"/>
              <a:ext cx="539750" cy="520700"/>
              <a:chOff x="3477" y="2698"/>
              <a:chExt cx="1445" cy="1307"/>
            </a:xfrm>
          </p:grpSpPr>
          <p:sp>
            <p:nvSpPr>
              <p:cNvPr id="113" name="Rectangle 38"/>
              <p:cNvSpPr>
                <a:spLocks noChangeArrowheads="1"/>
              </p:cNvSpPr>
              <p:nvPr/>
            </p:nvSpPr>
            <p:spPr bwMode="auto">
              <a:xfrm>
                <a:off x="3477" y="3574"/>
                <a:ext cx="1307" cy="241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" name="Rectangle 39"/>
              <p:cNvSpPr>
                <a:spLocks noChangeArrowheads="1"/>
              </p:cNvSpPr>
              <p:nvPr/>
            </p:nvSpPr>
            <p:spPr bwMode="auto">
              <a:xfrm>
                <a:off x="3480" y="3577"/>
                <a:ext cx="1301" cy="235"/>
              </a:xfrm>
              <a:prstGeom prst="rect">
                <a:avLst/>
              </a:prstGeom>
              <a:solidFill>
                <a:srgbClr val="B7B79D"/>
              </a:solidFill>
              <a:ln w="1111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" name="Freeform 40"/>
              <p:cNvSpPr>
                <a:spLocks/>
              </p:cNvSpPr>
              <p:nvPr/>
            </p:nvSpPr>
            <p:spPr bwMode="auto">
              <a:xfrm>
                <a:off x="3477" y="3443"/>
                <a:ext cx="1445" cy="131"/>
              </a:xfrm>
              <a:custGeom>
                <a:avLst/>
                <a:gdLst>
                  <a:gd name="T0" fmla="*/ 0 w 1445"/>
                  <a:gd name="T1" fmla="*/ 131 h 131"/>
                  <a:gd name="T2" fmla="*/ 138 w 1445"/>
                  <a:gd name="T3" fmla="*/ 0 h 131"/>
                  <a:gd name="T4" fmla="*/ 1445 w 1445"/>
                  <a:gd name="T5" fmla="*/ 0 h 131"/>
                  <a:gd name="T6" fmla="*/ 1307 w 1445"/>
                  <a:gd name="T7" fmla="*/ 131 h 131"/>
                  <a:gd name="T8" fmla="*/ 0 w 1445"/>
                  <a:gd name="T9" fmla="*/ 131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45" h="131">
                    <a:moveTo>
                      <a:pt x="0" y="131"/>
                    </a:moveTo>
                    <a:lnTo>
                      <a:pt x="138" y="0"/>
                    </a:lnTo>
                    <a:lnTo>
                      <a:pt x="1445" y="0"/>
                    </a:lnTo>
                    <a:lnTo>
                      <a:pt x="1307" y="131"/>
                    </a:lnTo>
                    <a:lnTo>
                      <a:pt x="0" y="131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" name="Freeform 41"/>
              <p:cNvSpPr>
                <a:spLocks/>
              </p:cNvSpPr>
              <p:nvPr/>
            </p:nvSpPr>
            <p:spPr bwMode="auto">
              <a:xfrm>
                <a:off x="3477" y="3443"/>
                <a:ext cx="1445" cy="131"/>
              </a:xfrm>
              <a:custGeom>
                <a:avLst/>
                <a:gdLst>
                  <a:gd name="T0" fmla="*/ 0 w 1445"/>
                  <a:gd name="T1" fmla="*/ 131 h 131"/>
                  <a:gd name="T2" fmla="*/ 138 w 1445"/>
                  <a:gd name="T3" fmla="*/ 0 h 131"/>
                  <a:gd name="T4" fmla="*/ 1445 w 1445"/>
                  <a:gd name="T5" fmla="*/ 0 h 131"/>
                  <a:gd name="T6" fmla="*/ 1307 w 1445"/>
                  <a:gd name="T7" fmla="*/ 131 h 131"/>
                  <a:gd name="T8" fmla="*/ 0 w 1445"/>
                  <a:gd name="T9" fmla="*/ 131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45" h="131">
                    <a:moveTo>
                      <a:pt x="0" y="131"/>
                    </a:moveTo>
                    <a:lnTo>
                      <a:pt x="138" y="0"/>
                    </a:lnTo>
                    <a:lnTo>
                      <a:pt x="1445" y="0"/>
                    </a:lnTo>
                    <a:lnTo>
                      <a:pt x="1307" y="131"/>
                    </a:lnTo>
                    <a:lnTo>
                      <a:pt x="0" y="131"/>
                    </a:lnTo>
                    <a:close/>
                  </a:path>
                </a:pathLst>
              </a:custGeom>
              <a:solidFill>
                <a:srgbClr val="C9C9B6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Line 42"/>
              <p:cNvSpPr>
                <a:spLocks noChangeShapeType="1"/>
              </p:cNvSpPr>
              <p:nvPr/>
            </p:nvSpPr>
            <p:spPr bwMode="auto">
              <a:xfrm flipH="1">
                <a:off x="4397" y="3684"/>
                <a:ext cx="314" cy="1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" name="Freeform 43"/>
              <p:cNvSpPr>
                <a:spLocks/>
              </p:cNvSpPr>
              <p:nvPr/>
            </p:nvSpPr>
            <p:spPr bwMode="auto">
              <a:xfrm>
                <a:off x="4784" y="3443"/>
                <a:ext cx="138" cy="372"/>
              </a:xfrm>
              <a:custGeom>
                <a:avLst/>
                <a:gdLst>
                  <a:gd name="T0" fmla="*/ 0 w 138"/>
                  <a:gd name="T1" fmla="*/ 372 h 372"/>
                  <a:gd name="T2" fmla="*/ 138 w 138"/>
                  <a:gd name="T3" fmla="*/ 234 h 372"/>
                  <a:gd name="T4" fmla="*/ 138 w 138"/>
                  <a:gd name="T5" fmla="*/ 0 h 372"/>
                  <a:gd name="T6" fmla="*/ 0 w 138"/>
                  <a:gd name="T7" fmla="*/ 131 h 372"/>
                  <a:gd name="T8" fmla="*/ 0 w 138"/>
                  <a:gd name="T9" fmla="*/ 372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" h="372">
                    <a:moveTo>
                      <a:pt x="0" y="372"/>
                    </a:moveTo>
                    <a:lnTo>
                      <a:pt x="138" y="234"/>
                    </a:lnTo>
                    <a:lnTo>
                      <a:pt x="138" y="0"/>
                    </a:lnTo>
                    <a:lnTo>
                      <a:pt x="0" y="131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" name="Freeform 44"/>
              <p:cNvSpPr>
                <a:spLocks/>
              </p:cNvSpPr>
              <p:nvPr/>
            </p:nvSpPr>
            <p:spPr bwMode="auto">
              <a:xfrm>
                <a:off x="4784" y="3443"/>
                <a:ext cx="138" cy="372"/>
              </a:xfrm>
              <a:custGeom>
                <a:avLst/>
                <a:gdLst>
                  <a:gd name="T0" fmla="*/ 0 w 138"/>
                  <a:gd name="T1" fmla="*/ 372 h 372"/>
                  <a:gd name="T2" fmla="*/ 138 w 138"/>
                  <a:gd name="T3" fmla="*/ 234 h 372"/>
                  <a:gd name="T4" fmla="*/ 138 w 138"/>
                  <a:gd name="T5" fmla="*/ 0 h 372"/>
                  <a:gd name="T6" fmla="*/ 0 w 138"/>
                  <a:gd name="T7" fmla="*/ 131 h 372"/>
                  <a:gd name="T8" fmla="*/ 0 w 138"/>
                  <a:gd name="T9" fmla="*/ 372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" h="372">
                    <a:moveTo>
                      <a:pt x="0" y="372"/>
                    </a:moveTo>
                    <a:lnTo>
                      <a:pt x="138" y="234"/>
                    </a:lnTo>
                    <a:lnTo>
                      <a:pt x="138" y="0"/>
                    </a:lnTo>
                    <a:lnTo>
                      <a:pt x="0" y="131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7A7A5A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Freeform 45"/>
              <p:cNvSpPr>
                <a:spLocks/>
              </p:cNvSpPr>
              <p:nvPr/>
            </p:nvSpPr>
            <p:spPr bwMode="auto">
              <a:xfrm>
                <a:off x="3484" y="3786"/>
                <a:ext cx="1154" cy="183"/>
              </a:xfrm>
              <a:custGeom>
                <a:avLst/>
                <a:gdLst>
                  <a:gd name="T0" fmla="*/ 0 w 1154"/>
                  <a:gd name="T1" fmla="*/ 183 h 183"/>
                  <a:gd name="T2" fmla="*/ 146 w 1154"/>
                  <a:gd name="T3" fmla="*/ 0 h 183"/>
                  <a:gd name="T4" fmla="*/ 1154 w 1154"/>
                  <a:gd name="T5" fmla="*/ 0 h 183"/>
                  <a:gd name="T6" fmla="*/ 1008 w 1154"/>
                  <a:gd name="T7" fmla="*/ 183 h 183"/>
                  <a:gd name="T8" fmla="*/ 0 w 1154"/>
                  <a:gd name="T9" fmla="*/ 183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54" h="183">
                    <a:moveTo>
                      <a:pt x="0" y="183"/>
                    </a:moveTo>
                    <a:lnTo>
                      <a:pt x="146" y="0"/>
                    </a:lnTo>
                    <a:lnTo>
                      <a:pt x="1154" y="0"/>
                    </a:lnTo>
                    <a:lnTo>
                      <a:pt x="1008" y="183"/>
                    </a:lnTo>
                    <a:lnTo>
                      <a:pt x="0" y="183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" name="Freeform 46"/>
              <p:cNvSpPr>
                <a:spLocks/>
              </p:cNvSpPr>
              <p:nvPr/>
            </p:nvSpPr>
            <p:spPr bwMode="auto">
              <a:xfrm>
                <a:off x="3484" y="3786"/>
                <a:ext cx="1154" cy="183"/>
              </a:xfrm>
              <a:custGeom>
                <a:avLst/>
                <a:gdLst>
                  <a:gd name="T0" fmla="*/ 0 w 1154"/>
                  <a:gd name="T1" fmla="*/ 183 h 183"/>
                  <a:gd name="T2" fmla="*/ 146 w 1154"/>
                  <a:gd name="T3" fmla="*/ 0 h 183"/>
                  <a:gd name="T4" fmla="*/ 1154 w 1154"/>
                  <a:gd name="T5" fmla="*/ 0 h 183"/>
                  <a:gd name="T6" fmla="*/ 1008 w 1154"/>
                  <a:gd name="T7" fmla="*/ 183 h 183"/>
                  <a:gd name="T8" fmla="*/ 0 w 1154"/>
                  <a:gd name="T9" fmla="*/ 183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54" h="183">
                    <a:moveTo>
                      <a:pt x="0" y="183"/>
                    </a:moveTo>
                    <a:lnTo>
                      <a:pt x="146" y="0"/>
                    </a:lnTo>
                    <a:lnTo>
                      <a:pt x="1154" y="0"/>
                    </a:lnTo>
                    <a:lnTo>
                      <a:pt x="1008" y="183"/>
                    </a:lnTo>
                    <a:lnTo>
                      <a:pt x="0" y="183"/>
                    </a:lnTo>
                    <a:close/>
                  </a:path>
                </a:pathLst>
              </a:custGeom>
              <a:solidFill>
                <a:srgbClr val="C9C9B6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Freeform 47"/>
              <p:cNvSpPr>
                <a:spLocks/>
              </p:cNvSpPr>
              <p:nvPr/>
            </p:nvSpPr>
            <p:spPr bwMode="auto">
              <a:xfrm>
                <a:off x="4492" y="3786"/>
                <a:ext cx="146" cy="219"/>
              </a:xfrm>
              <a:custGeom>
                <a:avLst/>
                <a:gdLst>
                  <a:gd name="T0" fmla="*/ 0 w 146"/>
                  <a:gd name="T1" fmla="*/ 219 h 219"/>
                  <a:gd name="T2" fmla="*/ 146 w 146"/>
                  <a:gd name="T3" fmla="*/ 66 h 219"/>
                  <a:gd name="T4" fmla="*/ 146 w 146"/>
                  <a:gd name="T5" fmla="*/ 0 h 219"/>
                  <a:gd name="T6" fmla="*/ 0 w 146"/>
                  <a:gd name="T7" fmla="*/ 183 h 219"/>
                  <a:gd name="T8" fmla="*/ 0 w 146"/>
                  <a:gd name="T9" fmla="*/ 219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219">
                    <a:moveTo>
                      <a:pt x="0" y="219"/>
                    </a:moveTo>
                    <a:lnTo>
                      <a:pt x="146" y="66"/>
                    </a:lnTo>
                    <a:lnTo>
                      <a:pt x="146" y="0"/>
                    </a:lnTo>
                    <a:lnTo>
                      <a:pt x="0" y="183"/>
                    </a:lnTo>
                    <a:lnTo>
                      <a:pt x="0" y="219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Freeform 48"/>
              <p:cNvSpPr>
                <a:spLocks/>
              </p:cNvSpPr>
              <p:nvPr/>
            </p:nvSpPr>
            <p:spPr bwMode="auto">
              <a:xfrm>
                <a:off x="4492" y="3786"/>
                <a:ext cx="146" cy="219"/>
              </a:xfrm>
              <a:custGeom>
                <a:avLst/>
                <a:gdLst>
                  <a:gd name="T0" fmla="*/ 0 w 146"/>
                  <a:gd name="T1" fmla="*/ 219 h 219"/>
                  <a:gd name="T2" fmla="*/ 146 w 146"/>
                  <a:gd name="T3" fmla="*/ 66 h 219"/>
                  <a:gd name="T4" fmla="*/ 146 w 146"/>
                  <a:gd name="T5" fmla="*/ 0 h 219"/>
                  <a:gd name="T6" fmla="*/ 0 w 146"/>
                  <a:gd name="T7" fmla="*/ 183 h 219"/>
                  <a:gd name="T8" fmla="*/ 0 w 146"/>
                  <a:gd name="T9" fmla="*/ 219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219">
                    <a:moveTo>
                      <a:pt x="0" y="219"/>
                    </a:moveTo>
                    <a:lnTo>
                      <a:pt x="146" y="66"/>
                    </a:lnTo>
                    <a:lnTo>
                      <a:pt x="146" y="0"/>
                    </a:lnTo>
                    <a:lnTo>
                      <a:pt x="0" y="183"/>
                    </a:lnTo>
                    <a:lnTo>
                      <a:pt x="0" y="219"/>
                    </a:lnTo>
                    <a:close/>
                  </a:path>
                </a:pathLst>
              </a:custGeom>
              <a:solidFill>
                <a:srgbClr val="7A7A5A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" name="Rectangle 49"/>
              <p:cNvSpPr>
                <a:spLocks noChangeArrowheads="1"/>
              </p:cNvSpPr>
              <p:nvPr/>
            </p:nvSpPr>
            <p:spPr bwMode="auto">
              <a:xfrm>
                <a:off x="3484" y="3969"/>
                <a:ext cx="1008" cy="36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Rectangle 50"/>
              <p:cNvSpPr>
                <a:spLocks noChangeArrowheads="1"/>
              </p:cNvSpPr>
              <p:nvPr/>
            </p:nvSpPr>
            <p:spPr bwMode="auto">
              <a:xfrm>
                <a:off x="3487" y="3972"/>
                <a:ext cx="1002" cy="30"/>
              </a:xfrm>
              <a:prstGeom prst="rect">
                <a:avLst/>
              </a:prstGeom>
              <a:solidFill>
                <a:srgbClr val="B7B79D"/>
              </a:solidFill>
              <a:ln w="1111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" name="Freeform 51"/>
              <p:cNvSpPr>
                <a:spLocks/>
              </p:cNvSpPr>
              <p:nvPr/>
            </p:nvSpPr>
            <p:spPr bwMode="auto">
              <a:xfrm>
                <a:off x="3674" y="3443"/>
                <a:ext cx="1037" cy="102"/>
              </a:xfrm>
              <a:custGeom>
                <a:avLst/>
                <a:gdLst>
                  <a:gd name="T0" fmla="*/ 0 w 1037"/>
                  <a:gd name="T1" fmla="*/ 102 h 102"/>
                  <a:gd name="T2" fmla="*/ 109 w 1037"/>
                  <a:gd name="T3" fmla="*/ 0 h 102"/>
                  <a:gd name="T4" fmla="*/ 1037 w 1037"/>
                  <a:gd name="T5" fmla="*/ 0 h 102"/>
                  <a:gd name="T6" fmla="*/ 934 w 1037"/>
                  <a:gd name="T7" fmla="*/ 102 h 102"/>
                  <a:gd name="T8" fmla="*/ 0 w 1037"/>
                  <a:gd name="T9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7" h="102">
                    <a:moveTo>
                      <a:pt x="0" y="102"/>
                    </a:moveTo>
                    <a:lnTo>
                      <a:pt x="109" y="0"/>
                    </a:lnTo>
                    <a:lnTo>
                      <a:pt x="1037" y="0"/>
                    </a:lnTo>
                    <a:lnTo>
                      <a:pt x="934" y="102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Freeform 52"/>
              <p:cNvSpPr>
                <a:spLocks/>
              </p:cNvSpPr>
              <p:nvPr/>
            </p:nvSpPr>
            <p:spPr bwMode="auto">
              <a:xfrm>
                <a:off x="3674" y="3443"/>
                <a:ext cx="1037" cy="102"/>
              </a:xfrm>
              <a:custGeom>
                <a:avLst/>
                <a:gdLst>
                  <a:gd name="T0" fmla="*/ 0 w 1037"/>
                  <a:gd name="T1" fmla="*/ 102 h 102"/>
                  <a:gd name="T2" fmla="*/ 109 w 1037"/>
                  <a:gd name="T3" fmla="*/ 0 h 102"/>
                  <a:gd name="T4" fmla="*/ 1037 w 1037"/>
                  <a:gd name="T5" fmla="*/ 0 h 102"/>
                  <a:gd name="T6" fmla="*/ 934 w 1037"/>
                  <a:gd name="T7" fmla="*/ 102 h 102"/>
                  <a:gd name="T8" fmla="*/ 0 w 1037"/>
                  <a:gd name="T9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7" h="102">
                    <a:moveTo>
                      <a:pt x="0" y="102"/>
                    </a:moveTo>
                    <a:lnTo>
                      <a:pt x="109" y="0"/>
                    </a:lnTo>
                    <a:lnTo>
                      <a:pt x="1037" y="0"/>
                    </a:lnTo>
                    <a:lnTo>
                      <a:pt x="934" y="102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000000"/>
              </a:solidFill>
              <a:ln w="1111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" name="Freeform 53"/>
              <p:cNvSpPr>
                <a:spLocks/>
              </p:cNvSpPr>
              <p:nvPr/>
            </p:nvSpPr>
            <p:spPr bwMode="auto">
              <a:xfrm>
                <a:off x="3666" y="2698"/>
                <a:ext cx="1030" cy="95"/>
              </a:xfrm>
              <a:custGeom>
                <a:avLst/>
                <a:gdLst>
                  <a:gd name="T0" fmla="*/ 0 w 1030"/>
                  <a:gd name="T1" fmla="*/ 95 h 95"/>
                  <a:gd name="T2" fmla="*/ 103 w 1030"/>
                  <a:gd name="T3" fmla="*/ 0 h 95"/>
                  <a:gd name="T4" fmla="*/ 1030 w 1030"/>
                  <a:gd name="T5" fmla="*/ 0 h 95"/>
                  <a:gd name="T6" fmla="*/ 928 w 1030"/>
                  <a:gd name="T7" fmla="*/ 95 h 95"/>
                  <a:gd name="T8" fmla="*/ 0 w 1030"/>
                  <a:gd name="T9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0" h="95">
                    <a:moveTo>
                      <a:pt x="0" y="95"/>
                    </a:moveTo>
                    <a:lnTo>
                      <a:pt x="103" y="0"/>
                    </a:lnTo>
                    <a:lnTo>
                      <a:pt x="1030" y="0"/>
                    </a:lnTo>
                    <a:lnTo>
                      <a:pt x="928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" name="Freeform 54"/>
              <p:cNvSpPr>
                <a:spLocks/>
              </p:cNvSpPr>
              <p:nvPr/>
            </p:nvSpPr>
            <p:spPr bwMode="auto">
              <a:xfrm>
                <a:off x="3666" y="2698"/>
                <a:ext cx="1030" cy="95"/>
              </a:xfrm>
              <a:custGeom>
                <a:avLst/>
                <a:gdLst>
                  <a:gd name="T0" fmla="*/ 0 w 1030"/>
                  <a:gd name="T1" fmla="*/ 95 h 95"/>
                  <a:gd name="T2" fmla="*/ 103 w 1030"/>
                  <a:gd name="T3" fmla="*/ 0 h 95"/>
                  <a:gd name="T4" fmla="*/ 1030 w 1030"/>
                  <a:gd name="T5" fmla="*/ 0 h 95"/>
                  <a:gd name="T6" fmla="*/ 928 w 1030"/>
                  <a:gd name="T7" fmla="*/ 95 h 95"/>
                  <a:gd name="T8" fmla="*/ 0 w 1030"/>
                  <a:gd name="T9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0" h="95">
                    <a:moveTo>
                      <a:pt x="0" y="95"/>
                    </a:moveTo>
                    <a:lnTo>
                      <a:pt x="103" y="0"/>
                    </a:lnTo>
                    <a:lnTo>
                      <a:pt x="1030" y="0"/>
                    </a:lnTo>
                    <a:lnTo>
                      <a:pt x="928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rgbClr val="C9C9B6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" name="Rectangle 55"/>
              <p:cNvSpPr>
                <a:spLocks noChangeArrowheads="1"/>
              </p:cNvSpPr>
              <p:nvPr/>
            </p:nvSpPr>
            <p:spPr bwMode="auto">
              <a:xfrm>
                <a:off x="3669" y="2796"/>
                <a:ext cx="929" cy="732"/>
              </a:xfrm>
              <a:prstGeom prst="rect">
                <a:avLst/>
              </a:prstGeom>
              <a:solidFill>
                <a:srgbClr val="B7B79D"/>
              </a:solidFill>
              <a:ln w="1111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" name="Rectangle 56"/>
              <p:cNvSpPr>
                <a:spLocks noChangeArrowheads="1"/>
              </p:cNvSpPr>
              <p:nvPr/>
            </p:nvSpPr>
            <p:spPr bwMode="auto">
              <a:xfrm>
                <a:off x="3750" y="2891"/>
                <a:ext cx="768" cy="564"/>
              </a:xfrm>
              <a:prstGeom prst="rect">
                <a:avLst/>
              </a:prstGeom>
              <a:solidFill>
                <a:srgbClr val="FFFFFF"/>
              </a:solidFill>
              <a:ln w="1111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" name="Freeform 57"/>
              <p:cNvSpPr>
                <a:spLocks/>
              </p:cNvSpPr>
              <p:nvPr/>
            </p:nvSpPr>
            <p:spPr bwMode="auto">
              <a:xfrm>
                <a:off x="4594" y="2698"/>
                <a:ext cx="102" cy="825"/>
              </a:xfrm>
              <a:custGeom>
                <a:avLst/>
                <a:gdLst>
                  <a:gd name="T0" fmla="*/ 0 w 102"/>
                  <a:gd name="T1" fmla="*/ 825 h 825"/>
                  <a:gd name="T2" fmla="*/ 102 w 102"/>
                  <a:gd name="T3" fmla="*/ 723 h 825"/>
                  <a:gd name="T4" fmla="*/ 102 w 102"/>
                  <a:gd name="T5" fmla="*/ 0 h 825"/>
                  <a:gd name="T6" fmla="*/ 0 w 102"/>
                  <a:gd name="T7" fmla="*/ 95 h 825"/>
                  <a:gd name="T8" fmla="*/ 0 w 102"/>
                  <a:gd name="T9" fmla="*/ 825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825">
                    <a:moveTo>
                      <a:pt x="0" y="825"/>
                    </a:moveTo>
                    <a:lnTo>
                      <a:pt x="102" y="723"/>
                    </a:lnTo>
                    <a:lnTo>
                      <a:pt x="102" y="0"/>
                    </a:lnTo>
                    <a:lnTo>
                      <a:pt x="0" y="95"/>
                    </a:lnTo>
                    <a:lnTo>
                      <a:pt x="0" y="825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" name="Freeform 58"/>
              <p:cNvSpPr>
                <a:spLocks/>
              </p:cNvSpPr>
              <p:nvPr/>
            </p:nvSpPr>
            <p:spPr bwMode="auto">
              <a:xfrm>
                <a:off x="4594" y="2698"/>
                <a:ext cx="102" cy="825"/>
              </a:xfrm>
              <a:custGeom>
                <a:avLst/>
                <a:gdLst>
                  <a:gd name="T0" fmla="*/ 0 w 102"/>
                  <a:gd name="T1" fmla="*/ 825 h 825"/>
                  <a:gd name="T2" fmla="*/ 102 w 102"/>
                  <a:gd name="T3" fmla="*/ 723 h 825"/>
                  <a:gd name="T4" fmla="*/ 102 w 102"/>
                  <a:gd name="T5" fmla="*/ 0 h 825"/>
                  <a:gd name="T6" fmla="*/ 0 w 102"/>
                  <a:gd name="T7" fmla="*/ 95 h 825"/>
                  <a:gd name="T8" fmla="*/ 0 w 102"/>
                  <a:gd name="T9" fmla="*/ 825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825">
                    <a:moveTo>
                      <a:pt x="0" y="825"/>
                    </a:moveTo>
                    <a:lnTo>
                      <a:pt x="102" y="723"/>
                    </a:lnTo>
                    <a:lnTo>
                      <a:pt x="102" y="0"/>
                    </a:lnTo>
                    <a:lnTo>
                      <a:pt x="0" y="95"/>
                    </a:lnTo>
                    <a:lnTo>
                      <a:pt x="0" y="825"/>
                    </a:lnTo>
                    <a:close/>
                  </a:path>
                </a:pathLst>
              </a:custGeom>
              <a:solidFill>
                <a:srgbClr val="7A7A5A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" name="Group 59"/>
            <p:cNvGrpSpPr>
              <a:grpSpLocks/>
            </p:cNvGrpSpPr>
            <p:nvPr/>
          </p:nvGrpSpPr>
          <p:grpSpPr bwMode="auto">
            <a:xfrm>
              <a:off x="8659234" y="4375551"/>
              <a:ext cx="539750" cy="520700"/>
              <a:chOff x="3477" y="2698"/>
              <a:chExt cx="1445" cy="1307"/>
            </a:xfrm>
          </p:grpSpPr>
          <p:sp>
            <p:nvSpPr>
              <p:cNvPr id="92" name="Rectangle 60"/>
              <p:cNvSpPr>
                <a:spLocks noChangeArrowheads="1"/>
              </p:cNvSpPr>
              <p:nvPr/>
            </p:nvSpPr>
            <p:spPr bwMode="auto">
              <a:xfrm>
                <a:off x="3477" y="3574"/>
                <a:ext cx="1307" cy="241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Rectangle 61"/>
              <p:cNvSpPr>
                <a:spLocks noChangeArrowheads="1"/>
              </p:cNvSpPr>
              <p:nvPr/>
            </p:nvSpPr>
            <p:spPr bwMode="auto">
              <a:xfrm>
                <a:off x="3480" y="3577"/>
                <a:ext cx="1301" cy="235"/>
              </a:xfrm>
              <a:prstGeom prst="rect">
                <a:avLst/>
              </a:prstGeom>
              <a:solidFill>
                <a:srgbClr val="B7B79D"/>
              </a:solidFill>
              <a:ln w="1111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" name="Freeform 62"/>
              <p:cNvSpPr>
                <a:spLocks/>
              </p:cNvSpPr>
              <p:nvPr/>
            </p:nvSpPr>
            <p:spPr bwMode="auto">
              <a:xfrm>
                <a:off x="3477" y="3443"/>
                <a:ext cx="1445" cy="131"/>
              </a:xfrm>
              <a:custGeom>
                <a:avLst/>
                <a:gdLst>
                  <a:gd name="T0" fmla="*/ 0 w 1445"/>
                  <a:gd name="T1" fmla="*/ 131 h 131"/>
                  <a:gd name="T2" fmla="*/ 138 w 1445"/>
                  <a:gd name="T3" fmla="*/ 0 h 131"/>
                  <a:gd name="T4" fmla="*/ 1445 w 1445"/>
                  <a:gd name="T5" fmla="*/ 0 h 131"/>
                  <a:gd name="T6" fmla="*/ 1307 w 1445"/>
                  <a:gd name="T7" fmla="*/ 131 h 131"/>
                  <a:gd name="T8" fmla="*/ 0 w 1445"/>
                  <a:gd name="T9" fmla="*/ 131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45" h="131">
                    <a:moveTo>
                      <a:pt x="0" y="131"/>
                    </a:moveTo>
                    <a:lnTo>
                      <a:pt x="138" y="0"/>
                    </a:lnTo>
                    <a:lnTo>
                      <a:pt x="1445" y="0"/>
                    </a:lnTo>
                    <a:lnTo>
                      <a:pt x="1307" y="131"/>
                    </a:lnTo>
                    <a:lnTo>
                      <a:pt x="0" y="131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" name="Freeform 63"/>
              <p:cNvSpPr>
                <a:spLocks/>
              </p:cNvSpPr>
              <p:nvPr/>
            </p:nvSpPr>
            <p:spPr bwMode="auto">
              <a:xfrm>
                <a:off x="3477" y="3443"/>
                <a:ext cx="1445" cy="131"/>
              </a:xfrm>
              <a:custGeom>
                <a:avLst/>
                <a:gdLst>
                  <a:gd name="T0" fmla="*/ 0 w 1445"/>
                  <a:gd name="T1" fmla="*/ 131 h 131"/>
                  <a:gd name="T2" fmla="*/ 138 w 1445"/>
                  <a:gd name="T3" fmla="*/ 0 h 131"/>
                  <a:gd name="T4" fmla="*/ 1445 w 1445"/>
                  <a:gd name="T5" fmla="*/ 0 h 131"/>
                  <a:gd name="T6" fmla="*/ 1307 w 1445"/>
                  <a:gd name="T7" fmla="*/ 131 h 131"/>
                  <a:gd name="T8" fmla="*/ 0 w 1445"/>
                  <a:gd name="T9" fmla="*/ 131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45" h="131">
                    <a:moveTo>
                      <a:pt x="0" y="131"/>
                    </a:moveTo>
                    <a:lnTo>
                      <a:pt x="138" y="0"/>
                    </a:lnTo>
                    <a:lnTo>
                      <a:pt x="1445" y="0"/>
                    </a:lnTo>
                    <a:lnTo>
                      <a:pt x="1307" y="131"/>
                    </a:lnTo>
                    <a:lnTo>
                      <a:pt x="0" y="131"/>
                    </a:lnTo>
                    <a:close/>
                  </a:path>
                </a:pathLst>
              </a:custGeom>
              <a:solidFill>
                <a:srgbClr val="C9C9B6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" name="Line 64"/>
              <p:cNvSpPr>
                <a:spLocks noChangeShapeType="1"/>
              </p:cNvSpPr>
              <p:nvPr/>
            </p:nvSpPr>
            <p:spPr bwMode="auto">
              <a:xfrm flipH="1">
                <a:off x="4397" y="3684"/>
                <a:ext cx="314" cy="1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" name="Freeform 65"/>
              <p:cNvSpPr>
                <a:spLocks/>
              </p:cNvSpPr>
              <p:nvPr/>
            </p:nvSpPr>
            <p:spPr bwMode="auto">
              <a:xfrm>
                <a:off x="4784" y="3443"/>
                <a:ext cx="138" cy="372"/>
              </a:xfrm>
              <a:custGeom>
                <a:avLst/>
                <a:gdLst>
                  <a:gd name="T0" fmla="*/ 0 w 138"/>
                  <a:gd name="T1" fmla="*/ 372 h 372"/>
                  <a:gd name="T2" fmla="*/ 138 w 138"/>
                  <a:gd name="T3" fmla="*/ 234 h 372"/>
                  <a:gd name="T4" fmla="*/ 138 w 138"/>
                  <a:gd name="T5" fmla="*/ 0 h 372"/>
                  <a:gd name="T6" fmla="*/ 0 w 138"/>
                  <a:gd name="T7" fmla="*/ 131 h 372"/>
                  <a:gd name="T8" fmla="*/ 0 w 138"/>
                  <a:gd name="T9" fmla="*/ 372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" h="372">
                    <a:moveTo>
                      <a:pt x="0" y="372"/>
                    </a:moveTo>
                    <a:lnTo>
                      <a:pt x="138" y="234"/>
                    </a:lnTo>
                    <a:lnTo>
                      <a:pt x="138" y="0"/>
                    </a:lnTo>
                    <a:lnTo>
                      <a:pt x="0" y="131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Freeform 66"/>
              <p:cNvSpPr>
                <a:spLocks/>
              </p:cNvSpPr>
              <p:nvPr/>
            </p:nvSpPr>
            <p:spPr bwMode="auto">
              <a:xfrm>
                <a:off x="4784" y="3443"/>
                <a:ext cx="138" cy="372"/>
              </a:xfrm>
              <a:custGeom>
                <a:avLst/>
                <a:gdLst>
                  <a:gd name="T0" fmla="*/ 0 w 138"/>
                  <a:gd name="T1" fmla="*/ 372 h 372"/>
                  <a:gd name="T2" fmla="*/ 138 w 138"/>
                  <a:gd name="T3" fmla="*/ 234 h 372"/>
                  <a:gd name="T4" fmla="*/ 138 w 138"/>
                  <a:gd name="T5" fmla="*/ 0 h 372"/>
                  <a:gd name="T6" fmla="*/ 0 w 138"/>
                  <a:gd name="T7" fmla="*/ 131 h 372"/>
                  <a:gd name="T8" fmla="*/ 0 w 138"/>
                  <a:gd name="T9" fmla="*/ 372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" h="372">
                    <a:moveTo>
                      <a:pt x="0" y="372"/>
                    </a:moveTo>
                    <a:lnTo>
                      <a:pt x="138" y="234"/>
                    </a:lnTo>
                    <a:lnTo>
                      <a:pt x="138" y="0"/>
                    </a:lnTo>
                    <a:lnTo>
                      <a:pt x="0" y="131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7A7A5A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" name="Freeform 67"/>
              <p:cNvSpPr>
                <a:spLocks/>
              </p:cNvSpPr>
              <p:nvPr/>
            </p:nvSpPr>
            <p:spPr bwMode="auto">
              <a:xfrm>
                <a:off x="3484" y="3786"/>
                <a:ext cx="1154" cy="183"/>
              </a:xfrm>
              <a:custGeom>
                <a:avLst/>
                <a:gdLst>
                  <a:gd name="T0" fmla="*/ 0 w 1154"/>
                  <a:gd name="T1" fmla="*/ 183 h 183"/>
                  <a:gd name="T2" fmla="*/ 146 w 1154"/>
                  <a:gd name="T3" fmla="*/ 0 h 183"/>
                  <a:gd name="T4" fmla="*/ 1154 w 1154"/>
                  <a:gd name="T5" fmla="*/ 0 h 183"/>
                  <a:gd name="T6" fmla="*/ 1008 w 1154"/>
                  <a:gd name="T7" fmla="*/ 183 h 183"/>
                  <a:gd name="T8" fmla="*/ 0 w 1154"/>
                  <a:gd name="T9" fmla="*/ 183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54" h="183">
                    <a:moveTo>
                      <a:pt x="0" y="183"/>
                    </a:moveTo>
                    <a:lnTo>
                      <a:pt x="146" y="0"/>
                    </a:lnTo>
                    <a:lnTo>
                      <a:pt x="1154" y="0"/>
                    </a:lnTo>
                    <a:lnTo>
                      <a:pt x="1008" y="183"/>
                    </a:lnTo>
                    <a:lnTo>
                      <a:pt x="0" y="183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" name="Freeform 68"/>
              <p:cNvSpPr>
                <a:spLocks/>
              </p:cNvSpPr>
              <p:nvPr/>
            </p:nvSpPr>
            <p:spPr bwMode="auto">
              <a:xfrm>
                <a:off x="3484" y="3786"/>
                <a:ext cx="1154" cy="183"/>
              </a:xfrm>
              <a:custGeom>
                <a:avLst/>
                <a:gdLst>
                  <a:gd name="T0" fmla="*/ 0 w 1154"/>
                  <a:gd name="T1" fmla="*/ 183 h 183"/>
                  <a:gd name="T2" fmla="*/ 146 w 1154"/>
                  <a:gd name="T3" fmla="*/ 0 h 183"/>
                  <a:gd name="T4" fmla="*/ 1154 w 1154"/>
                  <a:gd name="T5" fmla="*/ 0 h 183"/>
                  <a:gd name="T6" fmla="*/ 1008 w 1154"/>
                  <a:gd name="T7" fmla="*/ 183 h 183"/>
                  <a:gd name="T8" fmla="*/ 0 w 1154"/>
                  <a:gd name="T9" fmla="*/ 183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54" h="183">
                    <a:moveTo>
                      <a:pt x="0" y="183"/>
                    </a:moveTo>
                    <a:lnTo>
                      <a:pt x="146" y="0"/>
                    </a:lnTo>
                    <a:lnTo>
                      <a:pt x="1154" y="0"/>
                    </a:lnTo>
                    <a:lnTo>
                      <a:pt x="1008" y="183"/>
                    </a:lnTo>
                    <a:lnTo>
                      <a:pt x="0" y="183"/>
                    </a:lnTo>
                    <a:close/>
                  </a:path>
                </a:pathLst>
              </a:custGeom>
              <a:solidFill>
                <a:srgbClr val="C9C9B6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" name="Freeform 69"/>
              <p:cNvSpPr>
                <a:spLocks/>
              </p:cNvSpPr>
              <p:nvPr/>
            </p:nvSpPr>
            <p:spPr bwMode="auto">
              <a:xfrm>
                <a:off x="4492" y="3786"/>
                <a:ext cx="146" cy="219"/>
              </a:xfrm>
              <a:custGeom>
                <a:avLst/>
                <a:gdLst>
                  <a:gd name="T0" fmla="*/ 0 w 146"/>
                  <a:gd name="T1" fmla="*/ 219 h 219"/>
                  <a:gd name="T2" fmla="*/ 146 w 146"/>
                  <a:gd name="T3" fmla="*/ 66 h 219"/>
                  <a:gd name="T4" fmla="*/ 146 w 146"/>
                  <a:gd name="T5" fmla="*/ 0 h 219"/>
                  <a:gd name="T6" fmla="*/ 0 w 146"/>
                  <a:gd name="T7" fmla="*/ 183 h 219"/>
                  <a:gd name="T8" fmla="*/ 0 w 146"/>
                  <a:gd name="T9" fmla="*/ 219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219">
                    <a:moveTo>
                      <a:pt x="0" y="219"/>
                    </a:moveTo>
                    <a:lnTo>
                      <a:pt x="146" y="66"/>
                    </a:lnTo>
                    <a:lnTo>
                      <a:pt x="146" y="0"/>
                    </a:lnTo>
                    <a:lnTo>
                      <a:pt x="0" y="183"/>
                    </a:lnTo>
                    <a:lnTo>
                      <a:pt x="0" y="219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" name="Freeform 70"/>
              <p:cNvSpPr>
                <a:spLocks/>
              </p:cNvSpPr>
              <p:nvPr/>
            </p:nvSpPr>
            <p:spPr bwMode="auto">
              <a:xfrm>
                <a:off x="4492" y="3786"/>
                <a:ext cx="146" cy="219"/>
              </a:xfrm>
              <a:custGeom>
                <a:avLst/>
                <a:gdLst>
                  <a:gd name="T0" fmla="*/ 0 w 146"/>
                  <a:gd name="T1" fmla="*/ 219 h 219"/>
                  <a:gd name="T2" fmla="*/ 146 w 146"/>
                  <a:gd name="T3" fmla="*/ 66 h 219"/>
                  <a:gd name="T4" fmla="*/ 146 w 146"/>
                  <a:gd name="T5" fmla="*/ 0 h 219"/>
                  <a:gd name="T6" fmla="*/ 0 w 146"/>
                  <a:gd name="T7" fmla="*/ 183 h 219"/>
                  <a:gd name="T8" fmla="*/ 0 w 146"/>
                  <a:gd name="T9" fmla="*/ 219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219">
                    <a:moveTo>
                      <a:pt x="0" y="219"/>
                    </a:moveTo>
                    <a:lnTo>
                      <a:pt x="146" y="66"/>
                    </a:lnTo>
                    <a:lnTo>
                      <a:pt x="146" y="0"/>
                    </a:lnTo>
                    <a:lnTo>
                      <a:pt x="0" y="183"/>
                    </a:lnTo>
                    <a:lnTo>
                      <a:pt x="0" y="219"/>
                    </a:lnTo>
                    <a:close/>
                  </a:path>
                </a:pathLst>
              </a:custGeom>
              <a:solidFill>
                <a:srgbClr val="7A7A5A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" name="Rectangle 71"/>
              <p:cNvSpPr>
                <a:spLocks noChangeArrowheads="1"/>
              </p:cNvSpPr>
              <p:nvPr/>
            </p:nvSpPr>
            <p:spPr bwMode="auto">
              <a:xfrm>
                <a:off x="3484" y="3969"/>
                <a:ext cx="1008" cy="36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" name="Rectangle 72"/>
              <p:cNvSpPr>
                <a:spLocks noChangeArrowheads="1"/>
              </p:cNvSpPr>
              <p:nvPr/>
            </p:nvSpPr>
            <p:spPr bwMode="auto">
              <a:xfrm>
                <a:off x="3487" y="3972"/>
                <a:ext cx="1002" cy="30"/>
              </a:xfrm>
              <a:prstGeom prst="rect">
                <a:avLst/>
              </a:prstGeom>
              <a:solidFill>
                <a:srgbClr val="B7B79D"/>
              </a:solidFill>
              <a:ln w="1111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" name="Freeform 73"/>
              <p:cNvSpPr>
                <a:spLocks/>
              </p:cNvSpPr>
              <p:nvPr/>
            </p:nvSpPr>
            <p:spPr bwMode="auto">
              <a:xfrm>
                <a:off x="3674" y="3443"/>
                <a:ext cx="1037" cy="102"/>
              </a:xfrm>
              <a:custGeom>
                <a:avLst/>
                <a:gdLst>
                  <a:gd name="T0" fmla="*/ 0 w 1037"/>
                  <a:gd name="T1" fmla="*/ 102 h 102"/>
                  <a:gd name="T2" fmla="*/ 109 w 1037"/>
                  <a:gd name="T3" fmla="*/ 0 h 102"/>
                  <a:gd name="T4" fmla="*/ 1037 w 1037"/>
                  <a:gd name="T5" fmla="*/ 0 h 102"/>
                  <a:gd name="T6" fmla="*/ 934 w 1037"/>
                  <a:gd name="T7" fmla="*/ 102 h 102"/>
                  <a:gd name="T8" fmla="*/ 0 w 1037"/>
                  <a:gd name="T9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7" h="102">
                    <a:moveTo>
                      <a:pt x="0" y="102"/>
                    </a:moveTo>
                    <a:lnTo>
                      <a:pt x="109" y="0"/>
                    </a:lnTo>
                    <a:lnTo>
                      <a:pt x="1037" y="0"/>
                    </a:lnTo>
                    <a:lnTo>
                      <a:pt x="934" y="102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" name="Freeform 74"/>
              <p:cNvSpPr>
                <a:spLocks/>
              </p:cNvSpPr>
              <p:nvPr/>
            </p:nvSpPr>
            <p:spPr bwMode="auto">
              <a:xfrm>
                <a:off x="3674" y="3443"/>
                <a:ext cx="1037" cy="102"/>
              </a:xfrm>
              <a:custGeom>
                <a:avLst/>
                <a:gdLst>
                  <a:gd name="T0" fmla="*/ 0 w 1037"/>
                  <a:gd name="T1" fmla="*/ 102 h 102"/>
                  <a:gd name="T2" fmla="*/ 109 w 1037"/>
                  <a:gd name="T3" fmla="*/ 0 h 102"/>
                  <a:gd name="T4" fmla="*/ 1037 w 1037"/>
                  <a:gd name="T5" fmla="*/ 0 h 102"/>
                  <a:gd name="T6" fmla="*/ 934 w 1037"/>
                  <a:gd name="T7" fmla="*/ 102 h 102"/>
                  <a:gd name="T8" fmla="*/ 0 w 1037"/>
                  <a:gd name="T9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7" h="102">
                    <a:moveTo>
                      <a:pt x="0" y="102"/>
                    </a:moveTo>
                    <a:lnTo>
                      <a:pt x="109" y="0"/>
                    </a:lnTo>
                    <a:lnTo>
                      <a:pt x="1037" y="0"/>
                    </a:lnTo>
                    <a:lnTo>
                      <a:pt x="934" y="102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000000"/>
              </a:solidFill>
              <a:ln w="1111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" name="Freeform 75"/>
              <p:cNvSpPr>
                <a:spLocks/>
              </p:cNvSpPr>
              <p:nvPr/>
            </p:nvSpPr>
            <p:spPr bwMode="auto">
              <a:xfrm>
                <a:off x="3666" y="2698"/>
                <a:ext cx="1030" cy="95"/>
              </a:xfrm>
              <a:custGeom>
                <a:avLst/>
                <a:gdLst>
                  <a:gd name="T0" fmla="*/ 0 w 1030"/>
                  <a:gd name="T1" fmla="*/ 95 h 95"/>
                  <a:gd name="T2" fmla="*/ 103 w 1030"/>
                  <a:gd name="T3" fmla="*/ 0 h 95"/>
                  <a:gd name="T4" fmla="*/ 1030 w 1030"/>
                  <a:gd name="T5" fmla="*/ 0 h 95"/>
                  <a:gd name="T6" fmla="*/ 928 w 1030"/>
                  <a:gd name="T7" fmla="*/ 95 h 95"/>
                  <a:gd name="T8" fmla="*/ 0 w 1030"/>
                  <a:gd name="T9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0" h="95">
                    <a:moveTo>
                      <a:pt x="0" y="95"/>
                    </a:moveTo>
                    <a:lnTo>
                      <a:pt x="103" y="0"/>
                    </a:lnTo>
                    <a:lnTo>
                      <a:pt x="1030" y="0"/>
                    </a:lnTo>
                    <a:lnTo>
                      <a:pt x="928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" name="Freeform 76"/>
              <p:cNvSpPr>
                <a:spLocks/>
              </p:cNvSpPr>
              <p:nvPr/>
            </p:nvSpPr>
            <p:spPr bwMode="auto">
              <a:xfrm>
                <a:off x="3666" y="2698"/>
                <a:ext cx="1030" cy="95"/>
              </a:xfrm>
              <a:custGeom>
                <a:avLst/>
                <a:gdLst>
                  <a:gd name="T0" fmla="*/ 0 w 1030"/>
                  <a:gd name="T1" fmla="*/ 95 h 95"/>
                  <a:gd name="T2" fmla="*/ 103 w 1030"/>
                  <a:gd name="T3" fmla="*/ 0 h 95"/>
                  <a:gd name="T4" fmla="*/ 1030 w 1030"/>
                  <a:gd name="T5" fmla="*/ 0 h 95"/>
                  <a:gd name="T6" fmla="*/ 928 w 1030"/>
                  <a:gd name="T7" fmla="*/ 95 h 95"/>
                  <a:gd name="T8" fmla="*/ 0 w 1030"/>
                  <a:gd name="T9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0" h="95">
                    <a:moveTo>
                      <a:pt x="0" y="95"/>
                    </a:moveTo>
                    <a:lnTo>
                      <a:pt x="103" y="0"/>
                    </a:lnTo>
                    <a:lnTo>
                      <a:pt x="1030" y="0"/>
                    </a:lnTo>
                    <a:lnTo>
                      <a:pt x="928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rgbClr val="C9C9B6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Rectangle 77"/>
              <p:cNvSpPr>
                <a:spLocks noChangeArrowheads="1"/>
              </p:cNvSpPr>
              <p:nvPr/>
            </p:nvSpPr>
            <p:spPr bwMode="auto">
              <a:xfrm>
                <a:off x="3669" y="2796"/>
                <a:ext cx="929" cy="732"/>
              </a:xfrm>
              <a:prstGeom prst="rect">
                <a:avLst/>
              </a:prstGeom>
              <a:solidFill>
                <a:srgbClr val="B7B79D"/>
              </a:solidFill>
              <a:ln w="1111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" name="Rectangle 78"/>
              <p:cNvSpPr>
                <a:spLocks noChangeArrowheads="1"/>
              </p:cNvSpPr>
              <p:nvPr/>
            </p:nvSpPr>
            <p:spPr bwMode="auto">
              <a:xfrm>
                <a:off x="3750" y="2891"/>
                <a:ext cx="768" cy="564"/>
              </a:xfrm>
              <a:prstGeom prst="rect">
                <a:avLst/>
              </a:prstGeom>
              <a:solidFill>
                <a:srgbClr val="FFFFFF"/>
              </a:solidFill>
              <a:ln w="1111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" name="Freeform 79"/>
              <p:cNvSpPr>
                <a:spLocks/>
              </p:cNvSpPr>
              <p:nvPr/>
            </p:nvSpPr>
            <p:spPr bwMode="auto">
              <a:xfrm>
                <a:off x="4594" y="2698"/>
                <a:ext cx="102" cy="825"/>
              </a:xfrm>
              <a:custGeom>
                <a:avLst/>
                <a:gdLst>
                  <a:gd name="T0" fmla="*/ 0 w 102"/>
                  <a:gd name="T1" fmla="*/ 825 h 825"/>
                  <a:gd name="T2" fmla="*/ 102 w 102"/>
                  <a:gd name="T3" fmla="*/ 723 h 825"/>
                  <a:gd name="T4" fmla="*/ 102 w 102"/>
                  <a:gd name="T5" fmla="*/ 0 h 825"/>
                  <a:gd name="T6" fmla="*/ 0 w 102"/>
                  <a:gd name="T7" fmla="*/ 95 h 825"/>
                  <a:gd name="T8" fmla="*/ 0 w 102"/>
                  <a:gd name="T9" fmla="*/ 825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825">
                    <a:moveTo>
                      <a:pt x="0" y="825"/>
                    </a:moveTo>
                    <a:lnTo>
                      <a:pt x="102" y="723"/>
                    </a:lnTo>
                    <a:lnTo>
                      <a:pt x="102" y="0"/>
                    </a:lnTo>
                    <a:lnTo>
                      <a:pt x="0" y="95"/>
                    </a:lnTo>
                    <a:lnTo>
                      <a:pt x="0" y="825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" name="Freeform 80"/>
              <p:cNvSpPr>
                <a:spLocks/>
              </p:cNvSpPr>
              <p:nvPr/>
            </p:nvSpPr>
            <p:spPr bwMode="auto">
              <a:xfrm>
                <a:off x="4594" y="2698"/>
                <a:ext cx="102" cy="825"/>
              </a:xfrm>
              <a:custGeom>
                <a:avLst/>
                <a:gdLst>
                  <a:gd name="T0" fmla="*/ 0 w 102"/>
                  <a:gd name="T1" fmla="*/ 825 h 825"/>
                  <a:gd name="T2" fmla="*/ 102 w 102"/>
                  <a:gd name="T3" fmla="*/ 723 h 825"/>
                  <a:gd name="T4" fmla="*/ 102 w 102"/>
                  <a:gd name="T5" fmla="*/ 0 h 825"/>
                  <a:gd name="T6" fmla="*/ 0 w 102"/>
                  <a:gd name="T7" fmla="*/ 95 h 825"/>
                  <a:gd name="T8" fmla="*/ 0 w 102"/>
                  <a:gd name="T9" fmla="*/ 825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825">
                    <a:moveTo>
                      <a:pt x="0" y="825"/>
                    </a:moveTo>
                    <a:lnTo>
                      <a:pt x="102" y="723"/>
                    </a:lnTo>
                    <a:lnTo>
                      <a:pt x="102" y="0"/>
                    </a:lnTo>
                    <a:lnTo>
                      <a:pt x="0" y="95"/>
                    </a:lnTo>
                    <a:lnTo>
                      <a:pt x="0" y="825"/>
                    </a:lnTo>
                    <a:close/>
                  </a:path>
                </a:pathLst>
              </a:custGeom>
              <a:solidFill>
                <a:srgbClr val="7A7A5A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1" name="Object 8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0493167"/>
                </p:ext>
              </p:extLst>
            </p:nvPr>
          </p:nvGraphicFramePr>
          <p:xfrm>
            <a:off x="7470196" y="4143776"/>
            <a:ext cx="944563" cy="593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44" name="VISIO" r:id="rId7" imgW="944280" imgH="593640" progId="Visio.Drawing.6">
                    <p:embed/>
                  </p:oleObj>
                </mc:Choice>
                <mc:Fallback>
                  <p:oleObj name="VISIO" r:id="rId7" imgW="944280" imgH="593640" progId="Visio.Drawing.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70196" y="4143776"/>
                          <a:ext cx="944563" cy="593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Line 82"/>
            <p:cNvSpPr>
              <a:spLocks noChangeShapeType="1"/>
            </p:cNvSpPr>
            <p:nvPr/>
          </p:nvSpPr>
          <p:spPr bwMode="auto">
            <a:xfrm flipV="1">
              <a:off x="5490584" y="5383613"/>
              <a:ext cx="719137" cy="287338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83"/>
            <p:cNvSpPr>
              <a:spLocks noChangeShapeType="1"/>
            </p:cNvSpPr>
            <p:nvPr/>
          </p:nvSpPr>
          <p:spPr bwMode="auto">
            <a:xfrm flipH="1" flipV="1">
              <a:off x="6427209" y="5383613"/>
              <a:ext cx="1008062" cy="21590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" name="Group 84"/>
            <p:cNvGrpSpPr>
              <a:grpSpLocks/>
            </p:cNvGrpSpPr>
            <p:nvPr/>
          </p:nvGrpSpPr>
          <p:grpSpPr bwMode="auto">
            <a:xfrm flipH="1">
              <a:off x="7039984" y="5510613"/>
              <a:ext cx="539750" cy="520700"/>
              <a:chOff x="3477" y="2698"/>
              <a:chExt cx="1445" cy="1307"/>
            </a:xfrm>
          </p:grpSpPr>
          <p:sp>
            <p:nvSpPr>
              <p:cNvPr id="71" name="Rectangle 85"/>
              <p:cNvSpPr>
                <a:spLocks noChangeArrowheads="1"/>
              </p:cNvSpPr>
              <p:nvPr/>
            </p:nvSpPr>
            <p:spPr bwMode="auto">
              <a:xfrm>
                <a:off x="3477" y="3574"/>
                <a:ext cx="1307" cy="241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" name="Rectangle 86"/>
              <p:cNvSpPr>
                <a:spLocks noChangeArrowheads="1"/>
              </p:cNvSpPr>
              <p:nvPr/>
            </p:nvSpPr>
            <p:spPr bwMode="auto">
              <a:xfrm>
                <a:off x="3480" y="3577"/>
                <a:ext cx="1301" cy="235"/>
              </a:xfrm>
              <a:prstGeom prst="rect">
                <a:avLst/>
              </a:prstGeom>
              <a:solidFill>
                <a:srgbClr val="B7B79D"/>
              </a:solidFill>
              <a:ln w="1111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Freeform 87"/>
              <p:cNvSpPr>
                <a:spLocks/>
              </p:cNvSpPr>
              <p:nvPr/>
            </p:nvSpPr>
            <p:spPr bwMode="auto">
              <a:xfrm>
                <a:off x="3477" y="3443"/>
                <a:ext cx="1445" cy="131"/>
              </a:xfrm>
              <a:custGeom>
                <a:avLst/>
                <a:gdLst>
                  <a:gd name="T0" fmla="*/ 0 w 1445"/>
                  <a:gd name="T1" fmla="*/ 131 h 131"/>
                  <a:gd name="T2" fmla="*/ 138 w 1445"/>
                  <a:gd name="T3" fmla="*/ 0 h 131"/>
                  <a:gd name="T4" fmla="*/ 1445 w 1445"/>
                  <a:gd name="T5" fmla="*/ 0 h 131"/>
                  <a:gd name="T6" fmla="*/ 1307 w 1445"/>
                  <a:gd name="T7" fmla="*/ 131 h 131"/>
                  <a:gd name="T8" fmla="*/ 0 w 1445"/>
                  <a:gd name="T9" fmla="*/ 131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45" h="131">
                    <a:moveTo>
                      <a:pt x="0" y="131"/>
                    </a:moveTo>
                    <a:lnTo>
                      <a:pt x="138" y="0"/>
                    </a:lnTo>
                    <a:lnTo>
                      <a:pt x="1445" y="0"/>
                    </a:lnTo>
                    <a:lnTo>
                      <a:pt x="1307" y="131"/>
                    </a:lnTo>
                    <a:lnTo>
                      <a:pt x="0" y="131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" name="Freeform 88"/>
              <p:cNvSpPr>
                <a:spLocks/>
              </p:cNvSpPr>
              <p:nvPr/>
            </p:nvSpPr>
            <p:spPr bwMode="auto">
              <a:xfrm>
                <a:off x="3477" y="3443"/>
                <a:ext cx="1445" cy="131"/>
              </a:xfrm>
              <a:custGeom>
                <a:avLst/>
                <a:gdLst>
                  <a:gd name="T0" fmla="*/ 0 w 1445"/>
                  <a:gd name="T1" fmla="*/ 131 h 131"/>
                  <a:gd name="T2" fmla="*/ 138 w 1445"/>
                  <a:gd name="T3" fmla="*/ 0 h 131"/>
                  <a:gd name="T4" fmla="*/ 1445 w 1445"/>
                  <a:gd name="T5" fmla="*/ 0 h 131"/>
                  <a:gd name="T6" fmla="*/ 1307 w 1445"/>
                  <a:gd name="T7" fmla="*/ 131 h 131"/>
                  <a:gd name="T8" fmla="*/ 0 w 1445"/>
                  <a:gd name="T9" fmla="*/ 131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45" h="131">
                    <a:moveTo>
                      <a:pt x="0" y="131"/>
                    </a:moveTo>
                    <a:lnTo>
                      <a:pt x="138" y="0"/>
                    </a:lnTo>
                    <a:lnTo>
                      <a:pt x="1445" y="0"/>
                    </a:lnTo>
                    <a:lnTo>
                      <a:pt x="1307" y="131"/>
                    </a:lnTo>
                    <a:lnTo>
                      <a:pt x="0" y="131"/>
                    </a:lnTo>
                    <a:close/>
                  </a:path>
                </a:pathLst>
              </a:custGeom>
              <a:solidFill>
                <a:srgbClr val="C9C9B6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Line 89"/>
              <p:cNvSpPr>
                <a:spLocks noChangeShapeType="1"/>
              </p:cNvSpPr>
              <p:nvPr/>
            </p:nvSpPr>
            <p:spPr bwMode="auto">
              <a:xfrm flipH="1">
                <a:off x="4397" y="3684"/>
                <a:ext cx="314" cy="1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" name="Freeform 90"/>
              <p:cNvSpPr>
                <a:spLocks/>
              </p:cNvSpPr>
              <p:nvPr/>
            </p:nvSpPr>
            <p:spPr bwMode="auto">
              <a:xfrm>
                <a:off x="4784" y="3443"/>
                <a:ext cx="138" cy="372"/>
              </a:xfrm>
              <a:custGeom>
                <a:avLst/>
                <a:gdLst>
                  <a:gd name="T0" fmla="*/ 0 w 138"/>
                  <a:gd name="T1" fmla="*/ 372 h 372"/>
                  <a:gd name="T2" fmla="*/ 138 w 138"/>
                  <a:gd name="T3" fmla="*/ 234 h 372"/>
                  <a:gd name="T4" fmla="*/ 138 w 138"/>
                  <a:gd name="T5" fmla="*/ 0 h 372"/>
                  <a:gd name="T6" fmla="*/ 0 w 138"/>
                  <a:gd name="T7" fmla="*/ 131 h 372"/>
                  <a:gd name="T8" fmla="*/ 0 w 138"/>
                  <a:gd name="T9" fmla="*/ 372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" h="372">
                    <a:moveTo>
                      <a:pt x="0" y="372"/>
                    </a:moveTo>
                    <a:lnTo>
                      <a:pt x="138" y="234"/>
                    </a:lnTo>
                    <a:lnTo>
                      <a:pt x="138" y="0"/>
                    </a:lnTo>
                    <a:lnTo>
                      <a:pt x="0" y="131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Freeform 91"/>
              <p:cNvSpPr>
                <a:spLocks/>
              </p:cNvSpPr>
              <p:nvPr/>
            </p:nvSpPr>
            <p:spPr bwMode="auto">
              <a:xfrm>
                <a:off x="4784" y="3443"/>
                <a:ext cx="138" cy="372"/>
              </a:xfrm>
              <a:custGeom>
                <a:avLst/>
                <a:gdLst>
                  <a:gd name="T0" fmla="*/ 0 w 138"/>
                  <a:gd name="T1" fmla="*/ 372 h 372"/>
                  <a:gd name="T2" fmla="*/ 138 w 138"/>
                  <a:gd name="T3" fmla="*/ 234 h 372"/>
                  <a:gd name="T4" fmla="*/ 138 w 138"/>
                  <a:gd name="T5" fmla="*/ 0 h 372"/>
                  <a:gd name="T6" fmla="*/ 0 w 138"/>
                  <a:gd name="T7" fmla="*/ 131 h 372"/>
                  <a:gd name="T8" fmla="*/ 0 w 138"/>
                  <a:gd name="T9" fmla="*/ 372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" h="372">
                    <a:moveTo>
                      <a:pt x="0" y="372"/>
                    </a:moveTo>
                    <a:lnTo>
                      <a:pt x="138" y="234"/>
                    </a:lnTo>
                    <a:lnTo>
                      <a:pt x="138" y="0"/>
                    </a:lnTo>
                    <a:lnTo>
                      <a:pt x="0" y="131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7A7A5A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" name="Freeform 92"/>
              <p:cNvSpPr>
                <a:spLocks/>
              </p:cNvSpPr>
              <p:nvPr/>
            </p:nvSpPr>
            <p:spPr bwMode="auto">
              <a:xfrm>
                <a:off x="3484" y="3786"/>
                <a:ext cx="1154" cy="183"/>
              </a:xfrm>
              <a:custGeom>
                <a:avLst/>
                <a:gdLst>
                  <a:gd name="T0" fmla="*/ 0 w 1154"/>
                  <a:gd name="T1" fmla="*/ 183 h 183"/>
                  <a:gd name="T2" fmla="*/ 146 w 1154"/>
                  <a:gd name="T3" fmla="*/ 0 h 183"/>
                  <a:gd name="T4" fmla="*/ 1154 w 1154"/>
                  <a:gd name="T5" fmla="*/ 0 h 183"/>
                  <a:gd name="T6" fmla="*/ 1008 w 1154"/>
                  <a:gd name="T7" fmla="*/ 183 h 183"/>
                  <a:gd name="T8" fmla="*/ 0 w 1154"/>
                  <a:gd name="T9" fmla="*/ 183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54" h="183">
                    <a:moveTo>
                      <a:pt x="0" y="183"/>
                    </a:moveTo>
                    <a:lnTo>
                      <a:pt x="146" y="0"/>
                    </a:lnTo>
                    <a:lnTo>
                      <a:pt x="1154" y="0"/>
                    </a:lnTo>
                    <a:lnTo>
                      <a:pt x="1008" y="183"/>
                    </a:lnTo>
                    <a:lnTo>
                      <a:pt x="0" y="183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" name="Freeform 93"/>
              <p:cNvSpPr>
                <a:spLocks/>
              </p:cNvSpPr>
              <p:nvPr/>
            </p:nvSpPr>
            <p:spPr bwMode="auto">
              <a:xfrm>
                <a:off x="3484" y="3786"/>
                <a:ext cx="1154" cy="183"/>
              </a:xfrm>
              <a:custGeom>
                <a:avLst/>
                <a:gdLst>
                  <a:gd name="T0" fmla="*/ 0 w 1154"/>
                  <a:gd name="T1" fmla="*/ 183 h 183"/>
                  <a:gd name="T2" fmla="*/ 146 w 1154"/>
                  <a:gd name="T3" fmla="*/ 0 h 183"/>
                  <a:gd name="T4" fmla="*/ 1154 w 1154"/>
                  <a:gd name="T5" fmla="*/ 0 h 183"/>
                  <a:gd name="T6" fmla="*/ 1008 w 1154"/>
                  <a:gd name="T7" fmla="*/ 183 h 183"/>
                  <a:gd name="T8" fmla="*/ 0 w 1154"/>
                  <a:gd name="T9" fmla="*/ 183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54" h="183">
                    <a:moveTo>
                      <a:pt x="0" y="183"/>
                    </a:moveTo>
                    <a:lnTo>
                      <a:pt x="146" y="0"/>
                    </a:lnTo>
                    <a:lnTo>
                      <a:pt x="1154" y="0"/>
                    </a:lnTo>
                    <a:lnTo>
                      <a:pt x="1008" y="183"/>
                    </a:lnTo>
                    <a:lnTo>
                      <a:pt x="0" y="183"/>
                    </a:lnTo>
                    <a:close/>
                  </a:path>
                </a:pathLst>
              </a:custGeom>
              <a:solidFill>
                <a:srgbClr val="C9C9B6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" name="Freeform 94"/>
              <p:cNvSpPr>
                <a:spLocks/>
              </p:cNvSpPr>
              <p:nvPr/>
            </p:nvSpPr>
            <p:spPr bwMode="auto">
              <a:xfrm>
                <a:off x="4492" y="3786"/>
                <a:ext cx="146" cy="219"/>
              </a:xfrm>
              <a:custGeom>
                <a:avLst/>
                <a:gdLst>
                  <a:gd name="T0" fmla="*/ 0 w 146"/>
                  <a:gd name="T1" fmla="*/ 219 h 219"/>
                  <a:gd name="T2" fmla="*/ 146 w 146"/>
                  <a:gd name="T3" fmla="*/ 66 h 219"/>
                  <a:gd name="T4" fmla="*/ 146 w 146"/>
                  <a:gd name="T5" fmla="*/ 0 h 219"/>
                  <a:gd name="T6" fmla="*/ 0 w 146"/>
                  <a:gd name="T7" fmla="*/ 183 h 219"/>
                  <a:gd name="T8" fmla="*/ 0 w 146"/>
                  <a:gd name="T9" fmla="*/ 219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219">
                    <a:moveTo>
                      <a:pt x="0" y="219"/>
                    </a:moveTo>
                    <a:lnTo>
                      <a:pt x="146" y="66"/>
                    </a:lnTo>
                    <a:lnTo>
                      <a:pt x="146" y="0"/>
                    </a:lnTo>
                    <a:lnTo>
                      <a:pt x="0" y="183"/>
                    </a:lnTo>
                    <a:lnTo>
                      <a:pt x="0" y="219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" name="Freeform 95"/>
              <p:cNvSpPr>
                <a:spLocks/>
              </p:cNvSpPr>
              <p:nvPr/>
            </p:nvSpPr>
            <p:spPr bwMode="auto">
              <a:xfrm>
                <a:off x="4492" y="3786"/>
                <a:ext cx="146" cy="219"/>
              </a:xfrm>
              <a:custGeom>
                <a:avLst/>
                <a:gdLst>
                  <a:gd name="T0" fmla="*/ 0 w 146"/>
                  <a:gd name="T1" fmla="*/ 219 h 219"/>
                  <a:gd name="T2" fmla="*/ 146 w 146"/>
                  <a:gd name="T3" fmla="*/ 66 h 219"/>
                  <a:gd name="T4" fmla="*/ 146 w 146"/>
                  <a:gd name="T5" fmla="*/ 0 h 219"/>
                  <a:gd name="T6" fmla="*/ 0 w 146"/>
                  <a:gd name="T7" fmla="*/ 183 h 219"/>
                  <a:gd name="T8" fmla="*/ 0 w 146"/>
                  <a:gd name="T9" fmla="*/ 219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219">
                    <a:moveTo>
                      <a:pt x="0" y="219"/>
                    </a:moveTo>
                    <a:lnTo>
                      <a:pt x="146" y="66"/>
                    </a:lnTo>
                    <a:lnTo>
                      <a:pt x="146" y="0"/>
                    </a:lnTo>
                    <a:lnTo>
                      <a:pt x="0" y="183"/>
                    </a:lnTo>
                    <a:lnTo>
                      <a:pt x="0" y="219"/>
                    </a:lnTo>
                    <a:close/>
                  </a:path>
                </a:pathLst>
              </a:custGeom>
              <a:solidFill>
                <a:srgbClr val="7A7A5A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" name="Rectangle 96"/>
              <p:cNvSpPr>
                <a:spLocks noChangeArrowheads="1"/>
              </p:cNvSpPr>
              <p:nvPr/>
            </p:nvSpPr>
            <p:spPr bwMode="auto">
              <a:xfrm>
                <a:off x="3484" y="3969"/>
                <a:ext cx="1008" cy="36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" name="Rectangle 97"/>
              <p:cNvSpPr>
                <a:spLocks noChangeArrowheads="1"/>
              </p:cNvSpPr>
              <p:nvPr/>
            </p:nvSpPr>
            <p:spPr bwMode="auto">
              <a:xfrm>
                <a:off x="3487" y="3972"/>
                <a:ext cx="1002" cy="30"/>
              </a:xfrm>
              <a:prstGeom prst="rect">
                <a:avLst/>
              </a:prstGeom>
              <a:solidFill>
                <a:srgbClr val="B7B79D"/>
              </a:solidFill>
              <a:ln w="1111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Freeform 98"/>
              <p:cNvSpPr>
                <a:spLocks/>
              </p:cNvSpPr>
              <p:nvPr/>
            </p:nvSpPr>
            <p:spPr bwMode="auto">
              <a:xfrm>
                <a:off x="3674" y="3443"/>
                <a:ext cx="1037" cy="102"/>
              </a:xfrm>
              <a:custGeom>
                <a:avLst/>
                <a:gdLst>
                  <a:gd name="T0" fmla="*/ 0 w 1037"/>
                  <a:gd name="T1" fmla="*/ 102 h 102"/>
                  <a:gd name="T2" fmla="*/ 109 w 1037"/>
                  <a:gd name="T3" fmla="*/ 0 h 102"/>
                  <a:gd name="T4" fmla="*/ 1037 w 1037"/>
                  <a:gd name="T5" fmla="*/ 0 h 102"/>
                  <a:gd name="T6" fmla="*/ 934 w 1037"/>
                  <a:gd name="T7" fmla="*/ 102 h 102"/>
                  <a:gd name="T8" fmla="*/ 0 w 1037"/>
                  <a:gd name="T9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7" h="102">
                    <a:moveTo>
                      <a:pt x="0" y="102"/>
                    </a:moveTo>
                    <a:lnTo>
                      <a:pt x="109" y="0"/>
                    </a:lnTo>
                    <a:lnTo>
                      <a:pt x="1037" y="0"/>
                    </a:lnTo>
                    <a:lnTo>
                      <a:pt x="934" y="102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" name="Freeform 99"/>
              <p:cNvSpPr>
                <a:spLocks/>
              </p:cNvSpPr>
              <p:nvPr/>
            </p:nvSpPr>
            <p:spPr bwMode="auto">
              <a:xfrm>
                <a:off x="3674" y="3443"/>
                <a:ext cx="1037" cy="102"/>
              </a:xfrm>
              <a:custGeom>
                <a:avLst/>
                <a:gdLst>
                  <a:gd name="T0" fmla="*/ 0 w 1037"/>
                  <a:gd name="T1" fmla="*/ 102 h 102"/>
                  <a:gd name="T2" fmla="*/ 109 w 1037"/>
                  <a:gd name="T3" fmla="*/ 0 h 102"/>
                  <a:gd name="T4" fmla="*/ 1037 w 1037"/>
                  <a:gd name="T5" fmla="*/ 0 h 102"/>
                  <a:gd name="T6" fmla="*/ 934 w 1037"/>
                  <a:gd name="T7" fmla="*/ 102 h 102"/>
                  <a:gd name="T8" fmla="*/ 0 w 1037"/>
                  <a:gd name="T9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7" h="102">
                    <a:moveTo>
                      <a:pt x="0" y="102"/>
                    </a:moveTo>
                    <a:lnTo>
                      <a:pt x="109" y="0"/>
                    </a:lnTo>
                    <a:lnTo>
                      <a:pt x="1037" y="0"/>
                    </a:lnTo>
                    <a:lnTo>
                      <a:pt x="934" y="102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000000"/>
              </a:solidFill>
              <a:ln w="1111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Freeform 100"/>
              <p:cNvSpPr>
                <a:spLocks/>
              </p:cNvSpPr>
              <p:nvPr/>
            </p:nvSpPr>
            <p:spPr bwMode="auto">
              <a:xfrm>
                <a:off x="3666" y="2698"/>
                <a:ext cx="1030" cy="95"/>
              </a:xfrm>
              <a:custGeom>
                <a:avLst/>
                <a:gdLst>
                  <a:gd name="T0" fmla="*/ 0 w 1030"/>
                  <a:gd name="T1" fmla="*/ 95 h 95"/>
                  <a:gd name="T2" fmla="*/ 103 w 1030"/>
                  <a:gd name="T3" fmla="*/ 0 h 95"/>
                  <a:gd name="T4" fmla="*/ 1030 w 1030"/>
                  <a:gd name="T5" fmla="*/ 0 h 95"/>
                  <a:gd name="T6" fmla="*/ 928 w 1030"/>
                  <a:gd name="T7" fmla="*/ 95 h 95"/>
                  <a:gd name="T8" fmla="*/ 0 w 1030"/>
                  <a:gd name="T9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0" h="95">
                    <a:moveTo>
                      <a:pt x="0" y="95"/>
                    </a:moveTo>
                    <a:lnTo>
                      <a:pt x="103" y="0"/>
                    </a:lnTo>
                    <a:lnTo>
                      <a:pt x="1030" y="0"/>
                    </a:lnTo>
                    <a:lnTo>
                      <a:pt x="928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Freeform 101"/>
              <p:cNvSpPr>
                <a:spLocks/>
              </p:cNvSpPr>
              <p:nvPr/>
            </p:nvSpPr>
            <p:spPr bwMode="auto">
              <a:xfrm>
                <a:off x="3666" y="2698"/>
                <a:ext cx="1030" cy="95"/>
              </a:xfrm>
              <a:custGeom>
                <a:avLst/>
                <a:gdLst>
                  <a:gd name="T0" fmla="*/ 0 w 1030"/>
                  <a:gd name="T1" fmla="*/ 95 h 95"/>
                  <a:gd name="T2" fmla="*/ 103 w 1030"/>
                  <a:gd name="T3" fmla="*/ 0 h 95"/>
                  <a:gd name="T4" fmla="*/ 1030 w 1030"/>
                  <a:gd name="T5" fmla="*/ 0 h 95"/>
                  <a:gd name="T6" fmla="*/ 928 w 1030"/>
                  <a:gd name="T7" fmla="*/ 95 h 95"/>
                  <a:gd name="T8" fmla="*/ 0 w 1030"/>
                  <a:gd name="T9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0" h="95">
                    <a:moveTo>
                      <a:pt x="0" y="95"/>
                    </a:moveTo>
                    <a:lnTo>
                      <a:pt x="103" y="0"/>
                    </a:lnTo>
                    <a:lnTo>
                      <a:pt x="1030" y="0"/>
                    </a:lnTo>
                    <a:lnTo>
                      <a:pt x="928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rgbClr val="C9C9B6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Rectangle 102"/>
              <p:cNvSpPr>
                <a:spLocks noChangeArrowheads="1"/>
              </p:cNvSpPr>
              <p:nvPr/>
            </p:nvSpPr>
            <p:spPr bwMode="auto">
              <a:xfrm>
                <a:off x="3669" y="2796"/>
                <a:ext cx="929" cy="732"/>
              </a:xfrm>
              <a:prstGeom prst="rect">
                <a:avLst/>
              </a:prstGeom>
              <a:solidFill>
                <a:srgbClr val="B7B79D"/>
              </a:solidFill>
              <a:ln w="1111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Rectangle 103"/>
              <p:cNvSpPr>
                <a:spLocks noChangeArrowheads="1"/>
              </p:cNvSpPr>
              <p:nvPr/>
            </p:nvSpPr>
            <p:spPr bwMode="auto">
              <a:xfrm>
                <a:off x="3750" y="2891"/>
                <a:ext cx="768" cy="564"/>
              </a:xfrm>
              <a:prstGeom prst="rect">
                <a:avLst/>
              </a:prstGeom>
              <a:solidFill>
                <a:srgbClr val="FFFFFF"/>
              </a:solidFill>
              <a:ln w="1111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Freeform 104"/>
              <p:cNvSpPr>
                <a:spLocks/>
              </p:cNvSpPr>
              <p:nvPr/>
            </p:nvSpPr>
            <p:spPr bwMode="auto">
              <a:xfrm>
                <a:off x="4594" y="2698"/>
                <a:ext cx="102" cy="825"/>
              </a:xfrm>
              <a:custGeom>
                <a:avLst/>
                <a:gdLst>
                  <a:gd name="T0" fmla="*/ 0 w 102"/>
                  <a:gd name="T1" fmla="*/ 825 h 825"/>
                  <a:gd name="T2" fmla="*/ 102 w 102"/>
                  <a:gd name="T3" fmla="*/ 723 h 825"/>
                  <a:gd name="T4" fmla="*/ 102 w 102"/>
                  <a:gd name="T5" fmla="*/ 0 h 825"/>
                  <a:gd name="T6" fmla="*/ 0 w 102"/>
                  <a:gd name="T7" fmla="*/ 95 h 825"/>
                  <a:gd name="T8" fmla="*/ 0 w 102"/>
                  <a:gd name="T9" fmla="*/ 825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825">
                    <a:moveTo>
                      <a:pt x="0" y="825"/>
                    </a:moveTo>
                    <a:lnTo>
                      <a:pt x="102" y="723"/>
                    </a:lnTo>
                    <a:lnTo>
                      <a:pt x="102" y="0"/>
                    </a:lnTo>
                    <a:lnTo>
                      <a:pt x="0" y="95"/>
                    </a:lnTo>
                    <a:lnTo>
                      <a:pt x="0" y="825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Freeform 105"/>
              <p:cNvSpPr>
                <a:spLocks/>
              </p:cNvSpPr>
              <p:nvPr/>
            </p:nvSpPr>
            <p:spPr bwMode="auto">
              <a:xfrm>
                <a:off x="4594" y="2698"/>
                <a:ext cx="102" cy="825"/>
              </a:xfrm>
              <a:custGeom>
                <a:avLst/>
                <a:gdLst>
                  <a:gd name="T0" fmla="*/ 0 w 102"/>
                  <a:gd name="T1" fmla="*/ 825 h 825"/>
                  <a:gd name="T2" fmla="*/ 102 w 102"/>
                  <a:gd name="T3" fmla="*/ 723 h 825"/>
                  <a:gd name="T4" fmla="*/ 102 w 102"/>
                  <a:gd name="T5" fmla="*/ 0 h 825"/>
                  <a:gd name="T6" fmla="*/ 0 w 102"/>
                  <a:gd name="T7" fmla="*/ 95 h 825"/>
                  <a:gd name="T8" fmla="*/ 0 w 102"/>
                  <a:gd name="T9" fmla="*/ 825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825">
                    <a:moveTo>
                      <a:pt x="0" y="825"/>
                    </a:moveTo>
                    <a:lnTo>
                      <a:pt x="102" y="723"/>
                    </a:lnTo>
                    <a:lnTo>
                      <a:pt x="102" y="0"/>
                    </a:lnTo>
                    <a:lnTo>
                      <a:pt x="0" y="95"/>
                    </a:lnTo>
                    <a:lnTo>
                      <a:pt x="0" y="825"/>
                    </a:lnTo>
                    <a:close/>
                  </a:path>
                </a:pathLst>
              </a:custGeom>
              <a:solidFill>
                <a:srgbClr val="7A7A5A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5" name="Object 10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6672984"/>
                </p:ext>
              </p:extLst>
            </p:nvPr>
          </p:nvGraphicFramePr>
          <p:xfrm>
            <a:off x="5779509" y="4967688"/>
            <a:ext cx="944562" cy="593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45" name="VISIO" r:id="rId8" imgW="944280" imgH="593640" progId="Visio.Drawing.6">
                    <p:embed/>
                  </p:oleObj>
                </mc:Choice>
                <mc:Fallback>
                  <p:oleObj name="VISIO" r:id="rId8" imgW="944280" imgH="593640" progId="Visio.Drawing.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79509" y="4967688"/>
                          <a:ext cx="944562" cy="593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6" name="Group 107"/>
            <p:cNvGrpSpPr>
              <a:grpSpLocks/>
            </p:cNvGrpSpPr>
            <p:nvPr/>
          </p:nvGrpSpPr>
          <p:grpSpPr bwMode="auto">
            <a:xfrm flipH="1">
              <a:off x="5057196" y="5455051"/>
              <a:ext cx="539750" cy="520700"/>
              <a:chOff x="3477" y="2698"/>
              <a:chExt cx="1445" cy="1307"/>
            </a:xfrm>
          </p:grpSpPr>
          <p:sp>
            <p:nvSpPr>
              <p:cNvPr id="50" name="Rectangle 108"/>
              <p:cNvSpPr>
                <a:spLocks noChangeArrowheads="1"/>
              </p:cNvSpPr>
              <p:nvPr/>
            </p:nvSpPr>
            <p:spPr bwMode="auto">
              <a:xfrm>
                <a:off x="3477" y="3574"/>
                <a:ext cx="1307" cy="241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Rectangle 109"/>
              <p:cNvSpPr>
                <a:spLocks noChangeArrowheads="1"/>
              </p:cNvSpPr>
              <p:nvPr/>
            </p:nvSpPr>
            <p:spPr bwMode="auto">
              <a:xfrm>
                <a:off x="3480" y="3577"/>
                <a:ext cx="1301" cy="235"/>
              </a:xfrm>
              <a:prstGeom prst="rect">
                <a:avLst/>
              </a:prstGeom>
              <a:solidFill>
                <a:srgbClr val="B7B79D"/>
              </a:solidFill>
              <a:ln w="1111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Freeform 110"/>
              <p:cNvSpPr>
                <a:spLocks/>
              </p:cNvSpPr>
              <p:nvPr/>
            </p:nvSpPr>
            <p:spPr bwMode="auto">
              <a:xfrm>
                <a:off x="3477" y="3443"/>
                <a:ext cx="1445" cy="131"/>
              </a:xfrm>
              <a:custGeom>
                <a:avLst/>
                <a:gdLst>
                  <a:gd name="T0" fmla="*/ 0 w 1445"/>
                  <a:gd name="T1" fmla="*/ 131 h 131"/>
                  <a:gd name="T2" fmla="*/ 138 w 1445"/>
                  <a:gd name="T3" fmla="*/ 0 h 131"/>
                  <a:gd name="T4" fmla="*/ 1445 w 1445"/>
                  <a:gd name="T5" fmla="*/ 0 h 131"/>
                  <a:gd name="T6" fmla="*/ 1307 w 1445"/>
                  <a:gd name="T7" fmla="*/ 131 h 131"/>
                  <a:gd name="T8" fmla="*/ 0 w 1445"/>
                  <a:gd name="T9" fmla="*/ 131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45" h="131">
                    <a:moveTo>
                      <a:pt x="0" y="131"/>
                    </a:moveTo>
                    <a:lnTo>
                      <a:pt x="138" y="0"/>
                    </a:lnTo>
                    <a:lnTo>
                      <a:pt x="1445" y="0"/>
                    </a:lnTo>
                    <a:lnTo>
                      <a:pt x="1307" y="131"/>
                    </a:lnTo>
                    <a:lnTo>
                      <a:pt x="0" y="131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Freeform 111"/>
              <p:cNvSpPr>
                <a:spLocks/>
              </p:cNvSpPr>
              <p:nvPr/>
            </p:nvSpPr>
            <p:spPr bwMode="auto">
              <a:xfrm>
                <a:off x="3477" y="3443"/>
                <a:ext cx="1445" cy="131"/>
              </a:xfrm>
              <a:custGeom>
                <a:avLst/>
                <a:gdLst>
                  <a:gd name="T0" fmla="*/ 0 w 1445"/>
                  <a:gd name="T1" fmla="*/ 131 h 131"/>
                  <a:gd name="T2" fmla="*/ 138 w 1445"/>
                  <a:gd name="T3" fmla="*/ 0 h 131"/>
                  <a:gd name="T4" fmla="*/ 1445 w 1445"/>
                  <a:gd name="T5" fmla="*/ 0 h 131"/>
                  <a:gd name="T6" fmla="*/ 1307 w 1445"/>
                  <a:gd name="T7" fmla="*/ 131 h 131"/>
                  <a:gd name="T8" fmla="*/ 0 w 1445"/>
                  <a:gd name="T9" fmla="*/ 131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45" h="131">
                    <a:moveTo>
                      <a:pt x="0" y="131"/>
                    </a:moveTo>
                    <a:lnTo>
                      <a:pt x="138" y="0"/>
                    </a:lnTo>
                    <a:lnTo>
                      <a:pt x="1445" y="0"/>
                    </a:lnTo>
                    <a:lnTo>
                      <a:pt x="1307" y="131"/>
                    </a:lnTo>
                    <a:lnTo>
                      <a:pt x="0" y="131"/>
                    </a:lnTo>
                    <a:close/>
                  </a:path>
                </a:pathLst>
              </a:custGeom>
              <a:solidFill>
                <a:srgbClr val="C9C9B6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Line 112"/>
              <p:cNvSpPr>
                <a:spLocks noChangeShapeType="1"/>
              </p:cNvSpPr>
              <p:nvPr/>
            </p:nvSpPr>
            <p:spPr bwMode="auto">
              <a:xfrm flipH="1">
                <a:off x="4397" y="3684"/>
                <a:ext cx="314" cy="1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113"/>
              <p:cNvSpPr>
                <a:spLocks/>
              </p:cNvSpPr>
              <p:nvPr/>
            </p:nvSpPr>
            <p:spPr bwMode="auto">
              <a:xfrm>
                <a:off x="4784" y="3443"/>
                <a:ext cx="138" cy="372"/>
              </a:xfrm>
              <a:custGeom>
                <a:avLst/>
                <a:gdLst>
                  <a:gd name="T0" fmla="*/ 0 w 138"/>
                  <a:gd name="T1" fmla="*/ 372 h 372"/>
                  <a:gd name="T2" fmla="*/ 138 w 138"/>
                  <a:gd name="T3" fmla="*/ 234 h 372"/>
                  <a:gd name="T4" fmla="*/ 138 w 138"/>
                  <a:gd name="T5" fmla="*/ 0 h 372"/>
                  <a:gd name="T6" fmla="*/ 0 w 138"/>
                  <a:gd name="T7" fmla="*/ 131 h 372"/>
                  <a:gd name="T8" fmla="*/ 0 w 138"/>
                  <a:gd name="T9" fmla="*/ 372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" h="372">
                    <a:moveTo>
                      <a:pt x="0" y="372"/>
                    </a:moveTo>
                    <a:lnTo>
                      <a:pt x="138" y="234"/>
                    </a:lnTo>
                    <a:lnTo>
                      <a:pt x="138" y="0"/>
                    </a:lnTo>
                    <a:lnTo>
                      <a:pt x="0" y="131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Freeform 114"/>
              <p:cNvSpPr>
                <a:spLocks/>
              </p:cNvSpPr>
              <p:nvPr/>
            </p:nvSpPr>
            <p:spPr bwMode="auto">
              <a:xfrm>
                <a:off x="4784" y="3443"/>
                <a:ext cx="138" cy="372"/>
              </a:xfrm>
              <a:custGeom>
                <a:avLst/>
                <a:gdLst>
                  <a:gd name="T0" fmla="*/ 0 w 138"/>
                  <a:gd name="T1" fmla="*/ 372 h 372"/>
                  <a:gd name="T2" fmla="*/ 138 w 138"/>
                  <a:gd name="T3" fmla="*/ 234 h 372"/>
                  <a:gd name="T4" fmla="*/ 138 w 138"/>
                  <a:gd name="T5" fmla="*/ 0 h 372"/>
                  <a:gd name="T6" fmla="*/ 0 w 138"/>
                  <a:gd name="T7" fmla="*/ 131 h 372"/>
                  <a:gd name="T8" fmla="*/ 0 w 138"/>
                  <a:gd name="T9" fmla="*/ 372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" h="372">
                    <a:moveTo>
                      <a:pt x="0" y="372"/>
                    </a:moveTo>
                    <a:lnTo>
                      <a:pt x="138" y="234"/>
                    </a:lnTo>
                    <a:lnTo>
                      <a:pt x="138" y="0"/>
                    </a:lnTo>
                    <a:lnTo>
                      <a:pt x="0" y="131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7A7A5A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Freeform 115"/>
              <p:cNvSpPr>
                <a:spLocks/>
              </p:cNvSpPr>
              <p:nvPr/>
            </p:nvSpPr>
            <p:spPr bwMode="auto">
              <a:xfrm>
                <a:off x="3484" y="3786"/>
                <a:ext cx="1154" cy="183"/>
              </a:xfrm>
              <a:custGeom>
                <a:avLst/>
                <a:gdLst>
                  <a:gd name="T0" fmla="*/ 0 w 1154"/>
                  <a:gd name="T1" fmla="*/ 183 h 183"/>
                  <a:gd name="T2" fmla="*/ 146 w 1154"/>
                  <a:gd name="T3" fmla="*/ 0 h 183"/>
                  <a:gd name="T4" fmla="*/ 1154 w 1154"/>
                  <a:gd name="T5" fmla="*/ 0 h 183"/>
                  <a:gd name="T6" fmla="*/ 1008 w 1154"/>
                  <a:gd name="T7" fmla="*/ 183 h 183"/>
                  <a:gd name="T8" fmla="*/ 0 w 1154"/>
                  <a:gd name="T9" fmla="*/ 183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54" h="183">
                    <a:moveTo>
                      <a:pt x="0" y="183"/>
                    </a:moveTo>
                    <a:lnTo>
                      <a:pt x="146" y="0"/>
                    </a:lnTo>
                    <a:lnTo>
                      <a:pt x="1154" y="0"/>
                    </a:lnTo>
                    <a:lnTo>
                      <a:pt x="1008" y="183"/>
                    </a:lnTo>
                    <a:lnTo>
                      <a:pt x="0" y="183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Freeform 116"/>
              <p:cNvSpPr>
                <a:spLocks/>
              </p:cNvSpPr>
              <p:nvPr/>
            </p:nvSpPr>
            <p:spPr bwMode="auto">
              <a:xfrm>
                <a:off x="3484" y="3786"/>
                <a:ext cx="1154" cy="183"/>
              </a:xfrm>
              <a:custGeom>
                <a:avLst/>
                <a:gdLst>
                  <a:gd name="T0" fmla="*/ 0 w 1154"/>
                  <a:gd name="T1" fmla="*/ 183 h 183"/>
                  <a:gd name="T2" fmla="*/ 146 w 1154"/>
                  <a:gd name="T3" fmla="*/ 0 h 183"/>
                  <a:gd name="T4" fmla="*/ 1154 w 1154"/>
                  <a:gd name="T5" fmla="*/ 0 h 183"/>
                  <a:gd name="T6" fmla="*/ 1008 w 1154"/>
                  <a:gd name="T7" fmla="*/ 183 h 183"/>
                  <a:gd name="T8" fmla="*/ 0 w 1154"/>
                  <a:gd name="T9" fmla="*/ 183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54" h="183">
                    <a:moveTo>
                      <a:pt x="0" y="183"/>
                    </a:moveTo>
                    <a:lnTo>
                      <a:pt x="146" y="0"/>
                    </a:lnTo>
                    <a:lnTo>
                      <a:pt x="1154" y="0"/>
                    </a:lnTo>
                    <a:lnTo>
                      <a:pt x="1008" y="183"/>
                    </a:lnTo>
                    <a:lnTo>
                      <a:pt x="0" y="183"/>
                    </a:lnTo>
                    <a:close/>
                  </a:path>
                </a:pathLst>
              </a:custGeom>
              <a:solidFill>
                <a:srgbClr val="C9C9B6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Freeform 117"/>
              <p:cNvSpPr>
                <a:spLocks/>
              </p:cNvSpPr>
              <p:nvPr/>
            </p:nvSpPr>
            <p:spPr bwMode="auto">
              <a:xfrm>
                <a:off x="4492" y="3786"/>
                <a:ext cx="146" cy="219"/>
              </a:xfrm>
              <a:custGeom>
                <a:avLst/>
                <a:gdLst>
                  <a:gd name="T0" fmla="*/ 0 w 146"/>
                  <a:gd name="T1" fmla="*/ 219 h 219"/>
                  <a:gd name="T2" fmla="*/ 146 w 146"/>
                  <a:gd name="T3" fmla="*/ 66 h 219"/>
                  <a:gd name="T4" fmla="*/ 146 w 146"/>
                  <a:gd name="T5" fmla="*/ 0 h 219"/>
                  <a:gd name="T6" fmla="*/ 0 w 146"/>
                  <a:gd name="T7" fmla="*/ 183 h 219"/>
                  <a:gd name="T8" fmla="*/ 0 w 146"/>
                  <a:gd name="T9" fmla="*/ 219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219">
                    <a:moveTo>
                      <a:pt x="0" y="219"/>
                    </a:moveTo>
                    <a:lnTo>
                      <a:pt x="146" y="66"/>
                    </a:lnTo>
                    <a:lnTo>
                      <a:pt x="146" y="0"/>
                    </a:lnTo>
                    <a:lnTo>
                      <a:pt x="0" y="183"/>
                    </a:lnTo>
                    <a:lnTo>
                      <a:pt x="0" y="219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Freeform 118"/>
              <p:cNvSpPr>
                <a:spLocks/>
              </p:cNvSpPr>
              <p:nvPr/>
            </p:nvSpPr>
            <p:spPr bwMode="auto">
              <a:xfrm>
                <a:off x="4492" y="3786"/>
                <a:ext cx="146" cy="219"/>
              </a:xfrm>
              <a:custGeom>
                <a:avLst/>
                <a:gdLst>
                  <a:gd name="T0" fmla="*/ 0 w 146"/>
                  <a:gd name="T1" fmla="*/ 219 h 219"/>
                  <a:gd name="T2" fmla="*/ 146 w 146"/>
                  <a:gd name="T3" fmla="*/ 66 h 219"/>
                  <a:gd name="T4" fmla="*/ 146 w 146"/>
                  <a:gd name="T5" fmla="*/ 0 h 219"/>
                  <a:gd name="T6" fmla="*/ 0 w 146"/>
                  <a:gd name="T7" fmla="*/ 183 h 219"/>
                  <a:gd name="T8" fmla="*/ 0 w 146"/>
                  <a:gd name="T9" fmla="*/ 219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219">
                    <a:moveTo>
                      <a:pt x="0" y="219"/>
                    </a:moveTo>
                    <a:lnTo>
                      <a:pt x="146" y="66"/>
                    </a:lnTo>
                    <a:lnTo>
                      <a:pt x="146" y="0"/>
                    </a:lnTo>
                    <a:lnTo>
                      <a:pt x="0" y="183"/>
                    </a:lnTo>
                    <a:lnTo>
                      <a:pt x="0" y="219"/>
                    </a:lnTo>
                    <a:close/>
                  </a:path>
                </a:pathLst>
              </a:custGeom>
              <a:solidFill>
                <a:srgbClr val="7A7A5A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Rectangle 119"/>
              <p:cNvSpPr>
                <a:spLocks noChangeArrowheads="1"/>
              </p:cNvSpPr>
              <p:nvPr/>
            </p:nvSpPr>
            <p:spPr bwMode="auto">
              <a:xfrm>
                <a:off x="3484" y="3969"/>
                <a:ext cx="1008" cy="36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Rectangle 120"/>
              <p:cNvSpPr>
                <a:spLocks noChangeArrowheads="1"/>
              </p:cNvSpPr>
              <p:nvPr/>
            </p:nvSpPr>
            <p:spPr bwMode="auto">
              <a:xfrm>
                <a:off x="3487" y="3972"/>
                <a:ext cx="1002" cy="30"/>
              </a:xfrm>
              <a:prstGeom prst="rect">
                <a:avLst/>
              </a:prstGeom>
              <a:solidFill>
                <a:srgbClr val="B7B79D"/>
              </a:solidFill>
              <a:ln w="1111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Freeform 121"/>
              <p:cNvSpPr>
                <a:spLocks/>
              </p:cNvSpPr>
              <p:nvPr/>
            </p:nvSpPr>
            <p:spPr bwMode="auto">
              <a:xfrm>
                <a:off x="3674" y="3443"/>
                <a:ext cx="1037" cy="102"/>
              </a:xfrm>
              <a:custGeom>
                <a:avLst/>
                <a:gdLst>
                  <a:gd name="T0" fmla="*/ 0 w 1037"/>
                  <a:gd name="T1" fmla="*/ 102 h 102"/>
                  <a:gd name="T2" fmla="*/ 109 w 1037"/>
                  <a:gd name="T3" fmla="*/ 0 h 102"/>
                  <a:gd name="T4" fmla="*/ 1037 w 1037"/>
                  <a:gd name="T5" fmla="*/ 0 h 102"/>
                  <a:gd name="T6" fmla="*/ 934 w 1037"/>
                  <a:gd name="T7" fmla="*/ 102 h 102"/>
                  <a:gd name="T8" fmla="*/ 0 w 1037"/>
                  <a:gd name="T9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7" h="102">
                    <a:moveTo>
                      <a:pt x="0" y="102"/>
                    </a:moveTo>
                    <a:lnTo>
                      <a:pt x="109" y="0"/>
                    </a:lnTo>
                    <a:lnTo>
                      <a:pt x="1037" y="0"/>
                    </a:lnTo>
                    <a:lnTo>
                      <a:pt x="934" y="102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Freeform 122"/>
              <p:cNvSpPr>
                <a:spLocks/>
              </p:cNvSpPr>
              <p:nvPr/>
            </p:nvSpPr>
            <p:spPr bwMode="auto">
              <a:xfrm>
                <a:off x="3674" y="3443"/>
                <a:ext cx="1037" cy="102"/>
              </a:xfrm>
              <a:custGeom>
                <a:avLst/>
                <a:gdLst>
                  <a:gd name="T0" fmla="*/ 0 w 1037"/>
                  <a:gd name="T1" fmla="*/ 102 h 102"/>
                  <a:gd name="T2" fmla="*/ 109 w 1037"/>
                  <a:gd name="T3" fmla="*/ 0 h 102"/>
                  <a:gd name="T4" fmla="*/ 1037 w 1037"/>
                  <a:gd name="T5" fmla="*/ 0 h 102"/>
                  <a:gd name="T6" fmla="*/ 934 w 1037"/>
                  <a:gd name="T7" fmla="*/ 102 h 102"/>
                  <a:gd name="T8" fmla="*/ 0 w 1037"/>
                  <a:gd name="T9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7" h="102">
                    <a:moveTo>
                      <a:pt x="0" y="102"/>
                    </a:moveTo>
                    <a:lnTo>
                      <a:pt x="109" y="0"/>
                    </a:lnTo>
                    <a:lnTo>
                      <a:pt x="1037" y="0"/>
                    </a:lnTo>
                    <a:lnTo>
                      <a:pt x="934" y="102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000000"/>
              </a:solidFill>
              <a:ln w="1111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Freeform 123"/>
              <p:cNvSpPr>
                <a:spLocks/>
              </p:cNvSpPr>
              <p:nvPr/>
            </p:nvSpPr>
            <p:spPr bwMode="auto">
              <a:xfrm>
                <a:off x="3666" y="2698"/>
                <a:ext cx="1030" cy="95"/>
              </a:xfrm>
              <a:custGeom>
                <a:avLst/>
                <a:gdLst>
                  <a:gd name="T0" fmla="*/ 0 w 1030"/>
                  <a:gd name="T1" fmla="*/ 95 h 95"/>
                  <a:gd name="T2" fmla="*/ 103 w 1030"/>
                  <a:gd name="T3" fmla="*/ 0 h 95"/>
                  <a:gd name="T4" fmla="*/ 1030 w 1030"/>
                  <a:gd name="T5" fmla="*/ 0 h 95"/>
                  <a:gd name="T6" fmla="*/ 928 w 1030"/>
                  <a:gd name="T7" fmla="*/ 95 h 95"/>
                  <a:gd name="T8" fmla="*/ 0 w 1030"/>
                  <a:gd name="T9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0" h="95">
                    <a:moveTo>
                      <a:pt x="0" y="95"/>
                    </a:moveTo>
                    <a:lnTo>
                      <a:pt x="103" y="0"/>
                    </a:lnTo>
                    <a:lnTo>
                      <a:pt x="1030" y="0"/>
                    </a:lnTo>
                    <a:lnTo>
                      <a:pt x="928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" name="Freeform 124"/>
              <p:cNvSpPr>
                <a:spLocks/>
              </p:cNvSpPr>
              <p:nvPr/>
            </p:nvSpPr>
            <p:spPr bwMode="auto">
              <a:xfrm>
                <a:off x="3666" y="2698"/>
                <a:ext cx="1030" cy="95"/>
              </a:xfrm>
              <a:custGeom>
                <a:avLst/>
                <a:gdLst>
                  <a:gd name="T0" fmla="*/ 0 w 1030"/>
                  <a:gd name="T1" fmla="*/ 95 h 95"/>
                  <a:gd name="T2" fmla="*/ 103 w 1030"/>
                  <a:gd name="T3" fmla="*/ 0 h 95"/>
                  <a:gd name="T4" fmla="*/ 1030 w 1030"/>
                  <a:gd name="T5" fmla="*/ 0 h 95"/>
                  <a:gd name="T6" fmla="*/ 928 w 1030"/>
                  <a:gd name="T7" fmla="*/ 95 h 95"/>
                  <a:gd name="T8" fmla="*/ 0 w 1030"/>
                  <a:gd name="T9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0" h="95">
                    <a:moveTo>
                      <a:pt x="0" y="95"/>
                    </a:moveTo>
                    <a:lnTo>
                      <a:pt x="103" y="0"/>
                    </a:lnTo>
                    <a:lnTo>
                      <a:pt x="1030" y="0"/>
                    </a:lnTo>
                    <a:lnTo>
                      <a:pt x="928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rgbClr val="C9C9B6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" name="Rectangle 125"/>
              <p:cNvSpPr>
                <a:spLocks noChangeArrowheads="1"/>
              </p:cNvSpPr>
              <p:nvPr/>
            </p:nvSpPr>
            <p:spPr bwMode="auto">
              <a:xfrm>
                <a:off x="3669" y="2796"/>
                <a:ext cx="929" cy="732"/>
              </a:xfrm>
              <a:prstGeom prst="rect">
                <a:avLst/>
              </a:prstGeom>
              <a:solidFill>
                <a:srgbClr val="B7B79D"/>
              </a:solidFill>
              <a:ln w="1111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" name="Rectangle 126"/>
              <p:cNvSpPr>
                <a:spLocks noChangeArrowheads="1"/>
              </p:cNvSpPr>
              <p:nvPr/>
            </p:nvSpPr>
            <p:spPr bwMode="auto">
              <a:xfrm>
                <a:off x="3750" y="2891"/>
                <a:ext cx="768" cy="564"/>
              </a:xfrm>
              <a:prstGeom prst="rect">
                <a:avLst/>
              </a:prstGeom>
              <a:solidFill>
                <a:srgbClr val="FFFFFF"/>
              </a:solidFill>
              <a:ln w="1111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Freeform 127"/>
              <p:cNvSpPr>
                <a:spLocks/>
              </p:cNvSpPr>
              <p:nvPr/>
            </p:nvSpPr>
            <p:spPr bwMode="auto">
              <a:xfrm>
                <a:off x="4594" y="2698"/>
                <a:ext cx="102" cy="825"/>
              </a:xfrm>
              <a:custGeom>
                <a:avLst/>
                <a:gdLst>
                  <a:gd name="T0" fmla="*/ 0 w 102"/>
                  <a:gd name="T1" fmla="*/ 825 h 825"/>
                  <a:gd name="T2" fmla="*/ 102 w 102"/>
                  <a:gd name="T3" fmla="*/ 723 h 825"/>
                  <a:gd name="T4" fmla="*/ 102 w 102"/>
                  <a:gd name="T5" fmla="*/ 0 h 825"/>
                  <a:gd name="T6" fmla="*/ 0 w 102"/>
                  <a:gd name="T7" fmla="*/ 95 h 825"/>
                  <a:gd name="T8" fmla="*/ 0 w 102"/>
                  <a:gd name="T9" fmla="*/ 825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825">
                    <a:moveTo>
                      <a:pt x="0" y="825"/>
                    </a:moveTo>
                    <a:lnTo>
                      <a:pt x="102" y="723"/>
                    </a:lnTo>
                    <a:lnTo>
                      <a:pt x="102" y="0"/>
                    </a:lnTo>
                    <a:lnTo>
                      <a:pt x="0" y="95"/>
                    </a:lnTo>
                    <a:lnTo>
                      <a:pt x="0" y="825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" name="Freeform 128"/>
              <p:cNvSpPr>
                <a:spLocks/>
              </p:cNvSpPr>
              <p:nvPr/>
            </p:nvSpPr>
            <p:spPr bwMode="auto">
              <a:xfrm>
                <a:off x="4594" y="2698"/>
                <a:ext cx="102" cy="825"/>
              </a:xfrm>
              <a:custGeom>
                <a:avLst/>
                <a:gdLst>
                  <a:gd name="T0" fmla="*/ 0 w 102"/>
                  <a:gd name="T1" fmla="*/ 825 h 825"/>
                  <a:gd name="T2" fmla="*/ 102 w 102"/>
                  <a:gd name="T3" fmla="*/ 723 h 825"/>
                  <a:gd name="T4" fmla="*/ 102 w 102"/>
                  <a:gd name="T5" fmla="*/ 0 h 825"/>
                  <a:gd name="T6" fmla="*/ 0 w 102"/>
                  <a:gd name="T7" fmla="*/ 95 h 825"/>
                  <a:gd name="T8" fmla="*/ 0 w 102"/>
                  <a:gd name="T9" fmla="*/ 825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825">
                    <a:moveTo>
                      <a:pt x="0" y="825"/>
                    </a:moveTo>
                    <a:lnTo>
                      <a:pt x="102" y="723"/>
                    </a:lnTo>
                    <a:lnTo>
                      <a:pt x="102" y="0"/>
                    </a:lnTo>
                    <a:lnTo>
                      <a:pt x="0" y="95"/>
                    </a:lnTo>
                    <a:lnTo>
                      <a:pt x="0" y="825"/>
                    </a:lnTo>
                    <a:close/>
                  </a:path>
                </a:pathLst>
              </a:custGeom>
              <a:solidFill>
                <a:srgbClr val="7A7A5A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7" name="Freeform 129"/>
            <p:cNvSpPr>
              <a:spLocks/>
            </p:cNvSpPr>
            <p:nvPr/>
          </p:nvSpPr>
          <p:spPr bwMode="auto">
            <a:xfrm>
              <a:off x="3042659" y="3743726"/>
              <a:ext cx="5329237" cy="1163637"/>
            </a:xfrm>
            <a:custGeom>
              <a:avLst/>
              <a:gdLst>
                <a:gd name="T0" fmla="*/ 0 w 3360"/>
                <a:gd name="T1" fmla="*/ 352 h 920"/>
                <a:gd name="T2" fmla="*/ 720 w 3360"/>
                <a:gd name="T3" fmla="*/ 880 h 920"/>
                <a:gd name="T4" fmla="*/ 1536 w 3360"/>
                <a:gd name="T5" fmla="*/ 112 h 920"/>
                <a:gd name="T6" fmla="*/ 2976 w 3360"/>
                <a:gd name="T7" fmla="*/ 208 h 920"/>
                <a:gd name="T8" fmla="*/ 3360 w 3360"/>
                <a:gd name="T9" fmla="*/ 16 h 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60" h="920">
                  <a:moveTo>
                    <a:pt x="0" y="352"/>
                  </a:moveTo>
                  <a:cubicBezTo>
                    <a:pt x="232" y="636"/>
                    <a:pt x="464" y="920"/>
                    <a:pt x="720" y="880"/>
                  </a:cubicBezTo>
                  <a:cubicBezTo>
                    <a:pt x="976" y="840"/>
                    <a:pt x="1160" y="224"/>
                    <a:pt x="1536" y="112"/>
                  </a:cubicBezTo>
                  <a:cubicBezTo>
                    <a:pt x="1912" y="0"/>
                    <a:pt x="2672" y="224"/>
                    <a:pt x="2976" y="208"/>
                  </a:cubicBezTo>
                  <a:cubicBezTo>
                    <a:pt x="3280" y="192"/>
                    <a:pt x="3320" y="104"/>
                    <a:pt x="3360" y="16"/>
                  </a:cubicBezTo>
                </a:path>
              </a:pathLst>
            </a:custGeom>
            <a:noFill/>
            <a:ln w="28575" cap="flat" cmpd="sng">
              <a:solidFill>
                <a:srgbClr val="80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8" name="Group 130"/>
            <p:cNvGrpSpPr>
              <a:grpSpLocks/>
            </p:cNvGrpSpPr>
            <p:nvPr/>
          </p:nvGrpSpPr>
          <p:grpSpPr bwMode="auto">
            <a:xfrm>
              <a:off x="2971221" y="3959626"/>
              <a:ext cx="539750" cy="520700"/>
              <a:chOff x="3477" y="2698"/>
              <a:chExt cx="1445" cy="1307"/>
            </a:xfrm>
          </p:grpSpPr>
          <p:sp>
            <p:nvSpPr>
              <p:cNvPr id="29" name="Rectangle 131"/>
              <p:cNvSpPr>
                <a:spLocks noChangeArrowheads="1"/>
              </p:cNvSpPr>
              <p:nvPr/>
            </p:nvSpPr>
            <p:spPr bwMode="auto">
              <a:xfrm>
                <a:off x="3477" y="3574"/>
                <a:ext cx="1307" cy="241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Rectangle 132"/>
              <p:cNvSpPr>
                <a:spLocks noChangeArrowheads="1"/>
              </p:cNvSpPr>
              <p:nvPr/>
            </p:nvSpPr>
            <p:spPr bwMode="auto">
              <a:xfrm>
                <a:off x="3480" y="3577"/>
                <a:ext cx="1301" cy="235"/>
              </a:xfrm>
              <a:prstGeom prst="rect">
                <a:avLst/>
              </a:prstGeom>
              <a:solidFill>
                <a:srgbClr val="B7B79D"/>
              </a:solidFill>
              <a:ln w="1111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133"/>
              <p:cNvSpPr>
                <a:spLocks/>
              </p:cNvSpPr>
              <p:nvPr/>
            </p:nvSpPr>
            <p:spPr bwMode="auto">
              <a:xfrm>
                <a:off x="3477" y="3443"/>
                <a:ext cx="1445" cy="131"/>
              </a:xfrm>
              <a:custGeom>
                <a:avLst/>
                <a:gdLst>
                  <a:gd name="T0" fmla="*/ 0 w 1445"/>
                  <a:gd name="T1" fmla="*/ 131 h 131"/>
                  <a:gd name="T2" fmla="*/ 138 w 1445"/>
                  <a:gd name="T3" fmla="*/ 0 h 131"/>
                  <a:gd name="T4" fmla="*/ 1445 w 1445"/>
                  <a:gd name="T5" fmla="*/ 0 h 131"/>
                  <a:gd name="T6" fmla="*/ 1307 w 1445"/>
                  <a:gd name="T7" fmla="*/ 131 h 131"/>
                  <a:gd name="T8" fmla="*/ 0 w 1445"/>
                  <a:gd name="T9" fmla="*/ 131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45" h="131">
                    <a:moveTo>
                      <a:pt x="0" y="131"/>
                    </a:moveTo>
                    <a:lnTo>
                      <a:pt x="138" y="0"/>
                    </a:lnTo>
                    <a:lnTo>
                      <a:pt x="1445" y="0"/>
                    </a:lnTo>
                    <a:lnTo>
                      <a:pt x="1307" y="131"/>
                    </a:lnTo>
                    <a:lnTo>
                      <a:pt x="0" y="131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Freeform 134"/>
              <p:cNvSpPr>
                <a:spLocks/>
              </p:cNvSpPr>
              <p:nvPr/>
            </p:nvSpPr>
            <p:spPr bwMode="auto">
              <a:xfrm>
                <a:off x="3477" y="3443"/>
                <a:ext cx="1445" cy="131"/>
              </a:xfrm>
              <a:custGeom>
                <a:avLst/>
                <a:gdLst>
                  <a:gd name="T0" fmla="*/ 0 w 1445"/>
                  <a:gd name="T1" fmla="*/ 131 h 131"/>
                  <a:gd name="T2" fmla="*/ 138 w 1445"/>
                  <a:gd name="T3" fmla="*/ 0 h 131"/>
                  <a:gd name="T4" fmla="*/ 1445 w 1445"/>
                  <a:gd name="T5" fmla="*/ 0 h 131"/>
                  <a:gd name="T6" fmla="*/ 1307 w 1445"/>
                  <a:gd name="T7" fmla="*/ 131 h 131"/>
                  <a:gd name="T8" fmla="*/ 0 w 1445"/>
                  <a:gd name="T9" fmla="*/ 131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45" h="131">
                    <a:moveTo>
                      <a:pt x="0" y="131"/>
                    </a:moveTo>
                    <a:lnTo>
                      <a:pt x="138" y="0"/>
                    </a:lnTo>
                    <a:lnTo>
                      <a:pt x="1445" y="0"/>
                    </a:lnTo>
                    <a:lnTo>
                      <a:pt x="1307" y="131"/>
                    </a:lnTo>
                    <a:lnTo>
                      <a:pt x="0" y="131"/>
                    </a:lnTo>
                    <a:close/>
                  </a:path>
                </a:pathLst>
              </a:custGeom>
              <a:solidFill>
                <a:srgbClr val="C9C9B6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Line 135"/>
              <p:cNvSpPr>
                <a:spLocks noChangeShapeType="1"/>
              </p:cNvSpPr>
              <p:nvPr/>
            </p:nvSpPr>
            <p:spPr bwMode="auto">
              <a:xfrm flipH="1">
                <a:off x="4397" y="3684"/>
                <a:ext cx="314" cy="1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136"/>
              <p:cNvSpPr>
                <a:spLocks/>
              </p:cNvSpPr>
              <p:nvPr/>
            </p:nvSpPr>
            <p:spPr bwMode="auto">
              <a:xfrm>
                <a:off x="4784" y="3443"/>
                <a:ext cx="138" cy="372"/>
              </a:xfrm>
              <a:custGeom>
                <a:avLst/>
                <a:gdLst>
                  <a:gd name="T0" fmla="*/ 0 w 138"/>
                  <a:gd name="T1" fmla="*/ 372 h 372"/>
                  <a:gd name="T2" fmla="*/ 138 w 138"/>
                  <a:gd name="T3" fmla="*/ 234 h 372"/>
                  <a:gd name="T4" fmla="*/ 138 w 138"/>
                  <a:gd name="T5" fmla="*/ 0 h 372"/>
                  <a:gd name="T6" fmla="*/ 0 w 138"/>
                  <a:gd name="T7" fmla="*/ 131 h 372"/>
                  <a:gd name="T8" fmla="*/ 0 w 138"/>
                  <a:gd name="T9" fmla="*/ 372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" h="372">
                    <a:moveTo>
                      <a:pt x="0" y="372"/>
                    </a:moveTo>
                    <a:lnTo>
                      <a:pt x="138" y="234"/>
                    </a:lnTo>
                    <a:lnTo>
                      <a:pt x="138" y="0"/>
                    </a:lnTo>
                    <a:lnTo>
                      <a:pt x="0" y="131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137"/>
              <p:cNvSpPr>
                <a:spLocks/>
              </p:cNvSpPr>
              <p:nvPr/>
            </p:nvSpPr>
            <p:spPr bwMode="auto">
              <a:xfrm>
                <a:off x="4784" y="3443"/>
                <a:ext cx="138" cy="372"/>
              </a:xfrm>
              <a:custGeom>
                <a:avLst/>
                <a:gdLst>
                  <a:gd name="T0" fmla="*/ 0 w 138"/>
                  <a:gd name="T1" fmla="*/ 372 h 372"/>
                  <a:gd name="T2" fmla="*/ 138 w 138"/>
                  <a:gd name="T3" fmla="*/ 234 h 372"/>
                  <a:gd name="T4" fmla="*/ 138 w 138"/>
                  <a:gd name="T5" fmla="*/ 0 h 372"/>
                  <a:gd name="T6" fmla="*/ 0 w 138"/>
                  <a:gd name="T7" fmla="*/ 131 h 372"/>
                  <a:gd name="T8" fmla="*/ 0 w 138"/>
                  <a:gd name="T9" fmla="*/ 372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" h="372">
                    <a:moveTo>
                      <a:pt x="0" y="372"/>
                    </a:moveTo>
                    <a:lnTo>
                      <a:pt x="138" y="234"/>
                    </a:lnTo>
                    <a:lnTo>
                      <a:pt x="138" y="0"/>
                    </a:lnTo>
                    <a:lnTo>
                      <a:pt x="0" y="131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7A7A5A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Freeform 138"/>
              <p:cNvSpPr>
                <a:spLocks/>
              </p:cNvSpPr>
              <p:nvPr/>
            </p:nvSpPr>
            <p:spPr bwMode="auto">
              <a:xfrm>
                <a:off x="3484" y="3786"/>
                <a:ext cx="1154" cy="183"/>
              </a:xfrm>
              <a:custGeom>
                <a:avLst/>
                <a:gdLst>
                  <a:gd name="T0" fmla="*/ 0 w 1154"/>
                  <a:gd name="T1" fmla="*/ 183 h 183"/>
                  <a:gd name="T2" fmla="*/ 146 w 1154"/>
                  <a:gd name="T3" fmla="*/ 0 h 183"/>
                  <a:gd name="T4" fmla="*/ 1154 w 1154"/>
                  <a:gd name="T5" fmla="*/ 0 h 183"/>
                  <a:gd name="T6" fmla="*/ 1008 w 1154"/>
                  <a:gd name="T7" fmla="*/ 183 h 183"/>
                  <a:gd name="T8" fmla="*/ 0 w 1154"/>
                  <a:gd name="T9" fmla="*/ 183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54" h="183">
                    <a:moveTo>
                      <a:pt x="0" y="183"/>
                    </a:moveTo>
                    <a:lnTo>
                      <a:pt x="146" y="0"/>
                    </a:lnTo>
                    <a:lnTo>
                      <a:pt x="1154" y="0"/>
                    </a:lnTo>
                    <a:lnTo>
                      <a:pt x="1008" y="183"/>
                    </a:lnTo>
                    <a:lnTo>
                      <a:pt x="0" y="183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139"/>
              <p:cNvSpPr>
                <a:spLocks/>
              </p:cNvSpPr>
              <p:nvPr/>
            </p:nvSpPr>
            <p:spPr bwMode="auto">
              <a:xfrm>
                <a:off x="3484" y="3786"/>
                <a:ext cx="1154" cy="183"/>
              </a:xfrm>
              <a:custGeom>
                <a:avLst/>
                <a:gdLst>
                  <a:gd name="T0" fmla="*/ 0 w 1154"/>
                  <a:gd name="T1" fmla="*/ 183 h 183"/>
                  <a:gd name="T2" fmla="*/ 146 w 1154"/>
                  <a:gd name="T3" fmla="*/ 0 h 183"/>
                  <a:gd name="T4" fmla="*/ 1154 w 1154"/>
                  <a:gd name="T5" fmla="*/ 0 h 183"/>
                  <a:gd name="T6" fmla="*/ 1008 w 1154"/>
                  <a:gd name="T7" fmla="*/ 183 h 183"/>
                  <a:gd name="T8" fmla="*/ 0 w 1154"/>
                  <a:gd name="T9" fmla="*/ 183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54" h="183">
                    <a:moveTo>
                      <a:pt x="0" y="183"/>
                    </a:moveTo>
                    <a:lnTo>
                      <a:pt x="146" y="0"/>
                    </a:lnTo>
                    <a:lnTo>
                      <a:pt x="1154" y="0"/>
                    </a:lnTo>
                    <a:lnTo>
                      <a:pt x="1008" y="183"/>
                    </a:lnTo>
                    <a:lnTo>
                      <a:pt x="0" y="183"/>
                    </a:lnTo>
                    <a:close/>
                  </a:path>
                </a:pathLst>
              </a:custGeom>
              <a:solidFill>
                <a:srgbClr val="C9C9B6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140"/>
              <p:cNvSpPr>
                <a:spLocks/>
              </p:cNvSpPr>
              <p:nvPr/>
            </p:nvSpPr>
            <p:spPr bwMode="auto">
              <a:xfrm>
                <a:off x="4492" y="3786"/>
                <a:ext cx="146" cy="219"/>
              </a:xfrm>
              <a:custGeom>
                <a:avLst/>
                <a:gdLst>
                  <a:gd name="T0" fmla="*/ 0 w 146"/>
                  <a:gd name="T1" fmla="*/ 219 h 219"/>
                  <a:gd name="T2" fmla="*/ 146 w 146"/>
                  <a:gd name="T3" fmla="*/ 66 h 219"/>
                  <a:gd name="T4" fmla="*/ 146 w 146"/>
                  <a:gd name="T5" fmla="*/ 0 h 219"/>
                  <a:gd name="T6" fmla="*/ 0 w 146"/>
                  <a:gd name="T7" fmla="*/ 183 h 219"/>
                  <a:gd name="T8" fmla="*/ 0 w 146"/>
                  <a:gd name="T9" fmla="*/ 219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219">
                    <a:moveTo>
                      <a:pt x="0" y="219"/>
                    </a:moveTo>
                    <a:lnTo>
                      <a:pt x="146" y="66"/>
                    </a:lnTo>
                    <a:lnTo>
                      <a:pt x="146" y="0"/>
                    </a:lnTo>
                    <a:lnTo>
                      <a:pt x="0" y="183"/>
                    </a:lnTo>
                    <a:lnTo>
                      <a:pt x="0" y="219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Freeform 141"/>
              <p:cNvSpPr>
                <a:spLocks/>
              </p:cNvSpPr>
              <p:nvPr/>
            </p:nvSpPr>
            <p:spPr bwMode="auto">
              <a:xfrm>
                <a:off x="4492" y="3786"/>
                <a:ext cx="146" cy="219"/>
              </a:xfrm>
              <a:custGeom>
                <a:avLst/>
                <a:gdLst>
                  <a:gd name="T0" fmla="*/ 0 w 146"/>
                  <a:gd name="T1" fmla="*/ 219 h 219"/>
                  <a:gd name="T2" fmla="*/ 146 w 146"/>
                  <a:gd name="T3" fmla="*/ 66 h 219"/>
                  <a:gd name="T4" fmla="*/ 146 w 146"/>
                  <a:gd name="T5" fmla="*/ 0 h 219"/>
                  <a:gd name="T6" fmla="*/ 0 w 146"/>
                  <a:gd name="T7" fmla="*/ 183 h 219"/>
                  <a:gd name="T8" fmla="*/ 0 w 146"/>
                  <a:gd name="T9" fmla="*/ 219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219">
                    <a:moveTo>
                      <a:pt x="0" y="219"/>
                    </a:moveTo>
                    <a:lnTo>
                      <a:pt x="146" y="66"/>
                    </a:lnTo>
                    <a:lnTo>
                      <a:pt x="146" y="0"/>
                    </a:lnTo>
                    <a:lnTo>
                      <a:pt x="0" y="183"/>
                    </a:lnTo>
                    <a:lnTo>
                      <a:pt x="0" y="219"/>
                    </a:lnTo>
                    <a:close/>
                  </a:path>
                </a:pathLst>
              </a:custGeom>
              <a:solidFill>
                <a:srgbClr val="7A7A5A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Rectangle 142"/>
              <p:cNvSpPr>
                <a:spLocks noChangeArrowheads="1"/>
              </p:cNvSpPr>
              <p:nvPr/>
            </p:nvSpPr>
            <p:spPr bwMode="auto">
              <a:xfrm>
                <a:off x="3484" y="3969"/>
                <a:ext cx="1008" cy="36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Rectangle 143"/>
              <p:cNvSpPr>
                <a:spLocks noChangeArrowheads="1"/>
              </p:cNvSpPr>
              <p:nvPr/>
            </p:nvSpPr>
            <p:spPr bwMode="auto">
              <a:xfrm>
                <a:off x="3487" y="3972"/>
                <a:ext cx="1002" cy="30"/>
              </a:xfrm>
              <a:prstGeom prst="rect">
                <a:avLst/>
              </a:prstGeom>
              <a:solidFill>
                <a:srgbClr val="B7B79D"/>
              </a:solidFill>
              <a:ln w="1111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Freeform 144"/>
              <p:cNvSpPr>
                <a:spLocks/>
              </p:cNvSpPr>
              <p:nvPr/>
            </p:nvSpPr>
            <p:spPr bwMode="auto">
              <a:xfrm>
                <a:off x="3674" y="3443"/>
                <a:ext cx="1037" cy="102"/>
              </a:xfrm>
              <a:custGeom>
                <a:avLst/>
                <a:gdLst>
                  <a:gd name="T0" fmla="*/ 0 w 1037"/>
                  <a:gd name="T1" fmla="*/ 102 h 102"/>
                  <a:gd name="T2" fmla="*/ 109 w 1037"/>
                  <a:gd name="T3" fmla="*/ 0 h 102"/>
                  <a:gd name="T4" fmla="*/ 1037 w 1037"/>
                  <a:gd name="T5" fmla="*/ 0 h 102"/>
                  <a:gd name="T6" fmla="*/ 934 w 1037"/>
                  <a:gd name="T7" fmla="*/ 102 h 102"/>
                  <a:gd name="T8" fmla="*/ 0 w 1037"/>
                  <a:gd name="T9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7" h="102">
                    <a:moveTo>
                      <a:pt x="0" y="102"/>
                    </a:moveTo>
                    <a:lnTo>
                      <a:pt x="109" y="0"/>
                    </a:lnTo>
                    <a:lnTo>
                      <a:pt x="1037" y="0"/>
                    </a:lnTo>
                    <a:lnTo>
                      <a:pt x="934" y="102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Freeform 145"/>
              <p:cNvSpPr>
                <a:spLocks/>
              </p:cNvSpPr>
              <p:nvPr/>
            </p:nvSpPr>
            <p:spPr bwMode="auto">
              <a:xfrm>
                <a:off x="3674" y="3443"/>
                <a:ext cx="1037" cy="102"/>
              </a:xfrm>
              <a:custGeom>
                <a:avLst/>
                <a:gdLst>
                  <a:gd name="T0" fmla="*/ 0 w 1037"/>
                  <a:gd name="T1" fmla="*/ 102 h 102"/>
                  <a:gd name="T2" fmla="*/ 109 w 1037"/>
                  <a:gd name="T3" fmla="*/ 0 h 102"/>
                  <a:gd name="T4" fmla="*/ 1037 w 1037"/>
                  <a:gd name="T5" fmla="*/ 0 h 102"/>
                  <a:gd name="T6" fmla="*/ 934 w 1037"/>
                  <a:gd name="T7" fmla="*/ 102 h 102"/>
                  <a:gd name="T8" fmla="*/ 0 w 1037"/>
                  <a:gd name="T9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7" h="102">
                    <a:moveTo>
                      <a:pt x="0" y="102"/>
                    </a:moveTo>
                    <a:lnTo>
                      <a:pt x="109" y="0"/>
                    </a:lnTo>
                    <a:lnTo>
                      <a:pt x="1037" y="0"/>
                    </a:lnTo>
                    <a:lnTo>
                      <a:pt x="934" y="102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000000"/>
              </a:solidFill>
              <a:ln w="1111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Freeform 146"/>
              <p:cNvSpPr>
                <a:spLocks/>
              </p:cNvSpPr>
              <p:nvPr/>
            </p:nvSpPr>
            <p:spPr bwMode="auto">
              <a:xfrm>
                <a:off x="3666" y="2698"/>
                <a:ext cx="1030" cy="95"/>
              </a:xfrm>
              <a:custGeom>
                <a:avLst/>
                <a:gdLst>
                  <a:gd name="T0" fmla="*/ 0 w 1030"/>
                  <a:gd name="T1" fmla="*/ 95 h 95"/>
                  <a:gd name="T2" fmla="*/ 103 w 1030"/>
                  <a:gd name="T3" fmla="*/ 0 h 95"/>
                  <a:gd name="T4" fmla="*/ 1030 w 1030"/>
                  <a:gd name="T5" fmla="*/ 0 h 95"/>
                  <a:gd name="T6" fmla="*/ 928 w 1030"/>
                  <a:gd name="T7" fmla="*/ 95 h 95"/>
                  <a:gd name="T8" fmla="*/ 0 w 1030"/>
                  <a:gd name="T9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0" h="95">
                    <a:moveTo>
                      <a:pt x="0" y="95"/>
                    </a:moveTo>
                    <a:lnTo>
                      <a:pt x="103" y="0"/>
                    </a:lnTo>
                    <a:lnTo>
                      <a:pt x="1030" y="0"/>
                    </a:lnTo>
                    <a:lnTo>
                      <a:pt x="928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Freeform 147"/>
              <p:cNvSpPr>
                <a:spLocks/>
              </p:cNvSpPr>
              <p:nvPr/>
            </p:nvSpPr>
            <p:spPr bwMode="auto">
              <a:xfrm>
                <a:off x="3666" y="2698"/>
                <a:ext cx="1030" cy="95"/>
              </a:xfrm>
              <a:custGeom>
                <a:avLst/>
                <a:gdLst>
                  <a:gd name="T0" fmla="*/ 0 w 1030"/>
                  <a:gd name="T1" fmla="*/ 95 h 95"/>
                  <a:gd name="T2" fmla="*/ 103 w 1030"/>
                  <a:gd name="T3" fmla="*/ 0 h 95"/>
                  <a:gd name="T4" fmla="*/ 1030 w 1030"/>
                  <a:gd name="T5" fmla="*/ 0 h 95"/>
                  <a:gd name="T6" fmla="*/ 928 w 1030"/>
                  <a:gd name="T7" fmla="*/ 95 h 95"/>
                  <a:gd name="T8" fmla="*/ 0 w 1030"/>
                  <a:gd name="T9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0" h="95">
                    <a:moveTo>
                      <a:pt x="0" y="95"/>
                    </a:moveTo>
                    <a:lnTo>
                      <a:pt x="103" y="0"/>
                    </a:lnTo>
                    <a:lnTo>
                      <a:pt x="1030" y="0"/>
                    </a:lnTo>
                    <a:lnTo>
                      <a:pt x="928" y="95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rgbClr val="C9C9B6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Rectangle 148"/>
              <p:cNvSpPr>
                <a:spLocks noChangeArrowheads="1"/>
              </p:cNvSpPr>
              <p:nvPr/>
            </p:nvSpPr>
            <p:spPr bwMode="auto">
              <a:xfrm>
                <a:off x="3669" y="2796"/>
                <a:ext cx="929" cy="732"/>
              </a:xfrm>
              <a:prstGeom prst="rect">
                <a:avLst/>
              </a:prstGeom>
              <a:solidFill>
                <a:srgbClr val="B7B79D"/>
              </a:solidFill>
              <a:ln w="1111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Rectangle 149"/>
              <p:cNvSpPr>
                <a:spLocks noChangeArrowheads="1"/>
              </p:cNvSpPr>
              <p:nvPr/>
            </p:nvSpPr>
            <p:spPr bwMode="auto">
              <a:xfrm>
                <a:off x="3750" y="2891"/>
                <a:ext cx="768" cy="564"/>
              </a:xfrm>
              <a:prstGeom prst="rect">
                <a:avLst/>
              </a:prstGeom>
              <a:solidFill>
                <a:srgbClr val="FFFFFF"/>
              </a:solidFill>
              <a:ln w="1111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Freeform 150"/>
              <p:cNvSpPr>
                <a:spLocks/>
              </p:cNvSpPr>
              <p:nvPr/>
            </p:nvSpPr>
            <p:spPr bwMode="auto">
              <a:xfrm>
                <a:off x="4594" y="2698"/>
                <a:ext cx="102" cy="825"/>
              </a:xfrm>
              <a:custGeom>
                <a:avLst/>
                <a:gdLst>
                  <a:gd name="T0" fmla="*/ 0 w 102"/>
                  <a:gd name="T1" fmla="*/ 825 h 825"/>
                  <a:gd name="T2" fmla="*/ 102 w 102"/>
                  <a:gd name="T3" fmla="*/ 723 h 825"/>
                  <a:gd name="T4" fmla="*/ 102 w 102"/>
                  <a:gd name="T5" fmla="*/ 0 h 825"/>
                  <a:gd name="T6" fmla="*/ 0 w 102"/>
                  <a:gd name="T7" fmla="*/ 95 h 825"/>
                  <a:gd name="T8" fmla="*/ 0 w 102"/>
                  <a:gd name="T9" fmla="*/ 825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825">
                    <a:moveTo>
                      <a:pt x="0" y="825"/>
                    </a:moveTo>
                    <a:lnTo>
                      <a:pt x="102" y="723"/>
                    </a:lnTo>
                    <a:lnTo>
                      <a:pt x="102" y="0"/>
                    </a:lnTo>
                    <a:lnTo>
                      <a:pt x="0" y="95"/>
                    </a:lnTo>
                    <a:lnTo>
                      <a:pt x="0" y="825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Freeform 151"/>
              <p:cNvSpPr>
                <a:spLocks/>
              </p:cNvSpPr>
              <p:nvPr/>
            </p:nvSpPr>
            <p:spPr bwMode="auto">
              <a:xfrm>
                <a:off x="4594" y="2698"/>
                <a:ext cx="102" cy="825"/>
              </a:xfrm>
              <a:custGeom>
                <a:avLst/>
                <a:gdLst>
                  <a:gd name="T0" fmla="*/ 0 w 102"/>
                  <a:gd name="T1" fmla="*/ 825 h 825"/>
                  <a:gd name="T2" fmla="*/ 102 w 102"/>
                  <a:gd name="T3" fmla="*/ 723 h 825"/>
                  <a:gd name="T4" fmla="*/ 102 w 102"/>
                  <a:gd name="T5" fmla="*/ 0 h 825"/>
                  <a:gd name="T6" fmla="*/ 0 w 102"/>
                  <a:gd name="T7" fmla="*/ 95 h 825"/>
                  <a:gd name="T8" fmla="*/ 0 w 102"/>
                  <a:gd name="T9" fmla="*/ 825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825">
                    <a:moveTo>
                      <a:pt x="0" y="825"/>
                    </a:moveTo>
                    <a:lnTo>
                      <a:pt x="102" y="723"/>
                    </a:lnTo>
                    <a:lnTo>
                      <a:pt x="102" y="0"/>
                    </a:lnTo>
                    <a:lnTo>
                      <a:pt x="0" y="95"/>
                    </a:lnTo>
                    <a:lnTo>
                      <a:pt x="0" y="825"/>
                    </a:lnTo>
                    <a:close/>
                  </a:path>
                </a:pathLst>
              </a:custGeom>
              <a:solidFill>
                <a:srgbClr val="7A7A5A"/>
              </a:solidFill>
              <a:ln w="1111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957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twork">
  <a:themeElements>
    <a:clrScheme name="Network 13">
      <a:dk1>
        <a:srgbClr val="666699"/>
      </a:dk1>
      <a:lt1>
        <a:srgbClr val="FFFF66"/>
      </a:lt1>
      <a:dk2>
        <a:srgbClr val="000054"/>
      </a:dk2>
      <a:lt2>
        <a:srgbClr val="66FF99"/>
      </a:lt2>
      <a:accent1>
        <a:srgbClr val="3333FF"/>
      </a:accent1>
      <a:accent2>
        <a:srgbClr val="006699"/>
      </a:accent2>
      <a:accent3>
        <a:srgbClr val="AAAAB3"/>
      </a:accent3>
      <a:accent4>
        <a:srgbClr val="DADA56"/>
      </a:accent4>
      <a:accent5>
        <a:srgbClr val="ADADFF"/>
      </a:accent5>
      <a:accent6>
        <a:srgbClr val="005C8A"/>
      </a:accent6>
      <a:hlink>
        <a:srgbClr val="669900"/>
      </a:hlink>
      <a:folHlink>
        <a:srgbClr val="0000FF"/>
      </a:folHlink>
    </a:clrScheme>
    <a:fontScheme name="Network">
      <a:majorFont>
        <a:latin typeface="Arial"/>
        <a:ea typeface="隶书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bg1"/>
          </a:buClr>
          <a:buSzPct val="70000"/>
          <a:buFont typeface="Wingdings" panose="05000000000000000000" pitchFamily="2" charset="2"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bg1"/>
          </a:buClr>
          <a:buSzPct val="70000"/>
          <a:buFont typeface="Wingdings" panose="05000000000000000000" pitchFamily="2" charset="2"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1">
        <a:dk1>
          <a:srgbClr val="666699"/>
        </a:dk1>
        <a:lt1>
          <a:srgbClr val="FFFF00"/>
        </a:lt1>
        <a:dk2>
          <a:srgbClr val="000054"/>
        </a:dk2>
        <a:lt2>
          <a:srgbClr val="00FF00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00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12">
        <a:dk1>
          <a:srgbClr val="666699"/>
        </a:dk1>
        <a:lt1>
          <a:srgbClr val="FFFF00"/>
        </a:lt1>
        <a:dk2>
          <a:srgbClr val="000054"/>
        </a:dk2>
        <a:lt2>
          <a:srgbClr val="66FF99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00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13">
        <a:dk1>
          <a:srgbClr val="666699"/>
        </a:dk1>
        <a:lt1>
          <a:srgbClr val="FFFF66"/>
        </a:lt1>
        <a:dk2>
          <a:srgbClr val="000054"/>
        </a:dk2>
        <a:lt2>
          <a:srgbClr val="66FF99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56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CC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E2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bg1"/>
          </a:buClr>
          <a:buSzPct val="70000"/>
          <a:buFont typeface="Wingdings" panose="05000000000000000000" pitchFamily="2" charset="2"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bg1"/>
          </a:buClr>
          <a:buSzPct val="70000"/>
          <a:buFont typeface="Wingdings" panose="05000000000000000000" pitchFamily="2" charset="2"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CC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E2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bg1"/>
          </a:buClr>
          <a:buSzPct val="70000"/>
          <a:buFont typeface="Wingdings" panose="05000000000000000000" pitchFamily="2" charset="2"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bg1"/>
          </a:buClr>
          <a:buSzPct val="70000"/>
          <a:buFont typeface="Wingdings" panose="05000000000000000000" pitchFamily="2" charset="2"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默认设计模板">
  <a:themeElements>
    <a:clrScheme name="">
      <a:dk1>
        <a:srgbClr val="000000"/>
      </a:dk1>
      <a:lt1>
        <a:srgbClr val="CC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E2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默认设计模板">
  <a:themeElements>
    <a:clrScheme name="">
      <a:dk1>
        <a:srgbClr val="000000"/>
      </a:dk1>
      <a:lt1>
        <a:srgbClr val="CC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E2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006_Title/Bullet_Cisco White Temp">
  <a:themeElements>
    <a:clrScheme name="2006_Title/Bullet_Cisco White Temp 1">
      <a:dk1>
        <a:srgbClr val="000000"/>
      </a:dk1>
      <a:lt1>
        <a:srgbClr val="FFFFFF"/>
      </a:lt1>
      <a:dk2>
        <a:srgbClr val="0183B7"/>
      </a:dk2>
      <a:lt2>
        <a:srgbClr val="8E8E95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2006_Title/Bullet_Cisco White Tem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1796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82124" tIns="41061" rIns="82124" bIns="41061" numCol="1" anchor="t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1796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82124" tIns="41061" rIns="82124" bIns="41061" numCol="1" anchor="t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2006_Title/Bullet_Cisco White Temp 1">
        <a:dk1>
          <a:srgbClr val="000000"/>
        </a:dk1>
        <a:lt1>
          <a:srgbClr val="FFFFFF"/>
        </a:lt1>
        <a:dk2>
          <a:srgbClr val="0183B7"/>
        </a:dk2>
        <a:lt2>
          <a:srgbClr val="8E8E95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2803</TotalTime>
  <Words>2369</Words>
  <Application>Microsoft Office PowerPoint</Application>
  <PresentationFormat>宽屏</PresentationFormat>
  <Paragraphs>614</Paragraphs>
  <Slides>60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8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60</vt:i4>
      </vt:variant>
    </vt:vector>
  </HeadingPairs>
  <TitlesOfParts>
    <vt:vector size="85" baseType="lpstr">
      <vt:lpstr>Monotype Sorts</vt:lpstr>
      <vt:lpstr>黑体</vt:lpstr>
      <vt:lpstr>楷体</vt:lpstr>
      <vt:lpstr>楷体_GB2312</vt:lpstr>
      <vt:lpstr>隶书</vt:lpstr>
      <vt:lpstr>宋体</vt:lpstr>
      <vt:lpstr>微软雅黑</vt:lpstr>
      <vt:lpstr>幼圆</vt:lpstr>
      <vt:lpstr>Arial</vt:lpstr>
      <vt:lpstr>Calibri</vt:lpstr>
      <vt:lpstr>Franklin Gothic Medium</vt:lpstr>
      <vt:lpstr>Helvetica</vt:lpstr>
      <vt:lpstr>Symbol</vt:lpstr>
      <vt:lpstr>Times New Roman</vt:lpstr>
      <vt:lpstr>Wingdings</vt:lpstr>
      <vt:lpstr>Network</vt:lpstr>
      <vt:lpstr>默认设计模板</vt:lpstr>
      <vt:lpstr>1_默认设计模板</vt:lpstr>
      <vt:lpstr>2_默认设计模板</vt:lpstr>
      <vt:lpstr>3_默认设计模板</vt:lpstr>
      <vt:lpstr>4_默认设计模板</vt:lpstr>
      <vt:lpstr>7_默认设计模板</vt:lpstr>
      <vt:lpstr>2006_Title/Bullet_Cisco White Temp</vt:lpstr>
      <vt:lpstr>位图图像</vt:lpstr>
      <vt:lpstr>VISIO</vt:lpstr>
      <vt:lpstr>PowerPoint 演示文稿</vt:lpstr>
      <vt:lpstr>局域网—以太网</vt:lpstr>
      <vt:lpstr>LAN—局域网</vt:lpstr>
      <vt:lpstr>PowerPoint 演示文稿</vt:lpstr>
      <vt:lpstr>以太网 — Ethernet</vt:lpstr>
      <vt:lpstr>以太网 — Ethernet</vt:lpstr>
      <vt:lpstr>以太网 — Ethernet</vt:lpstr>
      <vt:lpstr>以太网 — Ethernet</vt:lpstr>
      <vt:lpstr>以太网 — Ethernet</vt:lpstr>
      <vt:lpstr>以太网 — Ethernet</vt:lpstr>
      <vt:lpstr>以太网 — Ethernet</vt:lpstr>
      <vt:lpstr>以太网 — Ethernet</vt:lpstr>
      <vt:lpstr>PowerPoint 演示文稿</vt:lpstr>
      <vt:lpstr>交换机</vt:lpstr>
      <vt:lpstr>以太网—集线器</vt:lpstr>
      <vt:lpstr>以太网—集线器</vt:lpstr>
      <vt:lpstr>以太网 — 交换机</vt:lpstr>
      <vt:lpstr>以太网 — 交换机</vt:lpstr>
      <vt:lpstr>以太网 — 交换机</vt:lpstr>
      <vt:lpstr>以太网 — 交换机</vt:lpstr>
      <vt:lpstr>以太网 — 交换机</vt:lpstr>
      <vt:lpstr>以太网 — 交换机</vt:lpstr>
      <vt:lpstr>以太网 — 交换机</vt:lpstr>
      <vt:lpstr>PowerPoint 演示文稿</vt:lpstr>
      <vt:lpstr>线缆</vt:lpstr>
      <vt:lpstr>线缆</vt:lpstr>
      <vt:lpstr>线缆</vt:lpstr>
      <vt:lpstr>线缆</vt:lpstr>
      <vt:lpstr>线缆</vt:lpstr>
      <vt:lpstr>线缆</vt:lpstr>
      <vt:lpstr>PowerPoint 演示文稿</vt:lpstr>
      <vt:lpstr>线缆</vt:lpstr>
      <vt:lpstr>线缆</vt:lpstr>
      <vt:lpstr>线缆</vt:lpstr>
      <vt:lpstr>线缆</vt:lpstr>
      <vt:lpstr>线缆</vt:lpstr>
      <vt:lpstr>PowerPoint 演示文稿</vt:lpstr>
      <vt:lpstr>编址</vt:lpstr>
      <vt:lpstr>编址—IP地址</vt:lpstr>
      <vt:lpstr>编址—IP地址</vt:lpstr>
      <vt:lpstr>编址—IP地址</vt:lpstr>
      <vt:lpstr>编址—IP地址</vt:lpstr>
      <vt:lpstr>二进制Binary  十进制Decimal</vt:lpstr>
      <vt:lpstr>IP地址范围</vt:lpstr>
      <vt:lpstr>网络地址</vt:lpstr>
      <vt:lpstr>术语</vt:lpstr>
      <vt:lpstr> 路由表 不同物理网络，根据网络号字段判别。</vt:lpstr>
      <vt:lpstr>IP地址：子网 &amp; 掩码</vt:lpstr>
      <vt:lpstr>IP地址：子网 &amp; 掩码</vt:lpstr>
      <vt:lpstr>IP地址：子网 &amp; 掩码</vt:lpstr>
      <vt:lpstr>PowerPoint 演示文稿</vt:lpstr>
      <vt:lpstr>PowerPoint 演示文稿</vt:lpstr>
      <vt:lpstr>PowerPoint 演示文稿</vt:lpstr>
      <vt:lpstr>正确配置用户计算机</vt:lpstr>
      <vt:lpstr>正确配置用户计算机</vt:lpstr>
      <vt:lpstr>正确配置用户计算机</vt:lpstr>
      <vt:lpstr>PowerPoint 演示文稿</vt:lpstr>
      <vt:lpstr>网络测试工具</vt:lpstr>
      <vt:lpstr>网络测试工具</vt:lpstr>
      <vt:lpstr>网络测试工具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张·骏</dc:creator>
  <cp:lastModifiedBy>张· 骏</cp:lastModifiedBy>
  <cp:revision>212</cp:revision>
  <dcterms:created xsi:type="dcterms:W3CDTF">2015-07-08T03:33:10Z</dcterms:created>
  <dcterms:modified xsi:type="dcterms:W3CDTF">2019-08-03T01:32:36Z</dcterms:modified>
</cp:coreProperties>
</file>