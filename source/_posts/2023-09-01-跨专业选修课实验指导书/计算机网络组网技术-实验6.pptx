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730" r:id="rId2"/>
    <p:sldMasterId id="2147483810" r:id="rId3"/>
    <p:sldMasterId id="2147483822" r:id="rId4"/>
    <p:sldMasterId id="2147483834" r:id="rId5"/>
    <p:sldMasterId id="2147483906" r:id="rId6"/>
  </p:sldMasterIdLst>
  <p:notesMasterIdLst>
    <p:notesMasterId r:id="rId31"/>
  </p:notesMasterIdLst>
  <p:sldIdLst>
    <p:sldId id="275" r:id="rId7"/>
    <p:sldId id="438" r:id="rId8"/>
    <p:sldId id="435" r:id="rId9"/>
    <p:sldId id="437" r:id="rId10"/>
    <p:sldId id="436" r:id="rId11"/>
    <p:sldId id="358" r:id="rId12"/>
    <p:sldId id="439" r:id="rId13"/>
    <p:sldId id="440" r:id="rId14"/>
    <p:sldId id="456" r:id="rId15"/>
    <p:sldId id="304" r:id="rId16"/>
    <p:sldId id="361" r:id="rId17"/>
    <p:sldId id="362" r:id="rId18"/>
    <p:sldId id="363" r:id="rId19"/>
    <p:sldId id="442" r:id="rId20"/>
    <p:sldId id="443" r:id="rId21"/>
    <p:sldId id="441" r:id="rId22"/>
    <p:sldId id="448" r:id="rId23"/>
    <p:sldId id="444" r:id="rId24"/>
    <p:sldId id="445" r:id="rId25"/>
    <p:sldId id="452" r:id="rId26"/>
    <p:sldId id="446" r:id="rId27"/>
    <p:sldId id="450" r:id="rId28"/>
    <p:sldId id="451" r:id="rId29"/>
    <p:sldId id="454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99FFCC"/>
    <a:srgbClr val="CCFF66"/>
    <a:srgbClr val="00CC99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9" autoAdjust="0"/>
    <p:restoredTop sz="94660"/>
  </p:normalViewPr>
  <p:slideViewPr>
    <p:cSldViewPr snapToGrid="0">
      <p:cViewPr varScale="1">
        <p:scale>
          <a:sx n="60" d="100"/>
          <a:sy n="60" d="100"/>
        </p:scale>
        <p:origin x="378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502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34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BB3B10-E75A-4A99-8D77-4819A54DB04C}" type="datetimeFigureOut">
              <a:rPr lang="zh-CN" altLang="en-US" smtClean="0"/>
              <a:t>2019/8/3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CB6A66-BA5C-4236-87D9-16ACC10F6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005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CB6A66-BA5C-4236-87D9-16ACC10F606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1881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CB6A66-BA5C-4236-87D9-16ACC10F606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683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255107C7-96A5-44EC-A947-6695757A29BC}" type="slidenum">
              <a:rPr lang="zh-CN" altLang="en-US" sz="800"/>
              <a:pPr algn="r">
                <a:lnSpc>
                  <a:spcPct val="100000"/>
                </a:lnSpc>
              </a:pPr>
              <a:t>4</a:t>
            </a:fld>
            <a:endParaRPr lang="en-US" altLang="zh-CN" sz="80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769618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CB6A66-BA5C-4236-87D9-16ACC10F606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13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175A17-C0E4-4292-8038-CB4B29EF182A}" type="slidenum">
              <a:rPr lang="zh-CN" altLang="en-US"/>
              <a:pPr/>
              <a:t>6</a:t>
            </a:fld>
            <a:endParaRPr lang="en-US" altLang="zh-CN"/>
          </a:p>
        </p:txBody>
      </p:sp>
      <p:sp>
        <p:nvSpPr>
          <p:cNvPr id="130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918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8C3D4FB5-55E1-4DA1-AD9E-06C2626E8F0A}" type="slidenum">
              <a:rPr lang="zh-CN" altLang="en-US" sz="800"/>
              <a:pPr algn="r">
                <a:lnSpc>
                  <a:spcPct val="100000"/>
                </a:lnSpc>
              </a:pPr>
              <a:t>7</a:t>
            </a:fld>
            <a:endParaRPr lang="en-US" altLang="zh-CN" sz="80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842423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23ED5135-618E-4901-979E-E6AE62AAA540}" type="slidenum">
              <a:rPr lang="zh-CN" altLang="en-US" sz="800"/>
              <a:pPr algn="r">
                <a:lnSpc>
                  <a:spcPct val="100000"/>
                </a:lnSpc>
              </a:pPr>
              <a:t>8</a:t>
            </a:fld>
            <a:endParaRPr lang="en-US" altLang="zh-CN" sz="80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3830914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23ED5135-618E-4901-979E-E6AE62AAA540}" type="slidenum">
              <a:rPr lang="zh-CN" altLang="en-US" sz="800"/>
              <a:pPr algn="r">
                <a:lnSpc>
                  <a:spcPct val="100000"/>
                </a:lnSpc>
              </a:pPr>
              <a:t>9</a:t>
            </a:fld>
            <a:endParaRPr lang="en-US" altLang="zh-CN" sz="80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4323416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D5C6D0-5CF7-4A83-8B34-3A327B29CD59}" type="slidenum">
              <a:rPr lang="zh-CN" altLang="en-US">
                <a:solidFill>
                  <a:srgbClr val="000000"/>
                </a:solidFill>
              </a:rPr>
              <a:pPr/>
              <a:t>11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31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3672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5DDCC3-E1DD-4303-BF72-C459D38FF2DF}" type="slidenum">
              <a:rPr lang="zh-CN" altLang="en-US">
                <a:solidFill>
                  <a:srgbClr val="000000"/>
                </a:solidFill>
              </a:rPr>
              <a:pPr/>
              <a:t>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31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9742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3FE046-48FB-4B06-B6C3-D70B122A1F0E}" type="slidenum">
              <a:rPr lang="zh-CN" altLang="en-US">
                <a:solidFill>
                  <a:srgbClr val="000000"/>
                </a:solidFill>
              </a:rPr>
              <a:pPr/>
              <a:t>13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31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225182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F37DDA61-061E-43A1-9CEC-F0692D59DC9E}" type="slidenum">
              <a:rPr lang="zh-CN" altLang="en-US" sz="800"/>
              <a:pPr algn="r">
                <a:lnSpc>
                  <a:spcPct val="100000"/>
                </a:lnSpc>
              </a:pPr>
              <a:t>16</a:t>
            </a:fld>
            <a:endParaRPr lang="en-US" altLang="zh-CN" sz="80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791485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A5D25139-D00C-4A42-B752-DABBE3481B13}" type="slidenum">
              <a:rPr lang="zh-CN" altLang="en-US" sz="800"/>
              <a:pPr algn="r">
                <a:lnSpc>
                  <a:spcPct val="100000"/>
                </a:lnSpc>
              </a:pPr>
              <a:t>17</a:t>
            </a:fld>
            <a:endParaRPr lang="en-US" altLang="zh-CN" sz="80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8502424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CCF4E0CA-3B41-4BD8-8677-708009649F20}" type="slidenum">
              <a:rPr lang="zh-CN" altLang="en-US" sz="800"/>
              <a:pPr algn="r">
                <a:lnSpc>
                  <a:spcPct val="100000"/>
                </a:lnSpc>
              </a:pPr>
              <a:t>18</a:t>
            </a:fld>
            <a:endParaRPr lang="en-US" altLang="zh-CN" sz="80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4038297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98A5C75F-1A6F-4889-B4BD-D89AF1D0107B}" type="slidenum">
              <a:rPr lang="zh-CN" altLang="en-US" sz="800"/>
              <a:pPr algn="r">
                <a:lnSpc>
                  <a:spcPct val="100000"/>
                </a:lnSpc>
              </a:pPr>
              <a:t>19</a:t>
            </a:fld>
            <a:endParaRPr lang="en-US" altLang="zh-CN" sz="8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1051010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2F7D66-F0AE-44B4-9171-853758B526E8}" type="slidenum">
              <a:rPr lang="zh-CN" altLang="en-US">
                <a:solidFill>
                  <a:srgbClr val="000000"/>
                </a:solidFill>
              </a:rPr>
              <a:pPr/>
              <a:t>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16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8401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D0A3DACC-F03E-4CB4-A0B7-EDE24583541C}" type="slidenum">
              <a:rPr lang="zh-CN" altLang="en-US" sz="800"/>
              <a:pPr algn="r">
                <a:lnSpc>
                  <a:spcPct val="100000"/>
                </a:lnSpc>
              </a:pPr>
              <a:t>21</a:t>
            </a:fld>
            <a:endParaRPr lang="en-US" altLang="zh-CN" sz="8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40930435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13C473C-0156-44CF-8A59-5AA118A63D9D}" type="slidenum">
              <a:rPr lang="zh-CN" altLang="en-US">
                <a:solidFill>
                  <a:srgbClr val="000000"/>
                </a:solidFill>
              </a:rPr>
              <a:pPr/>
              <a:t>22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136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000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29F9C1-6DA1-477B-BFC0-753C7BEDBE1D}" type="slidenum">
              <a:rPr lang="zh-CN" altLang="en-US">
                <a:solidFill>
                  <a:srgbClr val="000000"/>
                </a:solidFill>
              </a:rPr>
              <a:pPr/>
              <a:t>23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257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7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0232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2F7D66-F0AE-44B4-9171-853758B526E8}" type="slidenum">
              <a:rPr lang="zh-CN" altLang="en-US">
                <a:solidFill>
                  <a:srgbClr val="000000"/>
                </a:solidFill>
              </a:rPr>
              <a:pPr/>
              <a:t>24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16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749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catc.edu.cn/" TargetMode="External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Line 2"/>
          <p:cNvSpPr>
            <a:spLocks noChangeShapeType="1"/>
          </p:cNvSpPr>
          <p:nvPr/>
        </p:nvSpPr>
        <p:spPr bwMode="auto">
          <a:xfrm>
            <a:off x="97536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000054"/>
              </a:buClr>
              <a:buSzPct val="70000"/>
              <a:buFont typeface="Wingdings" panose="05000000000000000000" pitchFamily="2" charset="2"/>
              <a:buNone/>
            </a:pPr>
            <a:endParaRPr lang="zh-CN" altLang="en-US" sz="2400" b="1" smtClean="0">
              <a:solidFill>
                <a:srgbClr val="000054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21217" y="466725"/>
            <a:ext cx="9042400" cy="2133600"/>
          </a:xfrm>
        </p:spPr>
        <p:txBody>
          <a:bodyPr/>
          <a:lstStyle>
            <a:lvl1pPr algn="r">
              <a:defRPr sz="50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ECECA0CB-3403-4466-995B-8DF8662D85CD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  <p:grpSp>
        <p:nvGrpSpPr>
          <p:cNvPr id="6152" name="Group 8"/>
          <p:cNvGrpSpPr>
            <a:grpSpLocks/>
          </p:cNvGrpSpPr>
          <p:nvPr/>
        </p:nvGrpSpPr>
        <p:grpSpPr bwMode="auto">
          <a:xfrm>
            <a:off x="9990667" y="2992438"/>
            <a:ext cx="1784351" cy="2189162"/>
            <a:chOff x="4704" y="1885"/>
            <a:chExt cx="843" cy="1379"/>
          </a:xfrm>
        </p:grpSpPr>
        <p:sp>
          <p:nvSpPr>
            <p:cNvPr id="6153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54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55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56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57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58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59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0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1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2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3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4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5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6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7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8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9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0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1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2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3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4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5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6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7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8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9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80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81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82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83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</p:grpSp>
      <p:sp>
        <p:nvSpPr>
          <p:cNvPr id="6184" name="Line 40"/>
          <p:cNvSpPr>
            <a:spLocks noChangeShapeType="1"/>
          </p:cNvSpPr>
          <p:nvPr/>
        </p:nvSpPr>
        <p:spPr bwMode="auto">
          <a:xfrm>
            <a:off x="406400" y="2819400"/>
            <a:ext cx="109728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000054"/>
              </a:buClr>
              <a:buSzPct val="70000"/>
              <a:buFont typeface="Wingdings" panose="05000000000000000000" pitchFamily="2" charset="2"/>
              <a:buNone/>
            </a:pPr>
            <a:endParaRPr lang="zh-CN" altLang="en-US" sz="2400" b="1" smtClean="0">
              <a:solidFill>
                <a:srgbClr val="0000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7605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 sz="24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 sz="24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 sz="24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 sz="24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F417F7-DC4D-4FC6-9A4A-A143788C97EF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615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33550" y="169864"/>
            <a:ext cx="10058400" cy="858837"/>
          </a:xfrm>
        </p:spPr>
        <p:txBody>
          <a:bodyPr/>
          <a:lstStyle>
            <a:lvl1pPr algn="ctr">
              <a:defRPr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FFFF66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FFFF66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fld id="{6C0BB67A-27FA-4C67-851A-9DC3FA391F2F}" type="slidenum">
              <a:rPr lang="en-US" altLang="zh-CN" smtClean="0">
                <a:solidFill>
                  <a:srgbClr val="FFFF66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lang="en-US" altLang="zh-CN" smtClean="0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1075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310A4A-FEDF-41D2-BF60-E6112B374BF7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0596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34434" y="981075"/>
            <a:ext cx="5659967" cy="5472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1" y="981075"/>
            <a:ext cx="5659967" cy="5472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926A3C-9A65-4465-B748-5538B9A78C93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82319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AE3A43-2650-4DAD-A263-DE8EBD946AC1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3552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CE085D-FDF0-4913-894C-E6D3A82B6E59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10217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837768-19DA-411A-9793-5B5B9B3B817E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3748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02B331-6AF9-48FA-9C2E-F0AE2EB47695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6223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C7D681-DB39-4082-899A-F93CAFB7A110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37851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F68B8E-8429-4779-9666-C8F651629F7C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4089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76785" y="122238"/>
            <a:ext cx="2880783" cy="63309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34434" y="122238"/>
            <a:ext cx="8439151" cy="63309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CF449B-A966-495A-B607-28E85774EB35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376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9"/>
            <a:ext cx="10058400" cy="8588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34434" y="981076"/>
            <a:ext cx="11523133" cy="26590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34434" y="3792538"/>
            <a:ext cx="11523133" cy="26606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453188"/>
            <a:ext cx="2844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453188"/>
            <a:ext cx="3860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203267" y="6489701"/>
            <a:ext cx="2844800" cy="252413"/>
          </a:xfrm>
        </p:spPr>
        <p:txBody>
          <a:bodyPr/>
          <a:lstStyle>
            <a:lvl1pPr>
              <a:defRPr/>
            </a:lvl1pPr>
          </a:lstStyle>
          <a:p>
            <a:fld id="{8E431CDB-2883-498D-A682-DB6A869F556A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059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9"/>
            <a:ext cx="10058400" cy="8588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34434" y="981075"/>
            <a:ext cx="5659967" cy="5472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1" y="981076"/>
            <a:ext cx="5659967" cy="26590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1" y="3792538"/>
            <a:ext cx="5659967" cy="26606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09600" y="6453188"/>
            <a:ext cx="2844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165600" y="6453188"/>
            <a:ext cx="3860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9203267" y="6489701"/>
            <a:ext cx="2844800" cy="252413"/>
          </a:xfrm>
        </p:spPr>
        <p:txBody>
          <a:bodyPr/>
          <a:lstStyle>
            <a:lvl1pPr>
              <a:defRPr/>
            </a:lvl1pPr>
          </a:lstStyle>
          <a:p>
            <a:fld id="{A268E265-8EE9-496D-BD35-3811849A603C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0327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9"/>
            <a:ext cx="10058400" cy="8588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34434" y="981075"/>
            <a:ext cx="5659967" cy="5472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97601" y="981075"/>
            <a:ext cx="5659967" cy="5472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453188"/>
            <a:ext cx="2844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453188"/>
            <a:ext cx="3860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203267" y="6489701"/>
            <a:ext cx="2844800" cy="252413"/>
          </a:xfrm>
        </p:spPr>
        <p:txBody>
          <a:bodyPr/>
          <a:lstStyle>
            <a:lvl1pPr>
              <a:defRPr/>
            </a:lvl1pPr>
          </a:lstStyle>
          <a:p>
            <a:fld id="{0648895C-B952-4267-AF29-20AB1E08D80B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6542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9"/>
            <a:ext cx="10058400" cy="8588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34434" y="981075"/>
            <a:ext cx="5659967" cy="5472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1" y="981075"/>
            <a:ext cx="5659967" cy="5472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453188"/>
            <a:ext cx="2844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453188"/>
            <a:ext cx="3860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203267" y="6489701"/>
            <a:ext cx="2844800" cy="252413"/>
          </a:xfrm>
        </p:spPr>
        <p:txBody>
          <a:bodyPr/>
          <a:lstStyle>
            <a:lvl1pPr>
              <a:defRPr/>
            </a:lvl1pPr>
          </a:lstStyle>
          <a:p>
            <a:fld id="{C63F3E33-8CFD-4753-9383-87EAA3B93554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7064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9"/>
            <a:ext cx="10058400" cy="8588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34434" y="981076"/>
            <a:ext cx="11523133" cy="26590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34434" y="3792538"/>
            <a:ext cx="11523133" cy="26606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453188"/>
            <a:ext cx="2844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453188"/>
            <a:ext cx="3860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203267" y="6489701"/>
            <a:ext cx="2844800" cy="252413"/>
          </a:xfrm>
        </p:spPr>
        <p:txBody>
          <a:bodyPr/>
          <a:lstStyle>
            <a:lvl1pPr>
              <a:defRPr/>
            </a:lvl1pPr>
          </a:lstStyle>
          <a:p>
            <a:fld id="{59CB732B-B811-43FF-AE6F-7861E5DFCD38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8838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01D3EC-6C0A-4B75-B9B1-B8470296CBC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4646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08E3AB-722A-4AEA-A937-2E08357C51E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006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279BAD-A866-4A16-8F4C-85F87023AB3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0534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AB781C-6227-43DA-92D8-561D200F7F6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1234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60B88B-A646-4A8F-B6A0-76BA405E215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6079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9ECE20-8548-4556-AF6B-4FBBEC13A2E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0657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BE1699-C1C9-4481-B980-35A70BADA65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1095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C9DB47-0FF2-450E-BE52-8874B15CEDA8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5889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0934E9-6569-44DA-8526-9D879588D8E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56440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AD7049-B63C-4907-AD62-042A86EA7DB5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1351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CB55F8-9B30-4017-98B7-3BB8572DDC3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2652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01D3EC-6C0A-4B75-B9B1-B8470296CBC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10350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08E3AB-722A-4AEA-A937-2E08357C51E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1364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279BAD-A866-4A16-8F4C-85F87023AB3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53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AB781C-6227-43DA-92D8-561D200F7F6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8640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60B88B-A646-4A8F-B6A0-76BA405E215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1894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9ECE20-8548-4556-AF6B-4FBBEC13A2E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4579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BE1699-C1C9-4481-B980-35A70BADA65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5108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C9DB47-0FF2-450E-BE52-8874B15CEDA8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70760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0934E9-6569-44DA-8526-9D879588D8E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4350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AD7049-B63C-4907-AD62-042A86EA7DB5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4165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CB55F8-9B30-4017-98B7-3BB8572DDC3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55190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B8741C-2A94-4BA4-84F0-A9D0AA864BB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1427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45583E-B6BA-4465-B27F-29966067464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4792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111126-AA2D-4C0C-9D7D-7A55AAB5A180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62709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F51426-9369-43AC-9154-E44311111744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42492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584C02-567E-413F-9075-6AC68F1CACDB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42506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92D539-2572-4A46-A56A-FD2CF5EC81C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36560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38737E-8065-49D4-96D4-E45928EA0EC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8720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50A346-57F6-4326-A424-88D184A05C9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47114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F3722F-A34E-4929-807C-DCE44AD8D0F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6637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ABB5B9-0CE0-4DE4-8E59-4A96B432D02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46299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37651" y="1"/>
            <a:ext cx="2842683" cy="612616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"/>
            <a:ext cx="8324851" cy="612616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F51D1E-BE3D-4E4C-9185-726F0697648B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27133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8CC4B3-103C-4FA1-A68D-1FB9F075AFF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04372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27E1B7-39E0-4F97-9653-0E370A7EDDE4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3727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73498B-4C8F-4E2A-A190-241E72E75ED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55287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ECF9A5-B2B9-432B-BDA7-0C7480E22055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37888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A1F89A-F9F3-4709-9C8E-664833A3BDF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32817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7A4993-FAAD-4E7A-8C63-D56FAAF76266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90713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49CA8-A1E5-411D-84A0-7AECECD9921E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90891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B5B94E-C47E-48F1-883F-2BEE49F2600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3509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6DBB2C-CE1C-4A39-BD38-0AC96A0FE49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27235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BADA-B8BC-4B76-87B9-686904981D9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21533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37651" y="1"/>
            <a:ext cx="2842683" cy="61261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"/>
            <a:ext cx="8324851" cy="61261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07B075-A0E9-4B83-9CBE-93E9D4C9553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64408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298" name="Rectangle 2"/>
          <p:cNvSpPr>
            <a:spLocks noChangeArrowheads="1"/>
          </p:cNvSpPr>
          <p:nvPr/>
        </p:nvSpPr>
        <p:spPr bwMode="auto">
          <a:xfrm rot="16200000">
            <a:off x="4724400" y="-3094037"/>
            <a:ext cx="2743200" cy="12192000"/>
          </a:xfrm>
          <a:prstGeom prst="rect">
            <a:avLst/>
          </a:prstGeom>
          <a:solidFill>
            <a:srgbClr val="015F8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B2B2B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3025" tIns="36512" rIns="73025" bIns="36512" anchor="ctr"/>
          <a:lstStyle/>
          <a:p>
            <a:pPr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endParaRPr lang="zh-CN" altLang="en-US" sz="2400" i="1" smtClean="0">
              <a:solidFill>
                <a:srgbClr val="000000"/>
              </a:solidFill>
            </a:endParaRPr>
          </a:p>
        </p:txBody>
      </p:sp>
      <p:sp>
        <p:nvSpPr>
          <p:cNvPr id="1335299" name="Rectangle 3"/>
          <p:cNvSpPr>
            <a:spLocks noChangeArrowheads="1"/>
          </p:cNvSpPr>
          <p:nvPr/>
        </p:nvSpPr>
        <p:spPr bwMode="auto">
          <a:xfrm>
            <a:off x="3898900" y="6615453"/>
            <a:ext cx="1345662" cy="206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b" anchorCtr="1">
            <a:spAutoFit/>
          </a:bodyPr>
          <a:lstStyle>
            <a:lvl1pPr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06400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14388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22375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30363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zh-CN" altLang="en-US" sz="800" smtClean="0">
                <a:solidFill>
                  <a:srgbClr val="0183B7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思科网络技术学院理事会</a:t>
            </a:r>
            <a:r>
              <a:rPr lang="en-US" altLang="zh-CN" sz="800" smtClean="0">
                <a:solidFill>
                  <a:srgbClr val="0183B7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.</a:t>
            </a:r>
          </a:p>
        </p:txBody>
      </p:sp>
      <p:sp>
        <p:nvSpPr>
          <p:cNvPr id="1335300" name="Rectangle 4"/>
          <p:cNvSpPr>
            <a:spLocks noChangeArrowheads="1"/>
          </p:cNvSpPr>
          <p:nvPr/>
        </p:nvSpPr>
        <p:spPr bwMode="auto">
          <a:xfrm>
            <a:off x="6102135" y="6615453"/>
            <a:ext cx="1204598" cy="206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b">
            <a:spAutoFit/>
          </a:bodyPr>
          <a:lstStyle>
            <a:lvl1pPr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06400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14388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22375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30363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fontAlgn="base" hangingPunct="0">
              <a:spcAft>
                <a:spcPct val="0"/>
              </a:spcAft>
            </a:pPr>
            <a:r>
              <a:rPr lang="en-US" altLang="zh-CN" sz="800" smtClean="0">
                <a:solidFill>
                  <a:srgbClr val="0183B7"/>
                </a:solidFill>
                <a:ea typeface="宋体" panose="02010600030101010101" pitchFamily="2" charset="-122"/>
                <a:hlinkClick r:id="rId2"/>
              </a:rPr>
              <a:t>http://www.catc.edu.cn</a:t>
            </a:r>
            <a:endParaRPr lang="en-US" altLang="zh-CN" sz="800" smtClean="0">
              <a:solidFill>
                <a:srgbClr val="0183B7"/>
              </a:solidFill>
              <a:ea typeface="宋体" panose="02010600030101010101" pitchFamily="2" charset="-122"/>
            </a:endParaRPr>
          </a:p>
        </p:txBody>
      </p:sp>
      <p:sp>
        <p:nvSpPr>
          <p:cNvPr id="1335301" name="Rectangle 5"/>
          <p:cNvSpPr>
            <a:spLocks noChangeArrowheads="1"/>
          </p:cNvSpPr>
          <p:nvPr/>
        </p:nvSpPr>
        <p:spPr bwMode="auto">
          <a:xfrm>
            <a:off x="11566372" y="6624363"/>
            <a:ext cx="322946" cy="236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b">
            <a:spAutoFit/>
          </a:bodyPr>
          <a:lstStyle>
            <a:lvl1pPr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06400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14388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22375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30363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fontAlgn="base" hangingPunct="0">
              <a:spcAft>
                <a:spcPct val="0"/>
              </a:spcAft>
            </a:pPr>
            <a:fld id="{3009CFF4-D4D0-413F-912F-76BF385B1D9F}" type="slidenum">
              <a:rPr lang="zh-CN" altLang="en-US" sz="1000" smtClean="0">
                <a:solidFill>
                  <a:srgbClr val="D3D3D3"/>
                </a:solidFill>
                <a:ea typeface="宋体" panose="02010600030101010101" pitchFamily="2" charset="-122"/>
              </a:rPr>
              <a:pPr algn="r" eaLnBrk="0" fontAlgn="base" hangingPunct="0">
                <a:spcAft>
                  <a:spcPct val="0"/>
                </a:spcAft>
              </a:pPr>
              <a:t>‹#›</a:t>
            </a:fld>
            <a:endParaRPr lang="en-US" altLang="zh-CN" sz="1000" smtClean="0">
              <a:solidFill>
                <a:srgbClr val="D3D3D3"/>
              </a:solidFill>
              <a:ea typeface="宋体" panose="02010600030101010101" pitchFamily="2" charset="-122"/>
            </a:endParaRPr>
          </a:p>
        </p:txBody>
      </p:sp>
      <p:grpSp>
        <p:nvGrpSpPr>
          <p:cNvPr id="1335302" name="Group 6"/>
          <p:cNvGrpSpPr>
            <a:grpSpLocks/>
          </p:cNvGrpSpPr>
          <p:nvPr/>
        </p:nvGrpSpPr>
        <p:grpSpPr bwMode="auto">
          <a:xfrm>
            <a:off x="812800" y="525464"/>
            <a:ext cx="1930400" cy="769937"/>
            <a:chOff x="3272" y="1316"/>
            <a:chExt cx="1889" cy="1002"/>
          </a:xfrm>
        </p:grpSpPr>
        <p:sp>
          <p:nvSpPr>
            <p:cNvPr id="1335303" name="AutoShape 7"/>
            <p:cNvSpPr>
              <a:spLocks noChangeAspect="1" noChangeArrowheads="1" noTextEdit="1"/>
            </p:cNvSpPr>
            <p:nvPr/>
          </p:nvSpPr>
          <p:spPr bwMode="auto">
            <a:xfrm>
              <a:off x="3272" y="1316"/>
              <a:ext cx="1889" cy="1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04" name="Rectangle 8"/>
            <p:cNvSpPr>
              <a:spLocks noChangeArrowheads="1"/>
            </p:cNvSpPr>
            <p:nvPr/>
          </p:nvSpPr>
          <p:spPr bwMode="auto">
            <a:xfrm>
              <a:off x="3803" y="1980"/>
              <a:ext cx="86" cy="325"/>
            </a:xfrm>
            <a:prstGeom prst="rect">
              <a:avLst/>
            </a:prstGeom>
            <a:solidFill>
              <a:srgbClr val="B21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05" name="Freeform 9"/>
            <p:cNvSpPr>
              <a:spLocks/>
            </p:cNvSpPr>
            <p:nvPr/>
          </p:nvSpPr>
          <p:spPr bwMode="auto">
            <a:xfrm>
              <a:off x="4304" y="1971"/>
              <a:ext cx="249" cy="343"/>
            </a:xfrm>
            <a:custGeom>
              <a:avLst/>
              <a:gdLst>
                <a:gd name="T0" fmla="*/ 58 w 58"/>
                <a:gd name="T1" fmla="*/ 24 h 80"/>
                <a:gd name="T2" fmla="*/ 42 w 58"/>
                <a:gd name="T3" fmla="*/ 20 h 80"/>
                <a:gd name="T4" fmla="*/ 21 w 58"/>
                <a:gd name="T5" fmla="*/ 40 h 80"/>
                <a:gd name="T6" fmla="*/ 42 w 58"/>
                <a:gd name="T7" fmla="*/ 60 h 80"/>
                <a:gd name="T8" fmla="*/ 58 w 58"/>
                <a:gd name="T9" fmla="*/ 56 h 80"/>
                <a:gd name="T10" fmla="*/ 58 w 58"/>
                <a:gd name="T11" fmla="*/ 77 h 80"/>
                <a:gd name="T12" fmla="*/ 41 w 58"/>
                <a:gd name="T13" fmla="*/ 80 h 80"/>
                <a:gd name="T14" fmla="*/ 0 w 58"/>
                <a:gd name="T15" fmla="*/ 40 h 80"/>
                <a:gd name="T16" fmla="*/ 41 w 58"/>
                <a:gd name="T17" fmla="*/ 0 h 80"/>
                <a:gd name="T18" fmla="*/ 58 w 58"/>
                <a:gd name="T19" fmla="*/ 3 h 80"/>
                <a:gd name="T20" fmla="*/ 58 w 58"/>
                <a:gd name="T21" fmla="*/ 2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8" y="23"/>
                    <a:pt x="51" y="20"/>
                    <a:pt x="42" y="20"/>
                  </a:cubicBezTo>
                  <a:cubicBezTo>
                    <a:pt x="30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1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1" y="0"/>
                  </a:cubicBezTo>
                  <a:cubicBezTo>
                    <a:pt x="50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solidFill>
              <a:srgbClr val="B21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06" name="Freeform 10"/>
            <p:cNvSpPr>
              <a:spLocks/>
            </p:cNvSpPr>
            <p:nvPr/>
          </p:nvSpPr>
          <p:spPr bwMode="auto">
            <a:xfrm>
              <a:off x="3443" y="1971"/>
              <a:ext cx="249" cy="343"/>
            </a:xfrm>
            <a:custGeom>
              <a:avLst/>
              <a:gdLst>
                <a:gd name="T0" fmla="*/ 58 w 58"/>
                <a:gd name="T1" fmla="*/ 24 h 80"/>
                <a:gd name="T2" fmla="*/ 42 w 58"/>
                <a:gd name="T3" fmla="*/ 20 h 80"/>
                <a:gd name="T4" fmla="*/ 21 w 58"/>
                <a:gd name="T5" fmla="*/ 40 h 80"/>
                <a:gd name="T6" fmla="*/ 42 w 58"/>
                <a:gd name="T7" fmla="*/ 60 h 80"/>
                <a:gd name="T8" fmla="*/ 58 w 58"/>
                <a:gd name="T9" fmla="*/ 56 h 80"/>
                <a:gd name="T10" fmla="*/ 58 w 58"/>
                <a:gd name="T11" fmla="*/ 77 h 80"/>
                <a:gd name="T12" fmla="*/ 40 w 58"/>
                <a:gd name="T13" fmla="*/ 80 h 80"/>
                <a:gd name="T14" fmla="*/ 0 w 58"/>
                <a:gd name="T15" fmla="*/ 40 h 80"/>
                <a:gd name="T16" fmla="*/ 40 w 58"/>
                <a:gd name="T17" fmla="*/ 0 h 80"/>
                <a:gd name="T18" fmla="*/ 58 w 58"/>
                <a:gd name="T19" fmla="*/ 3 h 80"/>
                <a:gd name="T20" fmla="*/ 58 w 58"/>
                <a:gd name="T21" fmla="*/ 2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7" y="23"/>
                    <a:pt x="51" y="20"/>
                    <a:pt x="42" y="20"/>
                  </a:cubicBezTo>
                  <a:cubicBezTo>
                    <a:pt x="29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0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0" y="0"/>
                  </a:cubicBezTo>
                  <a:cubicBezTo>
                    <a:pt x="49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solidFill>
              <a:srgbClr val="B21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07" name="Freeform 11"/>
            <p:cNvSpPr>
              <a:spLocks noEditPoints="1"/>
            </p:cNvSpPr>
            <p:nvPr/>
          </p:nvSpPr>
          <p:spPr bwMode="auto">
            <a:xfrm>
              <a:off x="4643" y="1971"/>
              <a:ext cx="342" cy="343"/>
            </a:xfrm>
            <a:custGeom>
              <a:avLst/>
              <a:gdLst>
                <a:gd name="T0" fmla="*/ 80 w 80"/>
                <a:gd name="T1" fmla="*/ 40 h 80"/>
                <a:gd name="T2" fmla="*/ 40 w 80"/>
                <a:gd name="T3" fmla="*/ 80 h 80"/>
                <a:gd name="T4" fmla="*/ 0 w 80"/>
                <a:gd name="T5" fmla="*/ 40 h 80"/>
                <a:gd name="T6" fmla="*/ 40 w 80"/>
                <a:gd name="T7" fmla="*/ 0 h 80"/>
                <a:gd name="T8" fmla="*/ 80 w 80"/>
                <a:gd name="T9" fmla="*/ 40 h 80"/>
                <a:gd name="T10" fmla="*/ 40 w 80"/>
                <a:gd name="T11" fmla="*/ 20 h 80"/>
                <a:gd name="T12" fmla="*/ 20 w 80"/>
                <a:gd name="T13" fmla="*/ 40 h 80"/>
                <a:gd name="T14" fmla="*/ 40 w 80"/>
                <a:gd name="T15" fmla="*/ 60 h 80"/>
                <a:gd name="T16" fmla="*/ 60 w 80"/>
                <a:gd name="T17" fmla="*/ 40 h 80"/>
                <a:gd name="T18" fmla="*/ 40 w 80"/>
                <a:gd name="T19" fmla="*/ 2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cubicBezTo>
                    <a:pt x="80" y="62"/>
                    <a:pt x="64" y="80"/>
                    <a:pt x="40" y="80"/>
                  </a:cubicBezTo>
                  <a:cubicBezTo>
                    <a:pt x="16" y="80"/>
                    <a:pt x="0" y="62"/>
                    <a:pt x="0" y="40"/>
                  </a:cubicBezTo>
                  <a:cubicBezTo>
                    <a:pt x="0" y="18"/>
                    <a:pt x="16" y="0"/>
                    <a:pt x="40" y="0"/>
                  </a:cubicBezTo>
                  <a:cubicBezTo>
                    <a:pt x="64" y="0"/>
                    <a:pt x="80" y="18"/>
                    <a:pt x="80" y="40"/>
                  </a:cubicBezTo>
                  <a:moveTo>
                    <a:pt x="40" y="20"/>
                  </a:moveTo>
                  <a:cubicBezTo>
                    <a:pt x="29" y="20"/>
                    <a:pt x="20" y="29"/>
                    <a:pt x="20" y="40"/>
                  </a:cubicBezTo>
                  <a:cubicBezTo>
                    <a:pt x="20" y="51"/>
                    <a:pt x="29" y="60"/>
                    <a:pt x="40" y="60"/>
                  </a:cubicBezTo>
                  <a:cubicBezTo>
                    <a:pt x="51" y="60"/>
                    <a:pt x="60" y="51"/>
                    <a:pt x="60" y="40"/>
                  </a:cubicBezTo>
                  <a:cubicBezTo>
                    <a:pt x="60" y="29"/>
                    <a:pt x="51" y="20"/>
                    <a:pt x="40" y="20"/>
                  </a:cubicBezTo>
                </a:path>
              </a:pathLst>
            </a:custGeom>
            <a:solidFill>
              <a:srgbClr val="B21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08" name="Freeform 12"/>
            <p:cNvSpPr>
              <a:spLocks/>
            </p:cNvSpPr>
            <p:nvPr/>
          </p:nvSpPr>
          <p:spPr bwMode="auto">
            <a:xfrm>
              <a:off x="4000" y="1971"/>
              <a:ext cx="223" cy="343"/>
            </a:xfrm>
            <a:custGeom>
              <a:avLst/>
              <a:gdLst>
                <a:gd name="T0" fmla="*/ 47 w 52"/>
                <a:gd name="T1" fmla="*/ 19 h 80"/>
                <a:gd name="T2" fmla="*/ 32 w 52"/>
                <a:gd name="T3" fmla="*/ 17 h 80"/>
                <a:gd name="T4" fmla="*/ 20 w 52"/>
                <a:gd name="T5" fmla="*/ 23 h 80"/>
                <a:gd name="T6" fmla="*/ 29 w 52"/>
                <a:gd name="T7" fmla="*/ 30 h 80"/>
                <a:gd name="T8" fmla="*/ 34 w 52"/>
                <a:gd name="T9" fmla="*/ 32 h 80"/>
                <a:gd name="T10" fmla="*/ 52 w 52"/>
                <a:gd name="T11" fmla="*/ 54 h 80"/>
                <a:gd name="T12" fmla="*/ 21 w 52"/>
                <a:gd name="T13" fmla="*/ 80 h 80"/>
                <a:gd name="T14" fmla="*/ 0 w 52"/>
                <a:gd name="T15" fmla="*/ 77 h 80"/>
                <a:gd name="T16" fmla="*/ 0 w 52"/>
                <a:gd name="T17" fmla="*/ 60 h 80"/>
                <a:gd name="T18" fmla="*/ 18 w 52"/>
                <a:gd name="T19" fmla="*/ 63 h 80"/>
                <a:gd name="T20" fmla="*/ 32 w 52"/>
                <a:gd name="T21" fmla="*/ 56 h 80"/>
                <a:gd name="T22" fmla="*/ 23 w 52"/>
                <a:gd name="T23" fmla="*/ 48 h 80"/>
                <a:gd name="T24" fmla="*/ 19 w 52"/>
                <a:gd name="T25" fmla="*/ 47 h 80"/>
                <a:gd name="T26" fmla="*/ 0 w 52"/>
                <a:gd name="T27" fmla="*/ 24 h 80"/>
                <a:gd name="T28" fmla="*/ 28 w 52"/>
                <a:gd name="T29" fmla="*/ 0 h 80"/>
                <a:gd name="T30" fmla="*/ 47 w 52"/>
                <a:gd name="T31" fmla="*/ 3 h 80"/>
                <a:gd name="T32" fmla="*/ 47 w 52"/>
                <a:gd name="T3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2" h="80">
                  <a:moveTo>
                    <a:pt x="47" y="19"/>
                  </a:moveTo>
                  <a:cubicBezTo>
                    <a:pt x="47" y="19"/>
                    <a:pt x="38" y="17"/>
                    <a:pt x="32" y="17"/>
                  </a:cubicBezTo>
                  <a:cubicBezTo>
                    <a:pt x="24" y="17"/>
                    <a:pt x="20" y="19"/>
                    <a:pt x="20" y="23"/>
                  </a:cubicBezTo>
                  <a:cubicBezTo>
                    <a:pt x="20" y="28"/>
                    <a:pt x="26" y="29"/>
                    <a:pt x="29" y="30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47" y="36"/>
                    <a:pt x="52" y="45"/>
                    <a:pt x="52" y="54"/>
                  </a:cubicBezTo>
                  <a:cubicBezTo>
                    <a:pt x="52" y="73"/>
                    <a:pt x="35" y="80"/>
                    <a:pt x="21" y="80"/>
                  </a:cubicBezTo>
                  <a:cubicBezTo>
                    <a:pt x="10" y="80"/>
                    <a:pt x="1" y="78"/>
                    <a:pt x="0" y="7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" y="60"/>
                    <a:pt x="10" y="63"/>
                    <a:pt x="18" y="63"/>
                  </a:cubicBezTo>
                  <a:cubicBezTo>
                    <a:pt x="28" y="63"/>
                    <a:pt x="32" y="60"/>
                    <a:pt x="32" y="56"/>
                  </a:cubicBezTo>
                  <a:cubicBezTo>
                    <a:pt x="32" y="52"/>
                    <a:pt x="28" y="49"/>
                    <a:pt x="23" y="48"/>
                  </a:cubicBezTo>
                  <a:cubicBezTo>
                    <a:pt x="22" y="48"/>
                    <a:pt x="21" y="47"/>
                    <a:pt x="19" y="47"/>
                  </a:cubicBezTo>
                  <a:cubicBezTo>
                    <a:pt x="9" y="43"/>
                    <a:pt x="0" y="37"/>
                    <a:pt x="0" y="24"/>
                  </a:cubicBezTo>
                  <a:cubicBezTo>
                    <a:pt x="0" y="10"/>
                    <a:pt x="10" y="0"/>
                    <a:pt x="28" y="0"/>
                  </a:cubicBezTo>
                  <a:cubicBezTo>
                    <a:pt x="37" y="0"/>
                    <a:pt x="46" y="3"/>
                    <a:pt x="47" y="3"/>
                  </a:cubicBezTo>
                  <a:lnTo>
                    <a:pt x="47" y="19"/>
                  </a:lnTo>
                  <a:close/>
                </a:path>
              </a:pathLst>
            </a:custGeom>
            <a:solidFill>
              <a:srgbClr val="B21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09" name="Freeform 13"/>
            <p:cNvSpPr>
              <a:spLocks/>
            </p:cNvSpPr>
            <p:nvPr/>
          </p:nvSpPr>
          <p:spPr bwMode="auto">
            <a:xfrm>
              <a:off x="3272" y="1586"/>
              <a:ext cx="81" cy="167"/>
            </a:xfrm>
            <a:custGeom>
              <a:avLst/>
              <a:gdLst>
                <a:gd name="T0" fmla="*/ 19 w 19"/>
                <a:gd name="T1" fmla="*/ 10 h 39"/>
                <a:gd name="T2" fmla="*/ 10 w 19"/>
                <a:gd name="T3" fmla="*/ 0 h 39"/>
                <a:gd name="T4" fmla="*/ 0 w 19"/>
                <a:gd name="T5" fmla="*/ 10 h 39"/>
                <a:gd name="T6" fmla="*/ 0 w 19"/>
                <a:gd name="T7" fmla="*/ 30 h 39"/>
                <a:gd name="T8" fmla="*/ 10 w 19"/>
                <a:gd name="T9" fmla="*/ 39 h 39"/>
                <a:gd name="T10" fmla="*/ 19 w 19"/>
                <a:gd name="T11" fmla="*/ 30 h 39"/>
                <a:gd name="T12" fmla="*/ 19 w 19"/>
                <a:gd name="T13" fmla="*/ 1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10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0" name="Freeform 14"/>
            <p:cNvSpPr>
              <a:spLocks/>
            </p:cNvSpPr>
            <p:nvPr/>
          </p:nvSpPr>
          <p:spPr bwMode="auto">
            <a:xfrm>
              <a:off x="3499" y="1474"/>
              <a:ext cx="81" cy="279"/>
            </a:xfrm>
            <a:custGeom>
              <a:avLst/>
              <a:gdLst>
                <a:gd name="T0" fmla="*/ 19 w 19"/>
                <a:gd name="T1" fmla="*/ 9 h 65"/>
                <a:gd name="T2" fmla="*/ 9 w 19"/>
                <a:gd name="T3" fmla="*/ 0 h 65"/>
                <a:gd name="T4" fmla="*/ 0 w 19"/>
                <a:gd name="T5" fmla="*/ 9 h 65"/>
                <a:gd name="T6" fmla="*/ 0 w 19"/>
                <a:gd name="T7" fmla="*/ 56 h 65"/>
                <a:gd name="T8" fmla="*/ 9 w 19"/>
                <a:gd name="T9" fmla="*/ 65 h 65"/>
                <a:gd name="T10" fmla="*/ 19 w 19"/>
                <a:gd name="T11" fmla="*/ 56 h 65"/>
                <a:gd name="T12" fmla="*/ 19 w 19"/>
                <a:gd name="T13" fmla="*/ 9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4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4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1" name="Freeform 15"/>
            <p:cNvSpPr>
              <a:spLocks/>
            </p:cNvSpPr>
            <p:nvPr/>
          </p:nvSpPr>
          <p:spPr bwMode="auto">
            <a:xfrm>
              <a:off x="3722" y="1320"/>
              <a:ext cx="81" cy="514"/>
            </a:xfrm>
            <a:custGeom>
              <a:avLst/>
              <a:gdLst>
                <a:gd name="T0" fmla="*/ 19 w 19"/>
                <a:gd name="T1" fmla="*/ 9 h 120"/>
                <a:gd name="T2" fmla="*/ 10 w 19"/>
                <a:gd name="T3" fmla="*/ 0 h 120"/>
                <a:gd name="T4" fmla="*/ 0 w 19"/>
                <a:gd name="T5" fmla="*/ 9 h 120"/>
                <a:gd name="T6" fmla="*/ 0 w 19"/>
                <a:gd name="T7" fmla="*/ 111 h 120"/>
                <a:gd name="T8" fmla="*/ 10 w 19"/>
                <a:gd name="T9" fmla="*/ 120 h 120"/>
                <a:gd name="T10" fmla="*/ 19 w 19"/>
                <a:gd name="T11" fmla="*/ 111 h 120"/>
                <a:gd name="T12" fmla="*/ 19 w 19"/>
                <a:gd name="T13" fmla="*/ 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5" y="120"/>
                    <a:pt x="10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2" name="Freeform 16"/>
            <p:cNvSpPr>
              <a:spLocks/>
            </p:cNvSpPr>
            <p:nvPr/>
          </p:nvSpPr>
          <p:spPr bwMode="auto">
            <a:xfrm>
              <a:off x="3949" y="1474"/>
              <a:ext cx="81" cy="279"/>
            </a:xfrm>
            <a:custGeom>
              <a:avLst/>
              <a:gdLst>
                <a:gd name="T0" fmla="*/ 19 w 19"/>
                <a:gd name="T1" fmla="*/ 9 h 65"/>
                <a:gd name="T2" fmla="*/ 9 w 19"/>
                <a:gd name="T3" fmla="*/ 0 h 65"/>
                <a:gd name="T4" fmla="*/ 0 w 19"/>
                <a:gd name="T5" fmla="*/ 9 h 65"/>
                <a:gd name="T6" fmla="*/ 0 w 19"/>
                <a:gd name="T7" fmla="*/ 56 h 65"/>
                <a:gd name="T8" fmla="*/ 9 w 19"/>
                <a:gd name="T9" fmla="*/ 65 h 65"/>
                <a:gd name="T10" fmla="*/ 19 w 19"/>
                <a:gd name="T11" fmla="*/ 56 h 65"/>
                <a:gd name="T12" fmla="*/ 19 w 19"/>
                <a:gd name="T13" fmla="*/ 9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3" name="Freeform 17"/>
            <p:cNvSpPr>
              <a:spLocks/>
            </p:cNvSpPr>
            <p:nvPr/>
          </p:nvSpPr>
          <p:spPr bwMode="auto">
            <a:xfrm>
              <a:off x="4171" y="1586"/>
              <a:ext cx="86" cy="167"/>
            </a:xfrm>
            <a:custGeom>
              <a:avLst/>
              <a:gdLst>
                <a:gd name="T0" fmla="*/ 20 w 20"/>
                <a:gd name="T1" fmla="*/ 10 h 39"/>
                <a:gd name="T2" fmla="*/ 10 w 20"/>
                <a:gd name="T3" fmla="*/ 0 h 39"/>
                <a:gd name="T4" fmla="*/ 0 w 20"/>
                <a:gd name="T5" fmla="*/ 10 h 39"/>
                <a:gd name="T6" fmla="*/ 0 w 20"/>
                <a:gd name="T7" fmla="*/ 30 h 39"/>
                <a:gd name="T8" fmla="*/ 10 w 20"/>
                <a:gd name="T9" fmla="*/ 39 h 39"/>
                <a:gd name="T10" fmla="*/ 20 w 20"/>
                <a:gd name="T11" fmla="*/ 30 h 39"/>
                <a:gd name="T12" fmla="*/ 20 w 20"/>
                <a:gd name="T13" fmla="*/ 1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39">
                  <a:moveTo>
                    <a:pt x="20" y="10"/>
                  </a:moveTo>
                  <a:cubicBezTo>
                    <a:pt x="20" y="4"/>
                    <a:pt x="15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5" y="39"/>
                    <a:pt x="10" y="39"/>
                  </a:cubicBezTo>
                  <a:cubicBezTo>
                    <a:pt x="15" y="39"/>
                    <a:pt x="20" y="35"/>
                    <a:pt x="20" y="30"/>
                  </a:cubicBezTo>
                  <a:lnTo>
                    <a:pt x="20" y="10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4" name="Freeform 18"/>
            <p:cNvSpPr>
              <a:spLocks/>
            </p:cNvSpPr>
            <p:nvPr/>
          </p:nvSpPr>
          <p:spPr bwMode="auto">
            <a:xfrm>
              <a:off x="4398" y="1474"/>
              <a:ext cx="82" cy="279"/>
            </a:xfrm>
            <a:custGeom>
              <a:avLst/>
              <a:gdLst>
                <a:gd name="T0" fmla="*/ 19 w 19"/>
                <a:gd name="T1" fmla="*/ 9 h 65"/>
                <a:gd name="T2" fmla="*/ 10 w 19"/>
                <a:gd name="T3" fmla="*/ 0 h 65"/>
                <a:gd name="T4" fmla="*/ 0 w 19"/>
                <a:gd name="T5" fmla="*/ 9 h 65"/>
                <a:gd name="T6" fmla="*/ 0 w 19"/>
                <a:gd name="T7" fmla="*/ 56 h 65"/>
                <a:gd name="T8" fmla="*/ 10 w 19"/>
                <a:gd name="T9" fmla="*/ 65 h 65"/>
                <a:gd name="T10" fmla="*/ 19 w 19"/>
                <a:gd name="T11" fmla="*/ 56 h 65"/>
                <a:gd name="T12" fmla="*/ 19 w 19"/>
                <a:gd name="T13" fmla="*/ 9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5" name="Freeform 19"/>
            <p:cNvSpPr>
              <a:spLocks/>
            </p:cNvSpPr>
            <p:nvPr/>
          </p:nvSpPr>
          <p:spPr bwMode="auto">
            <a:xfrm>
              <a:off x="4625" y="1320"/>
              <a:ext cx="82" cy="514"/>
            </a:xfrm>
            <a:custGeom>
              <a:avLst/>
              <a:gdLst>
                <a:gd name="T0" fmla="*/ 19 w 19"/>
                <a:gd name="T1" fmla="*/ 9 h 120"/>
                <a:gd name="T2" fmla="*/ 9 w 19"/>
                <a:gd name="T3" fmla="*/ 0 h 120"/>
                <a:gd name="T4" fmla="*/ 0 w 19"/>
                <a:gd name="T5" fmla="*/ 9 h 120"/>
                <a:gd name="T6" fmla="*/ 0 w 19"/>
                <a:gd name="T7" fmla="*/ 111 h 120"/>
                <a:gd name="T8" fmla="*/ 9 w 19"/>
                <a:gd name="T9" fmla="*/ 120 h 120"/>
                <a:gd name="T10" fmla="*/ 19 w 19"/>
                <a:gd name="T11" fmla="*/ 111 h 120"/>
                <a:gd name="T12" fmla="*/ 19 w 19"/>
                <a:gd name="T13" fmla="*/ 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4" y="120"/>
                    <a:pt x="9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6" name="Freeform 20"/>
            <p:cNvSpPr>
              <a:spLocks/>
            </p:cNvSpPr>
            <p:nvPr/>
          </p:nvSpPr>
          <p:spPr bwMode="auto">
            <a:xfrm>
              <a:off x="4848" y="1474"/>
              <a:ext cx="82" cy="279"/>
            </a:xfrm>
            <a:custGeom>
              <a:avLst/>
              <a:gdLst>
                <a:gd name="T0" fmla="*/ 19 w 19"/>
                <a:gd name="T1" fmla="*/ 9 h 65"/>
                <a:gd name="T2" fmla="*/ 10 w 19"/>
                <a:gd name="T3" fmla="*/ 0 h 65"/>
                <a:gd name="T4" fmla="*/ 0 w 19"/>
                <a:gd name="T5" fmla="*/ 9 h 65"/>
                <a:gd name="T6" fmla="*/ 0 w 19"/>
                <a:gd name="T7" fmla="*/ 56 h 65"/>
                <a:gd name="T8" fmla="*/ 10 w 19"/>
                <a:gd name="T9" fmla="*/ 65 h 65"/>
                <a:gd name="T10" fmla="*/ 19 w 19"/>
                <a:gd name="T11" fmla="*/ 56 h 65"/>
                <a:gd name="T12" fmla="*/ 19 w 19"/>
                <a:gd name="T13" fmla="*/ 9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5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7" name="Freeform 21"/>
            <p:cNvSpPr>
              <a:spLocks/>
            </p:cNvSpPr>
            <p:nvPr/>
          </p:nvSpPr>
          <p:spPr bwMode="auto">
            <a:xfrm>
              <a:off x="5075" y="1586"/>
              <a:ext cx="82" cy="167"/>
            </a:xfrm>
            <a:custGeom>
              <a:avLst/>
              <a:gdLst>
                <a:gd name="T0" fmla="*/ 19 w 19"/>
                <a:gd name="T1" fmla="*/ 10 h 39"/>
                <a:gd name="T2" fmla="*/ 9 w 19"/>
                <a:gd name="T3" fmla="*/ 0 h 39"/>
                <a:gd name="T4" fmla="*/ 0 w 19"/>
                <a:gd name="T5" fmla="*/ 10 h 39"/>
                <a:gd name="T6" fmla="*/ 0 w 19"/>
                <a:gd name="T7" fmla="*/ 30 h 39"/>
                <a:gd name="T8" fmla="*/ 9 w 19"/>
                <a:gd name="T9" fmla="*/ 39 h 39"/>
                <a:gd name="T10" fmla="*/ 19 w 19"/>
                <a:gd name="T11" fmla="*/ 30 h 39"/>
                <a:gd name="T12" fmla="*/ 19 w 19"/>
                <a:gd name="T13" fmla="*/ 1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1335318" name="Rectangle 22"/>
          <p:cNvSpPr>
            <a:spLocks noGrp="1" noChangeArrowheads="1"/>
          </p:cNvSpPr>
          <p:nvPr>
            <p:ph type="ctrTitle"/>
          </p:nvPr>
        </p:nvSpPr>
        <p:spPr bwMode="white">
          <a:xfrm>
            <a:off x="867834" y="2676526"/>
            <a:ext cx="5024967" cy="830263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</a:p>
        </p:txBody>
      </p:sp>
      <p:sp>
        <p:nvSpPr>
          <p:cNvPr id="1335319" name="Rectangle 23"/>
          <p:cNvSpPr>
            <a:spLocks noGrp="1" noChangeArrowheads="1"/>
          </p:cNvSpPr>
          <p:nvPr>
            <p:ph type="subTitle" idx="1"/>
          </p:nvPr>
        </p:nvSpPr>
        <p:spPr>
          <a:xfrm>
            <a:off x="867833" y="4733925"/>
            <a:ext cx="9254067" cy="4191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</a:p>
        </p:txBody>
      </p:sp>
      <p:pic>
        <p:nvPicPr>
          <p:cNvPr id="1335320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4734" y="1658938"/>
            <a:ext cx="3075517" cy="2665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53355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32882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2935968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74185" y="1781176"/>
            <a:ext cx="5192183" cy="35718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69567" y="1781176"/>
            <a:ext cx="5192184" cy="35718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22991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01291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51283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532446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9438048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4672039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42682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021234" y="457200"/>
            <a:ext cx="2713567" cy="48958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74185" y="457200"/>
            <a:ext cx="7943849" cy="48958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235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hyperlink" Target="http://www.catc.edu.cn/" TargetMode="Externa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2"/>
          <p:cNvSpPr>
            <a:spLocks noChangeShapeType="1"/>
          </p:cNvSpPr>
          <p:nvPr/>
        </p:nvSpPr>
        <p:spPr bwMode="auto">
          <a:xfrm>
            <a:off x="106172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000054"/>
              </a:buClr>
              <a:buSzPct val="70000"/>
              <a:buFont typeface="Wingdings" panose="05000000000000000000" pitchFamily="2" charset="2"/>
              <a:buNone/>
            </a:pPr>
            <a:endParaRPr lang="zh-CN" altLang="en-US" sz="2400" b="1" smtClean="0">
              <a:solidFill>
                <a:srgbClr val="000054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9"/>
            <a:ext cx="100584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4434" y="981075"/>
            <a:ext cx="11523133" cy="5472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453188"/>
            <a:ext cx="2844800" cy="25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0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FFFF66"/>
              </a:solidFill>
            </a:endParaRP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453188"/>
            <a:ext cx="3860800" cy="25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SzTx/>
              <a:buFontTx/>
              <a:buNone/>
              <a:defRPr sz="10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FFFF66"/>
              </a:solidFill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03267" y="6489701"/>
            <a:ext cx="2844800" cy="25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0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fontAlgn="base">
              <a:spcAft>
                <a:spcPct val="0"/>
              </a:spcAft>
            </a:pPr>
            <a:fld id="{6C0BB67A-27FA-4C67-851A-9DC3FA391F2F}" type="slidenum">
              <a:rPr lang="en-US" altLang="zh-CN" smtClean="0">
                <a:solidFill>
                  <a:srgbClr val="FFFF66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lang="en-US" altLang="zh-CN" smtClean="0">
              <a:solidFill>
                <a:srgbClr val="FFFF66"/>
              </a:solidFill>
            </a:endParaRPr>
          </a:p>
        </p:txBody>
      </p:sp>
      <p:grpSp>
        <p:nvGrpSpPr>
          <p:cNvPr id="5128" name="Group 8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5129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0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1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2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3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4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5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6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7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8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9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0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1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2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3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4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5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6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7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8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9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0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1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2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3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4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5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6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7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8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9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</p:grpSp>
      <p:pic>
        <p:nvPicPr>
          <p:cNvPr id="5160" name="Picture 40" descr="ppt_bg"/>
          <p:cNvPicPr>
            <a:picLocks noChangeAspect="1" noChangeArrowheads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6160080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78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3200" b="1" kern="1200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692150" indent="-347663" algn="l" rtl="0" fontAlgn="base">
        <a:spcBef>
          <a:spcPct val="20000"/>
        </a:spcBef>
        <a:spcAft>
          <a:spcPct val="0"/>
        </a:spcAft>
        <a:buClr>
          <a:srgbClr val="FF99FF"/>
        </a:buClr>
        <a:buSzPct val="70000"/>
        <a:buFont typeface="Wingdings" panose="05000000000000000000" pitchFamily="2" charset="2"/>
        <a:buChar char="l"/>
        <a:defRPr sz="28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987425" indent="-293688" algn="l" rtl="0" fontAlgn="base">
        <a:spcBef>
          <a:spcPct val="20000"/>
        </a:spcBef>
        <a:spcAft>
          <a:spcPct val="0"/>
        </a:spcAft>
        <a:buClr>
          <a:srgbClr val="00FF00"/>
        </a:buClr>
        <a:buSzPct val="70000"/>
        <a:buFont typeface="Wingdings" panose="05000000000000000000" pitchFamily="2" charset="2"/>
        <a:buChar char="u"/>
        <a:defRPr sz="24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281113" indent="-2921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4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1598613" indent="-315913" algn="l" rtl="0" fontAlgn="base">
        <a:spcBef>
          <a:spcPct val="20000"/>
        </a:spcBef>
        <a:spcAft>
          <a:spcPct val="0"/>
        </a:spcAft>
        <a:buClr>
          <a:srgbClr val="FFFFFF"/>
        </a:buClr>
        <a:buSzPct val="80000"/>
        <a:buFont typeface="Wingdings" panose="05000000000000000000" pitchFamily="2" charset="2"/>
        <a:buChar char="Ø"/>
        <a:defRPr sz="20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4597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597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kumimoji="1"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4597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SzTx/>
              <a:buFontTx/>
              <a:buNone/>
              <a:defRPr kumimoji="1"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4597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kumimoji="1"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fontAlgn="base">
              <a:spcAft>
                <a:spcPct val="0"/>
              </a:spcAft>
            </a:pPr>
            <a:fld id="{3C6D6F0C-2B97-467D-A0BD-E656AC1471E3}" type="slidenum">
              <a:rPr lang="en-US" altLang="zh-CN" smtClean="0">
                <a:solidFill>
                  <a:srgbClr val="000000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6068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4597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597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kumimoji="1"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4597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SzTx/>
              <a:buFontTx/>
              <a:buNone/>
              <a:defRPr kumimoji="1"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4597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kumimoji="1"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fontAlgn="base">
              <a:spcAft>
                <a:spcPct val="0"/>
              </a:spcAft>
            </a:pPr>
            <a:fld id="{3C6D6F0C-2B97-467D-A0BD-E656AC1471E3}" type="slidenum">
              <a:rPr lang="en-US" altLang="zh-CN" smtClean="0">
                <a:solidFill>
                  <a:srgbClr val="000000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399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9266" name="Picture 2" descr="ppt_b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926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503085" y="0"/>
            <a:ext cx="8477249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77926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77926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effectLst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77927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effectLst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77927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ffectLst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33C9A19-84A2-441C-8897-CF7DDD77051C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166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000" b="1" kern="1200">
          <a:solidFill>
            <a:srgbClr val="FFFF0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32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800" b="1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•"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•"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5826" name="Picture 2" descr="ppt_b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458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503085" y="0"/>
            <a:ext cx="8477249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8458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8458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effectLst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458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effectLst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458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ffectLst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FCC9321-D69F-4A64-96AF-E6B7A8F42028}" type="slidenum">
              <a:rPr lang="en-US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198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000" b="1" kern="1200">
          <a:solidFill>
            <a:srgbClr val="FFFF0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32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800" b="1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•"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•"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2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74184" y="457200"/>
            <a:ext cx="10860616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Slide Title</a:t>
            </a:r>
          </a:p>
        </p:txBody>
      </p:sp>
      <p:sp>
        <p:nvSpPr>
          <p:cNvPr id="1334275" name="Rectangle 3"/>
          <p:cNvSpPr>
            <a:spLocks noChangeArrowheads="1"/>
          </p:cNvSpPr>
          <p:nvPr/>
        </p:nvSpPr>
        <p:spPr bwMode="auto">
          <a:xfrm>
            <a:off x="0" y="0"/>
            <a:ext cx="12192000" cy="177800"/>
          </a:xfrm>
          <a:prstGeom prst="rect">
            <a:avLst/>
          </a:prstGeom>
          <a:solidFill>
            <a:srgbClr val="015F8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endParaRPr lang="zh-CN" altLang="en-US" sz="2400" i="1" smtClean="0">
              <a:solidFill>
                <a:srgbClr val="000000"/>
              </a:solidFill>
            </a:endParaRPr>
          </a:p>
        </p:txBody>
      </p:sp>
      <p:sp>
        <p:nvSpPr>
          <p:cNvPr id="1334276" name="Rectangle 4"/>
          <p:cNvSpPr>
            <a:spLocks noChangeArrowheads="1"/>
          </p:cNvSpPr>
          <p:nvPr/>
        </p:nvSpPr>
        <p:spPr bwMode="auto">
          <a:xfrm>
            <a:off x="11566372" y="6624363"/>
            <a:ext cx="322946" cy="236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b">
            <a:spAutoFit/>
          </a:bodyPr>
          <a:lstStyle>
            <a:lvl1pPr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06400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14388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22375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30363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fontAlgn="base" hangingPunct="0">
              <a:spcAft>
                <a:spcPct val="0"/>
              </a:spcAft>
            </a:pPr>
            <a:fld id="{F783EE2E-3158-4F4F-9F3F-119AF15F4FBA}" type="slidenum">
              <a:rPr lang="zh-CN" altLang="en-US" sz="1000" smtClean="0">
                <a:solidFill>
                  <a:srgbClr val="D3D3D3"/>
                </a:solidFill>
                <a:ea typeface="宋体" panose="02010600030101010101" pitchFamily="2" charset="-122"/>
              </a:rPr>
              <a:pPr algn="r" eaLnBrk="0" fontAlgn="base" hangingPunct="0">
                <a:spcAft>
                  <a:spcPct val="0"/>
                </a:spcAft>
              </a:pPr>
              <a:t>‹#›</a:t>
            </a:fld>
            <a:endParaRPr lang="en-US" altLang="zh-CN" sz="1000" smtClean="0">
              <a:solidFill>
                <a:srgbClr val="D3D3D3"/>
              </a:solidFill>
              <a:ea typeface="宋体" panose="02010600030101010101" pitchFamily="2" charset="-122"/>
            </a:endParaRPr>
          </a:p>
        </p:txBody>
      </p:sp>
      <p:sp>
        <p:nvSpPr>
          <p:cNvPr id="133427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874185" y="1781176"/>
            <a:ext cx="10587567" cy="357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0677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Body Text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334279" name="Rectangle 7"/>
          <p:cNvSpPr>
            <a:spLocks noChangeArrowheads="1"/>
          </p:cNvSpPr>
          <p:nvPr/>
        </p:nvSpPr>
        <p:spPr bwMode="auto">
          <a:xfrm>
            <a:off x="3898900" y="6615453"/>
            <a:ext cx="1345662" cy="206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b" anchorCtr="1">
            <a:spAutoFit/>
          </a:bodyPr>
          <a:lstStyle>
            <a:lvl1pPr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06400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14388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22375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30363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zh-CN" altLang="en-US" sz="800" smtClean="0">
                <a:solidFill>
                  <a:srgbClr val="0183B7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思科网络技术学院理事会</a:t>
            </a:r>
            <a:r>
              <a:rPr lang="en-US" altLang="zh-CN" sz="800" smtClean="0">
                <a:solidFill>
                  <a:srgbClr val="0183B7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.</a:t>
            </a:r>
          </a:p>
        </p:txBody>
      </p:sp>
      <p:sp>
        <p:nvSpPr>
          <p:cNvPr id="1334280" name="Rectangle 8"/>
          <p:cNvSpPr>
            <a:spLocks noChangeArrowheads="1"/>
          </p:cNvSpPr>
          <p:nvPr/>
        </p:nvSpPr>
        <p:spPr bwMode="auto">
          <a:xfrm>
            <a:off x="6102135" y="6615453"/>
            <a:ext cx="1204598" cy="206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b">
            <a:spAutoFit/>
          </a:bodyPr>
          <a:lstStyle>
            <a:lvl1pPr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06400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14388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22375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30363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fontAlgn="base" hangingPunct="0">
              <a:spcAft>
                <a:spcPct val="0"/>
              </a:spcAft>
            </a:pPr>
            <a:r>
              <a:rPr lang="en-US" altLang="zh-CN" sz="800" smtClean="0">
                <a:solidFill>
                  <a:srgbClr val="0183B7"/>
                </a:solidFill>
                <a:ea typeface="宋体" panose="02010600030101010101" pitchFamily="2" charset="-122"/>
                <a:hlinkClick r:id="rId13"/>
              </a:rPr>
              <a:t>http://www.catc.edu.cn</a:t>
            </a:r>
            <a:endParaRPr lang="en-US" altLang="zh-CN" sz="800" smtClean="0">
              <a:solidFill>
                <a:srgbClr val="0183B7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0406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</p:sldLayoutIdLst>
  <p:timing>
    <p:tnLst>
      <p:par>
        <p:cTn id="1" dur="indefinite" restart="never" nodeType="tmRoot"/>
      </p:par>
    </p:tnLst>
  </p:timing>
  <p:txStyles>
    <p:titleStyle>
      <a:lvl1pPr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2pPr>
      <a:lvl3pPr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3pPr>
      <a:lvl4pPr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4pPr>
      <a:lvl5pPr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chemeClr val="tx2"/>
        </a:buClr>
        <a:buSzPct val="10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46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5412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wmf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001782" y="1844702"/>
            <a:ext cx="10515600" cy="2512614"/>
          </a:xfrm>
        </p:spPr>
        <p:txBody>
          <a:bodyPr>
            <a:noAutofit/>
          </a:bodyPr>
          <a:lstStyle/>
          <a:p>
            <a:pPr algn="ctr" eaLnBrk="0" hangingPunct="0">
              <a:lnSpc>
                <a:spcPct val="150000"/>
              </a:lnSpc>
              <a:defRPr/>
            </a:pPr>
            <a:r>
              <a:rPr lang="zh-CN" altLang="en-US" sz="3975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</a:t>
            </a:r>
            <a:r>
              <a:rPr lang="en-US" altLang="zh-CN" sz="3975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 </a:t>
            </a:r>
            <a:br>
              <a:rPr lang="en-US" altLang="zh-CN" sz="3975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3975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静态路由基本配置</a:t>
            </a:r>
          </a:p>
        </p:txBody>
      </p:sp>
    </p:spTree>
    <p:extLst>
      <p:ext uri="{BB962C8B-B14F-4D97-AF65-F5344CB8AC3E}">
        <p14:creationId xmlns:p14="http://schemas.microsoft.com/office/powerpoint/2010/main" val="3827830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126" y="3607242"/>
            <a:ext cx="775122" cy="456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grpSp>
        <p:nvGrpSpPr>
          <p:cNvPr id="79" name="组合 78"/>
          <p:cNvGrpSpPr/>
          <p:nvPr/>
        </p:nvGrpSpPr>
        <p:grpSpPr>
          <a:xfrm>
            <a:off x="10853177" y="4921964"/>
            <a:ext cx="1323179" cy="1498598"/>
            <a:chOff x="267495" y="4664076"/>
            <a:chExt cx="1721643" cy="1713707"/>
          </a:xfrm>
        </p:grpSpPr>
        <p:sp>
          <p:nvSpPr>
            <p:cNvPr id="80" name="computr3"/>
            <p:cNvSpPr>
              <a:spLocks noEditPoints="1" noChangeArrowheads="1"/>
            </p:cNvSpPr>
            <p:nvPr/>
          </p:nvSpPr>
          <p:spPr bwMode="auto">
            <a:xfrm>
              <a:off x="1216026" y="5817395"/>
              <a:ext cx="773112" cy="560388"/>
            </a:xfrm>
            <a:custGeom>
              <a:avLst/>
              <a:gdLst>
                <a:gd name="T0" fmla="*/ 0 w 21600"/>
                <a:gd name="T1" fmla="*/ 10800 h 21600"/>
                <a:gd name="T2" fmla="*/ 10800 w 21600"/>
                <a:gd name="T3" fmla="*/ 0 h 21600"/>
                <a:gd name="T4" fmla="*/ 10800 w 21600"/>
                <a:gd name="T5" fmla="*/ 21600 h 21600"/>
                <a:gd name="T6" fmla="*/ 18135 w 21600"/>
                <a:gd name="T7" fmla="*/ 10800 h 21600"/>
                <a:gd name="T8" fmla="*/ 7811 w 21600"/>
                <a:gd name="T9" fmla="*/ 2584 h 21600"/>
                <a:gd name="T10" fmla="*/ 16359 w 21600"/>
                <a:gd name="T11" fmla="*/ 11764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8250" y="17743"/>
                  </a:moveTo>
                  <a:lnTo>
                    <a:pt x="17557" y="16971"/>
                  </a:lnTo>
                  <a:lnTo>
                    <a:pt x="5429" y="16971"/>
                  </a:lnTo>
                  <a:lnTo>
                    <a:pt x="4736" y="17743"/>
                  </a:lnTo>
                  <a:lnTo>
                    <a:pt x="18250" y="17743"/>
                  </a:lnTo>
                  <a:close/>
                </a:path>
                <a:path w="21600" h="21600" extrusionOk="0">
                  <a:moveTo>
                    <a:pt x="18250" y="17743"/>
                  </a:moveTo>
                  <a:moveTo>
                    <a:pt x="19405" y="19131"/>
                  </a:moveTo>
                  <a:lnTo>
                    <a:pt x="18712" y="18360"/>
                  </a:lnTo>
                  <a:lnTo>
                    <a:pt x="4274" y="18360"/>
                  </a:lnTo>
                  <a:lnTo>
                    <a:pt x="3581" y="19131"/>
                  </a:lnTo>
                  <a:lnTo>
                    <a:pt x="19405" y="19131"/>
                  </a:lnTo>
                  <a:close/>
                </a:path>
                <a:path w="21600" h="21600" extrusionOk="0">
                  <a:moveTo>
                    <a:pt x="19405" y="19131"/>
                  </a:moveTo>
                  <a:moveTo>
                    <a:pt x="20560" y="20520"/>
                  </a:moveTo>
                  <a:lnTo>
                    <a:pt x="19867" y="19749"/>
                  </a:lnTo>
                  <a:lnTo>
                    <a:pt x="3119" y="19749"/>
                  </a:lnTo>
                  <a:lnTo>
                    <a:pt x="2426" y="20520"/>
                  </a:lnTo>
                  <a:lnTo>
                    <a:pt x="20560" y="20520"/>
                  </a:lnTo>
                  <a:close/>
                </a:path>
                <a:path w="21600" h="21600" extrusionOk="0">
                  <a:moveTo>
                    <a:pt x="20560" y="20520"/>
                  </a:moveTo>
                  <a:moveTo>
                    <a:pt x="4620" y="16971"/>
                  </a:moveTo>
                  <a:lnTo>
                    <a:pt x="5313" y="16200"/>
                  </a:lnTo>
                  <a:lnTo>
                    <a:pt x="7624" y="16200"/>
                  </a:lnTo>
                  <a:lnTo>
                    <a:pt x="7624" y="14194"/>
                  </a:lnTo>
                  <a:lnTo>
                    <a:pt x="5891" y="14194"/>
                  </a:lnTo>
                  <a:lnTo>
                    <a:pt x="5891" y="0"/>
                  </a:lnTo>
                  <a:lnTo>
                    <a:pt x="12013" y="0"/>
                  </a:lnTo>
                  <a:lnTo>
                    <a:pt x="18135" y="0"/>
                  </a:lnTo>
                  <a:lnTo>
                    <a:pt x="18135" y="10800"/>
                  </a:lnTo>
                  <a:lnTo>
                    <a:pt x="18135" y="14194"/>
                  </a:lnTo>
                  <a:lnTo>
                    <a:pt x="16402" y="14194"/>
                  </a:lnTo>
                  <a:lnTo>
                    <a:pt x="16402" y="16200"/>
                  </a:lnTo>
                  <a:lnTo>
                    <a:pt x="17788" y="16200"/>
                  </a:lnTo>
                  <a:lnTo>
                    <a:pt x="19059" y="17743"/>
                  </a:lnTo>
                  <a:lnTo>
                    <a:pt x="21022" y="19903"/>
                  </a:lnTo>
                  <a:lnTo>
                    <a:pt x="21253" y="20057"/>
                  </a:lnTo>
                  <a:lnTo>
                    <a:pt x="21369" y="20366"/>
                  </a:lnTo>
                  <a:lnTo>
                    <a:pt x="21600" y="20674"/>
                  </a:lnTo>
                  <a:lnTo>
                    <a:pt x="21600" y="20829"/>
                  </a:lnTo>
                  <a:lnTo>
                    <a:pt x="21600" y="20983"/>
                  </a:lnTo>
                  <a:lnTo>
                    <a:pt x="21600" y="21137"/>
                  </a:lnTo>
                  <a:lnTo>
                    <a:pt x="21600" y="21291"/>
                  </a:lnTo>
                  <a:lnTo>
                    <a:pt x="21484" y="21446"/>
                  </a:lnTo>
                  <a:lnTo>
                    <a:pt x="21369" y="21446"/>
                  </a:lnTo>
                  <a:lnTo>
                    <a:pt x="21138" y="21600"/>
                  </a:lnTo>
                  <a:lnTo>
                    <a:pt x="21022" y="21600"/>
                  </a:lnTo>
                  <a:lnTo>
                    <a:pt x="10973" y="21600"/>
                  </a:lnTo>
                  <a:lnTo>
                    <a:pt x="2079" y="21600"/>
                  </a:lnTo>
                  <a:lnTo>
                    <a:pt x="1848" y="21600"/>
                  </a:lnTo>
                  <a:lnTo>
                    <a:pt x="1733" y="21446"/>
                  </a:lnTo>
                  <a:lnTo>
                    <a:pt x="1617" y="21446"/>
                  </a:lnTo>
                  <a:lnTo>
                    <a:pt x="1502" y="21291"/>
                  </a:lnTo>
                  <a:lnTo>
                    <a:pt x="1386" y="21291"/>
                  </a:lnTo>
                  <a:lnTo>
                    <a:pt x="1386" y="21137"/>
                  </a:lnTo>
                  <a:lnTo>
                    <a:pt x="1386" y="20983"/>
                  </a:lnTo>
                  <a:lnTo>
                    <a:pt x="1386" y="20829"/>
                  </a:lnTo>
                  <a:lnTo>
                    <a:pt x="1502" y="20674"/>
                  </a:lnTo>
                  <a:lnTo>
                    <a:pt x="1617" y="20366"/>
                  </a:lnTo>
                  <a:lnTo>
                    <a:pt x="1733" y="20057"/>
                  </a:lnTo>
                  <a:lnTo>
                    <a:pt x="1964" y="19903"/>
                  </a:lnTo>
                  <a:lnTo>
                    <a:pt x="0" y="19903"/>
                  </a:lnTo>
                  <a:lnTo>
                    <a:pt x="0" y="10800"/>
                  </a:lnTo>
                  <a:lnTo>
                    <a:pt x="0" y="2777"/>
                  </a:lnTo>
                  <a:lnTo>
                    <a:pt x="4620" y="2777"/>
                  </a:lnTo>
                  <a:lnTo>
                    <a:pt x="4620" y="16971"/>
                  </a:lnTo>
                  <a:moveTo>
                    <a:pt x="4620" y="16971"/>
                  </a:moveTo>
                  <a:moveTo>
                    <a:pt x="4620" y="16971"/>
                  </a:moveTo>
                  <a:lnTo>
                    <a:pt x="4158" y="17434"/>
                  </a:lnTo>
                  <a:lnTo>
                    <a:pt x="2541" y="19286"/>
                  </a:lnTo>
                  <a:lnTo>
                    <a:pt x="1964" y="19903"/>
                  </a:lnTo>
                  <a:lnTo>
                    <a:pt x="4620" y="16971"/>
                  </a:lnTo>
                  <a:close/>
                </a:path>
                <a:path w="21600" h="21600" extrusionOk="0">
                  <a:moveTo>
                    <a:pt x="7624" y="2314"/>
                  </a:moveTo>
                  <a:moveTo>
                    <a:pt x="16402" y="2314"/>
                  </a:moveTo>
                  <a:lnTo>
                    <a:pt x="16402" y="11880"/>
                  </a:lnTo>
                  <a:lnTo>
                    <a:pt x="7624" y="11880"/>
                  </a:lnTo>
                  <a:lnTo>
                    <a:pt x="7624" y="2314"/>
                  </a:lnTo>
                  <a:close/>
                </a:path>
                <a:path w="21600" h="21600" extrusionOk="0">
                  <a:moveTo>
                    <a:pt x="578" y="4011"/>
                  </a:moveTo>
                  <a:moveTo>
                    <a:pt x="4043" y="4011"/>
                  </a:moveTo>
                  <a:lnTo>
                    <a:pt x="4043" y="4320"/>
                  </a:lnTo>
                  <a:lnTo>
                    <a:pt x="578" y="4320"/>
                  </a:lnTo>
                  <a:lnTo>
                    <a:pt x="578" y="4011"/>
                  </a:lnTo>
                  <a:close/>
                  <a:moveTo>
                    <a:pt x="7624" y="14194"/>
                  </a:moveTo>
                  <a:lnTo>
                    <a:pt x="16402" y="14194"/>
                  </a:lnTo>
                  <a:lnTo>
                    <a:pt x="16402" y="16200"/>
                  </a:lnTo>
                  <a:lnTo>
                    <a:pt x="7624" y="16200"/>
                  </a:lnTo>
                </a:path>
              </a:pathLst>
            </a:cu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81" name="Picture 7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4051" y="4664076"/>
              <a:ext cx="792162" cy="720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2" name="computr3"/>
            <p:cNvSpPr>
              <a:spLocks noEditPoints="1" noChangeArrowheads="1"/>
            </p:cNvSpPr>
            <p:nvPr/>
          </p:nvSpPr>
          <p:spPr bwMode="auto">
            <a:xfrm>
              <a:off x="267495" y="5817395"/>
              <a:ext cx="773112" cy="560388"/>
            </a:xfrm>
            <a:custGeom>
              <a:avLst/>
              <a:gdLst>
                <a:gd name="T0" fmla="*/ 0 w 21600"/>
                <a:gd name="T1" fmla="*/ 10800 h 21600"/>
                <a:gd name="T2" fmla="*/ 10800 w 21600"/>
                <a:gd name="T3" fmla="*/ 0 h 21600"/>
                <a:gd name="T4" fmla="*/ 10800 w 21600"/>
                <a:gd name="T5" fmla="*/ 21600 h 21600"/>
                <a:gd name="T6" fmla="*/ 18135 w 21600"/>
                <a:gd name="T7" fmla="*/ 10800 h 21600"/>
                <a:gd name="T8" fmla="*/ 7811 w 21600"/>
                <a:gd name="T9" fmla="*/ 2584 h 21600"/>
                <a:gd name="T10" fmla="*/ 16359 w 21600"/>
                <a:gd name="T11" fmla="*/ 11764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8250" y="17743"/>
                  </a:moveTo>
                  <a:lnTo>
                    <a:pt x="17557" y="16971"/>
                  </a:lnTo>
                  <a:lnTo>
                    <a:pt x="5429" y="16971"/>
                  </a:lnTo>
                  <a:lnTo>
                    <a:pt x="4736" y="17743"/>
                  </a:lnTo>
                  <a:lnTo>
                    <a:pt x="18250" y="17743"/>
                  </a:lnTo>
                  <a:close/>
                </a:path>
                <a:path w="21600" h="21600" extrusionOk="0">
                  <a:moveTo>
                    <a:pt x="18250" y="17743"/>
                  </a:moveTo>
                  <a:moveTo>
                    <a:pt x="19405" y="19131"/>
                  </a:moveTo>
                  <a:lnTo>
                    <a:pt x="18712" y="18360"/>
                  </a:lnTo>
                  <a:lnTo>
                    <a:pt x="4274" y="18360"/>
                  </a:lnTo>
                  <a:lnTo>
                    <a:pt x="3581" y="19131"/>
                  </a:lnTo>
                  <a:lnTo>
                    <a:pt x="19405" y="19131"/>
                  </a:lnTo>
                  <a:close/>
                </a:path>
                <a:path w="21600" h="21600" extrusionOk="0">
                  <a:moveTo>
                    <a:pt x="19405" y="19131"/>
                  </a:moveTo>
                  <a:moveTo>
                    <a:pt x="20560" y="20520"/>
                  </a:moveTo>
                  <a:lnTo>
                    <a:pt x="19867" y="19749"/>
                  </a:lnTo>
                  <a:lnTo>
                    <a:pt x="3119" y="19749"/>
                  </a:lnTo>
                  <a:lnTo>
                    <a:pt x="2426" y="20520"/>
                  </a:lnTo>
                  <a:lnTo>
                    <a:pt x="20560" y="20520"/>
                  </a:lnTo>
                  <a:close/>
                </a:path>
                <a:path w="21600" h="21600" extrusionOk="0">
                  <a:moveTo>
                    <a:pt x="20560" y="20520"/>
                  </a:moveTo>
                  <a:moveTo>
                    <a:pt x="4620" y="16971"/>
                  </a:moveTo>
                  <a:lnTo>
                    <a:pt x="5313" y="16200"/>
                  </a:lnTo>
                  <a:lnTo>
                    <a:pt x="7624" y="16200"/>
                  </a:lnTo>
                  <a:lnTo>
                    <a:pt x="7624" y="14194"/>
                  </a:lnTo>
                  <a:lnTo>
                    <a:pt x="5891" y="14194"/>
                  </a:lnTo>
                  <a:lnTo>
                    <a:pt x="5891" y="0"/>
                  </a:lnTo>
                  <a:lnTo>
                    <a:pt x="12013" y="0"/>
                  </a:lnTo>
                  <a:lnTo>
                    <a:pt x="18135" y="0"/>
                  </a:lnTo>
                  <a:lnTo>
                    <a:pt x="18135" y="10800"/>
                  </a:lnTo>
                  <a:lnTo>
                    <a:pt x="18135" y="14194"/>
                  </a:lnTo>
                  <a:lnTo>
                    <a:pt x="16402" y="14194"/>
                  </a:lnTo>
                  <a:lnTo>
                    <a:pt x="16402" y="16200"/>
                  </a:lnTo>
                  <a:lnTo>
                    <a:pt x="17788" y="16200"/>
                  </a:lnTo>
                  <a:lnTo>
                    <a:pt x="19059" y="17743"/>
                  </a:lnTo>
                  <a:lnTo>
                    <a:pt x="21022" y="19903"/>
                  </a:lnTo>
                  <a:lnTo>
                    <a:pt x="21253" y="20057"/>
                  </a:lnTo>
                  <a:lnTo>
                    <a:pt x="21369" y="20366"/>
                  </a:lnTo>
                  <a:lnTo>
                    <a:pt x="21600" y="20674"/>
                  </a:lnTo>
                  <a:lnTo>
                    <a:pt x="21600" y="20829"/>
                  </a:lnTo>
                  <a:lnTo>
                    <a:pt x="21600" y="20983"/>
                  </a:lnTo>
                  <a:lnTo>
                    <a:pt x="21600" y="21137"/>
                  </a:lnTo>
                  <a:lnTo>
                    <a:pt x="21600" y="21291"/>
                  </a:lnTo>
                  <a:lnTo>
                    <a:pt x="21484" y="21446"/>
                  </a:lnTo>
                  <a:lnTo>
                    <a:pt x="21369" y="21446"/>
                  </a:lnTo>
                  <a:lnTo>
                    <a:pt x="21138" y="21600"/>
                  </a:lnTo>
                  <a:lnTo>
                    <a:pt x="21022" y="21600"/>
                  </a:lnTo>
                  <a:lnTo>
                    <a:pt x="10973" y="21600"/>
                  </a:lnTo>
                  <a:lnTo>
                    <a:pt x="2079" y="21600"/>
                  </a:lnTo>
                  <a:lnTo>
                    <a:pt x="1848" y="21600"/>
                  </a:lnTo>
                  <a:lnTo>
                    <a:pt x="1733" y="21446"/>
                  </a:lnTo>
                  <a:lnTo>
                    <a:pt x="1617" y="21446"/>
                  </a:lnTo>
                  <a:lnTo>
                    <a:pt x="1502" y="21291"/>
                  </a:lnTo>
                  <a:lnTo>
                    <a:pt x="1386" y="21291"/>
                  </a:lnTo>
                  <a:lnTo>
                    <a:pt x="1386" y="21137"/>
                  </a:lnTo>
                  <a:lnTo>
                    <a:pt x="1386" y="20983"/>
                  </a:lnTo>
                  <a:lnTo>
                    <a:pt x="1386" y="20829"/>
                  </a:lnTo>
                  <a:lnTo>
                    <a:pt x="1502" y="20674"/>
                  </a:lnTo>
                  <a:lnTo>
                    <a:pt x="1617" y="20366"/>
                  </a:lnTo>
                  <a:lnTo>
                    <a:pt x="1733" y="20057"/>
                  </a:lnTo>
                  <a:lnTo>
                    <a:pt x="1964" y="19903"/>
                  </a:lnTo>
                  <a:lnTo>
                    <a:pt x="0" y="19903"/>
                  </a:lnTo>
                  <a:lnTo>
                    <a:pt x="0" y="10800"/>
                  </a:lnTo>
                  <a:lnTo>
                    <a:pt x="0" y="2777"/>
                  </a:lnTo>
                  <a:lnTo>
                    <a:pt x="4620" y="2777"/>
                  </a:lnTo>
                  <a:lnTo>
                    <a:pt x="4620" y="16971"/>
                  </a:lnTo>
                  <a:moveTo>
                    <a:pt x="4620" y="16971"/>
                  </a:moveTo>
                  <a:moveTo>
                    <a:pt x="4620" y="16971"/>
                  </a:moveTo>
                  <a:lnTo>
                    <a:pt x="4158" y="17434"/>
                  </a:lnTo>
                  <a:lnTo>
                    <a:pt x="2541" y="19286"/>
                  </a:lnTo>
                  <a:lnTo>
                    <a:pt x="1964" y="19903"/>
                  </a:lnTo>
                  <a:lnTo>
                    <a:pt x="4620" y="16971"/>
                  </a:lnTo>
                  <a:close/>
                </a:path>
                <a:path w="21600" h="21600" extrusionOk="0">
                  <a:moveTo>
                    <a:pt x="7624" y="2314"/>
                  </a:moveTo>
                  <a:moveTo>
                    <a:pt x="16402" y="2314"/>
                  </a:moveTo>
                  <a:lnTo>
                    <a:pt x="16402" y="11880"/>
                  </a:lnTo>
                  <a:lnTo>
                    <a:pt x="7624" y="11880"/>
                  </a:lnTo>
                  <a:lnTo>
                    <a:pt x="7624" y="2314"/>
                  </a:lnTo>
                  <a:close/>
                </a:path>
                <a:path w="21600" h="21600" extrusionOk="0">
                  <a:moveTo>
                    <a:pt x="578" y="4011"/>
                  </a:moveTo>
                  <a:moveTo>
                    <a:pt x="4043" y="4011"/>
                  </a:moveTo>
                  <a:lnTo>
                    <a:pt x="4043" y="4320"/>
                  </a:lnTo>
                  <a:lnTo>
                    <a:pt x="578" y="4320"/>
                  </a:lnTo>
                  <a:lnTo>
                    <a:pt x="578" y="4011"/>
                  </a:lnTo>
                  <a:close/>
                  <a:moveTo>
                    <a:pt x="7624" y="14194"/>
                  </a:moveTo>
                  <a:lnTo>
                    <a:pt x="16402" y="14194"/>
                  </a:lnTo>
                  <a:lnTo>
                    <a:pt x="16402" y="16200"/>
                  </a:lnTo>
                  <a:lnTo>
                    <a:pt x="7624" y="16200"/>
                  </a:lnTo>
                </a:path>
              </a:pathLst>
            </a:cu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83" name="直接连接符 82"/>
            <p:cNvCxnSpPr>
              <a:stCxn id="81" idx="2"/>
              <a:endCxn id="82" idx="1"/>
            </p:cNvCxnSpPr>
            <p:nvPr/>
          </p:nvCxnSpPr>
          <p:spPr bwMode="auto">
            <a:xfrm flipH="1">
              <a:off x="654051" y="5384801"/>
              <a:ext cx="396081" cy="432594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直接连接符 83"/>
            <p:cNvCxnSpPr>
              <a:stCxn id="81" idx="2"/>
              <a:endCxn id="80" idx="1"/>
            </p:cNvCxnSpPr>
            <p:nvPr/>
          </p:nvCxnSpPr>
          <p:spPr bwMode="auto">
            <a:xfrm>
              <a:off x="1050132" y="5384801"/>
              <a:ext cx="552450" cy="432594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5" name="组合 84"/>
          <p:cNvGrpSpPr/>
          <p:nvPr/>
        </p:nvGrpSpPr>
        <p:grpSpPr>
          <a:xfrm>
            <a:off x="8889419" y="4921964"/>
            <a:ext cx="1323179" cy="1498598"/>
            <a:chOff x="267495" y="4664076"/>
            <a:chExt cx="1721643" cy="1713707"/>
          </a:xfrm>
        </p:grpSpPr>
        <p:sp>
          <p:nvSpPr>
            <p:cNvPr id="86" name="computr3"/>
            <p:cNvSpPr>
              <a:spLocks noEditPoints="1" noChangeArrowheads="1"/>
            </p:cNvSpPr>
            <p:nvPr/>
          </p:nvSpPr>
          <p:spPr bwMode="auto">
            <a:xfrm>
              <a:off x="1216026" y="5817395"/>
              <a:ext cx="773112" cy="560388"/>
            </a:xfrm>
            <a:custGeom>
              <a:avLst/>
              <a:gdLst>
                <a:gd name="T0" fmla="*/ 0 w 21600"/>
                <a:gd name="T1" fmla="*/ 10800 h 21600"/>
                <a:gd name="T2" fmla="*/ 10800 w 21600"/>
                <a:gd name="T3" fmla="*/ 0 h 21600"/>
                <a:gd name="T4" fmla="*/ 10800 w 21600"/>
                <a:gd name="T5" fmla="*/ 21600 h 21600"/>
                <a:gd name="T6" fmla="*/ 18135 w 21600"/>
                <a:gd name="T7" fmla="*/ 10800 h 21600"/>
                <a:gd name="T8" fmla="*/ 7811 w 21600"/>
                <a:gd name="T9" fmla="*/ 2584 h 21600"/>
                <a:gd name="T10" fmla="*/ 16359 w 21600"/>
                <a:gd name="T11" fmla="*/ 11764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8250" y="17743"/>
                  </a:moveTo>
                  <a:lnTo>
                    <a:pt x="17557" y="16971"/>
                  </a:lnTo>
                  <a:lnTo>
                    <a:pt x="5429" y="16971"/>
                  </a:lnTo>
                  <a:lnTo>
                    <a:pt x="4736" y="17743"/>
                  </a:lnTo>
                  <a:lnTo>
                    <a:pt x="18250" y="17743"/>
                  </a:lnTo>
                  <a:close/>
                </a:path>
                <a:path w="21600" h="21600" extrusionOk="0">
                  <a:moveTo>
                    <a:pt x="18250" y="17743"/>
                  </a:moveTo>
                  <a:moveTo>
                    <a:pt x="19405" y="19131"/>
                  </a:moveTo>
                  <a:lnTo>
                    <a:pt x="18712" y="18360"/>
                  </a:lnTo>
                  <a:lnTo>
                    <a:pt x="4274" y="18360"/>
                  </a:lnTo>
                  <a:lnTo>
                    <a:pt x="3581" y="19131"/>
                  </a:lnTo>
                  <a:lnTo>
                    <a:pt x="19405" y="19131"/>
                  </a:lnTo>
                  <a:close/>
                </a:path>
                <a:path w="21600" h="21600" extrusionOk="0">
                  <a:moveTo>
                    <a:pt x="19405" y="19131"/>
                  </a:moveTo>
                  <a:moveTo>
                    <a:pt x="20560" y="20520"/>
                  </a:moveTo>
                  <a:lnTo>
                    <a:pt x="19867" y="19749"/>
                  </a:lnTo>
                  <a:lnTo>
                    <a:pt x="3119" y="19749"/>
                  </a:lnTo>
                  <a:lnTo>
                    <a:pt x="2426" y="20520"/>
                  </a:lnTo>
                  <a:lnTo>
                    <a:pt x="20560" y="20520"/>
                  </a:lnTo>
                  <a:close/>
                </a:path>
                <a:path w="21600" h="21600" extrusionOk="0">
                  <a:moveTo>
                    <a:pt x="20560" y="20520"/>
                  </a:moveTo>
                  <a:moveTo>
                    <a:pt x="4620" y="16971"/>
                  </a:moveTo>
                  <a:lnTo>
                    <a:pt x="5313" y="16200"/>
                  </a:lnTo>
                  <a:lnTo>
                    <a:pt x="7624" y="16200"/>
                  </a:lnTo>
                  <a:lnTo>
                    <a:pt x="7624" y="14194"/>
                  </a:lnTo>
                  <a:lnTo>
                    <a:pt x="5891" y="14194"/>
                  </a:lnTo>
                  <a:lnTo>
                    <a:pt x="5891" y="0"/>
                  </a:lnTo>
                  <a:lnTo>
                    <a:pt x="12013" y="0"/>
                  </a:lnTo>
                  <a:lnTo>
                    <a:pt x="18135" y="0"/>
                  </a:lnTo>
                  <a:lnTo>
                    <a:pt x="18135" y="10800"/>
                  </a:lnTo>
                  <a:lnTo>
                    <a:pt x="18135" y="14194"/>
                  </a:lnTo>
                  <a:lnTo>
                    <a:pt x="16402" y="14194"/>
                  </a:lnTo>
                  <a:lnTo>
                    <a:pt x="16402" y="16200"/>
                  </a:lnTo>
                  <a:lnTo>
                    <a:pt x="17788" y="16200"/>
                  </a:lnTo>
                  <a:lnTo>
                    <a:pt x="19059" y="17743"/>
                  </a:lnTo>
                  <a:lnTo>
                    <a:pt x="21022" y="19903"/>
                  </a:lnTo>
                  <a:lnTo>
                    <a:pt x="21253" y="20057"/>
                  </a:lnTo>
                  <a:lnTo>
                    <a:pt x="21369" y="20366"/>
                  </a:lnTo>
                  <a:lnTo>
                    <a:pt x="21600" y="20674"/>
                  </a:lnTo>
                  <a:lnTo>
                    <a:pt x="21600" y="20829"/>
                  </a:lnTo>
                  <a:lnTo>
                    <a:pt x="21600" y="20983"/>
                  </a:lnTo>
                  <a:lnTo>
                    <a:pt x="21600" y="21137"/>
                  </a:lnTo>
                  <a:lnTo>
                    <a:pt x="21600" y="21291"/>
                  </a:lnTo>
                  <a:lnTo>
                    <a:pt x="21484" y="21446"/>
                  </a:lnTo>
                  <a:lnTo>
                    <a:pt x="21369" y="21446"/>
                  </a:lnTo>
                  <a:lnTo>
                    <a:pt x="21138" y="21600"/>
                  </a:lnTo>
                  <a:lnTo>
                    <a:pt x="21022" y="21600"/>
                  </a:lnTo>
                  <a:lnTo>
                    <a:pt x="10973" y="21600"/>
                  </a:lnTo>
                  <a:lnTo>
                    <a:pt x="2079" y="21600"/>
                  </a:lnTo>
                  <a:lnTo>
                    <a:pt x="1848" y="21600"/>
                  </a:lnTo>
                  <a:lnTo>
                    <a:pt x="1733" y="21446"/>
                  </a:lnTo>
                  <a:lnTo>
                    <a:pt x="1617" y="21446"/>
                  </a:lnTo>
                  <a:lnTo>
                    <a:pt x="1502" y="21291"/>
                  </a:lnTo>
                  <a:lnTo>
                    <a:pt x="1386" y="21291"/>
                  </a:lnTo>
                  <a:lnTo>
                    <a:pt x="1386" y="21137"/>
                  </a:lnTo>
                  <a:lnTo>
                    <a:pt x="1386" y="20983"/>
                  </a:lnTo>
                  <a:lnTo>
                    <a:pt x="1386" y="20829"/>
                  </a:lnTo>
                  <a:lnTo>
                    <a:pt x="1502" y="20674"/>
                  </a:lnTo>
                  <a:lnTo>
                    <a:pt x="1617" y="20366"/>
                  </a:lnTo>
                  <a:lnTo>
                    <a:pt x="1733" y="20057"/>
                  </a:lnTo>
                  <a:lnTo>
                    <a:pt x="1964" y="19903"/>
                  </a:lnTo>
                  <a:lnTo>
                    <a:pt x="0" y="19903"/>
                  </a:lnTo>
                  <a:lnTo>
                    <a:pt x="0" y="10800"/>
                  </a:lnTo>
                  <a:lnTo>
                    <a:pt x="0" y="2777"/>
                  </a:lnTo>
                  <a:lnTo>
                    <a:pt x="4620" y="2777"/>
                  </a:lnTo>
                  <a:lnTo>
                    <a:pt x="4620" y="16971"/>
                  </a:lnTo>
                  <a:moveTo>
                    <a:pt x="4620" y="16971"/>
                  </a:moveTo>
                  <a:moveTo>
                    <a:pt x="4620" y="16971"/>
                  </a:moveTo>
                  <a:lnTo>
                    <a:pt x="4158" y="17434"/>
                  </a:lnTo>
                  <a:lnTo>
                    <a:pt x="2541" y="19286"/>
                  </a:lnTo>
                  <a:lnTo>
                    <a:pt x="1964" y="19903"/>
                  </a:lnTo>
                  <a:lnTo>
                    <a:pt x="4620" y="16971"/>
                  </a:lnTo>
                  <a:close/>
                </a:path>
                <a:path w="21600" h="21600" extrusionOk="0">
                  <a:moveTo>
                    <a:pt x="7624" y="2314"/>
                  </a:moveTo>
                  <a:moveTo>
                    <a:pt x="16402" y="2314"/>
                  </a:moveTo>
                  <a:lnTo>
                    <a:pt x="16402" y="11880"/>
                  </a:lnTo>
                  <a:lnTo>
                    <a:pt x="7624" y="11880"/>
                  </a:lnTo>
                  <a:lnTo>
                    <a:pt x="7624" y="2314"/>
                  </a:lnTo>
                  <a:close/>
                </a:path>
                <a:path w="21600" h="21600" extrusionOk="0">
                  <a:moveTo>
                    <a:pt x="578" y="4011"/>
                  </a:moveTo>
                  <a:moveTo>
                    <a:pt x="4043" y="4011"/>
                  </a:moveTo>
                  <a:lnTo>
                    <a:pt x="4043" y="4320"/>
                  </a:lnTo>
                  <a:lnTo>
                    <a:pt x="578" y="4320"/>
                  </a:lnTo>
                  <a:lnTo>
                    <a:pt x="578" y="4011"/>
                  </a:lnTo>
                  <a:close/>
                  <a:moveTo>
                    <a:pt x="7624" y="14194"/>
                  </a:moveTo>
                  <a:lnTo>
                    <a:pt x="16402" y="14194"/>
                  </a:lnTo>
                  <a:lnTo>
                    <a:pt x="16402" y="16200"/>
                  </a:lnTo>
                  <a:lnTo>
                    <a:pt x="7624" y="16200"/>
                  </a:lnTo>
                </a:path>
              </a:pathLst>
            </a:cu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87" name="Picture 7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4051" y="4664076"/>
              <a:ext cx="792162" cy="720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8" name="computr3"/>
            <p:cNvSpPr>
              <a:spLocks noEditPoints="1" noChangeArrowheads="1"/>
            </p:cNvSpPr>
            <p:nvPr/>
          </p:nvSpPr>
          <p:spPr bwMode="auto">
            <a:xfrm>
              <a:off x="267495" y="5817395"/>
              <a:ext cx="773112" cy="560388"/>
            </a:xfrm>
            <a:custGeom>
              <a:avLst/>
              <a:gdLst>
                <a:gd name="T0" fmla="*/ 0 w 21600"/>
                <a:gd name="T1" fmla="*/ 10800 h 21600"/>
                <a:gd name="T2" fmla="*/ 10800 w 21600"/>
                <a:gd name="T3" fmla="*/ 0 h 21600"/>
                <a:gd name="T4" fmla="*/ 10800 w 21600"/>
                <a:gd name="T5" fmla="*/ 21600 h 21600"/>
                <a:gd name="T6" fmla="*/ 18135 w 21600"/>
                <a:gd name="T7" fmla="*/ 10800 h 21600"/>
                <a:gd name="T8" fmla="*/ 7811 w 21600"/>
                <a:gd name="T9" fmla="*/ 2584 h 21600"/>
                <a:gd name="T10" fmla="*/ 16359 w 21600"/>
                <a:gd name="T11" fmla="*/ 11764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8250" y="17743"/>
                  </a:moveTo>
                  <a:lnTo>
                    <a:pt x="17557" y="16971"/>
                  </a:lnTo>
                  <a:lnTo>
                    <a:pt x="5429" y="16971"/>
                  </a:lnTo>
                  <a:lnTo>
                    <a:pt x="4736" y="17743"/>
                  </a:lnTo>
                  <a:lnTo>
                    <a:pt x="18250" y="17743"/>
                  </a:lnTo>
                  <a:close/>
                </a:path>
                <a:path w="21600" h="21600" extrusionOk="0">
                  <a:moveTo>
                    <a:pt x="18250" y="17743"/>
                  </a:moveTo>
                  <a:moveTo>
                    <a:pt x="19405" y="19131"/>
                  </a:moveTo>
                  <a:lnTo>
                    <a:pt x="18712" y="18360"/>
                  </a:lnTo>
                  <a:lnTo>
                    <a:pt x="4274" y="18360"/>
                  </a:lnTo>
                  <a:lnTo>
                    <a:pt x="3581" y="19131"/>
                  </a:lnTo>
                  <a:lnTo>
                    <a:pt x="19405" y="19131"/>
                  </a:lnTo>
                  <a:close/>
                </a:path>
                <a:path w="21600" h="21600" extrusionOk="0">
                  <a:moveTo>
                    <a:pt x="19405" y="19131"/>
                  </a:moveTo>
                  <a:moveTo>
                    <a:pt x="20560" y="20520"/>
                  </a:moveTo>
                  <a:lnTo>
                    <a:pt x="19867" y="19749"/>
                  </a:lnTo>
                  <a:lnTo>
                    <a:pt x="3119" y="19749"/>
                  </a:lnTo>
                  <a:lnTo>
                    <a:pt x="2426" y="20520"/>
                  </a:lnTo>
                  <a:lnTo>
                    <a:pt x="20560" y="20520"/>
                  </a:lnTo>
                  <a:close/>
                </a:path>
                <a:path w="21600" h="21600" extrusionOk="0">
                  <a:moveTo>
                    <a:pt x="20560" y="20520"/>
                  </a:moveTo>
                  <a:moveTo>
                    <a:pt x="4620" y="16971"/>
                  </a:moveTo>
                  <a:lnTo>
                    <a:pt x="5313" y="16200"/>
                  </a:lnTo>
                  <a:lnTo>
                    <a:pt x="7624" y="16200"/>
                  </a:lnTo>
                  <a:lnTo>
                    <a:pt x="7624" y="14194"/>
                  </a:lnTo>
                  <a:lnTo>
                    <a:pt x="5891" y="14194"/>
                  </a:lnTo>
                  <a:lnTo>
                    <a:pt x="5891" y="0"/>
                  </a:lnTo>
                  <a:lnTo>
                    <a:pt x="12013" y="0"/>
                  </a:lnTo>
                  <a:lnTo>
                    <a:pt x="18135" y="0"/>
                  </a:lnTo>
                  <a:lnTo>
                    <a:pt x="18135" y="10800"/>
                  </a:lnTo>
                  <a:lnTo>
                    <a:pt x="18135" y="14194"/>
                  </a:lnTo>
                  <a:lnTo>
                    <a:pt x="16402" y="14194"/>
                  </a:lnTo>
                  <a:lnTo>
                    <a:pt x="16402" y="16200"/>
                  </a:lnTo>
                  <a:lnTo>
                    <a:pt x="17788" y="16200"/>
                  </a:lnTo>
                  <a:lnTo>
                    <a:pt x="19059" y="17743"/>
                  </a:lnTo>
                  <a:lnTo>
                    <a:pt x="21022" y="19903"/>
                  </a:lnTo>
                  <a:lnTo>
                    <a:pt x="21253" y="20057"/>
                  </a:lnTo>
                  <a:lnTo>
                    <a:pt x="21369" y="20366"/>
                  </a:lnTo>
                  <a:lnTo>
                    <a:pt x="21600" y="20674"/>
                  </a:lnTo>
                  <a:lnTo>
                    <a:pt x="21600" y="20829"/>
                  </a:lnTo>
                  <a:lnTo>
                    <a:pt x="21600" y="20983"/>
                  </a:lnTo>
                  <a:lnTo>
                    <a:pt x="21600" y="21137"/>
                  </a:lnTo>
                  <a:lnTo>
                    <a:pt x="21600" y="21291"/>
                  </a:lnTo>
                  <a:lnTo>
                    <a:pt x="21484" y="21446"/>
                  </a:lnTo>
                  <a:lnTo>
                    <a:pt x="21369" y="21446"/>
                  </a:lnTo>
                  <a:lnTo>
                    <a:pt x="21138" y="21600"/>
                  </a:lnTo>
                  <a:lnTo>
                    <a:pt x="21022" y="21600"/>
                  </a:lnTo>
                  <a:lnTo>
                    <a:pt x="10973" y="21600"/>
                  </a:lnTo>
                  <a:lnTo>
                    <a:pt x="2079" y="21600"/>
                  </a:lnTo>
                  <a:lnTo>
                    <a:pt x="1848" y="21600"/>
                  </a:lnTo>
                  <a:lnTo>
                    <a:pt x="1733" y="21446"/>
                  </a:lnTo>
                  <a:lnTo>
                    <a:pt x="1617" y="21446"/>
                  </a:lnTo>
                  <a:lnTo>
                    <a:pt x="1502" y="21291"/>
                  </a:lnTo>
                  <a:lnTo>
                    <a:pt x="1386" y="21291"/>
                  </a:lnTo>
                  <a:lnTo>
                    <a:pt x="1386" y="21137"/>
                  </a:lnTo>
                  <a:lnTo>
                    <a:pt x="1386" y="20983"/>
                  </a:lnTo>
                  <a:lnTo>
                    <a:pt x="1386" y="20829"/>
                  </a:lnTo>
                  <a:lnTo>
                    <a:pt x="1502" y="20674"/>
                  </a:lnTo>
                  <a:lnTo>
                    <a:pt x="1617" y="20366"/>
                  </a:lnTo>
                  <a:lnTo>
                    <a:pt x="1733" y="20057"/>
                  </a:lnTo>
                  <a:lnTo>
                    <a:pt x="1964" y="19903"/>
                  </a:lnTo>
                  <a:lnTo>
                    <a:pt x="0" y="19903"/>
                  </a:lnTo>
                  <a:lnTo>
                    <a:pt x="0" y="10800"/>
                  </a:lnTo>
                  <a:lnTo>
                    <a:pt x="0" y="2777"/>
                  </a:lnTo>
                  <a:lnTo>
                    <a:pt x="4620" y="2777"/>
                  </a:lnTo>
                  <a:lnTo>
                    <a:pt x="4620" y="16971"/>
                  </a:lnTo>
                  <a:moveTo>
                    <a:pt x="4620" y="16971"/>
                  </a:moveTo>
                  <a:moveTo>
                    <a:pt x="4620" y="16971"/>
                  </a:moveTo>
                  <a:lnTo>
                    <a:pt x="4158" y="17434"/>
                  </a:lnTo>
                  <a:lnTo>
                    <a:pt x="2541" y="19286"/>
                  </a:lnTo>
                  <a:lnTo>
                    <a:pt x="1964" y="19903"/>
                  </a:lnTo>
                  <a:lnTo>
                    <a:pt x="4620" y="16971"/>
                  </a:lnTo>
                  <a:close/>
                </a:path>
                <a:path w="21600" h="21600" extrusionOk="0">
                  <a:moveTo>
                    <a:pt x="7624" y="2314"/>
                  </a:moveTo>
                  <a:moveTo>
                    <a:pt x="16402" y="2314"/>
                  </a:moveTo>
                  <a:lnTo>
                    <a:pt x="16402" y="11880"/>
                  </a:lnTo>
                  <a:lnTo>
                    <a:pt x="7624" y="11880"/>
                  </a:lnTo>
                  <a:lnTo>
                    <a:pt x="7624" y="2314"/>
                  </a:lnTo>
                  <a:close/>
                </a:path>
                <a:path w="21600" h="21600" extrusionOk="0">
                  <a:moveTo>
                    <a:pt x="578" y="4011"/>
                  </a:moveTo>
                  <a:moveTo>
                    <a:pt x="4043" y="4011"/>
                  </a:moveTo>
                  <a:lnTo>
                    <a:pt x="4043" y="4320"/>
                  </a:lnTo>
                  <a:lnTo>
                    <a:pt x="578" y="4320"/>
                  </a:lnTo>
                  <a:lnTo>
                    <a:pt x="578" y="4011"/>
                  </a:lnTo>
                  <a:close/>
                  <a:moveTo>
                    <a:pt x="7624" y="14194"/>
                  </a:moveTo>
                  <a:lnTo>
                    <a:pt x="16402" y="14194"/>
                  </a:lnTo>
                  <a:lnTo>
                    <a:pt x="16402" y="16200"/>
                  </a:lnTo>
                  <a:lnTo>
                    <a:pt x="7624" y="16200"/>
                  </a:lnTo>
                </a:path>
              </a:pathLst>
            </a:cu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89" name="直接连接符 88"/>
            <p:cNvCxnSpPr>
              <a:stCxn id="87" idx="2"/>
              <a:endCxn id="88" idx="1"/>
            </p:cNvCxnSpPr>
            <p:nvPr/>
          </p:nvCxnSpPr>
          <p:spPr bwMode="auto">
            <a:xfrm flipH="1">
              <a:off x="654051" y="5384801"/>
              <a:ext cx="396081" cy="432594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" name="直接连接符 89"/>
            <p:cNvCxnSpPr>
              <a:stCxn id="87" idx="2"/>
              <a:endCxn id="86" idx="1"/>
            </p:cNvCxnSpPr>
            <p:nvPr/>
          </p:nvCxnSpPr>
          <p:spPr bwMode="auto">
            <a:xfrm>
              <a:off x="1050132" y="5384801"/>
              <a:ext cx="552450" cy="432594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91" name="Picture 5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0397" y="3496762"/>
            <a:ext cx="792163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7" name="直接连接符 96"/>
          <p:cNvCxnSpPr>
            <a:stCxn id="87" idx="0"/>
            <a:endCxn id="91" idx="2"/>
          </p:cNvCxnSpPr>
          <p:nvPr/>
        </p:nvCxnSpPr>
        <p:spPr bwMode="auto">
          <a:xfrm flipV="1">
            <a:off x="9490920" y="4217487"/>
            <a:ext cx="855559" cy="704477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8" name="直接连接符 97"/>
          <p:cNvCxnSpPr>
            <a:stCxn id="81" idx="0"/>
            <a:endCxn id="91" idx="2"/>
          </p:cNvCxnSpPr>
          <p:nvPr/>
        </p:nvCxnSpPr>
        <p:spPr bwMode="auto">
          <a:xfrm flipH="1" flipV="1">
            <a:off x="10346479" y="4217487"/>
            <a:ext cx="1108199" cy="704477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1" name="文本框 100"/>
          <p:cNvSpPr txBox="1"/>
          <p:nvPr/>
        </p:nvSpPr>
        <p:spPr>
          <a:xfrm>
            <a:off x="9915508" y="5018921"/>
            <a:ext cx="1619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交换机</a:t>
            </a:r>
          </a:p>
        </p:txBody>
      </p:sp>
      <p:sp>
        <p:nvSpPr>
          <p:cNvPr id="102" name="文本框 101"/>
          <p:cNvSpPr txBox="1"/>
          <p:nvPr/>
        </p:nvSpPr>
        <p:spPr>
          <a:xfrm>
            <a:off x="9514991" y="2992451"/>
            <a:ext cx="1793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中心交换机</a:t>
            </a:r>
          </a:p>
        </p:txBody>
      </p:sp>
      <p:cxnSp>
        <p:nvCxnSpPr>
          <p:cNvPr id="103" name="直接连接符 102"/>
          <p:cNvCxnSpPr>
            <a:stCxn id="91" idx="1"/>
            <a:endCxn id="72" idx="3"/>
          </p:cNvCxnSpPr>
          <p:nvPr/>
        </p:nvCxnSpPr>
        <p:spPr bwMode="auto">
          <a:xfrm flipH="1" flipV="1">
            <a:off x="9110248" y="3835679"/>
            <a:ext cx="840149" cy="21446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4" name="文本框 103"/>
          <p:cNvSpPr txBox="1"/>
          <p:nvPr/>
        </p:nvSpPr>
        <p:spPr>
          <a:xfrm>
            <a:off x="8264626" y="3035762"/>
            <a:ext cx="1188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路由器</a:t>
            </a:r>
          </a:p>
        </p:txBody>
      </p:sp>
      <p:sp>
        <p:nvSpPr>
          <p:cNvPr id="106" name="文本框 105"/>
          <p:cNvSpPr txBox="1"/>
          <p:nvPr/>
        </p:nvSpPr>
        <p:spPr>
          <a:xfrm>
            <a:off x="8967361" y="6420561"/>
            <a:ext cx="1225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办公区</a:t>
            </a:r>
            <a:endParaRPr lang="zh-CN" altLang="en-US" sz="2400" b="1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10902038" y="6420562"/>
            <a:ext cx="1225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教学</a:t>
            </a:r>
            <a:r>
              <a:rPr lang="zh-CN" altLang="en-US" sz="2400" b="1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</a:t>
            </a:r>
            <a:endParaRPr lang="zh-CN" altLang="en-US" sz="2400" b="1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Picture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8478" y="3628687"/>
            <a:ext cx="775122" cy="456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grpSp>
        <p:nvGrpSpPr>
          <p:cNvPr id="15" name="组合 14"/>
          <p:cNvGrpSpPr/>
          <p:nvPr/>
        </p:nvGrpSpPr>
        <p:grpSpPr>
          <a:xfrm>
            <a:off x="124328" y="4782508"/>
            <a:ext cx="1323179" cy="1498598"/>
            <a:chOff x="267495" y="4664076"/>
            <a:chExt cx="1721643" cy="1713707"/>
          </a:xfrm>
        </p:grpSpPr>
        <p:sp>
          <p:nvSpPr>
            <p:cNvPr id="3" name="computr3"/>
            <p:cNvSpPr>
              <a:spLocks noEditPoints="1" noChangeArrowheads="1"/>
            </p:cNvSpPr>
            <p:nvPr/>
          </p:nvSpPr>
          <p:spPr bwMode="auto">
            <a:xfrm>
              <a:off x="1216026" y="5817395"/>
              <a:ext cx="773112" cy="560388"/>
            </a:xfrm>
            <a:custGeom>
              <a:avLst/>
              <a:gdLst>
                <a:gd name="T0" fmla="*/ 0 w 21600"/>
                <a:gd name="T1" fmla="*/ 10800 h 21600"/>
                <a:gd name="T2" fmla="*/ 10800 w 21600"/>
                <a:gd name="T3" fmla="*/ 0 h 21600"/>
                <a:gd name="T4" fmla="*/ 10800 w 21600"/>
                <a:gd name="T5" fmla="*/ 21600 h 21600"/>
                <a:gd name="T6" fmla="*/ 18135 w 21600"/>
                <a:gd name="T7" fmla="*/ 10800 h 21600"/>
                <a:gd name="T8" fmla="*/ 7811 w 21600"/>
                <a:gd name="T9" fmla="*/ 2584 h 21600"/>
                <a:gd name="T10" fmla="*/ 16359 w 21600"/>
                <a:gd name="T11" fmla="*/ 11764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8250" y="17743"/>
                  </a:moveTo>
                  <a:lnTo>
                    <a:pt x="17557" y="16971"/>
                  </a:lnTo>
                  <a:lnTo>
                    <a:pt x="5429" y="16971"/>
                  </a:lnTo>
                  <a:lnTo>
                    <a:pt x="4736" y="17743"/>
                  </a:lnTo>
                  <a:lnTo>
                    <a:pt x="18250" y="17743"/>
                  </a:lnTo>
                  <a:close/>
                </a:path>
                <a:path w="21600" h="21600" extrusionOk="0">
                  <a:moveTo>
                    <a:pt x="18250" y="17743"/>
                  </a:moveTo>
                  <a:moveTo>
                    <a:pt x="19405" y="19131"/>
                  </a:moveTo>
                  <a:lnTo>
                    <a:pt x="18712" y="18360"/>
                  </a:lnTo>
                  <a:lnTo>
                    <a:pt x="4274" y="18360"/>
                  </a:lnTo>
                  <a:lnTo>
                    <a:pt x="3581" y="19131"/>
                  </a:lnTo>
                  <a:lnTo>
                    <a:pt x="19405" y="19131"/>
                  </a:lnTo>
                  <a:close/>
                </a:path>
                <a:path w="21600" h="21600" extrusionOk="0">
                  <a:moveTo>
                    <a:pt x="19405" y="19131"/>
                  </a:moveTo>
                  <a:moveTo>
                    <a:pt x="20560" y="20520"/>
                  </a:moveTo>
                  <a:lnTo>
                    <a:pt x="19867" y="19749"/>
                  </a:lnTo>
                  <a:lnTo>
                    <a:pt x="3119" y="19749"/>
                  </a:lnTo>
                  <a:lnTo>
                    <a:pt x="2426" y="20520"/>
                  </a:lnTo>
                  <a:lnTo>
                    <a:pt x="20560" y="20520"/>
                  </a:lnTo>
                  <a:close/>
                </a:path>
                <a:path w="21600" h="21600" extrusionOk="0">
                  <a:moveTo>
                    <a:pt x="20560" y="20520"/>
                  </a:moveTo>
                  <a:moveTo>
                    <a:pt x="4620" y="16971"/>
                  </a:moveTo>
                  <a:lnTo>
                    <a:pt x="5313" y="16200"/>
                  </a:lnTo>
                  <a:lnTo>
                    <a:pt x="7624" y="16200"/>
                  </a:lnTo>
                  <a:lnTo>
                    <a:pt x="7624" y="14194"/>
                  </a:lnTo>
                  <a:lnTo>
                    <a:pt x="5891" y="14194"/>
                  </a:lnTo>
                  <a:lnTo>
                    <a:pt x="5891" y="0"/>
                  </a:lnTo>
                  <a:lnTo>
                    <a:pt x="12013" y="0"/>
                  </a:lnTo>
                  <a:lnTo>
                    <a:pt x="18135" y="0"/>
                  </a:lnTo>
                  <a:lnTo>
                    <a:pt x="18135" y="10800"/>
                  </a:lnTo>
                  <a:lnTo>
                    <a:pt x="18135" y="14194"/>
                  </a:lnTo>
                  <a:lnTo>
                    <a:pt x="16402" y="14194"/>
                  </a:lnTo>
                  <a:lnTo>
                    <a:pt x="16402" y="16200"/>
                  </a:lnTo>
                  <a:lnTo>
                    <a:pt x="17788" y="16200"/>
                  </a:lnTo>
                  <a:lnTo>
                    <a:pt x="19059" y="17743"/>
                  </a:lnTo>
                  <a:lnTo>
                    <a:pt x="21022" y="19903"/>
                  </a:lnTo>
                  <a:lnTo>
                    <a:pt x="21253" y="20057"/>
                  </a:lnTo>
                  <a:lnTo>
                    <a:pt x="21369" y="20366"/>
                  </a:lnTo>
                  <a:lnTo>
                    <a:pt x="21600" y="20674"/>
                  </a:lnTo>
                  <a:lnTo>
                    <a:pt x="21600" y="20829"/>
                  </a:lnTo>
                  <a:lnTo>
                    <a:pt x="21600" y="20983"/>
                  </a:lnTo>
                  <a:lnTo>
                    <a:pt x="21600" y="21137"/>
                  </a:lnTo>
                  <a:lnTo>
                    <a:pt x="21600" y="21291"/>
                  </a:lnTo>
                  <a:lnTo>
                    <a:pt x="21484" y="21446"/>
                  </a:lnTo>
                  <a:lnTo>
                    <a:pt x="21369" y="21446"/>
                  </a:lnTo>
                  <a:lnTo>
                    <a:pt x="21138" y="21600"/>
                  </a:lnTo>
                  <a:lnTo>
                    <a:pt x="21022" y="21600"/>
                  </a:lnTo>
                  <a:lnTo>
                    <a:pt x="10973" y="21600"/>
                  </a:lnTo>
                  <a:lnTo>
                    <a:pt x="2079" y="21600"/>
                  </a:lnTo>
                  <a:lnTo>
                    <a:pt x="1848" y="21600"/>
                  </a:lnTo>
                  <a:lnTo>
                    <a:pt x="1733" y="21446"/>
                  </a:lnTo>
                  <a:lnTo>
                    <a:pt x="1617" y="21446"/>
                  </a:lnTo>
                  <a:lnTo>
                    <a:pt x="1502" y="21291"/>
                  </a:lnTo>
                  <a:lnTo>
                    <a:pt x="1386" y="21291"/>
                  </a:lnTo>
                  <a:lnTo>
                    <a:pt x="1386" y="21137"/>
                  </a:lnTo>
                  <a:lnTo>
                    <a:pt x="1386" y="20983"/>
                  </a:lnTo>
                  <a:lnTo>
                    <a:pt x="1386" y="20829"/>
                  </a:lnTo>
                  <a:lnTo>
                    <a:pt x="1502" y="20674"/>
                  </a:lnTo>
                  <a:lnTo>
                    <a:pt x="1617" y="20366"/>
                  </a:lnTo>
                  <a:lnTo>
                    <a:pt x="1733" y="20057"/>
                  </a:lnTo>
                  <a:lnTo>
                    <a:pt x="1964" y="19903"/>
                  </a:lnTo>
                  <a:lnTo>
                    <a:pt x="0" y="19903"/>
                  </a:lnTo>
                  <a:lnTo>
                    <a:pt x="0" y="10800"/>
                  </a:lnTo>
                  <a:lnTo>
                    <a:pt x="0" y="2777"/>
                  </a:lnTo>
                  <a:lnTo>
                    <a:pt x="4620" y="2777"/>
                  </a:lnTo>
                  <a:lnTo>
                    <a:pt x="4620" y="16971"/>
                  </a:lnTo>
                  <a:moveTo>
                    <a:pt x="4620" y="16971"/>
                  </a:moveTo>
                  <a:moveTo>
                    <a:pt x="4620" y="16971"/>
                  </a:moveTo>
                  <a:lnTo>
                    <a:pt x="4158" y="17434"/>
                  </a:lnTo>
                  <a:lnTo>
                    <a:pt x="2541" y="19286"/>
                  </a:lnTo>
                  <a:lnTo>
                    <a:pt x="1964" y="19903"/>
                  </a:lnTo>
                  <a:lnTo>
                    <a:pt x="4620" y="16971"/>
                  </a:lnTo>
                  <a:close/>
                </a:path>
                <a:path w="21600" h="21600" extrusionOk="0">
                  <a:moveTo>
                    <a:pt x="7624" y="2314"/>
                  </a:moveTo>
                  <a:moveTo>
                    <a:pt x="16402" y="2314"/>
                  </a:moveTo>
                  <a:lnTo>
                    <a:pt x="16402" y="11880"/>
                  </a:lnTo>
                  <a:lnTo>
                    <a:pt x="7624" y="11880"/>
                  </a:lnTo>
                  <a:lnTo>
                    <a:pt x="7624" y="2314"/>
                  </a:lnTo>
                  <a:close/>
                </a:path>
                <a:path w="21600" h="21600" extrusionOk="0">
                  <a:moveTo>
                    <a:pt x="578" y="4011"/>
                  </a:moveTo>
                  <a:moveTo>
                    <a:pt x="4043" y="4011"/>
                  </a:moveTo>
                  <a:lnTo>
                    <a:pt x="4043" y="4320"/>
                  </a:lnTo>
                  <a:lnTo>
                    <a:pt x="578" y="4320"/>
                  </a:lnTo>
                  <a:lnTo>
                    <a:pt x="578" y="4011"/>
                  </a:lnTo>
                  <a:close/>
                  <a:moveTo>
                    <a:pt x="7624" y="14194"/>
                  </a:moveTo>
                  <a:lnTo>
                    <a:pt x="16402" y="14194"/>
                  </a:lnTo>
                  <a:lnTo>
                    <a:pt x="16402" y="16200"/>
                  </a:lnTo>
                  <a:lnTo>
                    <a:pt x="7624" y="16200"/>
                  </a:lnTo>
                </a:path>
              </a:pathLst>
            </a:cu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6" name="Picture 7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4051" y="4664076"/>
              <a:ext cx="792162" cy="720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computr3"/>
            <p:cNvSpPr>
              <a:spLocks noEditPoints="1" noChangeArrowheads="1"/>
            </p:cNvSpPr>
            <p:nvPr/>
          </p:nvSpPr>
          <p:spPr bwMode="auto">
            <a:xfrm>
              <a:off x="267495" y="5817395"/>
              <a:ext cx="773112" cy="560388"/>
            </a:xfrm>
            <a:custGeom>
              <a:avLst/>
              <a:gdLst>
                <a:gd name="T0" fmla="*/ 0 w 21600"/>
                <a:gd name="T1" fmla="*/ 10800 h 21600"/>
                <a:gd name="T2" fmla="*/ 10800 w 21600"/>
                <a:gd name="T3" fmla="*/ 0 h 21600"/>
                <a:gd name="T4" fmla="*/ 10800 w 21600"/>
                <a:gd name="T5" fmla="*/ 21600 h 21600"/>
                <a:gd name="T6" fmla="*/ 18135 w 21600"/>
                <a:gd name="T7" fmla="*/ 10800 h 21600"/>
                <a:gd name="T8" fmla="*/ 7811 w 21600"/>
                <a:gd name="T9" fmla="*/ 2584 h 21600"/>
                <a:gd name="T10" fmla="*/ 16359 w 21600"/>
                <a:gd name="T11" fmla="*/ 11764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8250" y="17743"/>
                  </a:moveTo>
                  <a:lnTo>
                    <a:pt x="17557" y="16971"/>
                  </a:lnTo>
                  <a:lnTo>
                    <a:pt x="5429" y="16971"/>
                  </a:lnTo>
                  <a:lnTo>
                    <a:pt x="4736" y="17743"/>
                  </a:lnTo>
                  <a:lnTo>
                    <a:pt x="18250" y="17743"/>
                  </a:lnTo>
                  <a:close/>
                </a:path>
                <a:path w="21600" h="21600" extrusionOk="0">
                  <a:moveTo>
                    <a:pt x="18250" y="17743"/>
                  </a:moveTo>
                  <a:moveTo>
                    <a:pt x="19405" y="19131"/>
                  </a:moveTo>
                  <a:lnTo>
                    <a:pt x="18712" y="18360"/>
                  </a:lnTo>
                  <a:lnTo>
                    <a:pt x="4274" y="18360"/>
                  </a:lnTo>
                  <a:lnTo>
                    <a:pt x="3581" y="19131"/>
                  </a:lnTo>
                  <a:lnTo>
                    <a:pt x="19405" y="19131"/>
                  </a:lnTo>
                  <a:close/>
                </a:path>
                <a:path w="21600" h="21600" extrusionOk="0">
                  <a:moveTo>
                    <a:pt x="19405" y="19131"/>
                  </a:moveTo>
                  <a:moveTo>
                    <a:pt x="20560" y="20520"/>
                  </a:moveTo>
                  <a:lnTo>
                    <a:pt x="19867" y="19749"/>
                  </a:lnTo>
                  <a:lnTo>
                    <a:pt x="3119" y="19749"/>
                  </a:lnTo>
                  <a:lnTo>
                    <a:pt x="2426" y="20520"/>
                  </a:lnTo>
                  <a:lnTo>
                    <a:pt x="20560" y="20520"/>
                  </a:lnTo>
                  <a:close/>
                </a:path>
                <a:path w="21600" h="21600" extrusionOk="0">
                  <a:moveTo>
                    <a:pt x="20560" y="20520"/>
                  </a:moveTo>
                  <a:moveTo>
                    <a:pt x="4620" y="16971"/>
                  </a:moveTo>
                  <a:lnTo>
                    <a:pt x="5313" y="16200"/>
                  </a:lnTo>
                  <a:lnTo>
                    <a:pt x="7624" y="16200"/>
                  </a:lnTo>
                  <a:lnTo>
                    <a:pt x="7624" y="14194"/>
                  </a:lnTo>
                  <a:lnTo>
                    <a:pt x="5891" y="14194"/>
                  </a:lnTo>
                  <a:lnTo>
                    <a:pt x="5891" y="0"/>
                  </a:lnTo>
                  <a:lnTo>
                    <a:pt x="12013" y="0"/>
                  </a:lnTo>
                  <a:lnTo>
                    <a:pt x="18135" y="0"/>
                  </a:lnTo>
                  <a:lnTo>
                    <a:pt x="18135" y="10800"/>
                  </a:lnTo>
                  <a:lnTo>
                    <a:pt x="18135" y="14194"/>
                  </a:lnTo>
                  <a:lnTo>
                    <a:pt x="16402" y="14194"/>
                  </a:lnTo>
                  <a:lnTo>
                    <a:pt x="16402" y="16200"/>
                  </a:lnTo>
                  <a:lnTo>
                    <a:pt x="17788" y="16200"/>
                  </a:lnTo>
                  <a:lnTo>
                    <a:pt x="19059" y="17743"/>
                  </a:lnTo>
                  <a:lnTo>
                    <a:pt x="21022" y="19903"/>
                  </a:lnTo>
                  <a:lnTo>
                    <a:pt x="21253" y="20057"/>
                  </a:lnTo>
                  <a:lnTo>
                    <a:pt x="21369" y="20366"/>
                  </a:lnTo>
                  <a:lnTo>
                    <a:pt x="21600" y="20674"/>
                  </a:lnTo>
                  <a:lnTo>
                    <a:pt x="21600" y="20829"/>
                  </a:lnTo>
                  <a:lnTo>
                    <a:pt x="21600" y="20983"/>
                  </a:lnTo>
                  <a:lnTo>
                    <a:pt x="21600" y="21137"/>
                  </a:lnTo>
                  <a:lnTo>
                    <a:pt x="21600" y="21291"/>
                  </a:lnTo>
                  <a:lnTo>
                    <a:pt x="21484" y="21446"/>
                  </a:lnTo>
                  <a:lnTo>
                    <a:pt x="21369" y="21446"/>
                  </a:lnTo>
                  <a:lnTo>
                    <a:pt x="21138" y="21600"/>
                  </a:lnTo>
                  <a:lnTo>
                    <a:pt x="21022" y="21600"/>
                  </a:lnTo>
                  <a:lnTo>
                    <a:pt x="10973" y="21600"/>
                  </a:lnTo>
                  <a:lnTo>
                    <a:pt x="2079" y="21600"/>
                  </a:lnTo>
                  <a:lnTo>
                    <a:pt x="1848" y="21600"/>
                  </a:lnTo>
                  <a:lnTo>
                    <a:pt x="1733" y="21446"/>
                  </a:lnTo>
                  <a:lnTo>
                    <a:pt x="1617" y="21446"/>
                  </a:lnTo>
                  <a:lnTo>
                    <a:pt x="1502" y="21291"/>
                  </a:lnTo>
                  <a:lnTo>
                    <a:pt x="1386" y="21291"/>
                  </a:lnTo>
                  <a:lnTo>
                    <a:pt x="1386" y="21137"/>
                  </a:lnTo>
                  <a:lnTo>
                    <a:pt x="1386" y="20983"/>
                  </a:lnTo>
                  <a:lnTo>
                    <a:pt x="1386" y="20829"/>
                  </a:lnTo>
                  <a:lnTo>
                    <a:pt x="1502" y="20674"/>
                  </a:lnTo>
                  <a:lnTo>
                    <a:pt x="1617" y="20366"/>
                  </a:lnTo>
                  <a:lnTo>
                    <a:pt x="1733" y="20057"/>
                  </a:lnTo>
                  <a:lnTo>
                    <a:pt x="1964" y="19903"/>
                  </a:lnTo>
                  <a:lnTo>
                    <a:pt x="0" y="19903"/>
                  </a:lnTo>
                  <a:lnTo>
                    <a:pt x="0" y="10800"/>
                  </a:lnTo>
                  <a:lnTo>
                    <a:pt x="0" y="2777"/>
                  </a:lnTo>
                  <a:lnTo>
                    <a:pt x="4620" y="2777"/>
                  </a:lnTo>
                  <a:lnTo>
                    <a:pt x="4620" y="16971"/>
                  </a:lnTo>
                  <a:moveTo>
                    <a:pt x="4620" y="16971"/>
                  </a:moveTo>
                  <a:moveTo>
                    <a:pt x="4620" y="16971"/>
                  </a:moveTo>
                  <a:lnTo>
                    <a:pt x="4158" y="17434"/>
                  </a:lnTo>
                  <a:lnTo>
                    <a:pt x="2541" y="19286"/>
                  </a:lnTo>
                  <a:lnTo>
                    <a:pt x="1964" y="19903"/>
                  </a:lnTo>
                  <a:lnTo>
                    <a:pt x="4620" y="16971"/>
                  </a:lnTo>
                  <a:close/>
                </a:path>
                <a:path w="21600" h="21600" extrusionOk="0">
                  <a:moveTo>
                    <a:pt x="7624" y="2314"/>
                  </a:moveTo>
                  <a:moveTo>
                    <a:pt x="16402" y="2314"/>
                  </a:moveTo>
                  <a:lnTo>
                    <a:pt x="16402" y="11880"/>
                  </a:lnTo>
                  <a:lnTo>
                    <a:pt x="7624" y="11880"/>
                  </a:lnTo>
                  <a:lnTo>
                    <a:pt x="7624" y="2314"/>
                  </a:lnTo>
                  <a:close/>
                </a:path>
                <a:path w="21600" h="21600" extrusionOk="0">
                  <a:moveTo>
                    <a:pt x="578" y="4011"/>
                  </a:moveTo>
                  <a:moveTo>
                    <a:pt x="4043" y="4011"/>
                  </a:moveTo>
                  <a:lnTo>
                    <a:pt x="4043" y="4320"/>
                  </a:lnTo>
                  <a:lnTo>
                    <a:pt x="578" y="4320"/>
                  </a:lnTo>
                  <a:lnTo>
                    <a:pt x="578" y="4011"/>
                  </a:lnTo>
                  <a:close/>
                  <a:moveTo>
                    <a:pt x="7624" y="14194"/>
                  </a:moveTo>
                  <a:lnTo>
                    <a:pt x="16402" y="14194"/>
                  </a:lnTo>
                  <a:lnTo>
                    <a:pt x="16402" y="16200"/>
                  </a:lnTo>
                  <a:lnTo>
                    <a:pt x="7624" y="16200"/>
                  </a:lnTo>
                </a:path>
              </a:pathLst>
            </a:cu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2" name="直接连接符 11"/>
            <p:cNvCxnSpPr>
              <a:stCxn id="6" idx="2"/>
              <a:endCxn id="7" idx="1"/>
            </p:cNvCxnSpPr>
            <p:nvPr/>
          </p:nvCxnSpPr>
          <p:spPr bwMode="auto">
            <a:xfrm flipH="1">
              <a:off x="654051" y="5384801"/>
              <a:ext cx="396081" cy="432594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接连接符 13"/>
            <p:cNvCxnSpPr>
              <a:stCxn id="6" idx="2"/>
              <a:endCxn id="3" idx="1"/>
            </p:cNvCxnSpPr>
            <p:nvPr/>
          </p:nvCxnSpPr>
          <p:spPr bwMode="auto">
            <a:xfrm>
              <a:off x="1050132" y="5384801"/>
              <a:ext cx="552450" cy="432594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8" name="组合 27"/>
          <p:cNvGrpSpPr/>
          <p:nvPr/>
        </p:nvGrpSpPr>
        <p:grpSpPr>
          <a:xfrm>
            <a:off x="3440586" y="4852614"/>
            <a:ext cx="1323179" cy="1498598"/>
            <a:chOff x="267495" y="4664076"/>
            <a:chExt cx="1721643" cy="1713707"/>
          </a:xfrm>
        </p:grpSpPr>
        <p:sp>
          <p:nvSpPr>
            <p:cNvPr id="29" name="computr3"/>
            <p:cNvSpPr>
              <a:spLocks noEditPoints="1" noChangeArrowheads="1"/>
            </p:cNvSpPr>
            <p:nvPr/>
          </p:nvSpPr>
          <p:spPr bwMode="auto">
            <a:xfrm>
              <a:off x="1216026" y="5817395"/>
              <a:ext cx="773112" cy="560388"/>
            </a:xfrm>
            <a:custGeom>
              <a:avLst/>
              <a:gdLst>
                <a:gd name="T0" fmla="*/ 0 w 21600"/>
                <a:gd name="T1" fmla="*/ 10800 h 21600"/>
                <a:gd name="T2" fmla="*/ 10800 w 21600"/>
                <a:gd name="T3" fmla="*/ 0 h 21600"/>
                <a:gd name="T4" fmla="*/ 10800 w 21600"/>
                <a:gd name="T5" fmla="*/ 21600 h 21600"/>
                <a:gd name="T6" fmla="*/ 18135 w 21600"/>
                <a:gd name="T7" fmla="*/ 10800 h 21600"/>
                <a:gd name="T8" fmla="*/ 7811 w 21600"/>
                <a:gd name="T9" fmla="*/ 2584 h 21600"/>
                <a:gd name="T10" fmla="*/ 16359 w 21600"/>
                <a:gd name="T11" fmla="*/ 11764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8250" y="17743"/>
                  </a:moveTo>
                  <a:lnTo>
                    <a:pt x="17557" y="16971"/>
                  </a:lnTo>
                  <a:lnTo>
                    <a:pt x="5429" y="16971"/>
                  </a:lnTo>
                  <a:lnTo>
                    <a:pt x="4736" y="17743"/>
                  </a:lnTo>
                  <a:lnTo>
                    <a:pt x="18250" y="17743"/>
                  </a:lnTo>
                  <a:close/>
                </a:path>
                <a:path w="21600" h="21600" extrusionOk="0">
                  <a:moveTo>
                    <a:pt x="18250" y="17743"/>
                  </a:moveTo>
                  <a:moveTo>
                    <a:pt x="19405" y="19131"/>
                  </a:moveTo>
                  <a:lnTo>
                    <a:pt x="18712" y="18360"/>
                  </a:lnTo>
                  <a:lnTo>
                    <a:pt x="4274" y="18360"/>
                  </a:lnTo>
                  <a:lnTo>
                    <a:pt x="3581" y="19131"/>
                  </a:lnTo>
                  <a:lnTo>
                    <a:pt x="19405" y="19131"/>
                  </a:lnTo>
                  <a:close/>
                </a:path>
                <a:path w="21600" h="21600" extrusionOk="0">
                  <a:moveTo>
                    <a:pt x="19405" y="19131"/>
                  </a:moveTo>
                  <a:moveTo>
                    <a:pt x="20560" y="20520"/>
                  </a:moveTo>
                  <a:lnTo>
                    <a:pt x="19867" y="19749"/>
                  </a:lnTo>
                  <a:lnTo>
                    <a:pt x="3119" y="19749"/>
                  </a:lnTo>
                  <a:lnTo>
                    <a:pt x="2426" y="20520"/>
                  </a:lnTo>
                  <a:lnTo>
                    <a:pt x="20560" y="20520"/>
                  </a:lnTo>
                  <a:close/>
                </a:path>
                <a:path w="21600" h="21600" extrusionOk="0">
                  <a:moveTo>
                    <a:pt x="20560" y="20520"/>
                  </a:moveTo>
                  <a:moveTo>
                    <a:pt x="4620" y="16971"/>
                  </a:moveTo>
                  <a:lnTo>
                    <a:pt x="5313" y="16200"/>
                  </a:lnTo>
                  <a:lnTo>
                    <a:pt x="7624" y="16200"/>
                  </a:lnTo>
                  <a:lnTo>
                    <a:pt x="7624" y="14194"/>
                  </a:lnTo>
                  <a:lnTo>
                    <a:pt x="5891" y="14194"/>
                  </a:lnTo>
                  <a:lnTo>
                    <a:pt x="5891" y="0"/>
                  </a:lnTo>
                  <a:lnTo>
                    <a:pt x="12013" y="0"/>
                  </a:lnTo>
                  <a:lnTo>
                    <a:pt x="18135" y="0"/>
                  </a:lnTo>
                  <a:lnTo>
                    <a:pt x="18135" y="10800"/>
                  </a:lnTo>
                  <a:lnTo>
                    <a:pt x="18135" y="14194"/>
                  </a:lnTo>
                  <a:lnTo>
                    <a:pt x="16402" y="14194"/>
                  </a:lnTo>
                  <a:lnTo>
                    <a:pt x="16402" y="16200"/>
                  </a:lnTo>
                  <a:lnTo>
                    <a:pt x="17788" y="16200"/>
                  </a:lnTo>
                  <a:lnTo>
                    <a:pt x="19059" y="17743"/>
                  </a:lnTo>
                  <a:lnTo>
                    <a:pt x="21022" y="19903"/>
                  </a:lnTo>
                  <a:lnTo>
                    <a:pt x="21253" y="20057"/>
                  </a:lnTo>
                  <a:lnTo>
                    <a:pt x="21369" y="20366"/>
                  </a:lnTo>
                  <a:lnTo>
                    <a:pt x="21600" y="20674"/>
                  </a:lnTo>
                  <a:lnTo>
                    <a:pt x="21600" y="20829"/>
                  </a:lnTo>
                  <a:lnTo>
                    <a:pt x="21600" y="20983"/>
                  </a:lnTo>
                  <a:lnTo>
                    <a:pt x="21600" y="21137"/>
                  </a:lnTo>
                  <a:lnTo>
                    <a:pt x="21600" y="21291"/>
                  </a:lnTo>
                  <a:lnTo>
                    <a:pt x="21484" y="21446"/>
                  </a:lnTo>
                  <a:lnTo>
                    <a:pt x="21369" y="21446"/>
                  </a:lnTo>
                  <a:lnTo>
                    <a:pt x="21138" y="21600"/>
                  </a:lnTo>
                  <a:lnTo>
                    <a:pt x="21022" y="21600"/>
                  </a:lnTo>
                  <a:lnTo>
                    <a:pt x="10973" y="21600"/>
                  </a:lnTo>
                  <a:lnTo>
                    <a:pt x="2079" y="21600"/>
                  </a:lnTo>
                  <a:lnTo>
                    <a:pt x="1848" y="21600"/>
                  </a:lnTo>
                  <a:lnTo>
                    <a:pt x="1733" y="21446"/>
                  </a:lnTo>
                  <a:lnTo>
                    <a:pt x="1617" y="21446"/>
                  </a:lnTo>
                  <a:lnTo>
                    <a:pt x="1502" y="21291"/>
                  </a:lnTo>
                  <a:lnTo>
                    <a:pt x="1386" y="21291"/>
                  </a:lnTo>
                  <a:lnTo>
                    <a:pt x="1386" y="21137"/>
                  </a:lnTo>
                  <a:lnTo>
                    <a:pt x="1386" y="20983"/>
                  </a:lnTo>
                  <a:lnTo>
                    <a:pt x="1386" y="20829"/>
                  </a:lnTo>
                  <a:lnTo>
                    <a:pt x="1502" y="20674"/>
                  </a:lnTo>
                  <a:lnTo>
                    <a:pt x="1617" y="20366"/>
                  </a:lnTo>
                  <a:lnTo>
                    <a:pt x="1733" y="20057"/>
                  </a:lnTo>
                  <a:lnTo>
                    <a:pt x="1964" y="19903"/>
                  </a:lnTo>
                  <a:lnTo>
                    <a:pt x="0" y="19903"/>
                  </a:lnTo>
                  <a:lnTo>
                    <a:pt x="0" y="10800"/>
                  </a:lnTo>
                  <a:lnTo>
                    <a:pt x="0" y="2777"/>
                  </a:lnTo>
                  <a:lnTo>
                    <a:pt x="4620" y="2777"/>
                  </a:lnTo>
                  <a:lnTo>
                    <a:pt x="4620" y="16971"/>
                  </a:lnTo>
                  <a:moveTo>
                    <a:pt x="4620" y="16971"/>
                  </a:moveTo>
                  <a:moveTo>
                    <a:pt x="4620" y="16971"/>
                  </a:moveTo>
                  <a:lnTo>
                    <a:pt x="4158" y="17434"/>
                  </a:lnTo>
                  <a:lnTo>
                    <a:pt x="2541" y="19286"/>
                  </a:lnTo>
                  <a:lnTo>
                    <a:pt x="1964" y="19903"/>
                  </a:lnTo>
                  <a:lnTo>
                    <a:pt x="4620" y="16971"/>
                  </a:lnTo>
                  <a:close/>
                </a:path>
                <a:path w="21600" h="21600" extrusionOk="0">
                  <a:moveTo>
                    <a:pt x="7624" y="2314"/>
                  </a:moveTo>
                  <a:moveTo>
                    <a:pt x="16402" y="2314"/>
                  </a:moveTo>
                  <a:lnTo>
                    <a:pt x="16402" y="11880"/>
                  </a:lnTo>
                  <a:lnTo>
                    <a:pt x="7624" y="11880"/>
                  </a:lnTo>
                  <a:lnTo>
                    <a:pt x="7624" y="2314"/>
                  </a:lnTo>
                  <a:close/>
                </a:path>
                <a:path w="21600" h="21600" extrusionOk="0">
                  <a:moveTo>
                    <a:pt x="578" y="4011"/>
                  </a:moveTo>
                  <a:moveTo>
                    <a:pt x="4043" y="4011"/>
                  </a:moveTo>
                  <a:lnTo>
                    <a:pt x="4043" y="4320"/>
                  </a:lnTo>
                  <a:lnTo>
                    <a:pt x="578" y="4320"/>
                  </a:lnTo>
                  <a:lnTo>
                    <a:pt x="578" y="4011"/>
                  </a:lnTo>
                  <a:close/>
                  <a:moveTo>
                    <a:pt x="7624" y="14194"/>
                  </a:moveTo>
                  <a:lnTo>
                    <a:pt x="16402" y="14194"/>
                  </a:lnTo>
                  <a:lnTo>
                    <a:pt x="16402" y="16200"/>
                  </a:lnTo>
                  <a:lnTo>
                    <a:pt x="7624" y="16200"/>
                  </a:lnTo>
                </a:path>
              </a:pathLst>
            </a:cu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30" name="Picture 7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4051" y="4664076"/>
              <a:ext cx="792162" cy="720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1" name="computr3"/>
            <p:cNvSpPr>
              <a:spLocks noEditPoints="1" noChangeArrowheads="1"/>
            </p:cNvSpPr>
            <p:nvPr/>
          </p:nvSpPr>
          <p:spPr bwMode="auto">
            <a:xfrm>
              <a:off x="267495" y="5817395"/>
              <a:ext cx="773112" cy="560388"/>
            </a:xfrm>
            <a:custGeom>
              <a:avLst/>
              <a:gdLst>
                <a:gd name="T0" fmla="*/ 0 w 21600"/>
                <a:gd name="T1" fmla="*/ 10800 h 21600"/>
                <a:gd name="T2" fmla="*/ 10800 w 21600"/>
                <a:gd name="T3" fmla="*/ 0 h 21600"/>
                <a:gd name="T4" fmla="*/ 10800 w 21600"/>
                <a:gd name="T5" fmla="*/ 21600 h 21600"/>
                <a:gd name="T6" fmla="*/ 18135 w 21600"/>
                <a:gd name="T7" fmla="*/ 10800 h 21600"/>
                <a:gd name="T8" fmla="*/ 7811 w 21600"/>
                <a:gd name="T9" fmla="*/ 2584 h 21600"/>
                <a:gd name="T10" fmla="*/ 16359 w 21600"/>
                <a:gd name="T11" fmla="*/ 11764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8250" y="17743"/>
                  </a:moveTo>
                  <a:lnTo>
                    <a:pt x="17557" y="16971"/>
                  </a:lnTo>
                  <a:lnTo>
                    <a:pt x="5429" y="16971"/>
                  </a:lnTo>
                  <a:lnTo>
                    <a:pt x="4736" y="17743"/>
                  </a:lnTo>
                  <a:lnTo>
                    <a:pt x="18250" y="17743"/>
                  </a:lnTo>
                  <a:close/>
                </a:path>
                <a:path w="21600" h="21600" extrusionOk="0">
                  <a:moveTo>
                    <a:pt x="18250" y="17743"/>
                  </a:moveTo>
                  <a:moveTo>
                    <a:pt x="19405" y="19131"/>
                  </a:moveTo>
                  <a:lnTo>
                    <a:pt x="18712" y="18360"/>
                  </a:lnTo>
                  <a:lnTo>
                    <a:pt x="4274" y="18360"/>
                  </a:lnTo>
                  <a:lnTo>
                    <a:pt x="3581" y="19131"/>
                  </a:lnTo>
                  <a:lnTo>
                    <a:pt x="19405" y="19131"/>
                  </a:lnTo>
                  <a:close/>
                </a:path>
                <a:path w="21600" h="21600" extrusionOk="0">
                  <a:moveTo>
                    <a:pt x="19405" y="19131"/>
                  </a:moveTo>
                  <a:moveTo>
                    <a:pt x="20560" y="20520"/>
                  </a:moveTo>
                  <a:lnTo>
                    <a:pt x="19867" y="19749"/>
                  </a:lnTo>
                  <a:lnTo>
                    <a:pt x="3119" y="19749"/>
                  </a:lnTo>
                  <a:lnTo>
                    <a:pt x="2426" y="20520"/>
                  </a:lnTo>
                  <a:lnTo>
                    <a:pt x="20560" y="20520"/>
                  </a:lnTo>
                  <a:close/>
                </a:path>
                <a:path w="21600" h="21600" extrusionOk="0">
                  <a:moveTo>
                    <a:pt x="20560" y="20520"/>
                  </a:moveTo>
                  <a:moveTo>
                    <a:pt x="4620" y="16971"/>
                  </a:moveTo>
                  <a:lnTo>
                    <a:pt x="5313" y="16200"/>
                  </a:lnTo>
                  <a:lnTo>
                    <a:pt x="7624" y="16200"/>
                  </a:lnTo>
                  <a:lnTo>
                    <a:pt x="7624" y="14194"/>
                  </a:lnTo>
                  <a:lnTo>
                    <a:pt x="5891" y="14194"/>
                  </a:lnTo>
                  <a:lnTo>
                    <a:pt x="5891" y="0"/>
                  </a:lnTo>
                  <a:lnTo>
                    <a:pt x="12013" y="0"/>
                  </a:lnTo>
                  <a:lnTo>
                    <a:pt x="18135" y="0"/>
                  </a:lnTo>
                  <a:lnTo>
                    <a:pt x="18135" y="10800"/>
                  </a:lnTo>
                  <a:lnTo>
                    <a:pt x="18135" y="14194"/>
                  </a:lnTo>
                  <a:lnTo>
                    <a:pt x="16402" y="14194"/>
                  </a:lnTo>
                  <a:lnTo>
                    <a:pt x="16402" y="16200"/>
                  </a:lnTo>
                  <a:lnTo>
                    <a:pt x="17788" y="16200"/>
                  </a:lnTo>
                  <a:lnTo>
                    <a:pt x="19059" y="17743"/>
                  </a:lnTo>
                  <a:lnTo>
                    <a:pt x="21022" y="19903"/>
                  </a:lnTo>
                  <a:lnTo>
                    <a:pt x="21253" y="20057"/>
                  </a:lnTo>
                  <a:lnTo>
                    <a:pt x="21369" y="20366"/>
                  </a:lnTo>
                  <a:lnTo>
                    <a:pt x="21600" y="20674"/>
                  </a:lnTo>
                  <a:lnTo>
                    <a:pt x="21600" y="20829"/>
                  </a:lnTo>
                  <a:lnTo>
                    <a:pt x="21600" y="20983"/>
                  </a:lnTo>
                  <a:lnTo>
                    <a:pt x="21600" y="21137"/>
                  </a:lnTo>
                  <a:lnTo>
                    <a:pt x="21600" y="21291"/>
                  </a:lnTo>
                  <a:lnTo>
                    <a:pt x="21484" y="21446"/>
                  </a:lnTo>
                  <a:lnTo>
                    <a:pt x="21369" y="21446"/>
                  </a:lnTo>
                  <a:lnTo>
                    <a:pt x="21138" y="21600"/>
                  </a:lnTo>
                  <a:lnTo>
                    <a:pt x="21022" y="21600"/>
                  </a:lnTo>
                  <a:lnTo>
                    <a:pt x="10973" y="21600"/>
                  </a:lnTo>
                  <a:lnTo>
                    <a:pt x="2079" y="21600"/>
                  </a:lnTo>
                  <a:lnTo>
                    <a:pt x="1848" y="21600"/>
                  </a:lnTo>
                  <a:lnTo>
                    <a:pt x="1733" y="21446"/>
                  </a:lnTo>
                  <a:lnTo>
                    <a:pt x="1617" y="21446"/>
                  </a:lnTo>
                  <a:lnTo>
                    <a:pt x="1502" y="21291"/>
                  </a:lnTo>
                  <a:lnTo>
                    <a:pt x="1386" y="21291"/>
                  </a:lnTo>
                  <a:lnTo>
                    <a:pt x="1386" y="21137"/>
                  </a:lnTo>
                  <a:lnTo>
                    <a:pt x="1386" y="20983"/>
                  </a:lnTo>
                  <a:lnTo>
                    <a:pt x="1386" y="20829"/>
                  </a:lnTo>
                  <a:lnTo>
                    <a:pt x="1502" y="20674"/>
                  </a:lnTo>
                  <a:lnTo>
                    <a:pt x="1617" y="20366"/>
                  </a:lnTo>
                  <a:lnTo>
                    <a:pt x="1733" y="20057"/>
                  </a:lnTo>
                  <a:lnTo>
                    <a:pt x="1964" y="19903"/>
                  </a:lnTo>
                  <a:lnTo>
                    <a:pt x="0" y="19903"/>
                  </a:lnTo>
                  <a:lnTo>
                    <a:pt x="0" y="10800"/>
                  </a:lnTo>
                  <a:lnTo>
                    <a:pt x="0" y="2777"/>
                  </a:lnTo>
                  <a:lnTo>
                    <a:pt x="4620" y="2777"/>
                  </a:lnTo>
                  <a:lnTo>
                    <a:pt x="4620" y="16971"/>
                  </a:lnTo>
                  <a:moveTo>
                    <a:pt x="4620" y="16971"/>
                  </a:moveTo>
                  <a:moveTo>
                    <a:pt x="4620" y="16971"/>
                  </a:moveTo>
                  <a:lnTo>
                    <a:pt x="4158" y="17434"/>
                  </a:lnTo>
                  <a:lnTo>
                    <a:pt x="2541" y="19286"/>
                  </a:lnTo>
                  <a:lnTo>
                    <a:pt x="1964" y="19903"/>
                  </a:lnTo>
                  <a:lnTo>
                    <a:pt x="4620" y="16971"/>
                  </a:lnTo>
                  <a:close/>
                </a:path>
                <a:path w="21600" h="21600" extrusionOk="0">
                  <a:moveTo>
                    <a:pt x="7624" y="2314"/>
                  </a:moveTo>
                  <a:moveTo>
                    <a:pt x="16402" y="2314"/>
                  </a:moveTo>
                  <a:lnTo>
                    <a:pt x="16402" y="11880"/>
                  </a:lnTo>
                  <a:lnTo>
                    <a:pt x="7624" y="11880"/>
                  </a:lnTo>
                  <a:lnTo>
                    <a:pt x="7624" y="2314"/>
                  </a:lnTo>
                  <a:close/>
                </a:path>
                <a:path w="21600" h="21600" extrusionOk="0">
                  <a:moveTo>
                    <a:pt x="578" y="4011"/>
                  </a:moveTo>
                  <a:moveTo>
                    <a:pt x="4043" y="4011"/>
                  </a:moveTo>
                  <a:lnTo>
                    <a:pt x="4043" y="4320"/>
                  </a:lnTo>
                  <a:lnTo>
                    <a:pt x="578" y="4320"/>
                  </a:lnTo>
                  <a:lnTo>
                    <a:pt x="578" y="4011"/>
                  </a:lnTo>
                  <a:close/>
                  <a:moveTo>
                    <a:pt x="7624" y="14194"/>
                  </a:moveTo>
                  <a:lnTo>
                    <a:pt x="16402" y="14194"/>
                  </a:lnTo>
                  <a:lnTo>
                    <a:pt x="16402" y="16200"/>
                  </a:lnTo>
                  <a:lnTo>
                    <a:pt x="7624" y="16200"/>
                  </a:lnTo>
                </a:path>
              </a:pathLst>
            </a:cu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32" name="直接连接符 31"/>
            <p:cNvCxnSpPr>
              <a:stCxn id="30" idx="2"/>
              <a:endCxn id="31" idx="1"/>
            </p:cNvCxnSpPr>
            <p:nvPr/>
          </p:nvCxnSpPr>
          <p:spPr bwMode="auto">
            <a:xfrm flipH="1">
              <a:off x="654051" y="5384801"/>
              <a:ext cx="396081" cy="432594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直接连接符 32"/>
            <p:cNvCxnSpPr>
              <a:stCxn id="30" idx="2"/>
              <a:endCxn id="29" idx="1"/>
            </p:cNvCxnSpPr>
            <p:nvPr/>
          </p:nvCxnSpPr>
          <p:spPr bwMode="auto">
            <a:xfrm>
              <a:off x="1050132" y="5384801"/>
              <a:ext cx="552450" cy="432594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" name="组合 33"/>
          <p:cNvGrpSpPr/>
          <p:nvPr/>
        </p:nvGrpSpPr>
        <p:grpSpPr>
          <a:xfrm>
            <a:off x="1790996" y="4782508"/>
            <a:ext cx="1323179" cy="1498598"/>
            <a:chOff x="267495" y="4664076"/>
            <a:chExt cx="1721643" cy="1713707"/>
          </a:xfrm>
        </p:grpSpPr>
        <p:sp>
          <p:nvSpPr>
            <p:cNvPr id="35" name="computr3"/>
            <p:cNvSpPr>
              <a:spLocks noEditPoints="1" noChangeArrowheads="1"/>
            </p:cNvSpPr>
            <p:nvPr/>
          </p:nvSpPr>
          <p:spPr bwMode="auto">
            <a:xfrm>
              <a:off x="1216026" y="5817395"/>
              <a:ext cx="773112" cy="560388"/>
            </a:xfrm>
            <a:custGeom>
              <a:avLst/>
              <a:gdLst>
                <a:gd name="T0" fmla="*/ 0 w 21600"/>
                <a:gd name="T1" fmla="*/ 10800 h 21600"/>
                <a:gd name="T2" fmla="*/ 10800 w 21600"/>
                <a:gd name="T3" fmla="*/ 0 h 21600"/>
                <a:gd name="T4" fmla="*/ 10800 w 21600"/>
                <a:gd name="T5" fmla="*/ 21600 h 21600"/>
                <a:gd name="T6" fmla="*/ 18135 w 21600"/>
                <a:gd name="T7" fmla="*/ 10800 h 21600"/>
                <a:gd name="T8" fmla="*/ 7811 w 21600"/>
                <a:gd name="T9" fmla="*/ 2584 h 21600"/>
                <a:gd name="T10" fmla="*/ 16359 w 21600"/>
                <a:gd name="T11" fmla="*/ 11764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8250" y="17743"/>
                  </a:moveTo>
                  <a:lnTo>
                    <a:pt x="17557" y="16971"/>
                  </a:lnTo>
                  <a:lnTo>
                    <a:pt x="5429" y="16971"/>
                  </a:lnTo>
                  <a:lnTo>
                    <a:pt x="4736" y="17743"/>
                  </a:lnTo>
                  <a:lnTo>
                    <a:pt x="18250" y="17743"/>
                  </a:lnTo>
                  <a:close/>
                </a:path>
                <a:path w="21600" h="21600" extrusionOk="0">
                  <a:moveTo>
                    <a:pt x="18250" y="17743"/>
                  </a:moveTo>
                  <a:moveTo>
                    <a:pt x="19405" y="19131"/>
                  </a:moveTo>
                  <a:lnTo>
                    <a:pt x="18712" y="18360"/>
                  </a:lnTo>
                  <a:lnTo>
                    <a:pt x="4274" y="18360"/>
                  </a:lnTo>
                  <a:lnTo>
                    <a:pt x="3581" y="19131"/>
                  </a:lnTo>
                  <a:lnTo>
                    <a:pt x="19405" y="19131"/>
                  </a:lnTo>
                  <a:close/>
                </a:path>
                <a:path w="21600" h="21600" extrusionOk="0">
                  <a:moveTo>
                    <a:pt x="19405" y="19131"/>
                  </a:moveTo>
                  <a:moveTo>
                    <a:pt x="20560" y="20520"/>
                  </a:moveTo>
                  <a:lnTo>
                    <a:pt x="19867" y="19749"/>
                  </a:lnTo>
                  <a:lnTo>
                    <a:pt x="3119" y="19749"/>
                  </a:lnTo>
                  <a:lnTo>
                    <a:pt x="2426" y="20520"/>
                  </a:lnTo>
                  <a:lnTo>
                    <a:pt x="20560" y="20520"/>
                  </a:lnTo>
                  <a:close/>
                </a:path>
                <a:path w="21600" h="21600" extrusionOk="0">
                  <a:moveTo>
                    <a:pt x="20560" y="20520"/>
                  </a:moveTo>
                  <a:moveTo>
                    <a:pt x="4620" y="16971"/>
                  </a:moveTo>
                  <a:lnTo>
                    <a:pt x="5313" y="16200"/>
                  </a:lnTo>
                  <a:lnTo>
                    <a:pt x="7624" y="16200"/>
                  </a:lnTo>
                  <a:lnTo>
                    <a:pt x="7624" y="14194"/>
                  </a:lnTo>
                  <a:lnTo>
                    <a:pt x="5891" y="14194"/>
                  </a:lnTo>
                  <a:lnTo>
                    <a:pt x="5891" y="0"/>
                  </a:lnTo>
                  <a:lnTo>
                    <a:pt x="12013" y="0"/>
                  </a:lnTo>
                  <a:lnTo>
                    <a:pt x="18135" y="0"/>
                  </a:lnTo>
                  <a:lnTo>
                    <a:pt x="18135" y="10800"/>
                  </a:lnTo>
                  <a:lnTo>
                    <a:pt x="18135" y="14194"/>
                  </a:lnTo>
                  <a:lnTo>
                    <a:pt x="16402" y="14194"/>
                  </a:lnTo>
                  <a:lnTo>
                    <a:pt x="16402" y="16200"/>
                  </a:lnTo>
                  <a:lnTo>
                    <a:pt x="17788" y="16200"/>
                  </a:lnTo>
                  <a:lnTo>
                    <a:pt x="19059" y="17743"/>
                  </a:lnTo>
                  <a:lnTo>
                    <a:pt x="21022" y="19903"/>
                  </a:lnTo>
                  <a:lnTo>
                    <a:pt x="21253" y="20057"/>
                  </a:lnTo>
                  <a:lnTo>
                    <a:pt x="21369" y="20366"/>
                  </a:lnTo>
                  <a:lnTo>
                    <a:pt x="21600" y="20674"/>
                  </a:lnTo>
                  <a:lnTo>
                    <a:pt x="21600" y="20829"/>
                  </a:lnTo>
                  <a:lnTo>
                    <a:pt x="21600" y="20983"/>
                  </a:lnTo>
                  <a:lnTo>
                    <a:pt x="21600" y="21137"/>
                  </a:lnTo>
                  <a:lnTo>
                    <a:pt x="21600" y="21291"/>
                  </a:lnTo>
                  <a:lnTo>
                    <a:pt x="21484" y="21446"/>
                  </a:lnTo>
                  <a:lnTo>
                    <a:pt x="21369" y="21446"/>
                  </a:lnTo>
                  <a:lnTo>
                    <a:pt x="21138" y="21600"/>
                  </a:lnTo>
                  <a:lnTo>
                    <a:pt x="21022" y="21600"/>
                  </a:lnTo>
                  <a:lnTo>
                    <a:pt x="10973" y="21600"/>
                  </a:lnTo>
                  <a:lnTo>
                    <a:pt x="2079" y="21600"/>
                  </a:lnTo>
                  <a:lnTo>
                    <a:pt x="1848" y="21600"/>
                  </a:lnTo>
                  <a:lnTo>
                    <a:pt x="1733" y="21446"/>
                  </a:lnTo>
                  <a:lnTo>
                    <a:pt x="1617" y="21446"/>
                  </a:lnTo>
                  <a:lnTo>
                    <a:pt x="1502" y="21291"/>
                  </a:lnTo>
                  <a:lnTo>
                    <a:pt x="1386" y="21291"/>
                  </a:lnTo>
                  <a:lnTo>
                    <a:pt x="1386" y="21137"/>
                  </a:lnTo>
                  <a:lnTo>
                    <a:pt x="1386" y="20983"/>
                  </a:lnTo>
                  <a:lnTo>
                    <a:pt x="1386" y="20829"/>
                  </a:lnTo>
                  <a:lnTo>
                    <a:pt x="1502" y="20674"/>
                  </a:lnTo>
                  <a:lnTo>
                    <a:pt x="1617" y="20366"/>
                  </a:lnTo>
                  <a:lnTo>
                    <a:pt x="1733" y="20057"/>
                  </a:lnTo>
                  <a:lnTo>
                    <a:pt x="1964" y="19903"/>
                  </a:lnTo>
                  <a:lnTo>
                    <a:pt x="0" y="19903"/>
                  </a:lnTo>
                  <a:lnTo>
                    <a:pt x="0" y="10800"/>
                  </a:lnTo>
                  <a:lnTo>
                    <a:pt x="0" y="2777"/>
                  </a:lnTo>
                  <a:lnTo>
                    <a:pt x="4620" y="2777"/>
                  </a:lnTo>
                  <a:lnTo>
                    <a:pt x="4620" y="16971"/>
                  </a:lnTo>
                  <a:moveTo>
                    <a:pt x="4620" y="16971"/>
                  </a:moveTo>
                  <a:moveTo>
                    <a:pt x="4620" y="16971"/>
                  </a:moveTo>
                  <a:lnTo>
                    <a:pt x="4158" y="17434"/>
                  </a:lnTo>
                  <a:lnTo>
                    <a:pt x="2541" y="19286"/>
                  </a:lnTo>
                  <a:lnTo>
                    <a:pt x="1964" y="19903"/>
                  </a:lnTo>
                  <a:lnTo>
                    <a:pt x="4620" y="16971"/>
                  </a:lnTo>
                  <a:close/>
                </a:path>
                <a:path w="21600" h="21600" extrusionOk="0">
                  <a:moveTo>
                    <a:pt x="7624" y="2314"/>
                  </a:moveTo>
                  <a:moveTo>
                    <a:pt x="16402" y="2314"/>
                  </a:moveTo>
                  <a:lnTo>
                    <a:pt x="16402" y="11880"/>
                  </a:lnTo>
                  <a:lnTo>
                    <a:pt x="7624" y="11880"/>
                  </a:lnTo>
                  <a:lnTo>
                    <a:pt x="7624" y="2314"/>
                  </a:lnTo>
                  <a:close/>
                </a:path>
                <a:path w="21600" h="21600" extrusionOk="0">
                  <a:moveTo>
                    <a:pt x="578" y="4011"/>
                  </a:moveTo>
                  <a:moveTo>
                    <a:pt x="4043" y="4011"/>
                  </a:moveTo>
                  <a:lnTo>
                    <a:pt x="4043" y="4320"/>
                  </a:lnTo>
                  <a:lnTo>
                    <a:pt x="578" y="4320"/>
                  </a:lnTo>
                  <a:lnTo>
                    <a:pt x="578" y="4011"/>
                  </a:lnTo>
                  <a:close/>
                  <a:moveTo>
                    <a:pt x="7624" y="14194"/>
                  </a:moveTo>
                  <a:lnTo>
                    <a:pt x="16402" y="14194"/>
                  </a:lnTo>
                  <a:lnTo>
                    <a:pt x="16402" y="16200"/>
                  </a:lnTo>
                  <a:lnTo>
                    <a:pt x="7624" y="16200"/>
                  </a:lnTo>
                </a:path>
              </a:pathLst>
            </a:cu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36" name="Picture 7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4051" y="4664076"/>
              <a:ext cx="792162" cy="720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7" name="computr3"/>
            <p:cNvSpPr>
              <a:spLocks noEditPoints="1" noChangeArrowheads="1"/>
            </p:cNvSpPr>
            <p:nvPr/>
          </p:nvSpPr>
          <p:spPr bwMode="auto">
            <a:xfrm>
              <a:off x="267495" y="5817395"/>
              <a:ext cx="773112" cy="560388"/>
            </a:xfrm>
            <a:custGeom>
              <a:avLst/>
              <a:gdLst>
                <a:gd name="T0" fmla="*/ 0 w 21600"/>
                <a:gd name="T1" fmla="*/ 10800 h 21600"/>
                <a:gd name="T2" fmla="*/ 10800 w 21600"/>
                <a:gd name="T3" fmla="*/ 0 h 21600"/>
                <a:gd name="T4" fmla="*/ 10800 w 21600"/>
                <a:gd name="T5" fmla="*/ 21600 h 21600"/>
                <a:gd name="T6" fmla="*/ 18135 w 21600"/>
                <a:gd name="T7" fmla="*/ 10800 h 21600"/>
                <a:gd name="T8" fmla="*/ 7811 w 21600"/>
                <a:gd name="T9" fmla="*/ 2584 h 21600"/>
                <a:gd name="T10" fmla="*/ 16359 w 21600"/>
                <a:gd name="T11" fmla="*/ 11764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8250" y="17743"/>
                  </a:moveTo>
                  <a:lnTo>
                    <a:pt x="17557" y="16971"/>
                  </a:lnTo>
                  <a:lnTo>
                    <a:pt x="5429" y="16971"/>
                  </a:lnTo>
                  <a:lnTo>
                    <a:pt x="4736" y="17743"/>
                  </a:lnTo>
                  <a:lnTo>
                    <a:pt x="18250" y="17743"/>
                  </a:lnTo>
                  <a:close/>
                </a:path>
                <a:path w="21600" h="21600" extrusionOk="0">
                  <a:moveTo>
                    <a:pt x="18250" y="17743"/>
                  </a:moveTo>
                  <a:moveTo>
                    <a:pt x="19405" y="19131"/>
                  </a:moveTo>
                  <a:lnTo>
                    <a:pt x="18712" y="18360"/>
                  </a:lnTo>
                  <a:lnTo>
                    <a:pt x="4274" y="18360"/>
                  </a:lnTo>
                  <a:lnTo>
                    <a:pt x="3581" y="19131"/>
                  </a:lnTo>
                  <a:lnTo>
                    <a:pt x="19405" y="19131"/>
                  </a:lnTo>
                  <a:close/>
                </a:path>
                <a:path w="21600" h="21600" extrusionOk="0">
                  <a:moveTo>
                    <a:pt x="19405" y="19131"/>
                  </a:moveTo>
                  <a:moveTo>
                    <a:pt x="20560" y="20520"/>
                  </a:moveTo>
                  <a:lnTo>
                    <a:pt x="19867" y="19749"/>
                  </a:lnTo>
                  <a:lnTo>
                    <a:pt x="3119" y="19749"/>
                  </a:lnTo>
                  <a:lnTo>
                    <a:pt x="2426" y="20520"/>
                  </a:lnTo>
                  <a:lnTo>
                    <a:pt x="20560" y="20520"/>
                  </a:lnTo>
                  <a:close/>
                </a:path>
                <a:path w="21600" h="21600" extrusionOk="0">
                  <a:moveTo>
                    <a:pt x="20560" y="20520"/>
                  </a:moveTo>
                  <a:moveTo>
                    <a:pt x="4620" y="16971"/>
                  </a:moveTo>
                  <a:lnTo>
                    <a:pt x="5313" y="16200"/>
                  </a:lnTo>
                  <a:lnTo>
                    <a:pt x="7624" y="16200"/>
                  </a:lnTo>
                  <a:lnTo>
                    <a:pt x="7624" y="14194"/>
                  </a:lnTo>
                  <a:lnTo>
                    <a:pt x="5891" y="14194"/>
                  </a:lnTo>
                  <a:lnTo>
                    <a:pt x="5891" y="0"/>
                  </a:lnTo>
                  <a:lnTo>
                    <a:pt x="12013" y="0"/>
                  </a:lnTo>
                  <a:lnTo>
                    <a:pt x="18135" y="0"/>
                  </a:lnTo>
                  <a:lnTo>
                    <a:pt x="18135" y="10800"/>
                  </a:lnTo>
                  <a:lnTo>
                    <a:pt x="18135" y="14194"/>
                  </a:lnTo>
                  <a:lnTo>
                    <a:pt x="16402" y="14194"/>
                  </a:lnTo>
                  <a:lnTo>
                    <a:pt x="16402" y="16200"/>
                  </a:lnTo>
                  <a:lnTo>
                    <a:pt x="17788" y="16200"/>
                  </a:lnTo>
                  <a:lnTo>
                    <a:pt x="19059" y="17743"/>
                  </a:lnTo>
                  <a:lnTo>
                    <a:pt x="21022" y="19903"/>
                  </a:lnTo>
                  <a:lnTo>
                    <a:pt x="21253" y="20057"/>
                  </a:lnTo>
                  <a:lnTo>
                    <a:pt x="21369" y="20366"/>
                  </a:lnTo>
                  <a:lnTo>
                    <a:pt x="21600" y="20674"/>
                  </a:lnTo>
                  <a:lnTo>
                    <a:pt x="21600" y="20829"/>
                  </a:lnTo>
                  <a:lnTo>
                    <a:pt x="21600" y="20983"/>
                  </a:lnTo>
                  <a:lnTo>
                    <a:pt x="21600" y="21137"/>
                  </a:lnTo>
                  <a:lnTo>
                    <a:pt x="21600" y="21291"/>
                  </a:lnTo>
                  <a:lnTo>
                    <a:pt x="21484" y="21446"/>
                  </a:lnTo>
                  <a:lnTo>
                    <a:pt x="21369" y="21446"/>
                  </a:lnTo>
                  <a:lnTo>
                    <a:pt x="21138" y="21600"/>
                  </a:lnTo>
                  <a:lnTo>
                    <a:pt x="21022" y="21600"/>
                  </a:lnTo>
                  <a:lnTo>
                    <a:pt x="10973" y="21600"/>
                  </a:lnTo>
                  <a:lnTo>
                    <a:pt x="2079" y="21600"/>
                  </a:lnTo>
                  <a:lnTo>
                    <a:pt x="1848" y="21600"/>
                  </a:lnTo>
                  <a:lnTo>
                    <a:pt x="1733" y="21446"/>
                  </a:lnTo>
                  <a:lnTo>
                    <a:pt x="1617" y="21446"/>
                  </a:lnTo>
                  <a:lnTo>
                    <a:pt x="1502" y="21291"/>
                  </a:lnTo>
                  <a:lnTo>
                    <a:pt x="1386" y="21291"/>
                  </a:lnTo>
                  <a:lnTo>
                    <a:pt x="1386" y="21137"/>
                  </a:lnTo>
                  <a:lnTo>
                    <a:pt x="1386" y="20983"/>
                  </a:lnTo>
                  <a:lnTo>
                    <a:pt x="1386" y="20829"/>
                  </a:lnTo>
                  <a:lnTo>
                    <a:pt x="1502" y="20674"/>
                  </a:lnTo>
                  <a:lnTo>
                    <a:pt x="1617" y="20366"/>
                  </a:lnTo>
                  <a:lnTo>
                    <a:pt x="1733" y="20057"/>
                  </a:lnTo>
                  <a:lnTo>
                    <a:pt x="1964" y="19903"/>
                  </a:lnTo>
                  <a:lnTo>
                    <a:pt x="0" y="19903"/>
                  </a:lnTo>
                  <a:lnTo>
                    <a:pt x="0" y="10800"/>
                  </a:lnTo>
                  <a:lnTo>
                    <a:pt x="0" y="2777"/>
                  </a:lnTo>
                  <a:lnTo>
                    <a:pt x="4620" y="2777"/>
                  </a:lnTo>
                  <a:lnTo>
                    <a:pt x="4620" y="16971"/>
                  </a:lnTo>
                  <a:moveTo>
                    <a:pt x="4620" y="16971"/>
                  </a:moveTo>
                  <a:moveTo>
                    <a:pt x="4620" y="16971"/>
                  </a:moveTo>
                  <a:lnTo>
                    <a:pt x="4158" y="17434"/>
                  </a:lnTo>
                  <a:lnTo>
                    <a:pt x="2541" y="19286"/>
                  </a:lnTo>
                  <a:lnTo>
                    <a:pt x="1964" y="19903"/>
                  </a:lnTo>
                  <a:lnTo>
                    <a:pt x="4620" y="16971"/>
                  </a:lnTo>
                  <a:close/>
                </a:path>
                <a:path w="21600" h="21600" extrusionOk="0">
                  <a:moveTo>
                    <a:pt x="7624" y="2314"/>
                  </a:moveTo>
                  <a:moveTo>
                    <a:pt x="16402" y="2314"/>
                  </a:moveTo>
                  <a:lnTo>
                    <a:pt x="16402" y="11880"/>
                  </a:lnTo>
                  <a:lnTo>
                    <a:pt x="7624" y="11880"/>
                  </a:lnTo>
                  <a:lnTo>
                    <a:pt x="7624" y="2314"/>
                  </a:lnTo>
                  <a:close/>
                </a:path>
                <a:path w="21600" h="21600" extrusionOk="0">
                  <a:moveTo>
                    <a:pt x="578" y="4011"/>
                  </a:moveTo>
                  <a:moveTo>
                    <a:pt x="4043" y="4011"/>
                  </a:moveTo>
                  <a:lnTo>
                    <a:pt x="4043" y="4320"/>
                  </a:lnTo>
                  <a:lnTo>
                    <a:pt x="578" y="4320"/>
                  </a:lnTo>
                  <a:lnTo>
                    <a:pt x="578" y="4011"/>
                  </a:lnTo>
                  <a:close/>
                  <a:moveTo>
                    <a:pt x="7624" y="14194"/>
                  </a:moveTo>
                  <a:lnTo>
                    <a:pt x="16402" y="14194"/>
                  </a:lnTo>
                  <a:lnTo>
                    <a:pt x="16402" y="16200"/>
                  </a:lnTo>
                  <a:lnTo>
                    <a:pt x="7624" y="16200"/>
                  </a:lnTo>
                </a:path>
              </a:pathLst>
            </a:cu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38" name="直接连接符 37"/>
            <p:cNvCxnSpPr>
              <a:stCxn id="36" idx="2"/>
              <a:endCxn id="37" idx="1"/>
            </p:cNvCxnSpPr>
            <p:nvPr/>
          </p:nvCxnSpPr>
          <p:spPr bwMode="auto">
            <a:xfrm flipH="1">
              <a:off x="654051" y="5384801"/>
              <a:ext cx="396081" cy="432594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直接连接符 38"/>
            <p:cNvCxnSpPr>
              <a:stCxn id="36" idx="2"/>
              <a:endCxn id="35" idx="1"/>
            </p:cNvCxnSpPr>
            <p:nvPr/>
          </p:nvCxnSpPr>
          <p:spPr bwMode="auto">
            <a:xfrm>
              <a:off x="1050132" y="5384801"/>
              <a:ext cx="552450" cy="432594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40" name="Picture 5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248" y="3496762"/>
            <a:ext cx="792163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7984027"/>
              </p:ext>
            </p:extLst>
          </p:nvPr>
        </p:nvGraphicFramePr>
        <p:xfrm>
          <a:off x="232473" y="2167890"/>
          <a:ext cx="55086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8" name="VISIO" r:id="rId6" imgW="425520" imgH="724680" progId="Visio.Drawing.6">
                  <p:embed/>
                </p:oleObj>
              </mc:Choice>
              <mc:Fallback>
                <p:oleObj name="VISIO" r:id="rId6" imgW="425520" imgH="7246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73" y="2167890"/>
                        <a:ext cx="550862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9708570"/>
              </p:ext>
            </p:extLst>
          </p:nvPr>
        </p:nvGraphicFramePr>
        <p:xfrm>
          <a:off x="822452" y="2153177"/>
          <a:ext cx="55086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9" name="VISIO" r:id="rId8" imgW="425520" imgH="724680" progId="Visio.Drawing.6">
                  <p:embed/>
                </p:oleObj>
              </mc:Choice>
              <mc:Fallback>
                <p:oleObj name="VISIO" r:id="rId8" imgW="425520" imgH="7246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452" y="2153177"/>
                        <a:ext cx="550862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4" name="肘形连接符 43"/>
          <p:cNvCxnSpPr>
            <a:endCxn id="40" idx="1"/>
          </p:cNvCxnSpPr>
          <p:nvPr/>
        </p:nvCxnSpPr>
        <p:spPr bwMode="auto">
          <a:xfrm rot="16200000" flipH="1">
            <a:off x="970928" y="3040804"/>
            <a:ext cx="995809" cy="636831"/>
          </a:xfrm>
          <a:prstGeom prst="bentConnector2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肘形连接符 45"/>
          <p:cNvCxnSpPr/>
          <p:nvPr/>
        </p:nvCxnSpPr>
        <p:spPr bwMode="auto">
          <a:xfrm>
            <a:off x="602393" y="2880680"/>
            <a:ext cx="1373326" cy="818426"/>
          </a:xfrm>
          <a:prstGeom prst="bentConnector3">
            <a:avLst>
              <a:gd name="adj1" fmla="val -4099"/>
            </a:avLst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直接连接符 50"/>
          <p:cNvCxnSpPr>
            <a:stCxn id="6" idx="0"/>
            <a:endCxn id="40" idx="2"/>
          </p:cNvCxnSpPr>
          <p:nvPr/>
        </p:nvCxnSpPr>
        <p:spPr bwMode="auto">
          <a:xfrm flipV="1">
            <a:off x="725829" y="4217487"/>
            <a:ext cx="1457501" cy="565021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" name="直接连接符 52"/>
          <p:cNvCxnSpPr>
            <a:stCxn id="36" idx="0"/>
            <a:endCxn id="40" idx="2"/>
          </p:cNvCxnSpPr>
          <p:nvPr/>
        </p:nvCxnSpPr>
        <p:spPr bwMode="auto">
          <a:xfrm flipH="1" flipV="1">
            <a:off x="2183330" y="4217487"/>
            <a:ext cx="209167" cy="565021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直接连接符 54"/>
          <p:cNvCxnSpPr>
            <a:stCxn id="30" idx="0"/>
            <a:endCxn id="40" idx="2"/>
          </p:cNvCxnSpPr>
          <p:nvPr/>
        </p:nvCxnSpPr>
        <p:spPr bwMode="auto">
          <a:xfrm flipH="1" flipV="1">
            <a:off x="2183330" y="4217487"/>
            <a:ext cx="1858757" cy="635127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文本框 57"/>
          <p:cNvSpPr txBox="1"/>
          <p:nvPr/>
        </p:nvSpPr>
        <p:spPr>
          <a:xfrm>
            <a:off x="4243504" y="4910371"/>
            <a:ext cx="1619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交换机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973844" y="4925766"/>
            <a:ext cx="1619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sz="2400" dirty="0"/>
              <a:t>交换机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2623840" y="4936674"/>
            <a:ext cx="1619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交换机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1315899" y="3005401"/>
            <a:ext cx="1793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中心交换机</a:t>
            </a:r>
          </a:p>
        </p:txBody>
      </p:sp>
      <p:cxnSp>
        <p:nvCxnSpPr>
          <p:cNvPr id="64" name="直接连接符 63"/>
          <p:cNvCxnSpPr>
            <a:stCxn id="40" idx="3"/>
            <a:endCxn id="4" idx="1"/>
          </p:cNvCxnSpPr>
          <p:nvPr/>
        </p:nvCxnSpPr>
        <p:spPr bwMode="auto">
          <a:xfrm flipV="1">
            <a:off x="2579411" y="3857124"/>
            <a:ext cx="1169067" cy="1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文本框 66"/>
          <p:cNvSpPr txBox="1"/>
          <p:nvPr/>
        </p:nvSpPr>
        <p:spPr>
          <a:xfrm>
            <a:off x="3558626" y="3041421"/>
            <a:ext cx="1188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路由器</a:t>
            </a:r>
          </a:p>
        </p:txBody>
      </p:sp>
      <p:sp>
        <p:nvSpPr>
          <p:cNvPr id="68" name="文本框 67"/>
          <p:cNvSpPr txBox="1"/>
          <p:nvPr/>
        </p:nvSpPr>
        <p:spPr>
          <a:xfrm>
            <a:off x="298249" y="6343613"/>
            <a:ext cx="1225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宿舍区</a:t>
            </a:r>
            <a:endParaRPr lang="zh-CN" altLang="en-US" sz="2400" b="1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1868938" y="6281105"/>
            <a:ext cx="1225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办公区</a:t>
            </a:r>
            <a:endParaRPr lang="zh-CN" altLang="en-US" sz="2400" b="1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3621621" y="6343612"/>
            <a:ext cx="1225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教学</a:t>
            </a:r>
            <a:r>
              <a:rPr lang="zh-CN" altLang="en-US" sz="2400" b="1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</a:t>
            </a:r>
            <a:endParaRPr lang="zh-CN" altLang="en-US" sz="2400" b="1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212987" y="1683036"/>
            <a:ext cx="1570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网络中心</a:t>
            </a:r>
            <a:endParaRPr lang="zh-CN" altLang="en-US" sz="2400" b="1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12" name="直接连接符 111"/>
          <p:cNvCxnSpPr/>
          <p:nvPr/>
        </p:nvCxnSpPr>
        <p:spPr bwMode="auto">
          <a:xfrm flipV="1">
            <a:off x="4431672" y="2466985"/>
            <a:ext cx="1650218" cy="1275059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16" name="Picture 2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257" y="2167890"/>
            <a:ext cx="630237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pic>
        <p:nvPicPr>
          <p:cNvPr id="117" name="Picture 2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2543" y="4329789"/>
            <a:ext cx="630237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cxnSp>
        <p:nvCxnSpPr>
          <p:cNvPr id="123" name="直接连接符 122"/>
          <p:cNvCxnSpPr>
            <a:stCxn id="4" idx="3"/>
            <a:endCxn id="117" idx="1"/>
          </p:cNvCxnSpPr>
          <p:nvPr/>
        </p:nvCxnSpPr>
        <p:spPr>
          <a:xfrm>
            <a:off x="4523600" y="3857124"/>
            <a:ext cx="1378943" cy="658403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/>
          <p:cNvCxnSpPr>
            <a:stCxn id="116" idx="3"/>
            <a:endCxn id="72" idx="0"/>
          </p:cNvCxnSpPr>
          <p:nvPr/>
        </p:nvCxnSpPr>
        <p:spPr>
          <a:xfrm>
            <a:off x="6416494" y="2353628"/>
            <a:ext cx="2306193" cy="125361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/>
          <p:cNvCxnSpPr>
            <a:stCxn id="117" idx="3"/>
            <a:endCxn id="72" idx="1"/>
          </p:cNvCxnSpPr>
          <p:nvPr/>
        </p:nvCxnSpPr>
        <p:spPr>
          <a:xfrm flipV="1">
            <a:off x="6532780" y="3835679"/>
            <a:ext cx="1802346" cy="679848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椭圆 150"/>
          <p:cNvSpPr/>
          <p:nvPr/>
        </p:nvSpPr>
        <p:spPr>
          <a:xfrm>
            <a:off x="0" y="1478568"/>
            <a:ext cx="1783676" cy="18113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3" name="直接连接符 162"/>
          <p:cNvCxnSpPr/>
          <p:nvPr/>
        </p:nvCxnSpPr>
        <p:spPr>
          <a:xfrm>
            <a:off x="4096429" y="2539365"/>
            <a:ext cx="38107" cy="2098040"/>
          </a:xfrm>
          <a:prstGeom prst="line">
            <a:avLst/>
          </a:prstGeom>
          <a:ln w="317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连接符 183"/>
          <p:cNvCxnSpPr/>
          <p:nvPr/>
        </p:nvCxnSpPr>
        <p:spPr>
          <a:xfrm>
            <a:off x="8796315" y="2319714"/>
            <a:ext cx="13116" cy="2406504"/>
          </a:xfrm>
          <a:prstGeom prst="line">
            <a:avLst/>
          </a:prstGeom>
          <a:ln w="317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云形 193"/>
          <p:cNvSpPr/>
          <p:nvPr/>
        </p:nvSpPr>
        <p:spPr>
          <a:xfrm>
            <a:off x="5239231" y="1065306"/>
            <a:ext cx="1723417" cy="826523"/>
          </a:xfrm>
          <a:prstGeom prst="cloud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文本框 194"/>
          <p:cNvSpPr txBox="1"/>
          <p:nvPr/>
        </p:nvSpPr>
        <p:spPr>
          <a:xfrm>
            <a:off x="2955861" y="2074603"/>
            <a:ext cx="1891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学校</a:t>
            </a: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endParaRPr lang="zh-CN" altLang="en-US" sz="24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8" name="文本框 197"/>
          <p:cNvSpPr txBox="1"/>
          <p:nvPr/>
        </p:nvSpPr>
        <p:spPr>
          <a:xfrm>
            <a:off x="7863822" y="1893859"/>
            <a:ext cx="1891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学校</a:t>
            </a: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endParaRPr lang="zh-CN" altLang="en-US" sz="24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00" name="直接连接符 199"/>
          <p:cNvCxnSpPr>
            <a:stCxn id="116" idx="0"/>
            <a:endCxn id="194" idx="1"/>
          </p:cNvCxnSpPr>
          <p:nvPr/>
        </p:nvCxnSpPr>
        <p:spPr>
          <a:xfrm flipH="1" flipV="1">
            <a:off x="6100940" y="1890949"/>
            <a:ext cx="436" cy="276941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连接符 201"/>
          <p:cNvCxnSpPr>
            <a:stCxn id="117" idx="2"/>
          </p:cNvCxnSpPr>
          <p:nvPr/>
        </p:nvCxnSpPr>
        <p:spPr>
          <a:xfrm flipH="1">
            <a:off x="6217661" y="4701264"/>
            <a:ext cx="1" cy="396373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云形 202"/>
          <p:cNvSpPr/>
          <p:nvPr/>
        </p:nvSpPr>
        <p:spPr>
          <a:xfrm>
            <a:off x="5422244" y="5031300"/>
            <a:ext cx="1723417" cy="826523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文本框 204"/>
          <p:cNvSpPr txBox="1"/>
          <p:nvPr/>
        </p:nvSpPr>
        <p:spPr>
          <a:xfrm>
            <a:off x="5307330" y="1325419"/>
            <a:ext cx="1419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学校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endParaRPr lang="zh-CN" altLang="en-US" sz="24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6" name="文本框 205"/>
          <p:cNvSpPr txBox="1"/>
          <p:nvPr/>
        </p:nvSpPr>
        <p:spPr>
          <a:xfrm>
            <a:off x="5532595" y="5278613"/>
            <a:ext cx="1419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学校</a:t>
            </a:r>
            <a:r>
              <a:rPr lang="en-US" altLang="zh-CN" sz="2400" dirty="0" smtClean="0"/>
              <a:t>4</a:t>
            </a:r>
            <a:endParaRPr lang="zh-CN" altLang="en-US" sz="2400" dirty="0"/>
          </a:p>
        </p:txBody>
      </p:sp>
      <p:sp>
        <p:nvSpPr>
          <p:cNvPr id="207" name="文本框 206"/>
          <p:cNvSpPr txBox="1"/>
          <p:nvPr/>
        </p:nvSpPr>
        <p:spPr>
          <a:xfrm>
            <a:off x="5647889" y="3895056"/>
            <a:ext cx="1188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路由器</a:t>
            </a:r>
          </a:p>
        </p:txBody>
      </p:sp>
      <p:sp>
        <p:nvSpPr>
          <p:cNvPr id="208" name="文本框 207"/>
          <p:cNvSpPr txBox="1"/>
          <p:nvPr/>
        </p:nvSpPr>
        <p:spPr>
          <a:xfrm>
            <a:off x="5679336" y="2628137"/>
            <a:ext cx="1188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路由器</a:t>
            </a:r>
          </a:p>
        </p:txBody>
      </p:sp>
      <p:sp>
        <p:nvSpPr>
          <p:cNvPr id="209" name="文本框 208"/>
          <p:cNvSpPr txBox="1"/>
          <p:nvPr/>
        </p:nvSpPr>
        <p:spPr>
          <a:xfrm>
            <a:off x="5213071" y="173236"/>
            <a:ext cx="55587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互联网络示例</a:t>
            </a:r>
          </a:p>
        </p:txBody>
      </p:sp>
    </p:spTree>
    <p:extLst>
      <p:ext uri="{BB962C8B-B14F-4D97-AF65-F5344CB8AC3E}">
        <p14:creationId xmlns:p14="http://schemas.microsoft.com/office/powerpoint/2010/main" val="2739685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2600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277" y="1208296"/>
            <a:ext cx="8511269" cy="2320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282193" y="115931"/>
            <a:ext cx="3686175" cy="858837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路由器结构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7725" y="3082925"/>
            <a:ext cx="8229600" cy="37750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rgbClr val="002060"/>
              </a:buClr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接口</a:t>
            </a:r>
          </a:p>
          <a:p>
            <a:pPr lvl="1" eaLnBrk="1" hangingPunct="1">
              <a:lnSpc>
                <a:spcPct val="90000"/>
              </a:lnSpc>
              <a:buClr>
                <a:srgbClr val="002060"/>
              </a:buClr>
              <a:buFontTx/>
              <a:buChar char="•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配置管理接口：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AUX</a:t>
            </a:r>
          </a:p>
          <a:p>
            <a:pPr lvl="1" eaLnBrk="1" hangingPunct="1">
              <a:lnSpc>
                <a:spcPct val="90000"/>
              </a:lnSpc>
              <a:buClr>
                <a:srgbClr val="002060"/>
              </a:buClr>
              <a:buFontTx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接口：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Ethernet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接口</a:t>
            </a:r>
          </a:p>
          <a:p>
            <a:pPr lvl="1" eaLnBrk="1" hangingPunct="1">
              <a:lnSpc>
                <a:spcPct val="90000"/>
              </a:lnSpc>
              <a:buClr>
                <a:srgbClr val="002060"/>
              </a:buClr>
              <a:buFontTx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接口：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同步串口</a:t>
            </a:r>
          </a:p>
          <a:p>
            <a:pPr lvl="1" eaLnBrk="1" hangingPunct="1">
              <a:lnSpc>
                <a:spcPct val="90000"/>
              </a:lnSpc>
              <a:buClr>
                <a:srgbClr val="002060"/>
              </a:buClr>
              <a:buFontTx/>
              <a:buChar char="•"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Clr>
                <a:srgbClr val="002060"/>
              </a:buClr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连接线缆为：</a:t>
            </a:r>
          </a:p>
          <a:p>
            <a:pPr lvl="1" eaLnBrk="1" hangingPunct="1">
              <a:lnSpc>
                <a:spcPct val="90000"/>
              </a:lnSpc>
              <a:buClr>
                <a:srgbClr val="002060"/>
              </a:buClr>
              <a:buFontTx/>
              <a:buChar char="•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配置：串行线</a:t>
            </a:r>
          </a:p>
          <a:p>
            <a:pPr lvl="1" eaLnBrk="1" hangingPunct="1">
              <a:lnSpc>
                <a:spcPct val="90000"/>
              </a:lnSpc>
              <a:buClr>
                <a:srgbClr val="002060"/>
              </a:buClr>
              <a:buFontTx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：双绞线</a:t>
            </a:r>
          </a:p>
          <a:p>
            <a:pPr lvl="1" eaLnBrk="1" hangingPunct="1">
              <a:lnSpc>
                <a:spcPct val="90000"/>
              </a:lnSpc>
              <a:buClr>
                <a:srgbClr val="002060"/>
              </a:buClr>
              <a:buFontTx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V.35 DTE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线缆、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V.35 DCE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线缆 </a:t>
            </a:r>
          </a:p>
        </p:txBody>
      </p:sp>
    </p:spTree>
    <p:extLst>
      <p:ext uri="{BB962C8B-B14F-4D97-AF65-F5344CB8AC3E}">
        <p14:creationId xmlns:p14="http://schemas.microsoft.com/office/powerpoint/2010/main" val="2876762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409" y="1416093"/>
            <a:ext cx="5135284" cy="5076825"/>
          </a:xfrm>
        </p:spPr>
        <p:txBody>
          <a:bodyPr/>
          <a:lstStyle/>
          <a:p>
            <a:pPr>
              <a:buClrTx/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路由器的基本组件</a:t>
            </a:r>
          </a:p>
          <a:p>
            <a:pPr lvl="1">
              <a:buClrTx/>
              <a:buFontTx/>
              <a:buChar char="–"/>
            </a:pPr>
            <a:r>
              <a:rPr lang="en-US" altLang="zh-CN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Tx/>
              <a:buFontTx/>
              <a:buChar char="–"/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</a:p>
          <a:p>
            <a:pPr lvl="1">
              <a:buClrTx/>
              <a:buFontTx/>
              <a:buChar char="–"/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ROM</a:t>
            </a:r>
          </a:p>
          <a:p>
            <a:pPr lvl="1">
              <a:buClrTx/>
              <a:buFontTx/>
              <a:buChar char="–"/>
            </a:pPr>
            <a:r>
              <a:rPr lang="zh-CN" alt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操作系统</a:t>
            </a:r>
            <a:endParaRPr lang="en-US" altLang="zh-CN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Tx/>
              <a:buFontTx/>
              <a:buChar char="–"/>
            </a:pP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Tx/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路由器是网络组成的中心</a:t>
            </a:r>
          </a:p>
          <a:p>
            <a:pPr lvl="1">
              <a:buClrTx/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路由器通常用于两种连接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2">
              <a:buClrTx/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-WAN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连接 </a:t>
            </a:r>
            <a:r>
              <a:rPr lang="zh-CN" alt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（连接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ISP</a:t>
            </a:r>
            <a:r>
              <a:rPr lang="zh-CN" alt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ClrTx/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-LAN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连接</a:t>
            </a:r>
          </a:p>
        </p:txBody>
      </p:sp>
      <p:pic>
        <p:nvPicPr>
          <p:cNvPr id="12292" name="Picture 11" descr="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1395" y="4162489"/>
            <a:ext cx="5750903" cy="1974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0005" y="1242682"/>
            <a:ext cx="4009143" cy="276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5862666" y="135872"/>
            <a:ext cx="3700890" cy="858837"/>
          </a:xfrm>
        </p:spPr>
        <p:txBody>
          <a:bodyPr/>
          <a:lstStyle/>
          <a:p>
            <a:pPr algn="ctr"/>
            <a:r>
              <a:rPr lang="zh-CN" altLang="en-US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路由器结构</a:t>
            </a:r>
            <a:endParaRPr lang="en-US" altLang="zh-CN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4578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路由器的作用</a:t>
            </a:r>
            <a:endParaRPr lang="en-US" altLang="zh-CN" b="1" dirty="0"/>
          </a:p>
        </p:txBody>
      </p:sp>
      <p:grpSp>
        <p:nvGrpSpPr>
          <p:cNvPr id="54" name="组合 53"/>
          <p:cNvGrpSpPr/>
          <p:nvPr/>
        </p:nvGrpSpPr>
        <p:grpSpPr>
          <a:xfrm>
            <a:off x="5648325" y="1646035"/>
            <a:ext cx="6438900" cy="3474750"/>
            <a:chOff x="2074863" y="1763712"/>
            <a:chExt cx="7735628" cy="3806827"/>
          </a:xfrm>
        </p:grpSpPr>
        <p:pic>
          <p:nvPicPr>
            <p:cNvPr id="30726" name="Picture 6"/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4863" y="3262314"/>
              <a:ext cx="3038475" cy="2308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727" name="Picture 7"/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60853" y="2835351"/>
              <a:ext cx="3449638" cy="2698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734" name="Picture 14"/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3375" y="3735388"/>
              <a:ext cx="414338" cy="449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30735" name="Picture 15"/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1600" y="4621213"/>
              <a:ext cx="414338" cy="449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30736" name="Picture 16"/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1475" y="4586288"/>
              <a:ext cx="414338" cy="449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30737" name="Picture 17"/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1600" y="3716338"/>
              <a:ext cx="414338" cy="449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30738" name="Picture 18"/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2625" y="4287838"/>
              <a:ext cx="414338" cy="449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30739" name="Picture 19"/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7700" y="4021138"/>
              <a:ext cx="414338" cy="449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30740" name="Picture 20"/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70800" y="4392613"/>
              <a:ext cx="414338" cy="449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30741" name="Picture 21"/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73975" y="3506788"/>
              <a:ext cx="414338" cy="449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30742" name="Picture 22"/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2675" y="3497263"/>
              <a:ext cx="414338" cy="449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30743" name="Picture 23"/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2675" y="4421188"/>
              <a:ext cx="414338" cy="449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30744" name="Picture 24"/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1163" y="1763712"/>
              <a:ext cx="2286000" cy="1470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745" name="Picture 25"/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4375" y="2381251"/>
              <a:ext cx="414338" cy="449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30746" name="Picture 26"/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9775" y="2609851"/>
              <a:ext cx="414338" cy="449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30747" name="Picture 27"/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6375" y="2000251"/>
              <a:ext cx="414338" cy="449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cxnSp>
          <p:nvCxnSpPr>
            <p:cNvPr id="3" name="直接连接符 2"/>
            <p:cNvCxnSpPr>
              <a:stCxn id="30736" idx="3"/>
              <a:endCxn id="30735" idx="1"/>
            </p:cNvCxnSpPr>
            <p:nvPr/>
          </p:nvCxnSpPr>
          <p:spPr bwMode="auto">
            <a:xfrm>
              <a:off x="3325813" y="4810919"/>
              <a:ext cx="585787" cy="34925"/>
            </a:xfrm>
            <a:prstGeom prst="line">
              <a:avLst/>
            </a:prstGeom>
            <a:noFill/>
            <a:ln w="444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" name="直接连接符 4"/>
            <p:cNvCxnSpPr>
              <a:stCxn id="30734" idx="3"/>
              <a:endCxn id="30737" idx="1"/>
            </p:cNvCxnSpPr>
            <p:nvPr/>
          </p:nvCxnSpPr>
          <p:spPr bwMode="auto">
            <a:xfrm flipV="1">
              <a:off x="3287713" y="3940969"/>
              <a:ext cx="623887" cy="19050"/>
            </a:xfrm>
            <a:prstGeom prst="line">
              <a:avLst/>
            </a:prstGeom>
            <a:noFill/>
            <a:ln w="444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直接连接符 8"/>
            <p:cNvCxnSpPr>
              <a:stCxn id="30737" idx="2"/>
              <a:endCxn id="30735" idx="0"/>
            </p:cNvCxnSpPr>
            <p:nvPr/>
          </p:nvCxnSpPr>
          <p:spPr bwMode="auto">
            <a:xfrm>
              <a:off x="4118769" y="4165600"/>
              <a:ext cx="0" cy="455613"/>
            </a:xfrm>
            <a:prstGeom prst="line">
              <a:avLst/>
            </a:prstGeom>
            <a:noFill/>
            <a:ln w="444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直接连接符 10"/>
            <p:cNvCxnSpPr>
              <a:stCxn id="30734" idx="2"/>
              <a:endCxn id="30736" idx="0"/>
            </p:cNvCxnSpPr>
            <p:nvPr/>
          </p:nvCxnSpPr>
          <p:spPr bwMode="auto">
            <a:xfrm>
              <a:off x="3080544" y="4184650"/>
              <a:ext cx="38100" cy="401638"/>
            </a:xfrm>
            <a:prstGeom prst="line">
              <a:avLst/>
            </a:prstGeom>
            <a:noFill/>
            <a:ln w="444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接连接符 13"/>
            <p:cNvCxnSpPr/>
            <p:nvPr/>
          </p:nvCxnSpPr>
          <p:spPr bwMode="auto">
            <a:xfrm flipH="1">
              <a:off x="3203178" y="4056856"/>
              <a:ext cx="827881" cy="592138"/>
            </a:xfrm>
            <a:prstGeom prst="line">
              <a:avLst/>
            </a:prstGeom>
            <a:noFill/>
            <a:ln w="444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直接连接符 16"/>
            <p:cNvCxnSpPr/>
            <p:nvPr/>
          </p:nvCxnSpPr>
          <p:spPr bwMode="auto">
            <a:xfrm>
              <a:off x="3118644" y="4056856"/>
              <a:ext cx="912415" cy="680244"/>
            </a:xfrm>
            <a:prstGeom prst="line">
              <a:avLst/>
            </a:prstGeom>
            <a:noFill/>
            <a:ln w="444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直接连接符 18"/>
            <p:cNvCxnSpPr>
              <a:endCxn id="30738" idx="1"/>
            </p:cNvCxnSpPr>
            <p:nvPr/>
          </p:nvCxnSpPr>
          <p:spPr bwMode="auto">
            <a:xfrm>
              <a:off x="3203178" y="4056856"/>
              <a:ext cx="1289447" cy="455613"/>
            </a:xfrm>
            <a:prstGeom prst="line">
              <a:avLst/>
            </a:prstGeom>
            <a:noFill/>
            <a:ln w="444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直接连接符 20"/>
            <p:cNvCxnSpPr>
              <a:stCxn id="30735" idx="3"/>
            </p:cNvCxnSpPr>
            <p:nvPr/>
          </p:nvCxnSpPr>
          <p:spPr bwMode="auto">
            <a:xfrm flipV="1">
              <a:off x="4325938" y="4617244"/>
              <a:ext cx="329008" cy="228600"/>
            </a:xfrm>
            <a:prstGeom prst="line">
              <a:avLst/>
            </a:prstGeom>
            <a:noFill/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直接连接符 22"/>
            <p:cNvCxnSpPr/>
            <p:nvPr/>
          </p:nvCxnSpPr>
          <p:spPr bwMode="auto">
            <a:xfrm>
              <a:off x="5600700" y="2381251"/>
              <a:ext cx="316706" cy="304802"/>
            </a:xfrm>
            <a:prstGeom prst="line">
              <a:avLst/>
            </a:prstGeom>
            <a:noFill/>
            <a:ln w="444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直接连接符 24"/>
            <p:cNvCxnSpPr>
              <a:endCxn id="30745" idx="3"/>
            </p:cNvCxnSpPr>
            <p:nvPr/>
          </p:nvCxnSpPr>
          <p:spPr bwMode="auto">
            <a:xfrm flipH="1">
              <a:off x="4938713" y="2381251"/>
              <a:ext cx="425450" cy="224632"/>
            </a:xfrm>
            <a:prstGeom prst="line">
              <a:avLst/>
            </a:prstGeom>
            <a:noFill/>
            <a:ln w="444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26"/>
            <p:cNvCxnSpPr>
              <a:stCxn id="30745" idx="3"/>
              <a:endCxn id="30746" idx="1"/>
            </p:cNvCxnSpPr>
            <p:nvPr/>
          </p:nvCxnSpPr>
          <p:spPr bwMode="auto">
            <a:xfrm>
              <a:off x="4938713" y="2605883"/>
              <a:ext cx="881062" cy="228600"/>
            </a:xfrm>
            <a:prstGeom prst="line">
              <a:avLst/>
            </a:prstGeom>
            <a:noFill/>
            <a:ln w="444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直接连接符 29"/>
            <p:cNvCxnSpPr>
              <a:stCxn id="30746" idx="2"/>
            </p:cNvCxnSpPr>
            <p:nvPr/>
          </p:nvCxnSpPr>
          <p:spPr bwMode="auto">
            <a:xfrm flipH="1">
              <a:off x="4731544" y="3059114"/>
              <a:ext cx="1295400" cy="1357312"/>
            </a:xfrm>
            <a:prstGeom prst="line">
              <a:avLst/>
            </a:prstGeom>
            <a:noFill/>
            <a:ln w="444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直接连接符 31"/>
            <p:cNvCxnSpPr>
              <a:endCxn id="30739" idx="1"/>
            </p:cNvCxnSpPr>
            <p:nvPr/>
          </p:nvCxnSpPr>
          <p:spPr bwMode="auto">
            <a:xfrm flipV="1">
              <a:off x="4772819" y="4245769"/>
              <a:ext cx="2224881" cy="266700"/>
            </a:xfrm>
            <a:prstGeom prst="line">
              <a:avLst/>
            </a:prstGeom>
            <a:noFill/>
            <a:ln w="444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直接连接符 33"/>
            <p:cNvCxnSpPr/>
            <p:nvPr/>
          </p:nvCxnSpPr>
          <p:spPr bwMode="auto">
            <a:xfrm>
              <a:off x="6074569" y="2903539"/>
              <a:ext cx="970756" cy="1181892"/>
            </a:xfrm>
            <a:prstGeom prst="line">
              <a:avLst/>
            </a:prstGeom>
            <a:noFill/>
            <a:ln w="444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直接连接符 35"/>
            <p:cNvCxnSpPr>
              <a:stCxn id="30741" idx="3"/>
              <a:endCxn id="30742" idx="1"/>
            </p:cNvCxnSpPr>
            <p:nvPr/>
          </p:nvCxnSpPr>
          <p:spPr bwMode="auto">
            <a:xfrm flipV="1">
              <a:off x="8088313" y="3721894"/>
              <a:ext cx="614362" cy="9525"/>
            </a:xfrm>
            <a:prstGeom prst="line">
              <a:avLst/>
            </a:prstGeom>
            <a:noFill/>
            <a:ln w="444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" name="直接连接符 39"/>
            <p:cNvCxnSpPr/>
            <p:nvPr/>
          </p:nvCxnSpPr>
          <p:spPr bwMode="auto">
            <a:xfrm>
              <a:off x="8928894" y="3950494"/>
              <a:ext cx="0" cy="470694"/>
            </a:xfrm>
            <a:prstGeom prst="line">
              <a:avLst/>
            </a:prstGeom>
            <a:noFill/>
            <a:ln w="444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直接连接符 41"/>
            <p:cNvCxnSpPr>
              <a:stCxn id="30743" idx="1"/>
              <a:endCxn id="30740" idx="3"/>
            </p:cNvCxnSpPr>
            <p:nvPr/>
          </p:nvCxnSpPr>
          <p:spPr bwMode="auto">
            <a:xfrm flipH="1" flipV="1">
              <a:off x="8085138" y="4617244"/>
              <a:ext cx="617537" cy="28575"/>
            </a:xfrm>
            <a:prstGeom prst="line">
              <a:avLst/>
            </a:prstGeom>
            <a:noFill/>
            <a:ln w="444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直接连接符 43"/>
            <p:cNvCxnSpPr>
              <a:endCxn id="30740" idx="0"/>
            </p:cNvCxnSpPr>
            <p:nvPr/>
          </p:nvCxnSpPr>
          <p:spPr bwMode="auto">
            <a:xfrm>
              <a:off x="7877969" y="3824684"/>
              <a:ext cx="0" cy="567929"/>
            </a:xfrm>
            <a:prstGeom prst="line">
              <a:avLst/>
            </a:prstGeom>
            <a:noFill/>
            <a:ln w="444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" name="直接连接符 45"/>
            <p:cNvCxnSpPr/>
            <p:nvPr/>
          </p:nvCxnSpPr>
          <p:spPr bwMode="auto">
            <a:xfrm flipH="1">
              <a:off x="8010923" y="3819525"/>
              <a:ext cx="898921" cy="669055"/>
            </a:xfrm>
            <a:prstGeom prst="line">
              <a:avLst/>
            </a:prstGeom>
            <a:noFill/>
            <a:ln w="444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8" name="直接连接符 47"/>
            <p:cNvCxnSpPr>
              <a:endCxn id="30739" idx="3"/>
            </p:cNvCxnSpPr>
            <p:nvPr/>
          </p:nvCxnSpPr>
          <p:spPr bwMode="auto">
            <a:xfrm flipH="1">
              <a:off x="7412038" y="3824684"/>
              <a:ext cx="1346200" cy="421085"/>
            </a:xfrm>
            <a:prstGeom prst="line">
              <a:avLst/>
            </a:prstGeom>
            <a:noFill/>
            <a:ln w="444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" name="直接连接符 49"/>
            <p:cNvCxnSpPr>
              <a:stCxn id="30740" idx="1"/>
            </p:cNvCxnSpPr>
            <p:nvPr/>
          </p:nvCxnSpPr>
          <p:spPr bwMode="auto">
            <a:xfrm flipH="1" flipV="1">
              <a:off x="7317978" y="4318199"/>
              <a:ext cx="352822" cy="299045"/>
            </a:xfrm>
            <a:prstGeom prst="line">
              <a:avLst/>
            </a:prstGeom>
            <a:noFill/>
            <a:ln w="444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直接连接符 51"/>
            <p:cNvCxnSpPr/>
            <p:nvPr/>
          </p:nvCxnSpPr>
          <p:spPr bwMode="auto">
            <a:xfrm flipH="1" flipV="1">
              <a:off x="7877969" y="3819525"/>
              <a:ext cx="880269" cy="648196"/>
            </a:xfrm>
            <a:prstGeom prst="line">
              <a:avLst/>
            </a:prstGeom>
            <a:noFill/>
            <a:ln w="444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5" name="文本框 54"/>
          <p:cNvSpPr txBox="1"/>
          <p:nvPr/>
        </p:nvSpPr>
        <p:spPr>
          <a:xfrm>
            <a:off x="-87819" y="1434743"/>
            <a:ext cx="6555183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路由器是用于将不同网络互连起来的网络设备，是</a:t>
            </a:r>
            <a:r>
              <a:rPr lang="zh-CN" altLang="en-US" sz="24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互联网的</a:t>
            </a:r>
            <a:r>
              <a:rPr lang="zh-CN" altLang="en-US" sz="2400" b="1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核心设施。</a:t>
            </a:r>
            <a:endParaRPr lang="en-US" altLang="zh-CN" sz="2400" b="1" dirty="0" smtClean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对分组进行选路与传递</a:t>
            </a:r>
            <a:endParaRPr lang="en-US" altLang="zh-CN" sz="2400" b="1" dirty="0" smtClean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路由器的主要功能实现于网络层，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IP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协议</a:t>
            </a:r>
            <a:endParaRPr lang="en-US" altLang="zh-CN" sz="2400" b="1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第三层设备</a:t>
            </a:r>
            <a:endParaRPr lang="en-US" altLang="zh-CN" sz="2400" b="1" dirty="0" smtClean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61045" y="4415078"/>
            <a:ext cx="2997917" cy="1763450"/>
            <a:chOff x="214909" y="3445668"/>
            <a:chExt cx="3321050" cy="1908176"/>
          </a:xfrm>
        </p:grpSpPr>
        <p:sp>
          <p:nvSpPr>
            <p:cNvPr id="91" name="Rectangle 8"/>
            <p:cNvSpPr>
              <a:spLocks noChangeArrowheads="1"/>
            </p:cNvSpPr>
            <p:nvPr/>
          </p:nvSpPr>
          <p:spPr bwMode="auto">
            <a:xfrm>
              <a:off x="1083271" y="3445668"/>
              <a:ext cx="1511300" cy="457200"/>
            </a:xfrm>
            <a:prstGeom prst="rect">
              <a:avLst/>
            </a:prstGeom>
            <a:solidFill>
              <a:srgbClr val="CCFFFF"/>
            </a:solidFill>
            <a:ln w="19050" algn="ctr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189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990000"/>
                  </a:solidFill>
                  <a:latin typeface="Garamond" panose="02020404030301010803" pitchFamily="18" charset="0"/>
                </a:rPr>
                <a:t>网络层</a:t>
              </a:r>
            </a:p>
          </p:txBody>
        </p:sp>
        <p:sp>
          <p:nvSpPr>
            <p:cNvPr id="92" name="Rectangle 9"/>
            <p:cNvSpPr>
              <a:spLocks noChangeArrowheads="1"/>
            </p:cNvSpPr>
            <p:nvPr/>
          </p:nvSpPr>
          <p:spPr bwMode="auto">
            <a:xfrm>
              <a:off x="1083271" y="3979068"/>
              <a:ext cx="1511300" cy="457200"/>
            </a:xfrm>
            <a:prstGeom prst="rect">
              <a:avLst/>
            </a:prstGeom>
            <a:solidFill>
              <a:srgbClr val="CCFFFF"/>
            </a:solidFill>
            <a:ln w="19050" algn="ctr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189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990000"/>
                  </a:solidFill>
                  <a:latin typeface="Garamond" panose="02020404030301010803" pitchFamily="18" charset="0"/>
                </a:rPr>
                <a:t>数据链路层</a:t>
              </a:r>
            </a:p>
          </p:txBody>
        </p:sp>
        <p:sp>
          <p:nvSpPr>
            <p:cNvPr id="93" name="Rectangle 10"/>
            <p:cNvSpPr>
              <a:spLocks noChangeArrowheads="1"/>
            </p:cNvSpPr>
            <p:nvPr/>
          </p:nvSpPr>
          <p:spPr bwMode="auto">
            <a:xfrm>
              <a:off x="1083271" y="4512468"/>
              <a:ext cx="1511300" cy="457200"/>
            </a:xfrm>
            <a:prstGeom prst="rect">
              <a:avLst/>
            </a:prstGeom>
            <a:solidFill>
              <a:srgbClr val="CCFFFF"/>
            </a:solidFill>
            <a:ln w="19050" algn="ctr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189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990000"/>
                  </a:solidFill>
                  <a:latin typeface="Garamond" panose="02020404030301010803" pitchFamily="18" charset="0"/>
                </a:rPr>
                <a:t>物理层</a:t>
              </a:r>
            </a:p>
          </p:txBody>
        </p:sp>
        <p:sp>
          <p:nvSpPr>
            <p:cNvPr id="94" name="Rectangle 21"/>
            <p:cNvSpPr>
              <a:spLocks noChangeArrowheads="1"/>
            </p:cNvSpPr>
            <p:nvPr/>
          </p:nvSpPr>
          <p:spPr bwMode="auto">
            <a:xfrm>
              <a:off x="214909" y="4969669"/>
              <a:ext cx="3321050" cy="384175"/>
            </a:xfrm>
            <a:prstGeom prst="rect">
              <a:avLst/>
            </a:prstGeom>
            <a:solidFill>
              <a:srgbClr val="969696"/>
            </a:solidFill>
            <a:ln w="1905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000000"/>
                  </a:solidFill>
                  <a:latin typeface="Garamond" panose="02020404030301010803" pitchFamily="18" charset="0"/>
                </a:rPr>
                <a:t>通    信    介    质</a:t>
              </a: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5959617" y="5269851"/>
            <a:ext cx="60358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互联网由多个物理网络通过路由器互连而</a:t>
            </a:r>
            <a:r>
              <a:rPr lang="zh-CN" altLang="en-US" sz="2400" b="1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成</a:t>
            </a:r>
            <a:endParaRPr lang="en-US" altLang="zh-CN" sz="2400" b="1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3182370" y="4354977"/>
            <a:ext cx="2742785" cy="1731785"/>
            <a:chOff x="6067424" y="6017010"/>
            <a:chExt cx="2515701" cy="1095375"/>
          </a:xfrm>
        </p:grpSpPr>
        <p:grpSp>
          <p:nvGrpSpPr>
            <p:cNvPr id="163" name="Group 121"/>
            <p:cNvGrpSpPr>
              <a:grpSpLocks/>
            </p:cNvGrpSpPr>
            <p:nvPr/>
          </p:nvGrpSpPr>
          <p:grpSpPr bwMode="auto">
            <a:xfrm>
              <a:off x="6466092" y="6017010"/>
              <a:ext cx="1657350" cy="877888"/>
              <a:chOff x="1610" y="1651"/>
              <a:chExt cx="1044" cy="553"/>
            </a:xfrm>
          </p:grpSpPr>
          <p:sp>
            <p:nvSpPr>
              <p:cNvPr id="164" name="Rectangle 62"/>
              <p:cNvSpPr>
                <a:spLocks noChangeArrowheads="1"/>
              </p:cNvSpPr>
              <p:nvPr/>
            </p:nvSpPr>
            <p:spPr bwMode="auto">
              <a:xfrm>
                <a:off x="1610" y="1651"/>
                <a:ext cx="1043" cy="181"/>
              </a:xfrm>
              <a:prstGeom prst="rect">
                <a:avLst/>
              </a:prstGeom>
              <a:solidFill>
                <a:srgbClr val="009999"/>
              </a:solidFill>
              <a:ln w="19050">
                <a:solidFill>
                  <a:srgbClr val="FFFFFF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lIns="9000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200" b="1" i="0" u="none" strike="noStrike" kern="0" cap="none" spc="0" normalizeH="0" baseline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Franklin Gothic Medium" panose="020B0603020102020204" pitchFamily="34" charset="0"/>
                  </a:rPr>
                  <a:t>N</a:t>
                </a:r>
              </a:p>
            </p:txBody>
          </p:sp>
          <p:sp>
            <p:nvSpPr>
              <p:cNvPr id="165" name="Rectangle 114"/>
              <p:cNvSpPr>
                <a:spLocks noChangeArrowheads="1"/>
              </p:cNvSpPr>
              <p:nvPr/>
            </p:nvSpPr>
            <p:spPr bwMode="auto">
              <a:xfrm>
                <a:off x="2200" y="1842"/>
                <a:ext cx="454" cy="181"/>
              </a:xfrm>
              <a:prstGeom prst="rect">
                <a:avLst/>
              </a:prstGeom>
              <a:solidFill>
                <a:srgbClr val="009999"/>
              </a:solidFill>
              <a:ln w="19050">
                <a:solidFill>
                  <a:srgbClr val="FFFFFF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lIns="90000" anchor="ctr"/>
              <a:lstStyle/>
              <a:p>
                <a:pPr marL="0" marR="0" lvl="0" indent="0" algn="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2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Franklin Gothic Medium" panose="020B0603020102020204" pitchFamily="34" charset="0"/>
                  </a:rPr>
                  <a:t>DL</a:t>
                </a:r>
              </a:p>
            </p:txBody>
          </p:sp>
          <p:sp>
            <p:nvSpPr>
              <p:cNvPr id="166" name="Rectangle 36"/>
              <p:cNvSpPr>
                <a:spLocks noChangeArrowheads="1"/>
              </p:cNvSpPr>
              <p:nvPr/>
            </p:nvSpPr>
            <p:spPr bwMode="auto">
              <a:xfrm>
                <a:off x="1610" y="1833"/>
                <a:ext cx="454" cy="181"/>
              </a:xfrm>
              <a:prstGeom prst="rect">
                <a:avLst/>
              </a:prstGeom>
              <a:solidFill>
                <a:srgbClr val="009999"/>
              </a:solidFill>
              <a:ln w="19050">
                <a:solidFill>
                  <a:srgbClr val="FFFFFF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lIns="9000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200" b="1" i="0" u="none" strike="noStrike" kern="0" cap="none" spc="0" normalizeH="0" baseline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Franklin Gothic Medium" panose="020B0603020102020204" pitchFamily="34" charset="0"/>
                  </a:rPr>
                  <a:t>DL</a:t>
                </a:r>
              </a:p>
            </p:txBody>
          </p:sp>
          <p:sp>
            <p:nvSpPr>
              <p:cNvPr id="167" name="Rectangle 113"/>
              <p:cNvSpPr>
                <a:spLocks noChangeArrowheads="1"/>
              </p:cNvSpPr>
              <p:nvPr/>
            </p:nvSpPr>
            <p:spPr bwMode="auto">
              <a:xfrm>
                <a:off x="2199" y="2023"/>
                <a:ext cx="454" cy="181"/>
              </a:xfrm>
              <a:prstGeom prst="rect">
                <a:avLst/>
              </a:prstGeom>
              <a:solidFill>
                <a:srgbClr val="009999"/>
              </a:solidFill>
              <a:ln w="19050">
                <a:solidFill>
                  <a:srgbClr val="FFFFFF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marL="0" marR="0" lvl="0" indent="0" algn="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200" b="1" i="0" u="none" strike="noStrike" kern="0" cap="none" spc="0" normalizeH="0" baseline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Franklin Gothic Medium" panose="020B0603020102020204" pitchFamily="34" charset="0"/>
                  </a:rPr>
                  <a:t>Ph</a:t>
                </a:r>
              </a:p>
            </p:txBody>
          </p:sp>
          <p:sp>
            <p:nvSpPr>
              <p:cNvPr id="168" name="Rectangle 28"/>
              <p:cNvSpPr>
                <a:spLocks noChangeArrowheads="1"/>
              </p:cNvSpPr>
              <p:nvPr/>
            </p:nvSpPr>
            <p:spPr bwMode="auto">
              <a:xfrm>
                <a:off x="1610" y="2014"/>
                <a:ext cx="454" cy="181"/>
              </a:xfrm>
              <a:prstGeom prst="rect">
                <a:avLst/>
              </a:prstGeom>
              <a:solidFill>
                <a:srgbClr val="009999"/>
              </a:solidFill>
              <a:ln w="19050">
                <a:solidFill>
                  <a:srgbClr val="FFFFFF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200" b="1" i="0" u="none" strike="noStrike" kern="0" cap="none" spc="0" normalizeH="0" baseline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Franklin Gothic Medium" panose="020B0603020102020204" pitchFamily="34" charset="0"/>
                  </a:rPr>
                  <a:t>Ph</a:t>
                </a:r>
              </a:p>
            </p:txBody>
          </p:sp>
        </p:grpSp>
        <p:sp>
          <p:nvSpPr>
            <p:cNvPr id="169" name="Line 29"/>
            <p:cNvSpPr>
              <a:spLocks noChangeShapeType="1"/>
            </p:cNvSpPr>
            <p:nvPr/>
          </p:nvSpPr>
          <p:spPr bwMode="auto">
            <a:xfrm>
              <a:off x="6067424" y="7112385"/>
              <a:ext cx="938417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 smtClean="0">
                <a:solidFill>
                  <a:srgbClr val="FFFFFF"/>
                </a:solidFill>
                <a:latin typeface="Franklin Gothic Medium" panose="020B0603020102020204" pitchFamily="34" charset="0"/>
              </a:endParaRPr>
            </a:p>
          </p:txBody>
        </p:sp>
        <p:sp>
          <p:nvSpPr>
            <p:cNvPr id="170" name="Line 37"/>
            <p:cNvSpPr>
              <a:spLocks noChangeShapeType="1"/>
            </p:cNvSpPr>
            <p:nvPr/>
          </p:nvSpPr>
          <p:spPr bwMode="auto">
            <a:xfrm>
              <a:off x="6934404" y="6177348"/>
              <a:ext cx="719138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 smtClean="0">
                <a:solidFill>
                  <a:srgbClr val="FFFFFF"/>
                </a:solidFill>
                <a:latin typeface="Franklin Gothic Medium" panose="020B0603020102020204" pitchFamily="34" charset="0"/>
              </a:endParaRPr>
            </a:p>
          </p:txBody>
        </p:sp>
        <p:sp>
          <p:nvSpPr>
            <p:cNvPr id="171" name="Line 39"/>
            <p:cNvSpPr>
              <a:spLocks noChangeShapeType="1"/>
            </p:cNvSpPr>
            <p:nvPr/>
          </p:nvSpPr>
          <p:spPr bwMode="auto">
            <a:xfrm>
              <a:off x="6970917" y="6177348"/>
              <a:ext cx="0" cy="935037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 smtClean="0">
                <a:solidFill>
                  <a:srgbClr val="FFFFFF"/>
                </a:solidFill>
                <a:latin typeface="Franklin Gothic Medium" panose="020B0603020102020204" pitchFamily="34" charset="0"/>
              </a:endParaRPr>
            </a:p>
          </p:txBody>
        </p:sp>
        <p:sp>
          <p:nvSpPr>
            <p:cNvPr id="172" name="Line 40"/>
            <p:cNvSpPr>
              <a:spLocks noChangeShapeType="1"/>
            </p:cNvSpPr>
            <p:nvPr/>
          </p:nvSpPr>
          <p:spPr bwMode="auto">
            <a:xfrm>
              <a:off x="7620204" y="6177348"/>
              <a:ext cx="0" cy="935037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 smtClean="0">
                <a:solidFill>
                  <a:srgbClr val="FFFFFF"/>
                </a:solidFill>
                <a:latin typeface="Franklin Gothic Medium" panose="020B0603020102020204" pitchFamily="34" charset="0"/>
              </a:endParaRPr>
            </a:p>
          </p:txBody>
        </p:sp>
        <p:sp>
          <p:nvSpPr>
            <p:cNvPr id="173" name="Line 112"/>
            <p:cNvSpPr>
              <a:spLocks noChangeShapeType="1"/>
            </p:cNvSpPr>
            <p:nvPr/>
          </p:nvSpPr>
          <p:spPr bwMode="auto">
            <a:xfrm>
              <a:off x="7582105" y="7112385"/>
              <a:ext cx="1001020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 smtClean="0">
                <a:solidFill>
                  <a:srgbClr val="FFFFFF"/>
                </a:solidFill>
                <a:latin typeface="Franklin Gothic Medium" panose="020B0603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44022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232" y="1304773"/>
            <a:ext cx="9812584" cy="1565647"/>
          </a:xfrm>
        </p:spPr>
        <p:txBody>
          <a:bodyPr/>
          <a:lstStyle/>
          <a:p>
            <a:pPr>
              <a:lnSpc>
                <a:spcPct val="85000"/>
              </a:lnSpc>
              <a:buClr>
                <a:srgbClr val="002060"/>
              </a:buClr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地址的分配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5000"/>
              </a:lnSpc>
              <a:buClr>
                <a:srgbClr val="002060"/>
              </a:buClr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每个路由器的不同接口，连接一个不同的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子网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，代表不同的网络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85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具有不同的网络地址；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85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重叠的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地址范围。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5000"/>
              </a:lnSpc>
            </a:pPr>
            <a:endParaRPr lang="en-US" altLang="zh-CN" dirty="0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p:pic>
        <p:nvPicPr>
          <p:cNvPr id="130151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74" y="2934032"/>
            <a:ext cx="6109810" cy="3538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695" y="2934031"/>
            <a:ext cx="5728112" cy="3427011"/>
          </a:xfrm>
          <a:prstGeom prst="rect">
            <a:avLst/>
          </a:prstGeom>
        </p:spPr>
      </p:pic>
      <p:pic>
        <p:nvPicPr>
          <p:cNvPr id="7" name="Picture 107"/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4961" y="3737623"/>
            <a:ext cx="924312" cy="486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5862666" y="135872"/>
            <a:ext cx="3700890" cy="858837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路由器的作用</a:t>
            </a:r>
            <a:endParaRPr lang="en-US" altLang="zh-CN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5844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5791" y="1842189"/>
            <a:ext cx="5564932" cy="3882750"/>
          </a:xfrm>
        </p:spPr>
        <p:txBody>
          <a:bodyPr/>
          <a:lstStyle/>
          <a:p>
            <a:pPr>
              <a:lnSpc>
                <a:spcPct val="85000"/>
              </a:lnSpc>
              <a:buClr>
                <a:srgbClr val="002060"/>
              </a:buClr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路由与交换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5000"/>
              </a:lnSpc>
              <a:buClr>
                <a:srgbClr val="002060"/>
              </a:buClr>
            </a:pPr>
            <a:endParaRPr lang="en-US" altLang="zh-CN" sz="1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85000"/>
              </a:lnSpc>
              <a:buClr>
                <a:srgbClr val="002060"/>
              </a:buClr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路由器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借助目的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地址转发数据包</a:t>
            </a:r>
          </a:p>
          <a:p>
            <a:pPr lvl="2">
              <a:lnSpc>
                <a:spcPct val="85000"/>
              </a:lnSpc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路由表决定数据包的路径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>
              <a:lnSpc>
                <a:spcPct val="85000"/>
              </a:lnSpc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确定最佳路径</a:t>
            </a:r>
          </a:p>
          <a:p>
            <a:pPr lvl="2">
              <a:lnSpc>
                <a:spcPct val="85000"/>
              </a:lnSpc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包被封装成帧</a:t>
            </a:r>
          </a:p>
          <a:p>
            <a:pPr lvl="2">
              <a:lnSpc>
                <a:spcPct val="85000"/>
              </a:lnSpc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帧通过媒介以比特流的形式排列</a:t>
            </a:r>
          </a:p>
        </p:txBody>
      </p:sp>
      <p:pic>
        <p:nvPicPr>
          <p:cNvPr id="32772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9154" y="1978384"/>
            <a:ext cx="5686425" cy="300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773" name="Rectangle 6"/>
          <p:cNvSpPr>
            <a:spLocks noChangeArrowheads="1"/>
          </p:cNvSpPr>
          <p:nvPr/>
        </p:nvSpPr>
        <p:spPr bwMode="auto">
          <a:xfrm>
            <a:off x="6436016" y="4271830"/>
            <a:ext cx="762000" cy="415323"/>
          </a:xfrm>
          <a:prstGeom prst="rect">
            <a:avLst/>
          </a:prstGeom>
          <a:noFill/>
          <a:ln w="38100" algn="ctr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124" tIns="41061" rIns="82124" bIns="41061" anchor="ctr">
            <a:spAutoFit/>
          </a:bodyPr>
          <a:lstStyle>
            <a:lvl1pPr algn="ctr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2774" name="Rectangle 7"/>
          <p:cNvSpPr>
            <a:spLocks noChangeArrowheads="1"/>
          </p:cNvSpPr>
          <p:nvPr/>
        </p:nvSpPr>
        <p:spPr bwMode="auto">
          <a:xfrm>
            <a:off x="9222078" y="4279768"/>
            <a:ext cx="762000" cy="415323"/>
          </a:xfrm>
          <a:prstGeom prst="rect">
            <a:avLst/>
          </a:prstGeom>
          <a:noFill/>
          <a:ln w="38100" algn="ctr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124" tIns="41061" rIns="82124" bIns="41061" anchor="ctr">
            <a:spAutoFit/>
          </a:bodyPr>
          <a:lstStyle>
            <a:lvl1pPr algn="ctr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3608388" y="111982"/>
            <a:ext cx="7686358" cy="858837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路由器基本功能</a:t>
            </a:r>
            <a:r>
              <a:rPr lang="en-US" altLang="zh-CN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路由与交换</a:t>
            </a:r>
            <a:endParaRPr lang="en-US" altLang="zh-CN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1118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348" y="1447898"/>
            <a:ext cx="7940675" cy="3927184"/>
          </a:xfrm>
        </p:spPr>
        <p:txBody>
          <a:bodyPr/>
          <a:lstStyle/>
          <a:p>
            <a:pPr>
              <a:lnSpc>
                <a:spcPct val="85000"/>
              </a:lnSpc>
              <a:buClr>
                <a:srgbClr val="002060"/>
              </a:buClr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分层模型中的过程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5000"/>
              </a:lnSpc>
              <a:buClr>
                <a:srgbClr val="002060"/>
              </a:buClr>
              <a:buFont typeface="Wingdings" panose="05000000000000000000" pitchFamily="2" charset="2"/>
              <a:buChar char="l"/>
            </a:pP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85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路由器接收一串编码比特流</a:t>
            </a:r>
          </a:p>
          <a:p>
            <a:pPr marL="638175" lvl="2" indent="-342900">
              <a:lnSpc>
                <a:spcPct val="85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比特流被解码后传至二层</a:t>
            </a:r>
          </a:p>
          <a:p>
            <a:pPr marL="638175" lvl="2" indent="-342900">
              <a:lnSpc>
                <a:spcPct val="85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路由器解封装数据帧</a:t>
            </a:r>
          </a:p>
          <a:p>
            <a:pPr marL="638175" lvl="2" indent="-342900">
              <a:lnSpc>
                <a:spcPct val="85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保留数据包传至第三层</a:t>
            </a:r>
          </a:p>
          <a:p>
            <a:pPr marL="293688" lvl="3" indent="0">
              <a:lnSpc>
                <a:spcPct val="85000"/>
              </a:lnSpc>
              <a:buClr>
                <a:srgbClr val="002060"/>
              </a:buClr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在这层检测目的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地址决定路由路径</a:t>
            </a:r>
          </a:p>
          <a:p>
            <a:pPr marL="638175" lvl="2" indent="-342900">
              <a:lnSpc>
                <a:spcPct val="85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数据包被封装送至出口</a:t>
            </a:r>
          </a:p>
        </p:txBody>
      </p:sp>
      <p:pic>
        <p:nvPicPr>
          <p:cNvPr id="34820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8708" y="1447897"/>
            <a:ext cx="5802164" cy="38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3608388" y="111982"/>
            <a:ext cx="7686358" cy="858837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路由器基本功能</a:t>
            </a:r>
            <a:r>
              <a:rPr lang="en-US" altLang="zh-CN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路由与交换</a:t>
            </a:r>
            <a:endParaRPr lang="en-US" altLang="zh-CN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9831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20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163" y="1656641"/>
            <a:ext cx="5802164" cy="38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3608388" y="111982"/>
            <a:ext cx="7686358" cy="858837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路由器基本功能</a:t>
            </a:r>
            <a:r>
              <a:rPr lang="en-US" altLang="zh-CN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路由与交换</a:t>
            </a:r>
            <a:endParaRPr lang="en-US" altLang="zh-CN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3948" y="1757037"/>
            <a:ext cx="6262854" cy="3610093"/>
          </a:xfrm>
        </p:spPr>
      </p:pic>
    </p:spTree>
    <p:extLst>
      <p:ext uri="{BB962C8B-B14F-4D97-AF65-F5344CB8AC3E}">
        <p14:creationId xmlns:p14="http://schemas.microsoft.com/office/powerpoint/2010/main" val="3919390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5219701" y="59532"/>
            <a:ext cx="4229099" cy="1143000"/>
          </a:xfrm>
        </p:spPr>
        <p:txBody>
          <a:bodyPr/>
          <a:lstStyle/>
          <a:p>
            <a:r>
              <a:rPr lang="zh-CN" altLang="en-US" dirty="0" smtClean="0"/>
              <a:t>路由表</a:t>
            </a:r>
            <a:endParaRPr lang="zh-CN" altLang="en-US" dirty="0"/>
          </a:p>
        </p:txBody>
      </p:sp>
      <p:sp>
        <p:nvSpPr>
          <p:cNvPr id="76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775" y="1492251"/>
            <a:ext cx="4551363" cy="1772591"/>
          </a:xfrm>
        </p:spPr>
        <p:txBody>
          <a:bodyPr/>
          <a:lstStyle/>
          <a:p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路由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选路（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routing</a:t>
            </a: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 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选择一条用于发送或转发分组的路径</a:t>
            </a:r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endParaRPr lang="en-US" altLang="zh-CN" sz="2400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依据：路由表</a:t>
            </a:r>
            <a:endParaRPr lang="en-US" altLang="zh-CN" sz="2400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67021" name="Group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960566"/>
              </p:ext>
            </p:extLst>
          </p:nvPr>
        </p:nvGraphicFramePr>
        <p:xfrm>
          <a:off x="3746500" y="3697289"/>
          <a:ext cx="8147050" cy="2968563"/>
        </p:xfrm>
        <a:graphic>
          <a:graphicData uri="http://schemas.openxmlformats.org/drawingml/2006/table">
            <a:tbl>
              <a:tblPr/>
              <a:tblGrid>
                <a:gridCol w="2044573"/>
                <a:gridCol w="2044571"/>
                <a:gridCol w="2044573"/>
                <a:gridCol w="2013333"/>
              </a:tblGrid>
              <a:tr h="981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目的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Destination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下一站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Next Hop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出口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Interface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隶书" panose="02010509060101010101" pitchFamily="49" charset="-122"/>
                        </a:rPr>
                        <a:t>度量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Metric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6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直连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6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6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……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67011" name="Text Box 35"/>
          <p:cNvSpPr txBox="1">
            <a:spLocks noChangeArrowheads="1"/>
          </p:cNvSpPr>
          <p:nvPr/>
        </p:nvSpPr>
        <p:spPr bwMode="auto">
          <a:xfrm>
            <a:off x="1916113" y="4244975"/>
            <a:ext cx="1630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</a:rPr>
              <a:t>的路由表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423841" y="1689101"/>
            <a:ext cx="5393384" cy="1756716"/>
            <a:chOff x="5023791" y="1508126"/>
            <a:chExt cx="5393384" cy="1756716"/>
          </a:xfrm>
        </p:grpSpPr>
        <p:sp>
          <p:nvSpPr>
            <p:cNvPr id="767007" name="Oval 31"/>
            <p:cNvSpPr>
              <a:spLocks noChangeArrowheads="1"/>
            </p:cNvSpPr>
            <p:nvPr/>
          </p:nvSpPr>
          <p:spPr bwMode="auto">
            <a:xfrm>
              <a:off x="5519738" y="2263776"/>
              <a:ext cx="576262" cy="50482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A</a:t>
              </a:r>
            </a:p>
          </p:txBody>
        </p:sp>
        <p:sp>
          <p:nvSpPr>
            <p:cNvPr id="767008" name="Oval 32"/>
            <p:cNvSpPr>
              <a:spLocks noChangeArrowheads="1"/>
            </p:cNvSpPr>
            <p:nvPr/>
          </p:nvSpPr>
          <p:spPr bwMode="auto">
            <a:xfrm>
              <a:off x="7104063" y="1508126"/>
              <a:ext cx="576262" cy="50482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B</a:t>
              </a:r>
            </a:p>
          </p:txBody>
        </p:sp>
        <p:sp>
          <p:nvSpPr>
            <p:cNvPr id="767009" name="Oval 33"/>
            <p:cNvSpPr>
              <a:spLocks noChangeArrowheads="1"/>
            </p:cNvSpPr>
            <p:nvPr/>
          </p:nvSpPr>
          <p:spPr bwMode="auto">
            <a:xfrm>
              <a:off x="7005638" y="2760017"/>
              <a:ext cx="576263" cy="50482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C</a:t>
              </a:r>
            </a:p>
          </p:txBody>
        </p:sp>
        <p:sp>
          <p:nvSpPr>
            <p:cNvPr id="767010" name="Oval 34"/>
            <p:cNvSpPr>
              <a:spLocks noChangeArrowheads="1"/>
            </p:cNvSpPr>
            <p:nvPr/>
          </p:nvSpPr>
          <p:spPr bwMode="auto">
            <a:xfrm>
              <a:off x="9840913" y="2192339"/>
              <a:ext cx="576262" cy="50482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E</a:t>
              </a:r>
            </a:p>
          </p:txBody>
        </p:sp>
        <p:sp>
          <p:nvSpPr>
            <p:cNvPr id="767012" name="Line 36"/>
            <p:cNvSpPr>
              <a:spLocks noChangeShapeType="1"/>
            </p:cNvSpPr>
            <p:nvPr/>
          </p:nvSpPr>
          <p:spPr bwMode="auto">
            <a:xfrm flipV="1">
              <a:off x="6096001" y="1831976"/>
              <a:ext cx="1008063" cy="5048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67013" name="Line 37"/>
            <p:cNvSpPr>
              <a:spLocks noChangeShapeType="1"/>
            </p:cNvSpPr>
            <p:nvPr/>
          </p:nvSpPr>
          <p:spPr bwMode="auto">
            <a:xfrm>
              <a:off x="6096000" y="2695576"/>
              <a:ext cx="863600" cy="2889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67014" name="Line 38"/>
            <p:cNvSpPr>
              <a:spLocks noChangeShapeType="1"/>
            </p:cNvSpPr>
            <p:nvPr/>
          </p:nvSpPr>
          <p:spPr bwMode="auto">
            <a:xfrm flipV="1">
              <a:off x="7608889" y="2624139"/>
              <a:ext cx="935037" cy="2873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67015" name="Line 39"/>
            <p:cNvSpPr>
              <a:spLocks noChangeShapeType="1"/>
            </p:cNvSpPr>
            <p:nvPr/>
          </p:nvSpPr>
          <p:spPr bwMode="auto">
            <a:xfrm flipV="1">
              <a:off x="9048750" y="2479676"/>
              <a:ext cx="863600" cy="730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67016" name="Line 40"/>
            <p:cNvSpPr>
              <a:spLocks noChangeShapeType="1"/>
            </p:cNvSpPr>
            <p:nvPr/>
          </p:nvSpPr>
          <p:spPr bwMode="auto">
            <a:xfrm>
              <a:off x="7680325" y="1831976"/>
              <a:ext cx="863600" cy="5048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67017" name="Oval 41"/>
            <p:cNvSpPr>
              <a:spLocks noChangeArrowheads="1"/>
            </p:cNvSpPr>
            <p:nvPr/>
          </p:nvSpPr>
          <p:spPr bwMode="auto">
            <a:xfrm>
              <a:off x="8472488" y="2336801"/>
              <a:ext cx="576262" cy="50482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D</a:t>
              </a:r>
            </a:p>
          </p:txBody>
        </p:sp>
        <p:sp>
          <p:nvSpPr>
            <p:cNvPr id="767018" name="Text Box 42"/>
            <p:cNvSpPr txBox="1">
              <a:spLocks noChangeArrowheads="1"/>
            </p:cNvSpPr>
            <p:nvPr/>
          </p:nvSpPr>
          <p:spPr bwMode="auto">
            <a:xfrm>
              <a:off x="5023791" y="1817044"/>
              <a:ext cx="159370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 smtClean="0">
                  <a:solidFill>
                    <a:srgbClr val="000000"/>
                  </a:solidFill>
                </a:rPr>
                <a:t>网络接口</a:t>
              </a:r>
              <a:r>
                <a:rPr lang="en-US" altLang="zh-CN" sz="2400" b="1" dirty="0" smtClean="0">
                  <a:solidFill>
                    <a:srgbClr val="000000"/>
                  </a:solidFill>
                </a:rPr>
                <a:t>1</a:t>
              </a:r>
              <a:endParaRPr lang="en-US" altLang="zh-CN" sz="2400" b="1" dirty="0">
                <a:solidFill>
                  <a:srgbClr val="000000"/>
                </a:solidFill>
              </a:endParaRPr>
            </a:p>
          </p:txBody>
        </p:sp>
        <p:sp>
          <p:nvSpPr>
            <p:cNvPr id="767019" name="Text Box 43"/>
            <p:cNvSpPr txBox="1">
              <a:spLocks noChangeArrowheads="1"/>
            </p:cNvSpPr>
            <p:nvPr/>
          </p:nvSpPr>
          <p:spPr bwMode="auto">
            <a:xfrm>
              <a:off x="5089302" y="2781598"/>
              <a:ext cx="167866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 smtClean="0">
                  <a:solidFill>
                    <a:srgbClr val="000000"/>
                  </a:solidFill>
                </a:rPr>
                <a:t>网络接口</a:t>
              </a:r>
              <a:r>
                <a:rPr lang="en-US" altLang="zh-CN" sz="2400" b="1" dirty="0" smtClean="0">
                  <a:solidFill>
                    <a:srgbClr val="000000"/>
                  </a:solidFill>
                </a:rPr>
                <a:t> </a:t>
              </a:r>
              <a:r>
                <a:rPr lang="en-US" altLang="zh-CN" sz="2400" b="1" dirty="0">
                  <a:solidFill>
                    <a:srgbClr val="000000"/>
                  </a:solidFill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2652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7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18052" y="1664420"/>
            <a:ext cx="7940675" cy="3082511"/>
          </a:xfrm>
        </p:spPr>
        <p:txBody>
          <a:bodyPr/>
          <a:lstStyle/>
          <a:p>
            <a:pPr>
              <a:buClr>
                <a:srgbClr val="002060"/>
              </a:buClr>
            </a:pPr>
            <a:r>
              <a:rPr lang="zh-CN" altLang="en-US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路由有三个</a:t>
            </a:r>
            <a:r>
              <a:rPr lang="zh-CN" altLang="en-US" sz="24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主要特点：</a:t>
            </a:r>
            <a:endParaRPr lang="zh-CN" altLang="en-US" sz="24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目的网络</a:t>
            </a:r>
          </a:p>
          <a:p>
            <a:pPr lvl="1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下一跳</a:t>
            </a:r>
          </a:p>
          <a:p>
            <a:pPr lvl="1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度量</a:t>
            </a:r>
            <a:endParaRPr lang="en-US" altLang="zh-CN" sz="2400" dirty="0" smtClean="0">
              <a:solidFill>
                <a:srgbClr val="00206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zh-CN" altLang="en-US" sz="24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buClr>
                <a:srgbClr val="002060"/>
              </a:buClr>
            </a:pPr>
            <a:r>
              <a:rPr lang="zh-CN" altLang="en-US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路由</a:t>
            </a:r>
            <a:r>
              <a:rPr lang="zh-CN" altLang="en-US" sz="24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</a:t>
            </a:r>
            <a:endParaRPr lang="zh-CN" altLang="en-US" sz="24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31379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7064" y="1339879"/>
            <a:ext cx="7263326" cy="5156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5378727" y="217286"/>
            <a:ext cx="4229099" cy="797015"/>
          </a:xfrm>
        </p:spPr>
        <p:txBody>
          <a:bodyPr/>
          <a:lstStyle/>
          <a:p>
            <a:r>
              <a:rPr lang="zh-CN" altLang="en-US" dirty="0" smtClean="0"/>
              <a:t>路由表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8549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540688" y="1707456"/>
            <a:ext cx="4142630" cy="526862"/>
          </a:xfrm>
        </p:spPr>
        <p:txBody>
          <a:bodyPr/>
          <a:lstStyle/>
          <a:p>
            <a:pPr marL="571500" indent="-571500" algn="l"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路由表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目的网络</a:t>
            </a:r>
            <a:endParaRPr lang="zh-CN" altLang="en-US" sz="2400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311760" name="Group 16"/>
          <p:cNvGrpSpPr>
            <a:grpSpLocks/>
          </p:cNvGrpSpPr>
          <p:nvPr/>
        </p:nvGrpSpPr>
        <p:grpSpPr bwMode="auto">
          <a:xfrm>
            <a:off x="1160890" y="2686645"/>
            <a:ext cx="10424160" cy="1885355"/>
            <a:chOff x="585" y="1387"/>
            <a:chExt cx="4860" cy="549"/>
          </a:xfrm>
        </p:grpSpPr>
        <p:pic>
          <p:nvPicPr>
            <p:cNvPr id="1311758" name="Picture 1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" y="1387"/>
              <a:ext cx="4860" cy="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11759" name="Picture 1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" y="1789"/>
              <a:ext cx="3098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299214" y="214684"/>
            <a:ext cx="4229099" cy="781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zh-CN" altLang="en-US" dirty="0" smtClean="0"/>
              <a:t>路由表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2359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9410" y="1648806"/>
            <a:ext cx="11282735" cy="85883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571500" indent="-571500" algn="l"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路由表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</a:t>
            </a: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</a:t>
            </a:r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跳（</a:t>
            </a:r>
            <a:r>
              <a:rPr lang="en-US" altLang="zh-CN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next hop</a:t>
            </a:r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）：数据包</a:t>
            </a: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的下</a:t>
            </a:r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一目的地，下一个接力传递的路由器地址</a:t>
            </a:r>
            <a:endParaRPr lang="zh-CN" altLang="en-US" sz="2400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3097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79" y="2921443"/>
            <a:ext cx="10037930" cy="9105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299214" y="214684"/>
            <a:ext cx="4229099" cy="781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zh-CN" altLang="en-US" dirty="0" smtClean="0"/>
              <a:t>路由表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4265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2595" name="Picture 3" descr="r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162" y="4697412"/>
            <a:ext cx="2748941" cy="169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625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867" y="3402853"/>
            <a:ext cx="2193925" cy="2879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6259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162" y="1413852"/>
            <a:ext cx="3811559" cy="3251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6259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320" y="1413852"/>
            <a:ext cx="3487572" cy="1885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5299214" y="214684"/>
            <a:ext cx="4229099" cy="781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zh-CN" altLang="en-US" dirty="0" smtClean="0"/>
              <a:t>路由表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2035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62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62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62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0" fill="hold"/>
                                        <p:tgtEl>
                                          <p:spTgt spid="1262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0" fill="hold"/>
                                        <p:tgtEl>
                                          <p:spTgt spid="1262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567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5" y="1354138"/>
            <a:ext cx="2401888" cy="119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6567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13" y="1366838"/>
            <a:ext cx="3232150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6567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089" y="3967163"/>
            <a:ext cx="1781175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65673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9" y="1347788"/>
            <a:ext cx="2124075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65674" name="Picture 10" descr="cross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6264" y="2616201"/>
            <a:ext cx="5629275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299214" y="214684"/>
            <a:ext cx="4229099" cy="781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zh-CN" altLang="en-US" dirty="0" smtClean="0"/>
              <a:t>路由表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2414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65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65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3392" y="1487655"/>
            <a:ext cx="10629609" cy="5076825"/>
          </a:xfrm>
        </p:spPr>
        <p:txBody>
          <a:bodyPr/>
          <a:lstStyle/>
          <a:p>
            <a:pPr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路由表存储在 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RAM </a:t>
            </a: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中，包含以下信息</a:t>
            </a:r>
            <a:r>
              <a:rPr lang="en-US" altLang="zh-CN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endParaRPr lang="en-US" altLang="zh-CN" sz="1200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42950" lvl="2" indent="-3429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直连网络 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一个设备连接到另一个路由器接口时会出现</a:t>
            </a:r>
          </a:p>
          <a:p>
            <a:pPr marL="742950" lvl="2" indent="-3429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远程网络连接 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这个网络并非直接连接到某一台路由器</a:t>
            </a:r>
          </a:p>
          <a:p>
            <a:pPr marL="742950" lvl="2" indent="-3429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网络的详细信息 包括源信息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网络地址和子网掩码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下一条路由的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</a:t>
            </a:r>
            <a:endParaRPr lang="en-US" altLang="zh-CN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lvl="1" indent="-342900">
              <a:buClr>
                <a:schemeClr val="accent6">
                  <a:lumMod val="50000"/>
                </a:schemeClr>
              </a:buClr>
            </a:pPr>
            <a:endParaRPr lang="zh-CN" altLang="en-US" sz="2400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建立路由表的三种途径</a:t>
            </a:r>
            <a:r>
              <a:rPr lang="en-US" altLang="zh-CN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endParaRPr lang="en-US" altLang="zh-CN" sz="1200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42950" lvl="2" indent="-3429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直连路由 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–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直接连到路由器上的网络</a:t>
            </a:r>
          </a:p>
          <a:p>
            <a:pPr marL="742950" lvl="2" indent="-3429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静态路由 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–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管理员手工构建路由表</a:t>
            </a:r>
            <a:endParaRPr lang="en-US" altLang="zh-CN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42950" lvl="2" indent="-3429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动态路由 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–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路由器之间动态学习到的路由表</a:t>
            </a:r>
            <a:endParaRPr lang="en-US" altLang="zh-CN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5378727" y="217286"/>
            <a:ext cx="4229099" cy="797015"/>
          </a:xfrm>
        </p:spPr>
        <p:txBody>
          <a:bodyPr/>
          <a:lstStyle/>
          <a:p>
            <a:r>
              <a:rPr lang="zh-CN" altLang="en-US" dirty="0" smtClean="0"/>
              <a:t>路由表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8678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5164908" y="0"/>
            <a:ext cx="5211544" cy="1143000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ea typeface="宋体" panose="02010600030101010101" pitchFamily="2" charset="-122"/>
              </a:rPr>
              <a:t>直连网络</a:t>
            </a:r>
            <a:r>
              <a:rPr lang="en-US" altLang="zh-CN" dirty="0" smtClean="0">
                <a:ea typeface="宋体" panose="02010600030101010101" pitchFamily="2" charset="-122"/>
              </a:rPr>
              <a:t>—</a:t>
            </a:r>
            <a:r>
              <a:rPr lang="zh-CN" altLang="en-US" dirty="0" smtClean="0">
                <a:ea typeface="宋体" panose="02010600030101010101" pitchFamily="2" charset="-122"/>
              </a:rPr>
              <a:t>直连路由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74581" y="1542257"/>
            <a:ext cx="6005512" cy="469900"/>
          </a:xfrm>
        </p:spPr>
        <p:txBody>
          <a:bodyPr/>
          <a:lstStyle/>
          <a:p>
            <a:pPr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添加一个直连网络到路由表</a:t>
            </a:r>
          </a:p>
        </p:txBody>
      </p:sp>
      <p:sp>
        <p:nvSpPr>
          <p:cNvPr id="51204" name="Rectangle 8"/>
          <p:cNvSpPr>
            <a:spLocks noGrp="1" noChangeArrowheads="1"/>
          </p:cNvSpPr>
          <p:nvPr>
            <p:ph type="body" sz="half" idx="2"/>
          </p:nvPr>
        </p:nvSpPr>
        <p:spPr>
          <a:xfrm>
            <a:off x="652006" y="2411414"/>
            <a:ext cx="4826443" cy="1882290"/>
          </a:xfrm>
        </p:spPr>
        <p:txBody>
          <a:bodyPr/>
          <a:lstStyle/>
          <a:p>
            <a:pPr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直连路由出现在路由表的</a:t>
            </a:r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条件</a:t>
            </a:r>
            <a:endParaRPr lang="en-US" altLang="zh-CN" sz="2400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endParaRPr lang="zh-CN" altLang="en-US" sz="1200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接口应该 </a:t>
            </a:r>
            <a:r>
              <a:rPr lang="en-US" altLang="zh-CN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up</a:t>
            </a:r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up.</a:t>
            </a:r>
          </a:p>
          <a:p>
            <a:pPr lvl="1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altLang="zh-CN" sz="1200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接口已分配</a:t>
            </a:r>
            <a:r>
              <a:rPr lang="en-US" altLang="zh-CN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</a:t>
            </a:r>
            <a:r>
              <a:rPr lang="en-US" altLang="zh-CN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1205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8449" y="1475947"/>
            <a:ext cx="6082967" cy="5024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6198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6269" y="1447138"/>
            <a:ext cx="9808278" cy="4977516"/>
          </a:xfrm>
        </p:spPr>
        <p:txBody>
          <a:bodyPr/>
          <a:lstStyle/>
          <a:p>
            <a:pPr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路由表中的静态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路由</a:t>
            </a:r>
            <a:endParaRPr lang="en-US" altLang="zh-C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zh-CN" dirty="0"/>
              <a:t>网络管理员的手动配置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包含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网络地址和子网掩码 以及路由下一跳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地址或出接口</a:t>
            </a: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路由表中用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标出</a:t>
            </a:r>
          </a:p>
          <a:p>
            <a:pPr marL="342900" lvl="1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何时使用静态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路由</a:t>
            </a:r>
            <a:endParaRPr lang="en-US" altLang="zh-C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路由器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较少</a:t>
            </a: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唯一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外连出口</a:t>
            </a: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星型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拓扑</a:t>
            </a:r>
          </a:p>
          <a:p>
            <a:pPr marL="342900" lvl="1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</a:pP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例：末节（末梢）网络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，使用静态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路由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942271" y="-206734"/>
            <a:ext cx="5211544" cy="1143000"/>
          </a:xfrm>
        </p:spPr>
        <p:txBody>
          <a:bodyPr/>
          <a:lstStyle/>
          <a:p>
            <a:pPr algn="ctr"/>
            <a:r>
              <a:rPr lang="zh-CN" altLang="en-US" dirty="0" smtClean="0">
                <a:solidFill>
                  <a:srgbClr val="FFFF00"/>
                </a:solidFill>
                <a:ea typeface="宋体" panose="02010600030101010101" pitchFamily="2" charset="-122"/>
              </a:rPr>
              <a:t>静态路由</a:t>
            </a:r>
            <a:endParaRPr lang="en-US" altLang="zh-CN" dirty="0">
              <a:solidFill>
                <a:srgbClr val="FFFF00"/>
              </a:solidFill>
              <a:ea typeface="宋体" panose="02010600030101010101" pitchFamily="2" charset="-122"/>
            </a:endParaRP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594" y="2785538"/>
            <a:ext cx="6117924" cy="384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9086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3" name="Picture 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870" y="1367624"/>
            <a:ext cx="8202945" cy="5490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942271" y="-206734"/>
            <a:ext cx="5211544" cy="1143000"/>
          </a:xfrm>
        </p:spPr>
        <p:txBody>
          <a:bodyPr/>
          <a:lstStyle/>
          <a:p>
            <a:pPr algn="ctr"/>
            <a:r>
              <a:rPr lang="zh-CN" altLang="en-US" dirty="0" smtClean="0">
                <a:solidFill>
                  <a:srgbClr val="FFFF00"/>
                </a:solidFill>
                <a:ea typeface="宋体" panose="02010600030101010101" pitchFamily="2" charset="-122"/>
              </a:rPr>
              <a:t>静态路由</a:t>
            </a:r>
            <a:endParaRPr lang="en-US" altLang="zh-CN" dirty="0">
              <a:solidFill>
                <a:srgbClr val="FFFF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9951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799937" y="127933"/>
            <a:ext cx="5441342" cy="858837"/>
          </a:xfrm>
        </p:spPr>
        <p:txBody>
          <a:bodyPr/>
          <a:lstStyle/>
          <a:p>
            <a:pPr algn="ctr"/>
            <a:r>
              <a:rPr lang="zh-CN" altLang="en-US" dirty="0" smtClean="0">
                <a:solidFill>
                  <a:srgbClr val="FFFF00"/>
                </a:solidFill>
                <a:ea typeface="宋体" panose="02010600030101010101" pitchFamily="2" charset="-122"/>
              </a:rPr>
              <a:t>静态路由</a:t>
            </a:r>
            <a:r>
              <a:rPr lang="en-US" altLang="zh-CN" dirty="0" smtClean="0">
                <a:solidFill>
                  <a:srgbClr val="FFFF00"/>
                </a:solidFill>
                <a:ea typeface="宋体" panose="02010600030101010101" pitchFamily="2" charset="-122"/>
              </a:rPr>
              <a:t>—</a:t>
            </a:r>
            <a:r>
              <a:rPr lang="zh-CN" altLang="en-US" dirty="0" smtClean="0">
                <a:solidFill>
                  <a:srgbClr val="FFFF00"/>
                </a:solidFill>
                <a:ea typeface="宋体" panose="02010600030101010101" pitchFamily="2" charset="-122"/>
              </a:rPr>
              <a:t>默认</a:t>
            </a:r>
            <a:r>
              <a:rPr lang="zh-CN" altLang="en-US" dirty="0">
                <a:solidFill>
                  <a:srgbClr val="FFFF00"/>
                </a:solidFill>
                <a:ea typeface="宋体" panose="02010600030101010101" pitchFamily="2" charset="-122"/>
              </a:rPr>
              <a:t>路由</a:t>
            </a:r>
          </a:p>
        </p:txBody>
      </p:sp>
      <p:sp>
        <p:nvSpPr>
          <p:cNvPr id="1160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023" y="1519460"/>
            <a:ext cx="9818879" cy="3235420"/>
          </a:xfrm>
        </p:spPr>
        <p:txBody>
          <a:bodyPr/>
          <a:lstStyle/>
          <a:p>
            <a:pPr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默认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路由</a:t>
            </a:r>
            <a:endParaRPr lang="en-US" altLang="zh-C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将匹配所有的包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帮助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减少路由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条目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配置一条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默认路由</a:t>
            </a:r>
            <a:endParaRPr lang="en-US" altLang="zh-C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和静态路由相似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5275" lvl="2" indent="0">
              <a:lnSpc>
                <a:spcPct val="75000"/>
              </a:lnSpc>
              <a:buClr>
                <a:schemeClr val="accent6">
                  <a:lumMod val="50000"/>
                </a:schemeClr>
              </a:buClr>
              <a:buNone/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但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地址和子网掩码全部是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零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194" y="1519460"/>
            <a:ext cx="7275444" cy="4451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3087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300" y="1378171"/>
            <a:ext cx="7940675" cy="5205509"/>
          </a:xfrm>
        </p:spPr>
        <p:txBody>
          <a:bodyPr/>
          <a:lstStyle/>
          <a:p>
            <a:pPr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动态路由协议</a:t>
            </a: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dirty="0" smtClean="0"/>
              <a:t>向</a:t>
            </a:r>
            <a:r>
              <a:rPr lang="zh-CN" altLang="en-US" dirty="0"/>
              <a:t>路由表中添加远程</a:t>
            </a:r>
            <a:r>
              <a:rPr lang="zh-CN" altLang="en-US" dirty="0" smtClean="0"/>
              <a:t>网络</a:t>
            </a:r>
            <a:endParaRPr lang="en-US" altLang="zh-CN" dirty="0" smtClean="0"/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dirty="0" smtClean="0"/>
              <a:t>自动更新</a:t>
            </a:r>
            <a:r>
              <a:rPr lang="zh-CN" altLang="en-US" dirty="0"/>
              <a:t>和维护路由</a:t>
            </a:r>
            <a:r>
              <a:rPr lang="zh-CN" altLang="en-US" dirty="0" smtClean="0"/>
              <a:t>表</a:t>
            </a:r>
            <a:endParaRPr lang="en-US" altLang="zh-CN" dirty="0" smtClean="0"/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zh-CN" altLang="en-US" sz="1050" dirty="0"/>
          </a:p>
          <a:p>
            <a:pPr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自主网络探索</a:t>
            </a: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dirty="0" smtClean="0"/>
              <a:t>通过</a:t>
            </a:r>
            <a:r>
              <a:rPr lang="zh-CN" altLang="en-US" dirty="0"/>
              <a:t>共享路由表</a:t>
            </a:r>
            <a:r>
              <a:rPr lang="zh-CN" altLang="en-US" dirty="0" smtClean="0"/>
              <a:t>信息探索新</a:t>
            </a:r>
            <a:r>
              <a:rPr lang="zh-CN" altLang="en-US" dirty="0"/>
              <a:t>的</a:t>
            </a:r>
            <a:r>
              <a:rPr lang="zh-CN" altLang="en-US" dirty="0" smtClean="0"/>
              <a:t>网络</a:t>
            </a:r>
            <a:endParaRPr lang="en-US" altLang="zh-CN" dirty="0" smtClean="0"/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altLang="zh-CN" sz="1000" dirty="0"/>
          </a:p>
          <a:p>
            <a:pPr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维护路由表</a:t>
            </a: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dirty="0" smtClean="0"/>
              <a:t>动态</a:t>
            </a:r>
            <a:r>
              <a:rPr lang="zh-CN" altLang="en-US" dirty="0"/>
              <a:t>路由协议用来共享路由信息 </a:t>
            </a:r>
            <a:r>
              <a:rPr lang="zh-CN" altLang="en-US" dirty="0" smtClean="0"/>
              <a:t>维护</a:t>
            </a:r>
            <a:endParaRPr lang="en-US" altLang="zh-CN" dirty="0" smtClean="0"/>
          </a:p>
          <a:p>
            <a:pPr marL="295275" lvl="2" indent="0">
              <a:lnSpc>
                <a:spcPct val="75000"/>
              </a:lnSpc>
              <a:buClr>
                <a:schemeClr val="accent6">
                  <a:lumMod val="50000"/>
                </a:schemeClr>
              </a:buClr>
              <a:buNone/>
            </a:pPr>
            <a:r>
              <a:rPr lang="zh-CN" altLang="en-US" dirty="0" smtClean="0"/>
              <a:t>更新</a:t>
            </a:r>
            <a:r>
              <a:rPr lang="zh-CN" altLang="en-US" dirty="0"/>
              <a:t>自身的路由</a:t>
            </a:r>
            <a:r>
              <a:rPr lang="zh-CN" altLang="en-US" dirty="0" smtClean="0"/>
              <a:t>表</a:t>
            </a:r>
            <a:endParaRPr lang="en-US" altLang="zh-CN" dirty="0" smtClean="0"/>
          </a:p>
          <a:p>
            <a:pPr marL="295275" lvl="2" indent="0">
              <a:lnSpc>
                <a:spcPct val="75000"/>
              </a:lnSpc>
              <a:buClr>
                <a:schemeClr val="accent6">
                  <a:lumMod val="50000"/>
                </a:schemeClr>
              </a:buClr>
              <a:buNone/>
            </a:pPr>
            <a:endParaRPr lang="zh-CN" altLang="en-US" sz="1000" dirty="0"/>
          </a:p>
          <a:p>
            <a:pPr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常见动态路由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协议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RIP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IGRP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EIGRP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OSPF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908770" y="-119270"/>
            <a:ext cx="5211544" cy="11430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FFFF00"/>
                </a:solidFill>
                <a:ea typeface="宋体" panose="02010600030101010101" pitchFamily="2" charset="-122"/>
              </a:rPr>
              <a:t>动态</a:t>
            </a:r>
            <a:r>
              <a:rPr lang="zh-CN" altLang="en-US" dirty="0" smtClean="0">
                <a:solidFill>
                  <a:srgbClr val="FFFF00"/>
                </a:solidFill>
                <a:ea typeface="宋体" panose="02010600030101010101" pitchFamily="2" charset="-122"/>
              </a:rPr>
              <a:t>路由</a:t>
            </a:r>
            <a:endParaRPr lang="en-US" altLang="zh-CN" dirty="0">
              <a:solidFill>
                <a:srgbClr val="FFFF00"/>
              </a:solidFill>
              <a:ea typeface="宋体" panose="02010600030101010101" pitchFamily="2" charset="-122"/>
            </a:endParaRP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8354" y="1378171"/>
            <a:ext cx="6221480" cy="4216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1679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3262" y="1427073"/>
            <a:ext cx="8245475" cy="2034773"/>
          </a:xfrm>
        </p:spPr>
        <p:txBody>
          <a:bodyPr/>
          <a:lstStyle/>
          <a:p>
            <a:pPr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route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命令</a:t>
            </a:r>
          </a:p>
          <a:p>
            <a:pPr marL="638175" lvl="2" indent="-342900"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配置静态路由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route</a:t>
            </a:r>
          </a:p>
        </p:txBody>
      </p:sp>
      <p:pic>
        <p:nvPicPr>
          <p:cNvPr id="113562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2259" y="2333142"/>
            <a:ext cx="8661959" cy="4384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942271" y="-206734"/>
            <a:ext cx="5211544" cy="1143000"/>
          </a:xfrm>
        </p:spPr>
        <p:txBody>
          <a:bodyPr/>
          <a:lstStyle/>
          <a:p>
            <a:pPr algn="ctr"/>
            <a:r>
              <a:rPr lang="zh-CN" altLang="en-US" dirty="0" smtClean="0">
                <a:solidFill>
                  <a:srgbClr val="FFFF00"/>
                </a:solidFill>
                <a:ea typeface="宋体" panose="02010600030101010101" pitchFamily="2" charset="-122"/>
              </a:rPr>
              <a:t>静态路由配置</a:t>
            </a:r>
            <a:endParaRPr lang="en-US" altLang="zh-CN" dirty="0">
              <a:solidFill>
                <a:srgbClr val="FFFF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0602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950" y="1491456"/>
            <a:ext cx="7353300" cy="406400"/>
          </a:xfrm>
        </p:spPr>
        <p:txBody>
          <a:bodyPr/>
          <a:lstStyle/>
          <a:p>
            <a:pPr>
              <a:lnSpc>
                <a:spcPct val="85000"/>
              </a:lnSpc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在路由表中放置一条静态路由</a:t>
            </a:r>
          </a:p>
        </p:txBody>
      </p:sp>
      <p:pic>
        <p:nvPicPr>
          <p:cNvPr id="125645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72455"/>
            <a:ext cx="6016625" cy="1071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56456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4" y="2972344"/>
            <a:ext cx="6203950" cy="3309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56453" name="Picture 5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049" y="2072785"/>
            <a:ext cx="5520544" cy="2395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56458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0444" y="2289927"/>
            <a:ext cx="35623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4942271" y="-206734"/>
            <a:ext cx="5211544" cy="1143000"/>
          </a:xfrm>
        </p:spPr>
        <p:txBody>
          <a:bodyPr/>
          <a:lstStyle/>
          <a:p>
            <a:pPr algn="ctr"/>
            <a:r>
              <a:rPr lang="zh-CN" altLang="en-US" dirty="0" smtClean="0">
                <a:solidFill>
                  <a:srgbClr val="FFFF00"/>
                </a:solidFill>
                <a:ea typeface="宋体" panose="02010600030101010101" pitchFamily="2" charset="-122"/>
              </a:rPr>
              <a:t>静态路由配置</a:t>
            </a:r>
            <a:endParaRPr lang="en-US" altLang="zh-CN" dirty="0">
              <a:solidFill>
                <a:srgbClr val="FFFF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7284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6823"/>
            <a:ext cx="9818879" cy="2177897"/>
          </a:xfrm>
        </p:spPr>
        <p:txBody>
          <a:bodyPr/>
          <a:lstStyle/>
          <a:p>
            <a:pPr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配置一条默认路由</a:t>
            </a:r>
            <a:endParaRPr lang="en-US" altLang="zh-C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和静态路由相似，但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地址和子网掩码全部是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零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Router(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)#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route 0.0.0.0 0.0.0.0 [exit-interface |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-address ]</a:t>
            </a: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altLang="zh-CN" sz="1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子网掩码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0.0.0.0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代表匹配所有网络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8" y="3355450"/>
            <a:ext cx="5000038" cy="3059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274366" y="4469800"/>
            <a:ext cx="6623437" cy="41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2124" tIns="41061" rIns="82124" bIns="41061">
            <a:spAutoFit/>
          </a:bodyPr>
          <a:lstStyle>
            <a:lvl1pPr algn="l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R1(config)#ip route 0.0.0.0 0.0.0.0 serial 0/0/0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942271" y="-206734"/>
            <a:ext cx="5211544" cy="1143000"/>
          </a:xfrm>
        </p:spPr>
        <p:txBody>
          <a:bodyPr/>
          <a:lstStyle/>
          <a:p>
            <a:pPr algn="ctr"/>
            <a:r>
              <a:rPr lang="zh-CN" altLang="en-US" dirty="0" smtClean="0">
                <a:solidFill>
                  <a:srgbClr val="FFFF00"/>
                </a:solidFill>
                <a:ea typeface="宋体" panose="02010600030101010101" pitchFamily="2" charset="-122"/>
              </a:rPr>
              <a:t>静态路由配置</a:t>
            </a:r>
            <a:endParaRPr lang="en-US" altLang="zh-CN" dirty="0">
              <a:solidFill>
                <a:srgbClr val="FFFF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0201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twork">
  <a:themeElements>
    <a:clrScheme name="Network 13">
      <a:dk1>
        <a:srgbClr val="666699"/>
      </a:dk1>
      <a:lt1>
        <a:srgbClr val="FFFF66"/>
      </a:lt1>
      <a:dk2>
        <a:srgbClr val="000054"/>
      </a:dk2>
      <a:lt2>
        <a:srgbClr val="66FF99"/>
      </a:lt2>
      <a:accent1>
        <a:srgbClr val="3333FF"/>
      </a:accent1>
      <a:accent2>
        <a:srgbClr val="006699"/>
      </a:accent2>
      <a:accent3>
        <a:srgbClr val="AAAAB3"/>
      </a:accent3>
      <a:accent4>
        <a:srgbClr val="DADA56"/>
      </a:accent4>
      <a:accent5>
        <a:srgbClr val="ADADFF"/>
      </a:accent5>
      <a:accent6>
        <a:srgbClr val="005C8A"/>
      </a:accent6>
      <a:hlink>
        <a:srgbClr val="669900"/>
      </a:hlink>
      <a:folHlink>
        <a:srgbClr val="0000FF"/>
      </a:folHlink>
    </a:clrScheme>
    <a:fontScheme name="Network">
      <a:majorFont>
        <a:latin typeface="Arial"/>
        <a:ea typeface="隶书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bg1"/>
          </a:buClr>
          <a:buSzPct val="70000"/>
          <a:buFont typeface="Wingdings" panose="05000000000000000000" pitchFamily="2" charset="2"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bg1"/>
          </a:buClr>
          <a:buSzPct val="70000"/>
          <a:buFont typeface="Wingdings" panose="05000000000000000000" pitchFamily="2" charset="2"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1">
        <a:dk1>
          <a:srgbClr val="666699"/>
        </a:dk1>
        <a:lt1>
          <a:srgbClr val="FFFF00"/>
        </a:lt1>
        <a:dk2>
          <a:srgbClr val="000054"/>
        </a:dk2>
        <a:lt2>
          <a:srgbClr val="00FF00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00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12">
        <a:dk1>
          <a:srgbClr val="666699"/>
        </a:dk1>
        <a:lt1>
          <a:srgbClr val="FFFF00"/>
        </a:lt1>
        <a:dk2>
          <a:srgbClr val="000054"/>
        </a:dk2>
        <a:lt2>
          <a:srgbClr val="66FF99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00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13">
        <a:dk1>
          <a:srgbClr val="666699"/>
        </a:dk1>
        <a:lt1>
          <a:srgbClr val="FFFF66"/>
        </a:lt1>
        <a:dk2>
          <a:srgbClr val="000054"/>
        </a:dk2>
        <a:lt2>
          <a:srgbClr val="66FF99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56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CC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E2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bg1"/>
          </a:buClr>
          <a:buSzPct val="70000"/>
          <a:buFont typeface="Wingdings" panose="05000000000000000000" pitchFamily="2" charset="2"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bg1"/>
          </a:buClr>
          <a:buSzPct val="70000"/>
          <a:buFont typeface="Wingdings" panose="05000000000000000000" pitchFamily="2" charset="2"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CC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E2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bg1"/>
          </a:buClr>
          <a:buSzPct val="70000"/>
          <a:buFont typeface="Wingdings" panose="05000000000000000000" pitchFamily="2" charset="2"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bg1"/>
          </a:buClr>
          <a:buSzPct val="70000"/>
          <a:buFont typeface="Wingdings" panose="05000000000000000000" pitchFamily="2" charset="2"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006_Title/Bullet_Cisco White Temp">
  <a:themeElements>
    <a:clrScheme name="2006_Title/Bullet_Cisco White Temp 1">
      <a:dk1>
        <a:srgbClr val="000000"/>
      </a:dk1>
      <a:lt1>
        <a:srgbClr val="FFFFFF"/>
      </a:lt1>
      <a:dk2>
        <a:srgbClr val="0183B7"/>
      </a:dk2>
      <a:lt2>
        <a:srgbClr val="8E8E95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2006_Title/Bullet_Cisco White Tem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1796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82124" tIns="41061" rIns="82124" bIns="41061" numCol="1" anchor="t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1796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82124" tIns="41061" rIns="82124" bIns="41061" numCol="1" anchor="t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2006_Title/Bullet_Cisco White Temp 1">
        <a:dk1>
          <a:srgbClr val="000000"/>
        </a:dk1>
        <a:lt1>
          <a:srgbClr val="FFFFFF"/>
        </a:lt1>
        <a:dk2>
          <a:srgbClr val="0183B7"/>
        </a:dk2>
        <a:lt2>
          <a:srgbClr val="8E8E95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2827</TotalTime>
  <Words>798</Words>
  <Application>Microsoft Office PowerPoint</Application>
  <PresentationFormat>宽屏</PresentationFormat>
  <Paragraphs>218</Paragraphs>
  <Slides>24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6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3" baseType="lpstr">
      <vt:lpstr>黑体</vt:lpstr>
      <vt:lpstr>楷体</vt:lpstr>
      <vt:lpstr>楷体_GB2312</vt:lpstr>
      <vt:lpstr>隶书</vt:lpstr>
      <vt:lpstr>宋体</vt:lpstr>
      <vt:lpstr>幼圆</vt:lpstr>
      <vt:lpstr>Arial</vt:lpstr>
      <vt:lpstr>Calibri</vt:lpstr>
      <vt:lpstr>Franklin Gothic Medium</vt:lpstr>
      <vt:lpstr>Garamond</vt:lpstr>
      <vt:lpstr>Times New Roman</vt:lpstr>
      <vt:lpstr>Wingdings</vt:lpstr>
      <vt:lpstr>Network</vt:lpstr>
      <vt:lpstr>默认设计模板</vt:lpstr>
      <vt:lpstr>1_默认设计模板</vt:lpstr>
      <vt:lpstr>2_默认设计模板</vt:lpstr>
      <vt:lpstr>3_默认设计模板</vt:lpstr>
      <vt:lpstr>2006_Title/Bullet_Cisco White Temp</vt:lpstr>
      <vt:lpstr>VISIO</vt:lpstr>
      <vt:lpstr>实验6  静态路由基本配置</vt:lpstr>
      <vt:lpstr>PowerPoint 演示文稿</vt:lpstr>
      <vt:lpstr>路由器结构</vt:lpstr>
      <vt:lpstr>路由器结构</vt:lpstr>
      <vt:lpstr>路由器的作用</vt:lpstr>
      <vt:lpstr>路由器的作用</vt:lpstr>
      <vt:lpstr> 路由器基本功能—路由与交换</vt:lpstr>
      <vt:lpstr> 路由器基本功能—路由与交换</vt:lpstr>
      <vt:lpstr> 路由器基本功能—路由与交换</vt:lpstr>
      <vt:lpstr>路由表</vt:lpstr>
      <vt:lpstr>路由表</vt:lpstr>
      <vt:lpstr>路由表——目的网络</vt:lpstr>
      <vt:lpstr>路由表——下一跳（next hop）：数据包的下一目的地，下一个接力传递的路由器地址</vt:lpstr>
      <vt:lpstr>PowerPoint 演示文稿</vt:lpstr>
      <vt:lpstr>PowerPoint 演示文稿</vt:lpstr>
      <vt:lpstr>路由表</vt:lpstr>
      <vt:lpstr>直连网络—直连路由</vt:lpstr>
      <vt:lpstr>静态路由</vt:lpstr>
      <vt:lpstr>静态路由</vt:lpstr>
      <vt:lpstr>静态路由—默认路由</vt:lpstr>
      <vt:lpstr>动态路由</vt:lpstr>
      <vt:lpstr>静态路由配置</vt:lpstr>
      <vt:lpstr>静态路由配置</vt:lpstr>
      <vt:lpstr>静态路由配置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张·骏</dc:creator>
  <cp:lastModifiedBy>张· 骏</cp:lastModifiedBy>
  <cp:revision>226</cp:revision>
  <dcterms:created xsi:type="dcterms:W3CDTF">2015-07-08T03:33:10Z</dcterms:created>
  <dcterms:modified xsi:type="dcterms:W3CDTF">2019-08-03T00:59:26Z</dcterms:modified>
</cp:coreProperties>
</file>